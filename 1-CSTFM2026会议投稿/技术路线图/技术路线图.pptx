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9"/>
  </p:handoutMasterIdLst>
  <p:sldIdLst>
    <p:sldId id="256" r:id="rId2"/>
    <p:sldId id="259" r:id="rId3"/>
    <p:sldId id="260" r:id="rId4"/>
    <p:sldId id="261" r:id="rId5"/>
    <p:sldId id="258" r:id="rId6"/>
    <p:sldId id="257" r:id="rId7"/>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3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26" autoAdjust="0"/>
    <p:restoredTop sz="86402"/>
  </p:normalViewPr>
  <p:slideViewPr>
    <p:cSldViewPr snapToGrid="0" showGuides="1">
      <p:cViewPr>
        <p:scale>
          <a:sx n="121" d="100"/>
          <a:sy n="121" d="100"/>
        </p:scale>
        <p:origin x="144" y="144"/>
      </p:cViewPr>
      <p:guideLst>
        <p:guide orient="horz" pos="2131"/>
        <p:guide pos="3861"/>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2026/4/4</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2026/4/4</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2026/4/4</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2026/4/4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2026/4/4</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 name="任意形状 1134"/>
          <p:cNvSpPr/>
          <p:nvPr/>
        </p:nvSpPr>
        <p:spPr>
          <a:xfrm>
            <a:off x="8488516" y="1102032"/>
            <a:ext cx="1769806" cy="3915240"/>
          </a:xfrm>
          <a:custGeom>
            <a:avLst/>
            <a:gdLst>
              <a:gd name="connsiteX0" fmla="*/ 1691148 w 1769806"/>
              <a:gd name="connsiteY0" fmla="*/ 0 h 4785032"/>
              <a:gd name="connsiteX1" fmla="*/ 1769807 w 1769806"/>
              <a:gd name="connsiteY1" fmla="*/ 0 h 4785032"/>
              <a:gd name="connsiteX2" fmla="*/ 1769807 w 1769806"/>
              <a:gd name="connsiteY2" fmla="*/ 4785033 h 4785032"/>
              <a:gd name="connsiteX3" fmla="*/ 1691148 w 1769806"/>
              <a:gd name="connsiteY3" fmla="*/ 4785033 h 4785032"/>
              <a:gd name="connsiteX4" fmla="*/ 78658 w 1769806"/>
              <a:gd name="connsiteY4" fmla="*/ 4785033 h 4785032"/>
              <a:gd name="connsiteX5" fmla="*/ 0 w 1769806"/>
              <a:gd name="connsiteY5" fmla="*/ 4785033 h 4785032"/>
              <a:gd name="connsiteX6" fmla="*/ 0 w 1769806"/>
              <a:gd name="connsiteY6" fmla="*/ 0 h 4785032"/>
              <a:gd name="connsiteX7" fmla="*/ 78658 w 1769806"/>
              <a:gd name="connsiteY7" fmla="*/ 0 h 478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806" h="4785032">
                <a:moveTo>
                  <a:pt x="1691148" y="0"/>
                </a:moveTo>
                <a:cubicBezTo>
                  <a:pt x="1734590" y="0"/>
                  <a:pt x="1769807" y="0"/>
                  <a:pt x="1769807" y="0"/>
                </a:cubicBezTo>
                <a:lnTo>
                  <a:pt x="1769807" y="4785033"/>
                </a:lnTo>
                <a:cubicBezTo>
                  <a:pt x="1769807" y="4785033"/>
                  <a:pt x="1734590" y="4785033"/>
                  <a:pt x="1691148" y="4785033"/>
                </a:cubicBezTo>
                <a:lnTo>
                  <a:pt x="78658" y="4785033"/>
                </a:lnTo>
                <a:cubicBezTo>
                  <a:pt x="35216" y="4785033"/>
                  <a:pt x="0" y="4785033"/>
                  <a:pt x="0" y="4785033"/>
                </a:cubicBezTo>
                <a:lnTo>
                  <a:pt x="0" y="0"/>
                </a:lnTo>
                <a:cubicBezTo>
                  <a:pt x="0" y="0"/>
                  <a:pt x="35216" y="0"/>
                  <a:pt x="78658" y="0"/>
                </a:cubicBezTo>
                <a:close/>
              </a:path>
            </a:pathLst>
          </a:custGeom>
          <a:solidFill>
            <a:srgbClr val="FFF3F0"/>
          </a:solidFill>
          <a:ln w="3277" cap="flat">
            <a:solidFill>
              <a:srgbClr val="FFCDD2"/>
            </a:solidFill>
            <a:prstDash val="solid"/>
            <a:miter/>
          </a:ln>
        </p:spPr>
        <p:txBody>
          <a:bodyPr rtlCol="0" anchor="ctr"/>
          <a:lstStyle/>
          <a:p>
            <a:endParaRPr lang="zh-CN" altLang="en-US"/>
          </a:p>
        </p:txBody>
      </p:sp>
      <p:sp>
        <p:nvSpPr>
          <p:cNvPr id="1340" name="任意形状 1339"/>
          <p:cNvSpPr/>
          <p:nvPr/>
        </p:nvSpPr>
        <p:spPr>
          <a:xfrm>
            <a:off x="8586838" y="3931202"/>
            <a:ext cx="1573161" cy="954495"/>
          </a:xfrm>
          <a:custGeom>
            <a:avLst/>
            <a:gdLst>
              <a:gd name="connsiteX0" fmla="*/ 1520723 w 1573161"/>
              <a:gd name="connsiteY0" fmla="*/ 0 h 655483"/>
              <a:gd name="connsiteX1" fmla="*/ 1573161 w 1573161"/>
              <a:gd name="connsiteY1" fmla="*/ 0 h 655483"/>
              <a:gd name="connsiteX2" fmla="*/ 1573161 w 1573161"/>
              <a:gd name="connsiteY2" fmla="*/ 655484 h 655483"/>
              <a:gd name="connsiteX3" fmla="*/ 1520723 w 1573161"/>
              <a:gd name="connsiteY3" fmla="*/ 655484 h 655483"/>
              <a:gd name="connsiteX4" fmla="*/ 52439 w 1573161"/>
              <a:gd name="connsiteY4" fmla="*/ 655484 h 655483"/>
              <a:gd name="connsiteX5" fmla="*/ 0 w 1573161"/>
              <a:gd name="connsiteY5" fmla="*/ 655484 h 655483"/>
              <a:gd name="connsiteX6" fmla="*/ 0 w 1573161"/>
              <a:gd name="connsiteY6" fmla="*/ 0 h 655483"/>
              <a:gd name="connsiteX7" fmla="*/ 52439 w 1573161"/>
              <a:gd name="connsiteY7" fmla="*/ 0 h 65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655483">
                <a:moveTo>
                  <a:pt x="1520723" y="0"/>
                </a:moveTo>
                <a:cubicBezTo>
                  <a:pt x="1549684" y="0"/>
                  <a:pt x="1573161" y="0"/>
                  <a:pt x="1573161" y="0"/>
                </a:cubicBezTo>
                <a:lnTo>
                  <a:pt x="1573161" y="655484"/>
                </a:lnTo>
                <a:cubicBezTo>
                  <a:pt x="1573161" y="655484"/>
                  <a:pt x="1549684" y="655484"/>
                  <a:pt x="1520723" y="655484"/>
                </a:cubicBezTo>
                <a:lnTo>
                  <a:pt x="52439" y="655484"/>
                </a:lnTo>
                <a:cubicBezTo>
                  <a:pt x="23477" y="655484"/>
                  <a:pt x="0" y="655484"/>
                  <a:pt x="0" y="655484"/>
                </a:cubicBezTo>
                <a:lnTo>
                  <a:pt x="0" y="0"/>
                </a:lnTo>
                <a:cubicBezTo>
                  <a:pt x="0" y="0"/>
                  <a:pt x="23477" y="0"/>
                  <a:pt x="52439" y="0"/>
                </a:cubicBezTo>
                <a:close/>
              </a:path>
            </a:pathLst>
          </a:custGeom>
          <a:solidFill>
            <a:srgbClr val="FFFFFF"/>
          </a:solidFill>
          <a:ln w="5244" cap="flat">
            <a:solidFill>
              <a:srgbClr val="EF5350"/>
            </a:solidFill>
            <a:prstDash val="solid"/>
            <a:miter/>
          </a:ln>
        </p:spPr>
        <p:txBody>
          <a:bodyPr rtlCol="0" anchor="ctr"/>
          <a:lstStyle/>
          <a:p>
            <a:endParaRPr lang="zh-CN" altLang="en-US"/>
          </a:p>
        </p:txBody>
      </p:sp>
      <p:sp>
        <p:nvSpPr>
          <p:cNvPr id="1344" name="文本框 1343"/>
          <p:cNvSpPr txBox="1"/>
          <p:nvPr/>
        </p:nvSpPr>
        <p:spPr>
          <a:xfrm>
            <a:off x="8521290" y="4063995"/>
            <a:ext cx="1704258" cy="830997"/>
          </a:xfrm>
          <a:prstGeom prst="rect">
            <a:avLst/>
          </a:prstGeom>
          <a:noFill/>
        </p:spPr>
        <p:txBody>
          <a:bodyPr wrap="square" rtlCol="0">
            <a:spAutoFit/>
          </a:bodyPr>
          <a:lstStyle/>
          <a:p>
            <a:pPr algn="just"/>
            <a:r>
              <a:rPr lang="zh-CN" altLang="en-US" sz="600" spc="0" baseline="0" dirty="0">
                <a:solidFill>
                  <a:srgbClr val="333333"/>
                </a:solidFill>
                <a:latin typeface="Arial" panose="020B0604020202090204"/>
                <a:cs typeface="Arial" panose="020B0604020202090204"/>
                <a:sym typeface="Arial" panose="020B0604020202090204"/>
                <a:rtl val="0"/>
              </a:rPr>
              <a:t>Supply:Truck-only 44.8→Coordinated 37.5 min</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just"/>
            <a:r>
              <a:rPr lang="zh-CN" altLang="en-US" sz="600" spc="0" baseline="0" dirty="0">
                <a:solidFill>
                  <a:srgbClr val="333333"/>
                </a:solidFill>
                <a:latin typeface="Arial" panose="020B0604020202090204"/>
                <a:cs typeface="Arial" panose="020B0604020202090204"/>
                <a:sym typeface="Arial" panose="020B0604020202090204"/>
                <a:rtl val="0"/>
              </a:rPr>
              <a:t>Evac:Full resource 9.1%·No subway 2.8%</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just"/>
            <a:r>
              <a:rPr lang="zh-CN" altLang="en-US" sz="600" spc="0" baseline="0" dirty="0">
                <a:solidFill>
                  <a:srgbClr val="333333"/>
                </a:solidFill>
                <a:latin typeface="Arial" panose="020B0604020202090204"/>
                <a:cs typeface="Arial" panose="020B0604020202090204"/>
                <a:sym typeface="Arial" panose="020B0604020202090204"/>
                <a:rtl val="0"/>
              </a:rPr>
              <a:t>Evac:No helicopter 9.0%·Double ambulance 9.2%</a:t>
            </a:r>
          </a:p>
          <a:p>
            <a:pPr algn="just"/>
            <a:r>
              <a:rPr lang="zh-CN" altLang="en-US" sz="600" spc="0" baseline="0" dirty="0">
                <a:solidFill>
                  <a:srgbClr val="333333"/>
                </a:solidFill>
                <a:latin typeface="Arial" panose="020B0604020202090204"/>
                <a:cs typeface="Arial" panose="020B0604020202090204"/>
                <a:sym typeface="Arial" panose="020B0604020202090204"/>
                <a:rtl val="0"/>
              </a:rPr>
              <a:t>Drone-only:infeasible (payload limit)</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just"/>
            <a:r>
              <a:rPr lang="zh-CN" altLang="en-US" sz="600" spc="0" baseline="0" dirty="0">
                <a:solidFill>
                  <a:srgbClr val="333333"/>
                </a:solidFill>
                <a:latin typeface="Arial" panose="020B0604020202090204"/>
                <a:cs typeface="Arial" panose="020B0604020202090204"/>
                <a:sym typeface="Arial" panose="020B0604020202090204"/>
                <a:rtl val="0"/>
              </a:rPr>
              <a:t>Double drones:no marginal gain (not bottleneck)</a:t>
            </a:r>
          </a:p>
        </p:txBody>
      </p:sp>
      <p:sp>
        <p:nvSpPr>
          <p:cNvPr id="1132" name="任意形状 1131"/>
          <p:cNvSpPr/>
          <p:nvPr/>
        </p:nvSpPr>
        <p:spPr>
          <a:xfrm>
            <a:off x="98322" y="1102032"/>
            <a:ext cx="2425290" cy="3915240"/>
          </a:xfrm>
          <a:custGeom>
            <a:avLst/>
            <a:gdLst>
              <a:gd name="connsiteX0" fmla="*/ 2346632 w 2425290"/>
              <a:gd name="connsiteY0" fmla="*/ 0 h 4785032"/>
              <a:gd name="connsiteX1" fmla="*/ 2425290 w 2425290"/>
              <a:gd name="connsiteY1" fmla="*/ 0 h 4785032"/>
              <a:gd name="connsiteX2" fmla="*/ 2425290 w 2425290"/>
              <a:gd name="connsiteY2" fmla="*/ 4785033 h 4785032"/>
              <a:gd name="connsiteX3" fmla="*/ 2346632 w 2425290"/>
              <a:gd name="connsiteY3" fmla="*/ 4785033 h 4785032"/>
              <a:gd name="connsiteX4" fmla="*/ 78658 w 2425290"/>
              <a:gd name="connsiteY4" fmla="*/ 4785033 h 4785032"/>
              <a:gd name="connsiteX5" fmla="*/ 0 w 2425290"/>
              <a:gd name="connsiteY5" fmla="*/ 4785033 h 4785032"/>
              <a:gd name="connsiteX6" fmla="*/ 0 w 2425290"/>
              <a:gd name="connsiteY6" fmla="*/ 0 h 4785032"/>
              <a:gd name="connsiteX7" fmla="*/ 78658 w 2425290"/>
              <a:gd name="connsiteY7" fmla="*/ 0 h 478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290" h="4785032">
                <a:moveTo>
                  <a:pt x="2346632" y="0"/>
                </a:moveTo>
                <a:cubicBezTo>
                  <a:pt x="2390074" y="0"/>
                  <a:pt x="2425290" y="0"/>
                  <a:pt x="2425290" y="0"/>
                </a:cubicBezTo>
                <a:lnTo>
                  <a:pt x="2425290" y="4785033"/>
                </a:lnTo>
                <a:cubicBezTo>
                  <a:pt x="2425290" y="4785033"/>
                  <a:pt x="2390074" y="4785033"/>
                  <a:pt x="2346632" y="4785033"/>
                </a:cubicBezTo>
                <a:lnTo>
                  <a:pt x="78658" y="4785033"/>
                </a:lnTo>
                <a:cubicBezTo>
                  <a:pt x="35216" y="4785033"/>
                  <a:pt x="0" y="4785033"/>
                  <a:pt x="0" y="4785033"/>
                </a:cubicBezTo>
                <a:lnTo>
                  <a:pt x="0" y="0"/>
                </a:lnTo>
                <a:cubicBezTo>
                  <a:pt x="0" y="0"/>
                  <a:pt x="35216" y="0"/>
                  <a:pt x="78658" y="0"/>
                </a:cubicBezTo>
                <a:close/>
              </a:path>
            </a:pathLst>
          </a:custGeom>
          <a:solidFill>
            <a:srgbClr val="F5F9FF"/>
          </a:solidFill>
          <a:ln w="3277" cap="flat">
            <a:solidFill>
              <a:srgbClr val="BBDEFB"/>
            </a:solidFill>
            <a:prstDash val="solid"/>
            <a:miter/>
          </a:ln>
        </p:spPr>
        <p:txBody>
          <a:bodyPr rtlCol="0" anchor="ctr"/>
          <a:lstStyle/>
          <a:p>
            <a:endParaRPr lang="zh-CN" altLang="en-US" dirty="0"/>
          </a:p>
        </p:txBody>
      </p:sp>
      <p:sp>
        <p:nvSpPr>
          <p:cNvPr id="1133" name="任意形状 1132"/>
          <p:cNvSpPr/>
          <p:nvPr/>
        </p:nvSpPr>
        <p:spPr>
          <a:xfrm>
            <a:off x="2619108" y="1102031"/>
            <a:ext cx="1835354" cy="3919794"/>
          </a:xfrm>
          <a:custGeom>
            <a:avLst/>
            <a:gdLst>
              <a:gd name="connsiteX0" fmla="*/ 1756697 w 1835354"/>
              <a:gd name="connsiteY0" fmla="*/ 0 h 4785032"/>
              <a:gd name="connsiteX1" fmla="*/ 1835355 w 1835354"/>
              <a:gd name="connsiteY1" fmla="*/ 0 h 4785032"/>
              <a:gd name="connsiteX2" fmla="*/ 1835355 w 1835354"/>
              <a:gd name="connsiteY2" fmla="*/ 4785033 h 4785032"/>
              <a:gd name="connsiteX3" fmla="*/ 1756697 w 1835354"/>
              <a:gd name="connsiteY3" fmla="*/ 4785033 h 4785032"/>
              <a:gd name="connsiteX4" fmla="*/ 78658 w 1835354"/>
              <a:gd name="connsiteY4" fmla="*/ 4785033 h 4785032"/>
              <a:gd name="connsiteX5" fmla="*/ 0 w 1835354"/>
              <a:gd name="connsiteY5" fmla="*/ 4785033 h 4785032"/>
              <a:gd name="connsiteX6" fmla="*/ 0 w 1835354"/>
              <a:gd name="connsiteY6" fmla="*/ 0 h 4785032"/>
              <a:gd name="connsiteX7" fmla="*/ 78658 w 1835354"/>
              <a:gd name="connsiteY7" fmla="*/ 0 h 478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5354" h="4785032">
                <a:moveTo>
                  <a:pt x="1756697" y="0"/>
                </a:moveTo>
                <a:cubicBezTo>
                  <a:pt x="1800139" y="0"/>
                  <a:pt x="1835355" y="0"/>
                  <a:pt x="1835355" y="0"/>
                </a:cubicBezTo>
                <a:lnTo>
                  <a:pt x="1835355" y="4785033"/>
                </a:lnTo>
                <a:cubicBezTo>
                  <a:pt x="1835355" y="4785033"/>
                  <a:pt x="1800139" y="4785033"/>
                  <a:pt x="1756697" y="4785033"/>
                </a:cubicBezTo>
                <a:lnTo>
                  <a:pt x="78658" y="4785033"/>
                </a:lnTo>
                <a:cubicBezTo>
                  <a:pt x="35216" y="4785033"/>
                  <a:pt x="0" y="4785033"/>
                  <a:pt x="0" y="4785033"/>
                </a:cubicBezTo>
                <a:lnTo>
                  <a:pt x="0" y="0"/>
                </a:lnTo>
                <a:cubicBezTo>
                  <a:pt x="0" y="0"/>
                  <a:pt x="35216" y="0"/>
                  <a:pt x="78658" y="0"/>
                </a:cubicBezTo>
                <a:close/>
              </a:path>
            </a:pathLst>
          </a:custGeom>
          <a:solidFill>
            <a:srgbClr val="FFF8F0"/>
          </a:solidFill>
          <a:ln w="3277" cap="flat">
            <a:solidFill>
              <a:srgbClr val="FFE0B2"/>
            </a:solidFill>
            <a:prstDash val="solid"/>
            <a:miter/>
          </a:ln>
        </p:spPr>
        <p:txBody>
          <a:bodyPr rtlCol="0" anchor="ctr"/>
          <a:lstStyle/>
          <a:p>
            <a:endParaRPr lang="zh-CN" altLang="en-US"/>
          </a:p>
        </p:txBody>
      </p:sp>
      <p:sp>
        <p:nvSpPr>
          <p:cNvPr id="1134" name="任意形状 1133"/>
          <p:cNvSpPr/>
          <p:nvPr/>
        </p:nvSpPr>
        <p:spPr>
          <a:xfrm>
            <a:off x="4532196" y="1102031"/>
            <a:ext cx="3890771" cy="3915241"/>
          </a:xfrm>
          <a:custGeom>
            <a:avLst/>
            <a:gdLst>
              <a:gd name="connsiteX0" fmla="*/ 3854245 w 3932903"/>
              <a:gd name="connsiteY0" fmla="*/ 0 h 4785032"/>
              <a:gd name="connsiteX1" fmla="*/ 3932903 w 3932903"/>
              <a:gd name="connsiteY1" fmla="*/ 0 h 4785032"/>
              <a:gd name="connsiteX2" fmla="*/ 3932903 w 3932903"/>
              <a:gd name="connsiteY2" fmla="*/ 4785033 h 4785032"/>
              <a:gd name="connsiteX3" fmla="*/ 3854245 w 3932903"/>
              <a:gd name="connsiteY3" fmla="*/ 4785033 h 4785032"/>
              <a:gd name="connsiteX4" fmla="*/ 78658 w 3932903"/>
              <a:gd name="connsiteY4" fmla="*/ 4785033 h 4785032"/>
              <a:gd name="connsiteX5" fmla="*/ 0 w 3932903"/>
              <a:gd name="connsiteY5" fmla="*/ 4785033 h 4785032"/>
              <a:gd name="connsiteX6" fmla="*/ 0 w 3932903"/>
              <a:gd name="connsiteY6" fmla="*/ 0 h 4785032"/>
              <a:gd name="connsiteX7" fmla="*/ 78658 w 3932903"/>
              <a:gd name="connsiteY7" fmla="*/ 0 h 478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2903" h="4785032">
                <a:moveTo>
                  <a:pt x="3854245" y="0"/>
                </a:moveTo>
                <a:cubicBezTo>
                  <a:pt x="3897687" y="0"/>
                  <a:pt x="3932903" y="0"/>
                  <a:pt x="3932903" y="0"/>
                </a:cubicBezTo>
                <a:lnTo>
                  <a:pt x="3932903" y="4785033"/>
                </a:lnTo>
                <a:cubicBezTo>
                  <a:pt x="3932903" y="4785033"/>
                  <a:pt x="3897687" y="4785033"/>
                  <a:pt x="3854245" y="4785033"/>
                </a:cubicBezTo>
                <a:lnTo>
                  <a:pt x="78658" y="4785033"/>
                </a:lnTo>
                <a:cubicBezTo>
                  <a:pt x="35216" y="4785033"/>
                  <a:pt x="0" y="4785033"/>
                  <a:pt x="0" y="4785033"/>
                </a:cubicBezTo>
                <a:lnTo>
                  <a:pt x="0" y="0"/>
                </a:lnTo>
                <a:cubicBezTo>
                  <a:pt x="0" y="0"/>
                  <a:pt x="35216" y="0"/>
                  <a:pt x="78658" y="0"/>
                </a:cubicBezTo>
                <a:close/>
              </a:path>
            </a:pathLst>
          </a:custGeom>
          <a:solidFill>
            <a:srgbClr val="F0FFF4"/>
          </a:solidFill>
          <a:ln w="3277" cap="flat">
            <a:solidFill>
              <a:srgbClr val="C8E6C9"/>
            </a:solidFill>
            <a:prstDash val="solid"/>
            <a:miter/>
          </a:ln>
        </p:spPr>
        <p:txBody>
          <a:bodyPr rtlCol="0" anchor="ctr"/>
          <a:lstStyle/>
          <a:p>
            <a:endParaRPr lang="zh-CN" altLang="en-US"/>
          </a:p>
        </p:txBody>
      </p:sp>
      <p:sp>
        <p:nvSpPr>
          <p:cNvPr id="1136" name="任意形状 1135"/>
          <p:cNvSpPr/>
          <p:nvPr/>
        </p:nvSpPr>
        <p:spPr>
          <a:xfrm>
            <a:off x="10323870" y="1102032"/>
            <a:ext cx="1769806" cy="3915240"/>
          </a:xfrm>
          <a:custGeom>
            <a:avLst/>
            <a:gdLst>
              <a:gd name="connsiteX0" fmla="*/ 1691148 w 1769806"/>
              <a:gd name="connsiteY0" fmla="*/ 0 h 4785032"/>
              <a:gd name="connsiteX1" fmla="*/ 1769807 w 1769806"/>
              <a:gd name="connsiteY1" fmla="*/ 0 h 4785032"/>
              <a:gd name="connsiteX2" fmla="*/ 1769807 w 1769806"/>
              <a:gd name="connsiteY2" fmla="*/ 4785033 h 4785032"/>
              <a:gd name="connsiteX3" fmla="*/ 1691148 w 1769806"/>
              <a:gd name="connsiteY3" fmla="*/ 4785033 h 4785032"/>
              <a:gd name="connsiteX4" fmla="*/ 78658 w 1769806"/>
              <a:gd name="connsiteY4" fmla="*/ 4785033 h 4785032"/>
              <a:gd name="connsiteX5" fmla="*/ 0 w 1769806"/>
              <a:gd name="connsiteY5" fmla="*/ 4785033 h 4785032"/>
              <a:gd name="connsiteX6" fmla="*/ 0 w 1769806"/>
              <a:gd name="connsiteY6" fmla="*/ 0 h 4785032"/>
              <a:gd name="connsiteX7" fmla="*/ 78658 w 1769806"/>
              <a:gd name="connsiteY7" fmla="*/ 0 h 478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806" h="4785032">
                <a:moveTo>
                  <a:pt x="1691148" y="0"/>
                </a:moveTo>
                <a:cubicBezTo>
                  <a:pt x="1734590" y="0"/>
                  <a:pt x="1769807" y="0"/>
                  <a:pt x="1769807" y="0"/>
                </a:cubicBezTo>
                <a:lnTo>
                  <a:pt x="1769807" y="4785033"/>
                </a:lnTo>
                <a:cubicBezTo>
                  <a:pt x="1769807" y="4785033"/>
                  <a:pt x="1734590" y="4785033"/>
                  <a:pt x="1691148" y="4785033"/>
                </a:cubicBezTo>
                <a:lnTo>
                  <a:pt x="78658" y="4785033"/>
                </a:lnTo>
                <a:cubicBezTo>
                  <a:pt x="35216" y="4785033"/>
                  <a:pt x="0" y="4785033"/>
                  <a:pt x="0" y="4785033"/>
                </a:cubicBezTo>
                <a:lnTo>
                  <a:pt x="0" y="0"/>
                </a:lnTo>
                <a:cubicBezTo>
                  <a:pt x="0" y="0"/>
                  <a:pt x="35216" y="0"/>
                  <a:pt x="78658" y="0"/>
                </a:cubicBezTo>
                <a:close/>
              </a:path>
            </a:pathLst>
          </a:custGeom>
          <a:solidFill>
            <a:srgbClr val="F5F0FF"/>
          </a:solidFill>
          <a:ln w="3277" cap="flat">
            <a:solidFill>
              <a:srgbClr val="D1C4E9"/>
            </a:solidFill>
            <a:prstDash val="solid"/>
            <a:miter/>
          </a:ln>
        </p:spPr>
        <p:txBody>
          <a:bodyPr rtlCol="0" anchor="ctr"/>
          <a:lstStyle/>
          <a:p>
            <a:endParaRPr lang="zh-CN" altLang="en-US"/>
          </a:p>
        </p:txBody>
      </p:sp>
      <p:sp>
        <p:nvSpPr>
          <p:cNvPr id="1137" name="文本框 1136"/>
          <p:cNvSpPr txBox="1"/>
          <p:nvPr/>
        </p:nvSpPr>
        <p:spPr>
          <a:xfrm>
            <a:off x="1010243" y="800673"/>
            <a:ext cx="601448" cy="242374"/>
          </a:xfrm>
          <a:prstGeom prst="rect">
            <a:avLst/>
          </a:prstGeom>
          <a:noFill/>
        </p:spPr>
        <p:txBody>
          <a:bodyPr wrap="none" rtlCol="0">
            <a:spAutoFit/>
          </a:bodyPr>
          <a:lstStyle/>
          <a:p>
            <a:pPr algn="ctr"/>
            <a:r>
              <a:rPr lang="zh-CN" altLang="en-US" sz="975" b="1" spc="0" baseline="0" dirty="0">
                <a:solidFill>
                  <a:srgbClr val="1565C0"/>
                </a:solidFill>
                <a:latin typeface="Segoe UI"/>
                <a:cs typeface="Segoe UI"/>
                <a:sym typeface="Segoe UI"/>
                <a:rtl val="0"/>
              </a:rPr>
              <a:t>Phase I</a:t>
            </a:r>
          </a:p>
        </p:txBody>
      </p:sp>
      <p:sp>
        <p:nvSpPr>
          <p:cNvPr id="1138" name="文本框 1137"/>
          <p:cNvSpPr txBox="1"/>
          <p:nvPr/>
        </p:nvSpPr>
        <p:spPr>
          <a:xfrm>
            <a:off x="522129" y="931770"/>
            <a:ext cx="1577676" cy="219291"/>
          </a:xfrm>
          <a:prstGeom prst="rect">
            <a:avLst/>
          </a:prstGeom>
          <a:noFill/>
        </p:spPr>
        <p:txBody>
          <a:bodyPr wrap="none" rtlCol="0">
            <a:spAutoFit/>
          </a:bodyPr>
          <a:lstStyle/>
          <a:p>
            <a:pPr algn="ctr"/>
            <a:r>
              <a:rPr lang="zh-CN" altLang="en-US" sz="825" spc="0" baseline="0">
                <a:solidFill>
                  <a:srgbClr val="42A5F5"/>
                </a:solidFill>
                <a:latin typeface="Segoe UI"/>
                <a:cs typeface="Segoe UI"/>
                <a:sym typeface="Segoe UI"/>
                <a:rtl val="0"/>
              </a:rPr>
              <a:t>Multi-Source Data Integration</a:t>
            </a:r>
          </a:p>
        </p:txBody>
      </p:sp>
      <p:sp>
        <p:nvSpPr>
          <p:cNvPr id="1139" name="文本框 1138"/>
          <p:cNvSpPr txBox="1"/>
          <p:nvPr/>
        </p:nvSpPr>
        <p:spPr>
          <a:xfrm>
            <a:off x="3186078" y="800673"/>
            <a:ext cx="641522" cy="242374"/>
          </a:xfrm>
          <a:prstGeom prst="rect">
            <a:avLst/>
          </a:prstGeom>
          <a:noFill/>
        </p:spPr>
        <p:txBody>
          <a:bodyPr wrap="none" rtlCol="0">
            <a:spAutoFit/>
          </a:bodyPr>
          <a:lstStyle/>
          <a:p>
            <a:pPr algn="ctr"/>
            <a:r>
              <a:rPr lang="zh-CN" altLang="en-US" sz="975" b="1" spc="0" baseline="0" dirty="0">
                <a:solidFill>
                  <a:srgbClr val="E65100"/>
                </a:solidFill>
                <a:latin typeface="Segoe UI"/>
                <a:cs typeface="Segoe UI"/>
                <a:sym typeface="Segoe UI"/>
                <a:rtl val="0"/>
              </a:rPr>
              <a:t>Phase II</a:t>
            </a:r>
          </a:p>
        </p:txBody>
      </p:sp>
      <p:sp>
        <p:nvSpPr>
          <p:cNvPr id="1140" name="文本框 1139"/>
          <p:cNvSpPr txBox="1"/>
          <p:nvPr/>
        </p:nvSpPr>
        <p:spPr>
          <a:xfrm>
            <a:off x="2697891" y="931770"/>
            <a:ext cx="1611340" cy="219291"/>
          </a:xfrm>
          <a:prstGeom prst="rect">
            <a:avLst/>
          </a:prstGeom>
          <a:noFill/>
        </p:spPr>
        <p:txBody>
          <a:bodyPr wrap="none" rtlCol="0">
            <a:spAutoFit/>
          </a:bodyPr>
          <a:lstStyle/>
          <a:p>
            <a:pPr algn="ctr"/>
            <a:r>
              <a:rPr lang="zh-CN" altLang="en-US" sz="825" spc="0" baseline="0" dirty="0">
                <a:solidFill>
                  <a:srgbClr val="FF9800"/>
                </a:solidFill>
                <a:latin typeface="Segoe UI"/>
                <a:cs typeface="Segoe UI"/>
                <a:sym typeface="Segoe UI"/>
                <a:rtl val="0"/>
              </a:rPr>
              <a:t>Incident Scenario Construction</a:t>
            </a:r>
          </a:p>
        </p:txBody>
      </p:sp>
      <p:sp>
        <p:nvSpPr>
          <p:cNvPr id="1141" name="文本框 1140"/>
          <p:cNvSpPr txBox="1"/>
          <p:nvPr/>
        </p:nvSpPr>
        <p:spPr>
          <a:xfrm>
            <a:off x="6112440" y="800673"/>
            <a:ext cx="681597" cy="242374"/>
          </a:xfrm>
          <a:prstGeom prst="rect">
            <a:avLst/>
          </a:prstGeom>
          <a:noFill/>
        </p:spPr>
        <p:txBody>
          <a:bodyPr wrap="none" rtlCol="0">
            <a:spAutoFit/>
          </a:bodyPr>
          <a:lstStyle/>
          <a:p>
            <a:pPr algn="ctr"/>
            <a:r>
              <a:rPr lang="zh-CN" altLang="en-US" sz="975" b="1" spc="0" baseline="0">
                <a:solidFill>
                  <a:srgbClr val="2E7D32"/>
                </a:solidFill>
                <a:latin typeface="Segoe UI"/>
                <a:cs typeface="Segoe UI"/>
                <a:sym typeface="Segoe UI"/>
                <a:rtl val="0"/>
              </a:rPr>
              <a:t>Phase III</a:t>
            </a:r>
          </a:p>
        </p:txBody>
      </p:sp>
      <p:sp>
        <p:nvSpPr>
          <p:cNvPr id="1142" name="文本框 1141"/>
          <p:cNvSpPr txBox="1"/>
          <p:nvPr/>
        </p:nvSpPr>
        <p:spPr>
          <a:xfrm>
            <a:off x="5755042" y="931770"/>
            <a:ext cx="1402948" cy="219291"/>
          </a:xfrm>
          <a:prstGeom prst="rect">
            <a:avLst/>
          </a:prstGeom>
          <a:noFill/>
        </p:spPr>
        <p:txBody>
          <a:bodyPr wrap="none" rtlCol="0">
            <a:spAutoFit/>
          </a:bodyPr>
          <a:lstStyle/>
          <a:p>
            <a:pPr algn="ctr"/>
            <a:r>
              <a:rPr lang="zh-CN" altLang="en-US" sz="825" spc="0" baseline="0">
                <a:solidFill>
                  <a:srgbClr val="4CAF50"/>
                </a:solidFill>
                <a:latin typeface="Segoe UI"/>
                <a:cs typeface="Segoe UI"/>
                <a:sym typeface="Segoe UI"/>
                <a:rtl val="0"/>
              </a:rPr>
              <a:t>Coordinated Optimization</a:t>
            </a:r>
          </a:p>
        </p:txBody>
      </p:sp>
      <p:sp>
        <p:nvSpPr>
          <p:cNvPr id="1143" name="文本框 1142"/>
          <p:cNvSpPr txBox="1"/>
          <p:nvPr/>
        </p:nvSpPr>
        <p:spPr>
          <a:xfrm>
            <a:off x="9031017" y="800673"/>
            <a:ext cx="684804" cy="242374"/>
          </a:xfrm>
          <a:prstGeom prst="rect">
            <a:avLst/>
          </a:prstGeom>
          <a:noFill/>
        </p:spPr>
        <p:txBody>
          <a:bodyPr wrap="none" rtlCol="0">
            <a:spAutoFit/>
          </a:bodyPr>
          <a:lstStyle/>
          <a:p>
            <a:pPr algn="ctr"/>
            <a:r>
              <a:rPr lang="zh-CN" altLang="en-US" sz="975" b="1" spc="0" baseline="0">
                <a:solidFill>
                  <a:srgbClr val="C62828"/>
                </a:solidFill>
                <a:latin typeface="Segoe UI"/>
                <a:cs typeface="Segoe UI"/>
                <a:sym typeface="Segoe UI"/>
                <a:rtl val="0"/>
              </a:rPr>
              <a:t>Phase IV</a:t>
            </a:r>
          </a:p>
        </p:txBody>
      </p:sp>
      <p:sp>
        <p:nvSpPr>
          <p:cNvPr id="1144" name="文本框 1143"/>
          <p:cNvSpPr txBox="1"/>
          <p:nvPr/>
        </p:nvSpPr>
        <p:spPr>
          <a:xfrm>
            <a:off x="8763316" y="931770"/>
            <a:ext cx="1220206" cy="219291"/>
          </a:xfrm>
          <a:prstGeom prst="rect">
            <a:avLst/>
          </a:prstGeom>
          <a:noFill/>
        </p:spPr>
        <p:txBody>
          <a:bodyPr wrap="none" rtlCol="0">
            <a:spAutoFit/>
          </a:bodyPr>
          <a:lstStyle/>
          <a:p>
            <a:pPr algn="ctr"/>
            <a:r>
              <a:rPr lang="zh-CN" altLang="en-US" sz="825" spc="0" baseline="0">
                <a:solidFill>
                  <a:srgbClr val="EF5350"/>
                </a:solidFill>
                <a:latin typeface="Segoe UI"/>
                <a:cs typeface="Segoe UI"/>
                <a:sym typeface="Segoe UI"/>
                <a:rtl val="0"/>
              </a:rPr>
              <a:t>Resilience Assessment</a:t>
            </a:r>
          </a:p>
        </p:txBody>
      </p:sp>
      <p:sp>
        <p:nvSpPr>
          <p:cNvPr id="1145" name="文本框 1144"/>
          <p:cNvSpPr txBox="1"/>
          <p:nvPr/>
        </p:nvSpPr>
        <p:spPr>
          <a:xfrm>
            <a:off x="10886410" y="800673"/>
            <a:ext cx="644728" cy="242374"/>
          </a:xfrm>
          <a:prstGeom prst="rect">
            <a:avLst/>
          </a:prstGeom>
          <a:noFill/>
        </p:spPr>
        <p:txBody>
          <a:bodyPr wrap="none" rtlCol="0">
            <a:spAutoFit/>
          </a:bodyPr>
          <a:lstStyle/>
          <a:p>
            <a:pPr algn="ctr"/>
            <a:r>
              <a:rPr lang="zh-CN" altLang="en-US" sz="975" b="1" spc="0" baseline="0" dirty="0">
                <a:solidFill>
                  <a:srgbClr val="4527A0"/>
                </a:solidFill>
                <a:latin typeface="Segoe UI"/>
                <a:cs typeface="Segoe UI"/>
                <a:sym typeface="Segoe UI"/>
                <a:rtl val="0"/>
              </a:rPr>
              <a:t>Phase V</a:t>
            </a:r>
          </a:p>
        </p:txBody>
      </p:sp>
      <p:sp>
        <p:nvSpPr>
          <p:cNvPr id="1146" name="文本框 1145"/>
          <p:cNvSpPr txBox="1"/>
          <p:nvPr/>
        </p:nvSpPr>
        <p:spPr>
          <a:xfrm>
            <a:off x="10484055" y="931770"/>
            <a:ext cx="1449436" cy="219291"/>
          </a:xfrm>
          <a:prstGeom prst="rect">
            <a:avLst/>
          </a:prstGeom>
          <a:noFill/>
        </p:spPr>
        <p:txBody>
          <a:bodyPr wrap="none" rtlCol="0">
            <a:spAutoFit/>
          </a:bodyPr>
          <a:lstStyle/>
          <a:p>
            <a:pPr algn="ctr"/>
            <a:r>
              <a:rPr lang="zh-CN" altLang="en-US" sz="825" spc="0" baseline="0">
                <a:solidFill>
                  <a:srgbClr val="7E57C2"/>
                </a:solidFill>
                <a:latin typeface="Segoe UI"/>
                <a:cs typeface="Segoe UI"/>
                <a:sym typeface="Segoe UI"/>
                <a:rtl val="0"/>
              </a:rPr>
              <a:t>Conclusions &amp; Implications</a:t>
            </a:r>
          </a:p>
        </p:txBody>
      </p:sp>
      <p:sp>
        <p:nvSpPr>
          <p:cNvPr id="1148" name="任意形状 1147"/>
          <p:cNvSpPr/>
          <p:nvPr/>
        </p:nvSpPr>
        <p:spPr>
          <a:xfrm>
            <a:off x="196645" y="1233128"/>
            <a:ext cx="1048774" cy="471296"/>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49" name="任意形状 1148"/>
          <p:cNvSpPr/>
          <p:nvPr/>
        </p:nvSpPr>
        <p:spPr>
          <a:xfrm>
            <a:off x="196645" y="1233128"/>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1565C0"/>
          </a:solidFill>
          <a:ln w="6555" cap="flat">
            <a:noFill/>
            <a:prstDash val="solid"/>
            <a:miter/>
          </a:ln>
        </p:spPr>
        <p:txBody>
          <a:bodyPr rtlCol="0" anchor="ctr"/>
          <a:lstStyle/>
          <a:p>
            <a:endParaRPr lang="zh-CN" altLang="en-US"/>
          </a:p>
        </p:txBody>
      </p:sp>
      <p:sp>
        <p:nvSpPr>
          <p:cNvPr id="1150" name="任意形状 1149"/>
          <p:cNvSpPr/>
          <p:nvPr/>
        </p:nvSpPr>
        <p:spPr>
          <a:xfrm>
            <a:off x="196645" y="1311786"/>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1565C0"/>
          </a:solidFill>
          <a:ln w="6555" cap="flat">
            <a:noFill/>
            <a:prstDash val="solid"/>
            <a:miter/>
          </a:ln>
        </p:spPr>
        <p:txBody>
          <a:bodyPr rtlCol="0" anchor="ctr"/>
          <a:lstStyle/>
          <a:p>
            <a:endParaRPr lang="zh-CN" altLang="en-US"/>
          </a:p>
        </p:txBody>
      </p:sp>
      <p:sp>
        <p:nvSpPr>
          <p:cNvPr id="1151" name="文本框 1150"/>
          <p:cNvSpPr txBox="1"/>
          <p:nvPr/>
        </p:nvSpPr>
        <p:spPr>
          <a:xfrm>
            <a:off x="225544" y="1194373"/>
            <a:ext cx="990977"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OSM Road Network</a:t>
            </a:r>
          </a:p>
        </p:txBody>
      </p:sp>
      <p:sp>
        <p:nvSpPr>
          <p:cNvPr id="1152" name="文本框 1151"/>
          <p:cNvSpPr txBox="1"/>
          <p:nvPr/>
        </p:nvSpPr>
        <p:spPr>
          <a:xfrm>
            <a:off x="219914" y="1401287"/>
            <a:ext cx="1018622" cy="276999"/>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Road class · Speed limit · Direction</a:t>
            </a:r>
          </a:p>
        </p:txBody>
      </p:sp>
      <p:sp>
        <p:nvSpPr>
          <p:cNvPr id="1155" name="任意形状 1154"/>
          <p:cNvSpPr/>
          <p:nvPr/>
        </p:nvSpPr>
        <p:spPr>
          <a:xfrm>
            <a:off x="1376516" y="1233127"/>
            <a:ext cx="1048774" cy="471297"/>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56" name="任意形状 1155"/>
          <p:cNvSpPr/>
          <p:nvPr/>
        </p:nvSpPr>
        <p:spPr>
          <a:xfrm>
            <a:off x="1376516" y="1233128"/>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1976D2"/>
          </a:solidFill>
          <a:ln w="6555" cap="flat">
            <a:noFill/>
            <a:prstDash val="solid"/>
            <a:miter/>
          </a:ln>
        </p:spPr>
        <p:txBody>
          <a:bodyPr rtlCol="0" anchor="ctr"/>
          <a:lstStyle/>
          <a:p>
            <a:endParaRPr lang="zh-CN" altLang="en-US"/>
          </a:p>
        </p:txBody>
      </p:sp>
      <p:sp>
        <p:nvSpPr>
          <p:cNvPr id="1157" name="任意形状 1156"/>
          <p:cNvSpPr/>
          <p:nvPr/>
        </p:nvSpPr>
        <p:spPr>
          <a:xfrm>
            <a:off x="1376516" y="1311786"/>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1976D2"/>
          </a:solidFill>
          <a:ln w="6555" cap="flat">
            <a:noFill/>
            <a:prstDash val="solid"/>
            <a:miter/>
          </a:ln>
        </p:spPr>
        <p:txBody>
          <a:bodyPr rtlCol="0" anchor="ctr"/>
          <a:lstStyle/>
          <a:p>
            <a:endParaRPr lang="zh-CN" altLang="en-US"/>
          </a:p>
        </p:txBody>
      </p:sp>
      <p:sp>
        <p:nvSpPr>
          <p:cNvPr id="1158" name="文本框 1157"/>
          <p:cNvSpPr txBox="1"/>
          <p:nvPr/>
        </p:nvSpPr>
        <p:spPr>
          <a:xfrm>
            <a:off x="1407819" y="1194373"/>
            <a:ext cx="986168"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Baidu POI Database</a:t>
            </a:r>
          </a:p>
        </p:txBody>
      </p:sp>
      <p:sp>
        <p:nvSpPr>
          <p:cNvPr id="1159" name="文本框 1158"/>
          <p:cNvSpPr txBox="1"/>
          <p:nvPr/>
        </p:nvSpPr>
        <p:spPr>
          <a:xfrm>
            <a:off x="1374091" y="1349943"/>
            <a:ext cx="1051725" cy="369332"/>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Hospitals · Fire Stations · Shelters · Subway</a:t>
            </a:r>
          </a:p>
        </p:txBody>
      </p:sp>
      <p:sp>
        <p:nvSpPr>
          <p:cNvPr id="1162" name="任意形状 1161"/>
          <p:cNvSpPr/>
          <p:nvPr/>
        </p:nvSpPr>
        <p:spPr>
          <a:xfrm>
            <a:off x="196645" y="1842799"/>
            <a:ext cx="1048774" cy="419920"/>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63" name="任意形状 1162"/>
          <p:cNvSpPr/>
          <p:nvPr/>
        </p:nvSpPr>
        <p:spPr>
          <a:xfrm>
            <a:off x="196645" y="1842799"/>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1E88E5"/>
          </a:solidFill>
          <a:ln w="6555" cap="flat">
            <a:noFill/>
            <a:prstDash val="solid"/>
            <a:miter/>
          </a:ln>
        </p:spPr>
        <p:txBody>
          <a:bodyPr rtlCol="0" anchor="ctr"/>
          <a:lstStyle/>
          <a:p>
            <a:endParaRPr lang="zh-CN" altLang="en-US"/>
          </a:p>
        </p:txBody>
      </p:sp>
      <p:sp>
        <p:nvSpPr>
          <p:cNvPr id="1164" name="任意形状 1163"/>
          <p:cNvSpPr/>
          <p:nvPr/>
        </p:nvSpPr>
        <p:spPr>
          <a:xfrm>
            <a:off x="196645" y="1921457"/>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1E88E5"/>
          </a:solidFill>
          <a:ln w="6555" cap="flat">
            <a:noFill/>
            <a:prstDash val="solid"/>
            <a:miter/>
          </a:ln>
        </p:spPr>
        <p:txBody>
          <a:bodyPr rtlCol="0" anchor="ctr"/>
          <a:lstStyle/>
          <a:p>
            <a:endParaRPr lang="zh-CN" altLang="en-US"/>
          </a:p>
        </p:txBody>
      </p:sp>
      <p:sp>
        <p:nvSpPr>
          <p:cNvPr id="1165" name="文本框 1164"/>
          <p:cNvSpPr txBox="1"/>
          <p:nvPr/>
        </p:nvSpPr>
        <p:spPr>
          <a:xfrm>
            <a:off x="156615" y="1804044"/>
            <a:ext cx="1128835"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National Census (2020)</a:t>
            </a:r>
          </a:p>
        </p:txBody>
      </p:sp>
      <p:sp>
        <p:nvSpPr>
          <p:cNvPr id="1166" name="文本框 1165"/>
          <p:cNvSpPr txBox="1"/>
          <p:nvPr/>
        </p:nvSpPr>
        <p:spPr>
          <a:xfrm>
            <a:off x="196317" y="1965568"/>
            <a:ext cx="1049102" cy="276999"/>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Age-sex distribution (district level)</a:t>
            </a:r>
          </a:p>
        </p:txBody>
      </p:sp>
      <p:sp>
        <p:nvSpPr>
          <p:cNvPr id="1169" name="任意形状 1168"/>
          <p:cNvSpPr/>
          <p:nvPr/>
        </p:nvSpPr>
        <p:spPr>
          <a:xfrm>
            <a:off x="1376516" y="1842799"/>
            <a:ext cx="1048774" cy="419920"/>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70" name="任意形状 1169"/>
          <p:cNvSpPr/>
          <p:nvPr/>
        </p:nvSpPr>
        <p:spPr>
          <a:xfrm>
            <a:off x="1376516" y="1842799"/>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2196F3"/>
          </a:solidFill>
          <a:ln w="6555" cap="flat">
            <a:noFill/>
            <a:prstDash val="solid"/>
            <a:miter/>
          </a:ln>
        </p:spPr>
        <p:txBody>
          <a:bodyPr rtlCol="0" anchor="ctr"/>
          <a:lstStyle/>
          <a:p>
            <a:endParaRPr lang="zh-CN" altLang="en-US"/>
          </a:p>
        </p:txBody>
      </p:sp>
      <p:sp>
        <p:nvSpPr>
          <p:cNvPr id="1171" name="任意形状 1170"/>
          <p:cNvSpPr/>
          <p:nvPr/>
        </p:nvSpPr>
        <p:spPr>
          <a:xfrm>
            <a:off x="1376516" y="1921457"/>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2196F3"/>
          </a:solidFill>
          <a:ln w="6555" cap="flat">
            <a:noFill/>
            <a:prstDash val="solid"/>
            <a:miter/>
          </a:ln>
        </p:spPr>
        <p:txBody>
          <a:bodyPr rtlCol="0" anchor="ctr"/>
          <a:lstStyle/>
          <a:p>
            <a:endParaRPr lang="zh-CN" altLang="en-US"/>
          </a:p>
        </p:txBody>
      </p:sp>
      <p:sp>
        <p:nvSpPr>
          <p:cNvPr id="1172" name="文本框 1171"/>
          <p:cNvSpPr txBox="1"/>
          <p:nvPr/>
        </p:nvSpPr>
        <p:spPr>
          <a:xfrm>
            <a:off x="1358125" y="1804044"/>
            <a:ext cx="1085555"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Mobile Signaling Data</a:t>
            </a:r>
          </a:p>
        </p:txBody>
      </p:sp>
      <p:sp>
        <p:nvSpPr>
          <p:cNvPr id="1173" name="文本框 1172"/>
          <p:cNvSpPr txBox="1"/>
          <p:nvPr/>
        </p:nvSpPr>
        <p:spPr>
          <a:xfrm>
            <a:off x="1373565" y="1984041"/>
            <a:ext cx="1051725" cy="276999"/>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OD flows · Commute patterns · Mode split</a:t>
            </a:r>
          </a:p>
        </p:txBody>
      </p:sp>
      <p:sp>
        <p:nvSpPr>
          <p:cNvPr id="1176" name="任意形状 1175"/>
          <p:cNvSpPr/>
          <p:nvPr/>
        </p:nvSpPr>
        <p:spPr>
          <a:xfrm>
            <a:off x="196645" y="2440182"/>
            <a:ext cx="1048774" cy="439583"/>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77" name="任意形状 1176"/>
          <p:cNvSpPr/>
          <p:nvPr/>
        </p:nvSpPr>
        <p:spPr>
          <a:xfrm>
            <a:off x="196645" y="2440183"/>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42A5F5"/>
          </a:solidFill>
          <a:ln w="6555" cap="flat">
            <a:noFill/>
            <a:prstDash val="solid"/>
            <a:miter/>
          </a:ln>
        </p:spPr>
        <p:txBody>
          <a:bodyPr rtlCol="0" anchor="ctr"/>
          <a:lstStyle/>
          <a:p>
            <a:endParaRPr lang="zh-CN" altLang="en-US"/>
          </a:p>
        </p:txBody>
      </p:sp>
      <p:sp>
        <p:nvSpPr>
          <p:cNvPr id="1178" name="任意形状 1177"/>
          <p:cNvSpPr/>
          <p:nvPr/>
        </p:nvSpPr>
        <p:spPr>
          <a:xfrm>
            <a:off x="196645" y="2518841"/>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42A5F5"/>
          </a:solidFill>
          <a:ln w="6555" cap="flat">
            <a:noFill/>
            <a:prstDash val="solid"/>
            <a:miter/>
          </a:ln>
        </p:spPr>
        <p:txBody>
          <a:bodyPr rtlCol="0" anchor="ctr"/>
          <a:lstStyle/>
          <a:p>
            <a:endParaRPr lang="zh-CN" altLang="en-US"/>
          </a:p>
        </p:txBody>
      </p:sp>
      <p:sp>
        <p:nvSpPr>
          <p:cNvPr id="1179" name="文本框 1178"/>
          <p:cNvSpPr txBox="1"/>
          <p:nvPr/>
        </p:nvSpPr>
        <p:spPr>
          <a:xfrm>
            <a:off x="157344" y="2404602"/>
            <a:ext cx="1120820"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Block-Level Population</a:t>
            </a:r>
          </a:p>
        </p:txBody>
      </p:sp>
      <p:sp>
        <p:nvSpPr>
          <p:cNvPr id="1180" name="文本框 1179"/>
          <p:cNvSpPr txBox="1"/>
          <p:nvPr/>
        </p:nvSpPr>
        <p:spPr>
          <a:xfrm>
            <a:off x="203854" y="2572188"/>
            <a:ext cx="1038615" cy="276999"/>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Baidu LBS resident distribution</a:t>
            </a:r>
          </a:p>
        </p:txBody>
      </p:sp>
      <p:sp>
        <p:nvSpPr>
          <p:cNvPr id="1183" name="任意形状 1182"/>
          <p:cNvSpPr/>
          <p:nvPr/>
        </p:nvSpPr>
        <p:spPr>
          <a:xfrm>
            <a:off x="1376516" y="2440183"/>
            <a:ext cx="1048774" cy="447206"/>
          </a:xfrm>
          <a:custGeom>
            <a:avLst/>
            <a:gdLst>
              <a:gd name="connsiteX0" fmla="*/ 1009445 w 1048774"/>
              <a:gd name="connsiteY0" fmla="*/ 0 h 367070"/>
              <a:gd name="connsiteX1" fmla="*/ 1048774 w 1048774"/>
              <a:gd name="connsiteY1" fmla="*/ 0 h 367070"/>
              <a:gd name="connsiteX2" fmla="*/ 1048774 w 1048774"/>
              <a:gd name="connsiteY2" fmla="*/ 367071 h 367070"/>
              <a:gd name="connsiteX3" fmla="*/ 1009445 w 1048774"/>
              <a:gd name="connsiteY3" fmla="*/ 367071 h 367070"/>
              <a:gd name="connsiteX4" fmla="*/ 39329 w 1048774"/>
              <a:gd name="connsiteY4" fmla="*/ 367071 h 367070"/>
              <a:gd name="connsiteX5" fmla="*/ 0 w 1048774"/>
              <a:gd name="connsiteY5" fmla="*/ 367071 h 367070"/>
              <a:gd name="connsiteX6" fmla="*/ 0 w 1048774"/>
              <a:gd name="connsiteY6" fmla="*/ 0 h 367070"/>
              <a:gd name="connsiteX7" fmla="*/ 39329 w 1048774"/>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7070">
                <a:moveTo>
                  <a:pt x="1009445" y="0"/>
                </a:moveTo>
                <a:cubicBezTo>
                  <a:pt x="1031166" y="0"/>
                  <a:pt x="1048774" y="0"/>
                  <a:pt x="1048774" y="0"/>
                </a:cubicBezTo>
                <a:lnTo>
                  <a:pt x="1048774" y="367071"/>
                </a:lnTo>
                <a:cubicBezTo>
                  <a:pt x="1048774" y="367071"/>
                  <a:pt x="1031166" y="367071"/>
                  <a:pt x="1009445" y="367071"/>
                </a:cubicBezTo>
                <a:lnTo>
                  <a:pt x="39329" y="367071"/>
                </a:lnTo>
                <a:cubicBezTo>
                  <a:pt x="17608" y="367071"/>
                  <a:pt x="0" y="367071"/>
                  <a:pt x="0" y="367071"/>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endParaRPr lang="zh-CN" altLang="en-US"/>
          </a:p>
        </p:txBody>
      </p:sp>
      <p:sp>
        <p:nvSpPr>
          <p:cNvPr id="1184" name="任意形状 1183"/>
          <p:cNvSpPr/>
          <p:nvPr/>
        </p:nvSpPr>
        <p:spPr>
          <a:xfrm>
            <a:off x="1376516" y="2440183"/>
            <a:ext cx="1048774" cy="117987"/>
          </a:xfrm>
          <a:custGeom>
            <a:avLst/>
            <a:gdLst>
              <a:gd name="connsiteX0" fmla="*/ 1009445 w 1048774"/>
              <a:gd name="connsiteY0" fmla="*/ 0 h 117987"/>
              <a:gd name="connsiteX1" fmla="*/ 1048774 w 1048774"/>
              <a:gd name="connsiteY1" fmla="*/ 0 h 117987"/>
              <a:gd name="connsiteX2" fmla="*/ 1048774 w 1048774"/>
              <a:gd name="connsiteY2" fmla="*/ 117987 h 117987"/>
              <a:gd name="connsiteX3" fmla="*/ 1009445 w 1048774"/>
              <a:gd name="connsiteY3" fmla="*/ 117987 h 117987"/>
              <a:gd name="connsiteX4" fmla="*/ 39329 w 1048774"/>
              <a:gd name="connsiteY4" fmla="*/ 117987 h 117987"/>
              <a:gd name="connsiteX5" fmla="*/ 0 w 1048774"/>
              <a:gd name="connsiteY5" fmla="*/ 117987 h 117987"/>
              <a:gd name="connsiteX6" fmla="*/ 0 w 1048774"/>
              <a:gd name="connsiteY6" fmla="*/ 0 h 117987"/>
              <a:gd name="connsiteX7" fmla="*/ 39329 w 1048774"/>
              <a:gd name="connsiteY7" fmla="*/ 0 h 1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987">
                <a:moveTo>
                  <a:pt x="1009445" y="0"/>
                </a:moveTo>
                <a:cubicBezTo>
                  <a:pt x="1031166" y="0"/>
                  <a:pt x="1048774" y="0"/>
                  <a:pt x="1048774" y="0"/>
                </a:cubicBezTo>
                <a:lnTo>
                  <a:pt x="1048774" y="117987"/>
                </a:lnTo>
                <a:cubicBezTo>
                  <a:pt x="1048774" y="117987"/>
                  <a:pt x="1031166" y="117987"/>
                  <a:pt x="1009445" y="117987"/>
                </a:cubicBezTo>
                <a:lnTo>
                  <a:pt x="39329" y="117987"/>
                </a:lnTo>
                <a:cubicBezTo>
                  <a:pt x="17608" y="117987"/>
                  <a:pt x="0" y="117987"/>
                  <a:pt x="0" y="117987"/>
                </a:cubicBezTo>
                <a:lnTo>
                  <a:pt x="0" y="0"/>
                </a:lnTo>
                <a:cubicBezTo>
                  <a:pt x="0" y="0"/>
                  <a:pt x="17608" y="0"/>
                  <a:pt x="39329" y="0"/>
                </a:cubicBezTo>
                <a:close/>
              </a:path>
            </a:pathLst>
          </a:custGeom>
          <a:solidFill>
            <a:srgbClr val="64B5F6"/>
          </a:solidFill>
          <a:ln w="6555" cap="flat">
            <a:noFill/>
            <a:prstDash val="solid"/>
            <a:miter/>
          </a:ln>
        </p:spPr>
        <p:txBody>
          <a:bodyPr rtlCol="0" anchor="ctr"/>
          <a:lstStyle/>
          <a:p>
            <a:endParaRPr lang="zh-CN" altLang="en-US"/>
          </a:p>
        </p:txBody>
      </p:sp>
      <p:sp>
        <p:nvSpPr>
          <p:cNvPr id="1185" name="任意形状 1184"/>
          <p:cNvSpPr/>
          <p:nvPr/>
        </p:nvSpPr>
        <p:spPr>
          <a:xfrm>
            <a:off x="1376516" y="2518841"/>
            <a:ext cx="1048774" cy="39329"/>
          </a:xfrm>
          <a:custGeom>
            <a:avLst/>
            <a:gdLst>
              <a:gd name="connsiteX0" fmla="*/ 0 w 1048774"/>
              <a:gd name="connsiteY0" fmla="*/ 0 h 39329"/>
              <a:gd name="connsiteX1" fmla="*/ 1048774 w 1048774"/>
              <a:gd name="connsiteY1" fmla="*/ 0 h 39329"/>
              <a:gd name="connsiteX2" fmla="*/ 1048774 w 1048774"/>
              <a:gd name="connsiteY2" fmla="*/ 39329 h 39329"/>
              <a:gd name="connsiteX3" fmla="*/ 0 w 1048774"/>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048774" h="39329">
                <a:moveTo>
                  <a:pt x="0" y="0"/>
                </a:moveTo>
                <a:lnTo>
                  <a:pt x="1048774" y="0"/>
                </a:lnTo>
                <a:lnTo>
                  <a:pt x="1048774" y="39329"/>
                </a:lnTo>
                <a:lnTo>
                  <a:pt x="0" y="39329"/>
                </a:lnTo>
                <a:close/>
              </a:path>
            </a:pathLst>
          </a:custGeom>
          <a:solidFill>
            <a:srgbClr val="64B5F6"/>
          </a:solidFill>
          <a:ln w="6555" cap="flat">
            <a:noFill/>
            <a:prstDash val="solid"/>
            <a:miter/>
          </a:ln>
        </p:spPr>
        <p:txBody>
          <a:bodyPr rtlCol="0" anchor="ctr"/>
          <a:lstStyle/>
          <a:p>
            <a:endParaRPr lang="zh-CN" altLang="en-US"/>
          </a:p>
        </p:txBody>
      </p:sp>
      <p:sp>
        <p:nvSpPr>
          <p:cNvPr id="1186" name="文本框 1185"/>
          <p:cNvSpPr txBox="1"/>
          <p:nvPr/>
        </p:nvSpPr>
        <p:spPr>
          <a:xfrm>
            <a:off x="1301219" y="2401427"/>
            <a:ext cx="1199367" cy="196208"/>
          </a:xfrm>
          <a:prstGeom prst="rect">
            <a:avLst/>
          </a:prstGeom>
          <a:noFill/>
        </p:spPr>
        <p:txBody>
          <a:bodyPr wrap="none" rtlCol="0">
            <a:spAutoFit/>
          </a:bodyPr>
          <a:lstStyle/>
          <a:p>
            <a:pPr algn="ctr"/>
            <a:r>
              <a:rPr lang="zh-CN" altLang="en-US" sz="675" b="1" spc="0" baseline="0" dirty="0">
                <a:solidFill>
                  <a:srgbClr val="FFFFFF"/>
                </a:solidFill>
                <a:latin typeface="Segoe UI"/>
                <a:cs typeface="Segoe UI"/>
                <a:sym typeface="Segoe UI"/>
                <a:rtl val="0"/>
              </a:rPr>
              <a:t>Administrative Boundary</a:t>
            </a:r>
          </a:p>
        </p:txBody>
      </p:sp>
      <p:sp>
        <p:nvSpPr>
          <p:cNvPr id="1187" name="文本框 1186"/>
          <p:cNvSpPr txBox="1"/>
          <p:nvPr/>
        </p:nvSpPr>
        <p:spPr>
          <a:xfrm>
            <a:off x="1370288" y="2572187"/>
            <a:ext cx="1055002" cy="276999"/>
          </a:xfrm>
          <a:prstGeom prst="rect">
            <a:avLst/>
          </a:prstGeom>
          <a:noFill/>
        </p:spPr>
        <p:txBody>
          <a:bodyPr wrap="square" rtlCol="0">
            <a:spAutoFit/>
          </a:bodyPr>
          <a:lstStyle/>
          <a:p>
            <a:pPr algn="ctr"/>
            <a:r>
              <a:rPr lang="zh-CN" altLang="en-US" sz="600" spc="0" baseline="0" dirty="0">
                <a:solidFill>
                  <a:srgbClr val="555555"/>
                </a:solidFill>
                <a:latin typeface="Arial" panose="020B0604020202090204"/>
                <a:cs typeface="Arial" panose="020B0604020202090204"/>
                <a:sym typeface="Arial" panose="020B0604020202090204"/>
                <a:rtl val="0"/>
              </a:rPr>
              <a:t>Yizhuang master plan · 15km buffer</a:t>
            </a:r>
          </a:p>
        </p:txBody>
      </p:sp>
      <p:sp>
        <p:nvSpPr>
          <p:cNvPr id="1190" name="任意形状 1189"/>
          <p:cNvSpPr/>
          <p:nvPr/>
        </p:nvSpPr>
        <p:spPr>
          <a:xfrm>
            <a:off x="201711" y="3100282"/>
            <a:ext cx="2228645" cy="1029716"/>
          </a:xfrm>
          <a:custGeom>
            <a:avLst/>
            <a:gdLst>
              <a:gd name="connsiteX0" fmla="*/ 2176207 w 2228645"/>
              <a:gd name="connsiteY0" fmla="*/ 0 h 655483"/>
              <a:gd name="connsiteX1" fmla="*/ 2228645 w 2228645"/>
              <a:gd name="connsiteY1" fmla="*/ 0 h 655483"/>
              <a:gd name="connsiteX2" fmla="*/ 2228645 w 2228645"/>
              <a:gd name="connsiteY2" fmla="*/ 655484 h 655483"/>
              <a:gd name="connsiteX3" fmla="*/ 2176207 w 2228645"/>
              <a:gd name="connsiteY3" fmla="*/ 655484 h 655483"/>
              <a:gd name="connsiteX4" fmla="*/ 52439 w 2228645"/>
              <a:gd name="connsiteY4" fmla="*/ 655484 h 655483"/>
              <a:gd name="connsiteX5" fmla="*/ 0 w 2228645"/>
              <a:gd name="connsiteY5" fmla="*/ 655484 h 655483"/>
              <a:gd name="connsiteX6" fmla="*/ 0 w 2228645"/>
              <a:gd name="connsiteY6" fmla="*/ 0 h 655483"/>
              <a:gd name="connsiteX7" fmla="*/ 52439 w 2228645"/>
              <a:gd name="connsiteY7" fmla="*/ 0 h 655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655483">
                <a:moveTo>
                  <a:pt x="2176207" y="0"/>
                </a:moveTo>
                <a:cubicBezTo>
                  <a:pt x="2205168" y="0"/>
                  <a:pt x="2228645" y="0"/>
                  <a:pt x="2228645" y="0"/>
                </a:cubicBezTo>
                <a:lnTo>
                  <a:pt x="2228645" y="655484"/>
                </a:lnTo>
                <a:cubicBezTo>
                  <a:pt x="2228645" y="655484"/>
                  <a:pt x="2205168" y="655484"/>
                  <a:pt x="2176207" y="655484"/>
                </a:cubicBezTo>
                <a:lnTo>
                  <a:pt x="52439" y="655484"/>
                </a:lnTo>
                <a:cubicBezTo>
                  <a:pt x="23478" y="655484"/>
                  <a:pt x="0" y="655484"/>
                  <a:pt x="0" y="655484"/>
                </a:cubicBezTo>
                <a:lnTo>
                  <a:pt x="0" y="0"/>
                </a:lnTo>
                <a:cubicBezTo>
                  <a:pt x="0" y="0"/>
                  <a:pt x="23478" y="0"/>
                  <a:pt x="52439" y="0"/>
                </a:cubicBezTo>
                <a:close/>
              </a:path>
            </a:pathLst>
          </a:custGeom>
          <a:solidFill>
            <a:srgbClr val="FFFFFF"/>
          </a:solidFill>
          <a:ln w="6555" cap="flat">
            <a:solidFill>
              <a:srgbClr val="0D47A1"/>
            </a:solidFill>
            <a:prstDash val="solid"/>
            <a:miter/>
          </a:ln>
        </p:spPr>
        <p:txBody>
          <a:bodyPr rtlCol="0" anchor="ctr"/>
          <a:lstStyle/>
          <a:p>
            <a:endParaRPr lang="zh-CN" altLang="en-US"/>
          </a:p>
        </p:txBody>
      </p:sp>
      <p:sp>
        <p:nvSpPr>
          <p:cNvPr id="1191" name="任意形状 1190"/>
          <p:cNvSpPr/>
          <p:nvPr/>
        </p:nvSpPr>
        <p:spPr>
          <a:xfrm>
            <a:off x="201711" y="3100282"/>
            <a:ext cx="2228645" cy="144206"/>
          </a:xfrm>
          <a:custGeom>
            <a:avLst/>
            <a:gdLst>
              <a:gd name="connsiteX0" fmla="*/ 2176207 w 2228645"/>
              <a:gd name="connsiteY0" fmla="*/ 0 h 144206"/>
              <a:gd name="connsiteX1" fmla="*/ 2228645 w 2228645"/>
              <a:gd name="connsiteY1" fmla="*/ 0 h 144206"/>
              <a:gd name="connsiteX2" fmla="*/ 2228645 w 2228645"/>
              <a:gd name="connsiteY2" fmla="*/ 144206 h 144206"/>
              <a:gd name="connsiteX3" fmla="*/ 2176207 w 2228645"/>
              <a:gd name="connsiteY3" fmla="*/ 144206 h 144206"/>
              <a:gd name="connsiteX4" fmla="*/ 52439 w 2228645"/>
              <a:gd name="connsiteY4" fmla="*/ 144206 h 144206"/>
              <a:gd name="connsiteX5" fmla="*/ 0 w 2228645"/>
              <a:gd name="connsiteY5" fmla="*/ 144206 h 144206"/>
              <a:gd name="connsiteX6" fmla="*/ 0 w 2228645"/>
              <a:gd name="connsiteY6" fmla="*/ 0 h 144206"/>
              <a:gd name="connsiteX7" fmla="*/ 52439 w 2228645"/>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144206">
                <a:moveTo>
                  <a:pt x="2176207" y="0"/>
                </a:moveTo>
                <a:cubicBezTo>
                  <a:pt x="2205168" y="0"/>
                  <a:pt x="2228645" y="0"/>
                  <a:pt x="2228645" y="0"/>
                </a:cubicBezTo>
                <a:lnTo>
                  <a:pt x="2228645" y="144206"/>
                </a:lnTo>
                <a:cubicBezTo>
                  <a:pt x="2228645" y="144206"/>
                  <a:pt x="2205168" y="144206"/>
                  <a:pt x="2176207" y="144206"/>
                </a:cubicBezTo>
                <a:lnTo>
                  <a:pt x="52439" y="144206"/>
                </a:lnTo>
                <a:cubicBezTo>
                  <a:pt x="23478" y="144206"/>
                  <a:pt x="0" y="144206"/>
                  <a:pt x="0" y="144206"/>
                </a:cubicBezTo>
                <a:lnTo>
                  <a:pt x="0" y="0"/>
                </a:lnTo>
                <a:cubicBezTo>
                  <a:pt x="0" y="0"/>
                  <a:pt x="23478" y="0"/>
                  <a:pt x="52439" y="0"/>
                </a:cubicBezTo>
                <a:close/>
              </a:path>
            </a:pathLst>
          </a:custGeom>
          <a:solidFill>
            <a:srgbClr val="0D47A1"/>
          </a:solidFill>
          <a:ln w="6555" cap="flat">
            <a:noFill/>
            <a:prstDash val="solid"/>
            <a:miter/>
          </a:ln>
        </p:spPr>
        <p:txBody>
          <a:bodyPr rtlCol="0" anchor="ctr"/>
          <a:lstStyle/>
          <a:p>
            <a:endParaRPr lang="zh-CN" altLang="en-US"/>
          </a:p>
        </p:txBody>
      </p:sp>
      <p:sp>
        <p:nvSpPr>
          <p:cNvPr id="1192" name="任意形状 1191"/>
          <p:cNvSpPr/>
          <p:nvPr/>
        </p:nvSpPr>
        <p:spPr>
          <a:xfrm>
            <a:off x="201711" y="3205159"/>
            <a:ext cx="2228645" cy="39329"/>
          </a:xfrm>
          <a:custGeom>
            <a:avLst/>
            <a:gdLst>
              <a:gd name="connsiteX0" fmla="*/ 0 w 2228645"/>
              <a:gd name="connsiteY0" fmla="*/ 0 h 39329"/>
              <a:gd name="connsiteX1" fmla="*/ 2228645 w 2228645"/>
              <a:gd name="connsiteY1" fmla="*/ 0 h 39329"/>
              <a:gd name="connsiteX2" fmla="*/ 2228645 w 2228645"/>
              <a:gd name="connsiteY2" fmla="*/ 39329 h 39329"/>
              <a:gd name="connsiteX3" fmla="*/ 0 w 2228645"/>
              <a:gd name="connsiteY3" fmla="*/ 39329 h 39329"/>
            </a:gdLst>
            <a:ahLst/>
            <a:cxnLst>
              <a:cxn ang="0">
                <a:pos x="connsiteX0" y="connsiteY0"/>
              </a:cxn>
              <a:cxn ang="0">
                <a:pos x="connsiteX1" y="connsiteY1"/>
              </a:cxn>
              <a:cxn ang="0">
                <a:pos x="connsiteX2" y="connsiteY2"/>
              </a:cxn>
              <a:cxn ang="0">
                <a:pos x="connsiteX3" y="connsiteY3"/>
              </a:cxn>
            </a:cxnLst>
            <a:rect l="l" t="t" r="r" b="b"/>
            <a:pathLst>
              <a:path w="2228645" h="39329">
                <a:moveTo>
                  <a:pt x="0" y="0"/>
                </a:moveTo>
                <a:lnTo>
                  <a:pt x="2228645" y="0"/>
                </a:lnTo>
                <a:lnTo>
                  <a:pt x="2228645" y="39329"/>
                </a:lnTo>
                <a:lnTo>
                  <a:pt x="0" y="39329"/>
                </a:lnTo>
                <a:close/>
              </a:path>
            </a:pathLst>
          </a:custGeom>
          <a:solidFill>
            <a:srgbClr val="0D47A1"/>
          </a:solidFill>
          <a:ln w="6555" cap="flat">
            <a:noFill/>
            <a:prstDash val="solid"/>
            <a:miter/>
          </a:ln>
        </p:spPr>
        <p:txBody>
          <a:bodyPr rtlCol="0" anchor="ctr"/>
          <a:lstStyle/>
          <a:p>
            <a:endParaRPr lang="zh-CN" altLang="en-US"/>
          </a:p>
        </p:txBody>
      </p:sp>
      <p:sp>
        <p:nvSpPr>
          <p:cNvPr id="1193" name="文本框 1192"/>
          <p:cNvSpPr txBox="1"/>
          <p:nvPr/>
        </p:nvSpPr>
        <p:spPr>
          <a:xfrm>
            <a:off x="673140" y="3071461"/>
            <a:ext cx="1292341"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Data Processing Pipeline</a:t>
            </a:r>
          </a:p>
        </p:txBody>
      </p:sp>
      <p:sp>
        <p:nvSpPr>
          <p:cNvPr id="1194" name="文本框 1193"/>
          <p:cNvSpPr txBox="1"/>
          <p:nvPr/>
        </p:nvSpPr>
        <p:spPr>
          <a:xfrm>
            <a:off x="241368" y="3267697"/>
            <a:ext cx="2152619" cy="906210"/>
          </a:xfrm>
          <a:prstGeom prst="rect">
            <a:avLst/>
          </a:prstGeom>
          <a:noFill/>
        </p:spPr>
        <p:txBody>
          <a:bodyPr wrap="square" rtlCol="0">
            <a:spAutoFit/>
          </a:bodyPr>
          <a:lstStyle/>
          <a:p>
            <a:pPr algn="l">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BD-09 → GCJ-02 → WGS84 coordinate transformation</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Road clipping → NetworkX digraph → Dijkstra travel time</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Population disaggregation (census age block pop.)</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Subway topology · OD/commute clipping · POI classification</a:t>
            </a:r>
          </a:p>
        </p:txBody>
      </p:sp>
      <p:sp>
        <p:nvSpPr>
          <p:cNvPr id="1199" name="任意形状 1198"/>
          <p:cNvSpPr/>
          <p:nvPr/>
        </p:nvSpPr>
        <p:spPr>
          <a:xfrm>
            <a:off x="201711" y="4378514"/>
            <a:ext cx="2228645" cy="468756"/>
          </a:xfrm>
          <a:custGeom>
            <a:avLst/>
            <a:gdLst>
              <a:gd name="connsiteX0" fmla="*/ 2176207 w 2228645"/>
              <a:gd name="connsiteY0" fmla="*/ 0 h 314632"/>
              <a:gd name="connsiteX1" fmla="*/ 2228645 w 2228645"/>
              <a:gd name="connsiteY1" fmla="*/ 0 h 314632"/>
              <a:gd name="connsiteX2" fmla="*/ 2228645 w 2228645"/>
              <a:gd name="connsiteY2" fmla="*/ 314632 h 314632"/>
              <a:gd name="connsiteX3" fmla="*/ 2176207 w 2228645"/>
              <a:gd name="connsiteY3" fmla="*/ 314632 h 314632"/>
              <a:gd name="connsiteX4" fmla="*/ 52439 w 2228645"/>
              <a:gd name="connsiteY4" fmla="*/ 314632 h 314632"/>
              <a:gd name="connsiteX5" fmla="*/ 0 w 2228645"/>
              <a:gd name="connsiteY5" fmla="*/ 314632 h 314632"/>
              <a:gd name="connsiteX6" fmla="*/ 0 w 2228645"/>
              <a:gd name="connsiteY6" fmla="*/ 0 h 314632"/>
              <a:gd name="connsiteX7" fmla="*/ 52439 w 2228645"/>
              <a:gd name="connsiteY7" fmla="*/ 0 h 314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314632">
                <a:moveTo>
                  <a:pt x="2176207" y="0"/>
                </a:moveTo>
                <a:cubicBezTo>
                  <a:pt x="2205168" y="0"/>
                  <a:pt x="2228645" y="0"/>
                  <a:pt x="2228645" y="0"/>
                </a:cubicBezTo>
                <a:lnTo>
                  <a:pt x="2228645" y="314632"/>
                </a:lnTo>
                <a:cubicBezTo>
                  <a:pt x="2228645" y="314632"/>
                  <a:pt x="2205168" y="314632"/>
                  <a:pt x="2176207" y="314632"/>
                </a:cubicBezTo>
                <a:lnTo>
                  <a:pt x="52439" y="314632"/>
                </a:lnTo>
                <a:cubicBezTo>
                  <a:pt x="23478" y="314632"/>
                  <a:pt x="0" y="314632"/>
                  <a:pt x="0" y="314632"/>
                </a:cubicBezTo>
                <a:lnTo>
                  <a:pt x="0" y="0"/>
                </a:lnTo>
                <a:cubicBezTo>
                  <a:pt x="0" y="0"/>
                  <a:pt x="23478" y="0"/>
                  <a:pt x="52439" y="0"/>
                </a:cubicBezTo>
                <a:close/>
              </a:path>
            </a:pathLst>
          </a:custGeom>
          <a:solidFill>
            <a:srgbClr val="FFFFFF"/>
          </a:solidFill>
          <a:ln w="6555" cap="flat">
            <a:solidFill>
              <a:srgbClr val="0D47A1"/>
            </a:solidFill>
            <a:custDash>
              <a:ds d="300000" sp="150000"/>
            </a:custDash>
            <a:miter/>
          </a:ln>
        </p:spPr>
        <p:txBody>
          <a:bodyPr rtlCol="0" anchor="ctr"/>
          <a:lstStyle/>
          <a:p>
            <a:endParaRPr lang="zh-CN" altLang="en-US"/>
          </a:p>
        </p:txBody>
      </p:sp>
      <p:sp>
        <p:nvSpPr>
          <p:cNvPr id="1200" name="文本框 1199"/>
          <p:cNvSpPr txBox="1"/>
          <p:nvPr/>
        </p:nvSpPr>
        <p:spPr>
          <a:xfrm>
            <a:off x="448577" y="4425184"/>
            <a:ext cx="1728357" cy="196208"/>
          </a:xfrm>
          <a:prstGeom prst="rect">
            <a:avLst/>
          </a:prstGeom>
          <a:noFill/>
        </p:spPr>
        <p:txBody>
          <a:bodyPr wrap="none" rtlCol="0">
            <a:spAutoFit/>
          </a:bodyPr>
          <a:lstStyle/>
          <a:p>
            <a:pPr algn="ctr"/>
            <a:r>
              <a:rPr lang="zh-CN" altLang="en-US" sz="675" b="1" spc="0" baseline="0" dirty="0">
                <a:solidFill>
                  <a:srgbClr val="0D47A1"/>
                </a:solidFill>
                <a:latin typeface="Segoe UI"/>
                <a:cs typeface="Segoe UI"/>
                <a:sym typeface="Segoe UI"/>
                <a:rtl val="0"/>
              </a:rPr>
              <a:t>Data Integration &amp; Consistency Check</a:t>
            </a:r>
          </a:p>
        </p:txBody>
      </p:sp>
      <p:sp>
        <p:nvSpPr>
          <p:cNvPr id="1201" name="文本框 1200"/>
          <p:cNvSpPr txBox="1"/>
          <p:nvPr/>
        </p:nvSpPr>
        <p:spPr>
          <a:xfrm>
            <a:off x="198044" y="4525300"/>
            <a:ext cx="2232025" cy="352212"/>
          </a:xfrm>
          <a:prstGeom prst="rect">
            <a:avLst/>
          </a:prstGeom>
          <a:noFill/>
        </p:spPr>
        <p:txBody>
          <a:bodyPr wrap="square" rtlCol="0">
            <a:spAutoFit/>
          </a:bodyPr>
          <a:lstStyle/>
          <a:p>
            <a:pPr algn="ctr">
              <a:lnSpc>
                <a:spcPct val="150000"/>
              </a:lnSpc>
            </a:pPr>
            <a:r>
              <a:rPr lang="zh-CN" altLang="en-US" sz="600" spc="0" baseline="0" dirty="0">
                <a:solidFill>
                  <a:srgbClr val="555555"/>
                </a:solidFill>
                <a:latin typeface="Arial" panose="020B0604020202090204"/>
                <a:cs typeface="Arial" panose="020B0604020202090204"/>
                <a:sym typeface="Arial" panose="020B0604020202090204"/>
                <a:rtl val="0"/>
              </a:rPr>
              <a:t>Spatial overlay · Topology validation · Scenario parameter export</a:t>
            </a:r>
          </a:p>
        </p:txBody>
      </p:sp>
      <p:sp>
        <p:nvSpPr>
          <p:cNvPr id="1203" name="任意形状 1202"/>
          <p:cNvSpPr/>
          <p:nvPr/>
        </p:nvSpPr>
        <p:spPr>
          <a:xfrm>
            <a:off x="2687483" y="1233127"/>
            <a:ext cx="1638709" cy="650401"/>
          </a:xfrm>
          <a:custGeom>
            <a:avLst/>
            <a:gdLst>
              <a:gd name="connsiteX0" fmla="*/ 1586271 w 1638709"/>
              <a:gd name="connsiteY0" fmla="*/ 0 h 471948"/>
              <a:gd name="connsiteX1" fmla="*/ 1638710 w 1638709"/>
              <a:gd name="connsiteY1" fmla="*/ 0 h 471948"/>
              <a:gd name="connsiteX2" fmla="*/ 1638710 w 1638709"/>
              <a:gd name="connsiteY2" fmla="*/ 471948 h 471948"/>
              <a:gd name="connsiteX3" fmla="*/ 1586271 w 1638709"/>
              <a:gd name="connsiteY3" fmla="*/ 471948 h 471948"/>
              <a:gd name="connsiteX4" fmla="*/ 52439 w 1638709"/>
              <a:gd name="connsiteY4" fmla="*/ 471948 h 471948"/>
              <a:gd name="connsiteX5" fmla="*/ 0 w 1638709"/>
              <a:gd name="connsiteY5" fmla="*/ 471948 h 471948"/>
              <a:gd name="connsiteX6" fmla="*/ 0 w 1638709"/>
              <a:gd name="connsiteY6" fmla="*/ 0 h 471948"/>
              <a:gd name="connsiteX7" fmla="*/ 52439 w 1638709"/>
              <a:gd name="connsiteY7" fmla="*/ 0 h 471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471948">
                <a:moveTo>
                  <a:pt x="1586271" y="0"/>
                </a:moveTo>
                <a:cubicBezTo>
                  <a:pt x="1615232" y="0"/>
                  <a:pt x="1638710" y="0"/>
                  <a:pt x="1638710" y="0"/>
                </a:cubicBezTo>
                <a:lnTo>
                  <a:pt x="1638710" y="471948"/>
                </a:lnTo>
                <a:cubicBezTo>
                  <a:pt x="1638710" y="471948"/>
                  <a:pt x="1615232" y="471948"/>
                  <a:pt x="1586271" y="471948"/>
                </a:cubicBezTo>
                <a:lnTo>
                  <a:pt x="52439" y="471948"/>
                </a:lnTo>
                <a:cubicBezTo>
                  <a:pt x="23478" y="471948"/>
                  <a:pt x="0" y="471948"/>
                  <a:pt x="0" y="471948"/>
                </a:cubicBezTo>
                <a:lnTo>
                  <a:pt x="0" y="0"/>
                </a:lnTo>
                <a:cubicBezTo>
                  <a:pt x="0" y="0"/>
                  <a:pt x="23478" y="0"/>
                  <a:pt x="52439" y="0"/>
                </a:cubicBezTo>
                <a:close/>
              </a:path>
            </a:pathLst>
          </a:custGeom>
          <a:solidFill>
            <a:srgbClr val="FFFFFF"/>
          </a:solidFill>
          <a:ln w="6555" cap="flat">
            <a:solidFill>
              <a:srgbClr val="E65100"/>
            </a:solidFill>
            <a:prstDash val="solid"/>
            <a:miter/>
          </a:ln>
        </p:spPr>
        <p:txBody>
          <a:bodyPr rtlCol="0" anchor="ctr"/>
          <a:lstStyle/>
          <a:p>
            <a:endParaRPr lang="zh-CN" altLang="en-US"/>
          </a:p>
        </p:txBody>
      </p:sp>
      <p:sp>
        <p:nvSpPr>
          <p:cNvPr id="1204" name="任意形状 1203"/>
          <p:cNvSpPr/>
          <p:nvPr/>
        </p:nvSpPr>
        <p:spPr>
          <a:xfrm>
            <a:off x="2687483" y="1233128"/>
            <a:ext cx="1638709" cy="144206"/>
          </a:xfrm>
          <a:custGeom>
            <a:avLst/>
            <a:gdLst>
              <a:gd name="connsiteX0" fmla="*/ 1586271 w 1638709"/>
              <a:gd name="connsiteY0" fmla="*/ 0 h 144206"/>
              <a:gd name="connsiteX1" fmla="*/ 1638710 w 1638709"/>
              <a:gd name="connsiteY1" fmla="*/ 0 h 144206"/>
              <a:gd name="connsiteX2" fmla="*/ 1638710 w 1638709"/>
              <a:gd name="connsiteY2" fmla="*/ 144206 h 144206"/>
              <a:gd name="connsiteX3" fmla="*/ 1586271 w 1638709"/>
              <a:gd name="connsiteY3" fmla="*/ 144206 h 144206"/>
              <a:gd name="connsiteX4" fmla="*/ 52439 w 1638709"/>
              <a:gd name="connsiteY4" fmla="*/ 144206 h 144206"/>
              <a:gd name="connsiteX5" fmla="*/ 0 w 1638709"/>
              <a:gd name="connsiteY5" fmla="*/ 144206 h 144206"/>
              <a:gd name="connsiteX6" fmla="*/ 0 w 1638709"/>
              <a:gd name="connsiteY6" fmla="*/ 0 h 144206"/>
              <a:gd name="connsiteX7" fmla="*/ 52439 w 1638709"/>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206">
                <a:moveTo>
                  <a:pt x="1586271" y="0"/>
                </a:moveTo>
                <a:cubicBezTo>
                  <a:pt x="1615232" y="0"/>
                  <a:pt x="1638710" y="0"/>
                  <a:pt x="1638710" y="0"/>
                </a:cubicBezTo>
                <a:lnTo>
                  <a:pt x="1638710" y="144206"/>
                </a:lnTo>
                <a:cubicBezTo>
                  <a:pt x="1638710" y="144206"/>
                  <a:pt x="1615232" y="144206"/>
                  <a:pt x="1586271" y="144206"/>
                </a:cubicBezTo>
                <a:lnTo>
                  <a:pt x="52439" y="144206"/>
                </a:lnTo>
                <a:cubicBezTo>
                  <a:pt x="23478" y="144206"/>
                  <a:pt x="0" y="144206"/>
                  <a:pt x="0" y="144206"/>
                </a:cubicBezTo>
                <a:lnTo>
                  <a:pt x="0" y="0"/>
                </a:lnTo>
                <a:cubicBezTo>
                  <a:pt x="0" y="0"/>
                  <a:pt x="23478" y="0"/>
                  <a:pt x="52439" y="0"/>
                </a:cubicBezTo>
                <a:close/>
              </a:path>
            </a:pathLst>
          </a:custGeom>
          <a:solidFill>
            <a:srgbClr val="E65100"/>
          </a:solidFill>
          <a:ln w="6555" cap="flat">
            <a:noFill/>
            <a:prstDash val="solid"/>
            <a:miter/>
          </a:ln>
        </p:spPr>
        <p:txBody>
          <a:bodyPr rtlCol="0" anchor="ctr"/>
          <a:lstStyle/>
          <a:p>
            <a:endParaRPr lang="zh-CN" altLang="en-US"/>
          </a:p>
        </p:txBody>
      </p:sp>
      <p:sp>
        <p:nvSpPr>
          <p:cNvPr id="1205" name="任意形状 1204"/>
          <p:cNvSpPr/>
          <p:nvPr/>
        </p:nvSpPr>
        <p:spPr>
          <a:xfrm>
            <a:off x="2687483" y="1338006"/>
            <a:ext cx="1638709" cy="39329"/>
          </a:xfrm>
          <a:custGeom>
            <a:avLst/>
            <a:gdLst>
              <a:gd name="connsiteX0" fmla="*/ 0 w 1638709"/>
              <a:gd name="connsiteY0" fmla="*/ 0 h 39329"/>
              <a:gd name="connsiteX1" fmla="*/ 1638710 w 1638709"/>
              <a:gd name="connsiteY1" fmla="*/ 0 h 39329"/>
              <a:gd name="connsiteX2" fmla="*/ 1638710 w 1638709"/>
              <a:gd name="connsiteY2" fmla="*/ 39329 h 39329"/>
              <a:gd name="connsiteX3" fmla="*/ 0 w 1638709"/>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638709" h="39329">
                <a:moveTo>
                  <a:pt x="0" y="0"/>
                </a:moveTo>
                <a:lnTo>
                  <a:pt x="1638710" y="0"/>
                </a:lnTo>
                <a:lnTo>
                  <a:pt x="1638710" y="39329"/>
                </a:lnTo>
                <a:lnTo>
                  <a:pt x="0" y="39329"/>
                </a:lnTo>
                <a:close/>
              </a:path>
            </a:pathLst>
          </a:custGeom>
          <a:solidFill>
            <a:srgbClr val="E65100"/>
          </a:solidFill>
          <a:ln w="6555" cap="flat">
            <a:noFill/>
            <a:prstDash val="solid"/>
            <a:miter/>
          </a:ln>
        </p:spPr>
        <p:txBody>
          <a:bodyPr rtlCol="0" anchor="ctr"/>
          <a:lstStyle/>
          <a:p>
            <a:endParaRPr lang="zh-CN" altLang="en-US"/>
          </a:p>
        </p:txBody>
      </p:sp>
      <p:sp>
        <p:nvSpPr>
          <p:cNvPr id="1206" name="文本框 1205"/>
          <p:cNvSpPr txBox="1"/>
          <p:nvPr/>
        </p:nvSpPr>
        <p:spPr>
          <a:xfrm>
            <a:off x="2651476" y="1207483"/>
            <a:ext cx="1710725"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Gaussian Plume Dispersion Model</a:t>
            </a:r>
          </a:p>
        </p:txBody>
      </p:sp>
      <p:sp>
        <p:nvSpPr>
          <p:cNvPr id="1207" name="文本框 1206"/>
          <p:cNvSpPr txBox="1"/>
          <p:nvPr/>
        </p:nvSpPr>
        <p:spPr>
          <a:xfrm>
            <a:off x="2694365" y="1384054"/>
            <a:ext cx="1631827" cy="276999"/>
          </a:xfrm>
          <a:prstGeom prst="rect">
            <a:avLst/>
          </a:prstGeom>
          <a:noFill/>
        </p:spPr>
        <p:txBody>
          <a:bodyPr wrap="squar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Cl</a:t>
            </a:r>
            <a:r>
              <a:rPr lang="zh-CN" altLang="en-US" sz="600" spc="0" baseline="0" dirty="0">
                <a:solidFill>
                  <a:srgbClr val="333333"/>
                </a:solidFill>
                <a:latin typeface="Cambria Math"/>
                <a:cs typeface="Arial" panose="020B0604020202090204"/>
                <a:sym typeface="Cambria Math"/>
                <a:rtl val="0"/>
              </a:rPr>
              <a:t>₂</a:t>
            </a:r>
            <a:r>
              <a:rPr lang="zh-CN" altLang="en-US" sz="600" spc="0" baseline="0" dirty="0">
                <a:solidFill>
                  <a:srgbClr val="333333"/>
                </a:solidFill>
                <a:latin typeface="Arial" panose="020B0604020202090204"/>
                <a:cs typeface="Arial" panose="020B0604020202090204"/>
                <a:sym typeface="Arial" panose="020B0604020202090204"/>
                <a:rtl val="0"/>
              </a:rPr>
              <a:t> release 5 kg/min · Wind 3 m/s · Class D stability</a:t>
            </a:r>
          </a:p>
        </p:txBody>
      </p:sp>
      <p:sp>
        <p:nvSpPr>
          <p:cNvPr id="1209" name="文本框 1208"/>
          <p:cNvSpPr txBox="1"/>
          <p:nvPr/>
        </p:nvSpPr>
        <p:spPr>
          <a:xfrm>
            <a:off x="2697747" y="1556659"/>
            <a:ext cx="1631827" cy="369332"/>
          </a:xfrm>
          <a:prstGeom prst="rect">
            <a:avLst/>
          </a:prstGeom>
          <a:noFill/>
        </p:spPr>
        <p:txBody>
          <a:bodyPr wrap="square" rtlCol="0">
            <a:spAutoFit/>
          </a:bodyPr>
          <a:lstStyle/>
          <a:p>
            <a:pPr algn="ctr"/>
            <a:r>
              <a:rPr lang="zh-CN" altLang="en-US" sz="600" spc="0" baseline="0" dirty="0">
                <a:ln/>
                <a:solidFill>
                  <a:srgbClr val="666666"/>
                </a:solidFill>
                <a:latin typeface="Arial"/>
                <a:cs typeface="Arial"/>
                <a:sym typeface="Arial"/>
                <a:rtl val="0"/>
              </a:rPr>
              <a:t>Pasquill-Gifford params · Briggs urban formula</a:t>
            </a:r>
            <a:endParaRPr lang="en-US" altLang="zh-CN" sz="600" spc="0" baseline="0" dirty="0">
              <a:solidFill>
                <a:srgbClr val="666666"/>
              </a:solidFill>
              <a:latin typeface="Arial" panose="020B0604020202090204"/>
              <a:cs typeface="Arial" panose="020B0604020202090204"/>
              <a:sym typeface="Arial" panose="020B0604020202090204"/>
              <a:rtl val="0"/>
            </a:endParaRPr>
          </a:p>
          <a:p>
            <a:pPr algn="ctr"/>
            <a:r>
              <a:rPr lang="zh-CN" altLang="en-US" sz="600" spc="0" baseline="0" dirty="0">
                <a:solidFill>
                  <a:srgbClr val="666666"/>
                </a:solidFill>
                <a:latin typeface="Arial" panose="020B0604020202090204"/>
                <a:cs typeface="Arial" panose="020B0604020202090204"/>
                <a:sym typeface="Arial" panose="020B0604020202090204"/>
                <a:rtl val="0"/>
              </a:rPr>
              <a:t>C(x,y) = Q/(2πuσyσz) · exp(-y²/2σy²) · ...</a:t>
            </a:r>
          </a:p>
        </p:txBody>
      </p:sp>
      <p:sp>
        <p:nvSpPr>
          <p:cNvPr id="1211" name="任意形状 1210"/>
          <p:cNvSpPr/>
          <p:nvPr/>
        </p:nvSpPr>
        <p:spPr>
          <a:xfrm>
            <a:off x="2687483" y="2072002"/>
            <a:ext cx="1638709" cy="651216"/>
          </a:xfrm>
          <a:custGeom>
            <a:avLst/>
            <a:gdLst>
              <a:gd name="connsiteX0" fmla="*/ 1586271 w 1638709"/>
              <a:gd name="connsiteY0" fmla="*/ 0 h 576825"/>
              <a:gd name="connsiteX1" fmla="*/ 1638710 w 1638709"/>
              <a:gd name="connsiteY1" fmla="*/ 0 h 576825"/>
              <a:gd name="connsiteX2" fmla="*/ 1638710 w 1638709"/>
              <a:gd name="connsiteY2" fmla="*/ 576826 h 576825"/>
              <a:gd name="connsiteX3" fmla="*/ 1586271 w 1638709"/>
              <a:gd name="connsiteY3" fmla="*/ 576826 h 576825"/>
              <a:gd name="connsiteX4" fmla="*/ 52439 w 1638709"/>
              <a:gd name="connsiteY4" fmla="*/ 576826 h 576825"/>
              <a:gd name="connsiteX5" fmla="*/ 0 w 1638709"/>
              <a:gd name="connsiteY5" fmla="*/ 576826 h 576825"/>
              <a:gd name="connsiteX6" fmla="*/ 0 w 1638709"/>
              <a:gd name="connsiteY6" fmla="*/ 0 h 576825"/>
              <a:gd name="connsiteX7" fmla="*/ 52439 w 1638709"/>
              <a:gd name="connsiteY7" fmla="*/ 0 h 57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576825">
                <a:moveTo>
                  <a:pt x="1586271" y="0"/>
                </a:moveTo>
                <a:cubicBezTo>
                  <a:pt x="1615232" y="0"/>
                  <a:pt x="1638710" y="0"/>
                  <a:pt x="1638710" y="0"/>
                </a:cubicBezTo>
                <a:lnTo>
                  <a:pt x="1638710" y="576826"/>
                </a:lnTo>
                <a:cubicBezTo>
                  <a:pt x="1638710" y="576826"/>
                  <a:pt x="1615232" y="576826"/>
                  <a:pt x="1586271" y="576826"/>
                </a:cubicBezTo>
                <a:lnTo>
                  <a:pt x="52439" y="576826"/>
                </a:lnTo>
                <a:cubicBezTo>
                  <a:pt x="23478" y="576826"/>
                  <a:pt x="0" y="576826"/>
                  <a:pt x="0" y="576826"/>
                </a:cubicBezTo>
                <a:lnTo>
                  <a:pt x="0" y="0"/>
                </a:lnTo>
                <a:cubicBezTo>
                  <a:pt x="0" y="0"/>
                  <a:pt x="23478" y="0"/>
                  <a:pt x="52439" y="0"/>
                </a:cubicBezTo>
                <a:close/>
              </a:path>
            </a:pathLst>
          </a:custGeom>
          <a:solidFill>
            <a:srgbClr val="FFFFFF"/>
          </a:solidFill>
          <a:ln w="6555" cap="flat">
            <a:solidFill>
              <a:srgbClr val="E65100"/>
            </a:solidFill>
            <a:prstDash val="solid"/>
            <a:miter/>
          </a:ln>
        </p:spPr>
        <p:txBody>
          <a:bodyPr rtlCol="0" anchor="ctr"/>
          <a:lstStyle/>
          <a:p>
            <a:endParaRPr lang="zh-CN" altLang="en-US"/>
          </a:p>
        </p:txBody>
      </p:sp>
      <p:sp>
        <p:nvSpPr>
          <p:cNvPr id="1212" name="任意形状 1211"/>
          <p:cNvSpPr/>
          <p:nvPr/>
        </p:nvSpPr>
        <p:spPr>
          <a:xfrm>
            <a:off x="2687483" y="2072002"/>
            <a:ext cx="1638709" cy="144206"/>
          </a:xfrm>
          <a:custGeom>
            <a:avLst/>
            <a:gdLst>
              <a:gd name="connsiteX0" fmla="*/ 1586271 w 1638709"/>
              <a:gd name="connsiteY0" fmla="*/ 0 h 144206"/>
              <a:gd name="connsiteX1" fmla="*/ 1638710 w 1638709"/>
              <a:gd name="connsiteY1" fmla="*/ 0 h 144206"/>
              <a:gd name="connsiteX2" fmla="*/ 1638710 w 1638709"/>
              <a:gd name="connsiteY2" fmla="*/ 144206 h 144206"/>
              <a:gd name="connsiteX3" fmla="*/ 1586271 w 1638709"/>
              <a:gd name="connsiteY3" fmla="*/ 144206 h 144206"/>
              <a:gd name="connsiteX4" fmla="*/ 52439 w 1638709"/>
              <a:gd name="connsiteY4" fmla="*/ 144206 h 144206"/>
              <a:gd name="connsiteX5" fmla="*/ 0 w 1638709"/>
              <a:gd name="connsiteY5" fmla="*/ 144206 h 144206"/>
              <a:gd name="connsiteX6" fmla="*/ 0 w 1638709"/>
              <a:gd name="connsiteY6" fmla="*/ 0 h 144206"/>
              <a:gd name="connsiteX7" fmla="*/ 52439 w 1638709"/>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206">
                <a:moveTo>
                  <a:pt x="1586271" y="0"/>
                </a:moveTo>
                <a:cubicBezTo>
                  <a:pt x="1615232" y="0"/>
                  <a:pt x="1638710" y="0"/>
                  <a:pt x="1638710" y="0"/>
                </a:cubicBezTo>
                <a:lnTo>
                  <a:pt x="1638710" y="144206"/>
                </a:lnTo>
                <a:cubicBezTo>
                  <a:pt x="1638710" y="144206"/>
                  <a:pt x="1615232" y="144206"/>
                  <a:pt x="1586271" y="144206"/>
                </a:cubicBezTo>
                <a:lnTo>
                  <a:pt x="52439" y="144206"/>
                </a:lnTo>
                <a:cubicBezTo>
                  <a:pt x="23478" y="144206"/>
                  <a:pt x="0" y="144206"/>
                  <a:pt x="0" y="144206"/>
                </a:cubicBezTo>
                <a:lnTo>
                  <a:pt x="0" y="0"/>
                </a:lnTo>
                <a:cubicBezTo>
                  <a:pt x="0" y="0"/>
                  <a:pt x="23478" y="0"/>
                  <a:pt x="52439" y="0"/>
                </a:cubicBezTo>
                <a:close/>
              </a:path>
            </a:pathLst>
          </a:custGeom>
          <a:solidFill>
            <a:srgbClr val="FF6F00"/>
          </a:solidFill>
          <a:ln w="6555" cap="flat">
            <a:noFill/>
            <a:prstDash val="solid"/>
            <a:miter/>
          </a:ln>
        </p:spPr>
        <p:txBody>
          <a:bodyPr rtlCol="0" anchor="ctr"/>
          <a:lstStyle/>
          <a:p>
            <a:endParaRPr lang="zh-CN" altLang="en-US"/>
          </a:p>
        </p:txBody>
      </p:sp>
      <p:sp>
        <p:nvSpPr>
          <p:cNvPr id="1213" name="任意形状 1212"/>
          <p:cNvSpPr/>
          <p:nvPr/>
        </p:nvSpPr>
        <p:spPr>
          <a:xfrm>
            <a:off x="2687483" y="2176879"/>
            <a:ext cx="1638709" cy="39329"/>
          </a:xfrm>
          <a:custGeom>
            <a:avLst/>
            <a:gdLst>
              <a:gd name="connsiteX0" fmla="*/ 0 w 1638709"/>
              <a:gd name="connsiteY0" fmla="*/ 0 h 39329"/>
              <a:gd name="connsiteX1" fmla="*/ 1638710 w 1638709"/>
              <a:gd name="connsiteY1" fmla="*/ 0 h 39329"/>
              <a:gd name="connsiteX2" fmla="*/ 1638710 w 1638709"/>
              <a:gd name="connsiteY2" fmla="*/ 39329 h 39329"/>
              <a:gd name="connsiteX3" fmla="*/ 0 w 1638709"/>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638709" h="39329">
                <a:moveTo>
                  <a:pt x="0" y="0"/>
                </a:moveTo>
                <a:lnTo>
                  <a:pt x="1638710" y="0"/>
                </a:lnTo>
                <a:lnTo>
                  <a:pt x="1638710" y="39329"/>
                </a:lnTo>
                <a:lnTo>
                  <a:pt x="0" y="39329"/>
                </a:lnTo>
                <a:close/>
              </a:path>
            </a:pathLst>
          </a:custGeom>
          <a:solidFill>
            <a:srgbClr val="FF6F00"/>
          </a:solidFill>
          <a:ln w="6555" cap="flat">
            <a:noFill/>
            <a:prstDash val="solid"/>
            <a:miter/>
          </a:ln>
        </p:spPr>
        <p:txBody>
          <a:bodyPr rtlCol="0" anchor="ctr"/>
          <a:lstStyle/>
          <a:p>
            <a:endParaRPr lang="zh-CN" altLang="en-US"/>
          </a:p>
        </p:txBody>
      </p:sp>
      <p:sp>
        <p:nvSpPr>
          <p:cNvPr id="1214" name="文本框 1213"/>
          <p:cNvSpPr txBox="1"/>
          <p:nvPr/>
        </p:nvSpPr>
        <p:spPr>
          <a:xfrm>
            <a:off x="2683535" y="2046356"/>
            <a:ext cx="1646605"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ERPG Hazard Zone Classification</a:t>
            </a:r>
          </a:p>
        </p:txBody>
      </p:sp>
      <p:sp>
        <p:nvSpPr>
          <p:cNvPr id="1215" name="任意形状 1214"/>
          <p:cNvSpPr/>
          <p:nvPr/>
        </p:nvSpPr>
        <p:spPr>
          <a:xfrm>
            <a:off x="2785806" y="2303705"/>
            <a:ext cx="78658" cy="78658"/>
          </a:xfrm>
          <a:custGeom>
            <a:avLst/>
            <a:gdLst>
              <a:gd name="connsiteX0" fmla="*/ 65548 w 78658"/>
              <a:gd name="connsiteY0" fmla="*/ 0 h 78658"/>
              <a:gd name="connsiteX1" fmla="*/ 78658 w 78658"/>
              <a:gd name="connsiteY1" fmla="*/ 0 h 78658"/>
              <a:gd name="connsiteX2" fmla="*/ 78658 w 78658"/>
              <a:gd name="connsiteY2" fmla="*/ 78658 h 78658"/>
              <a:gd name="connsiteX3" fmla="*/ 65548 w 78658"/>
              <a:gd name="connsiteY3" fmla="*/ 78658 h 78658"/>
              <a:gd name="connsiteX4" fmla="*/ 13110 w 78658"/>
              <a:gd name="connsiteY4" fmla="*/ 78658 h 78658"/>
              <a:gd name="connsiteX5" fmla="*/ 0 w 78658"/>
              <a:gd name="connsiteY5" fmla="*/ 78658 h 78658"/>
              <a:gd name="connsiteX6" fmla="*/ 0 w 78658"/>
              <a:gd name="connsiteY6" fmla="*/ 0 h 78658"/>
              <a:gd name="connsiteX7" fmla="*/ 13110 w 78658"/>
              <a:gd name="connsiteY7" fmla="*/ 0 h 7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658">
                <a:moveTo>
                  <a:pt x="65548" y="0"/>
                </a:moveTo>
                <a:cubicBezTo>
                  <a:pt x="72789" y="0"/>
                  <a:pt x="78658" y="0"/>
                  <a:pt x="78658" y="0"/>
                </a:cubicBezTo>
                <a:lnTo>
                  <a:pt x="78658" y="78658"/>
                </a:lnTo>
                <a:cubicBezTo>
                  <a:pt x="78658" y="78658"/>
                  <a:pt x="72789" y="78658"/>
                  <a:pt x="65548" y="78658"/>
                </a:cubicBezTo>
                <a:lnTo>
                  <a:pt x="13110" y="78658"/>
                </a:lnTo>
                <a:cubicBezTo>
                  <a:pt x="5869" y="78658"/>
                  <a:pt x="0" y="78658"/>
                  <a:pt x="0" y="78658"/>
                </a:cubicBezTo>
                <a:lnTo>
                  <a:pt x="0" y="0"/>
                </a:lnTo>
                <a:cubicBezTo>
                  <a:pt x="0" y="0"/>
                  <a:pt x="5869" y="0"/>
                  <a:pt x="13110" y="0"/>
                </a:cubicBezTo>
                <a:close/>
              </a:path>
            </a:pathLst>
          </a:custGeom>
          <a:solidFill>
            <a:srgbClr val="D32F2F"/>
          </a:solidFill>
          <a:ln w="6555" cap="flat">
            <a:noFill/>
            <a:prstDash val="solid"/>
            <a:miter/>
          </a:ln>
        </p:spPr>
        <p:txBody>
          <a:bodyPr rtlCol="0" anchor="ctr"/>
          <a:lstStyle/>
          <a:p>
            <a:endParaRPr lang="zh-CN" altLang="en-US"/>
          </a:p>
        </p:txBody>
      </p:sp>
      <p:sp>
        <p:nvSpPr>
          <p:cNvPr id="1216" name="文本框 1215"/>
          <p:cNvSpPr txBox="1"/>
          <p:nvPr/>
        </p:nvSpPr>
        <p:spPr>
          <a:xfrm>
            <a:off x="2805798" y="2223951"/>
            <a:ext cx="1556836" cy="490712"/>
          </a:xfrm>
          <a:prstGeom prst="rect">
            <a:avLst/>
          </a:prstGeom>
          <a:noFill/>
        </p:spPr>
        <p:txBody>
          <a:bodyPr wrap="none" rtlCol="0">
            <a:spAutoFit/>
          </a:bodyPr>
          <a:lstStyle/>
          <a:p>
            <a:pPr algn="l">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Core Zone ERPG-3 (≥20 mg/m³) Immed</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Alert Zone ERPG-2 (≥3 mg/m³) Urgen</a:t>
            </a:r>
            <a:r>
              <a:rPr lang="en-US" altLang="zh-CN" sz="600" spc="0" baseline="0" dirty="0">
                <a:solidFill>
                  <a:srgbClr val="333333"/>
                </a:solidFill>
                <a:latin typeface="Arial" panose="020B0604020202090204"/>
                <a:cs typeface="Arial" panose="020B0604020202090204"/>
                <a:sym typeface="Arial" panose="020B0604020202090204"/>
                <a:rtl val="0"/>
              </a:rPr>
              <a:t>t</a:t>
            </a: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Buffer Zone ERPG-1 (≥1 mg/m³) Shelter</a:t>
            </a:r>
          </a:p>
        </p:txBody>
      </p:sp>
      <p:sp>
        <p:nvSpPr>
          <p:cNvPr id="1217" name="任意形状 1216"/>
          <p:cNvSpPr/>
          <p:nvPr/>
        </p:nvSpPr>
        <p:spPr>
          <a:xfrm>
            <a:off x="2785806" y="2441306"/>
            <a:ext cx="78658" cy="78658"/>
          </a:xfrm>
          <a:custGeom>
            <a:avLst/>
            <a:gdLst>
              <a:gd name="connsiteX0" fmla="*/ 65548 w 78658"/>
              <a:gd name="connsiteY0" fmla="*/ 0 h 78658"/>
              <a:gd name="connsiteX1" fmla="*/ 78658 w 78658"/>
              <a:gd name="connsiteY1" fmla="*/ 0 h 78658"/>
              <a:gd name="connsiteX2" fmla="*/ 78658 w 78658"/>
              <a:gd name="connsiteY2" fmla="*/ 78658 h 78658"/>
              <a:gd name="connsiteX3" fmla="*/ 65548 w 78658"/>
              <a:gd name="connsiteY3" fmla="*/ 78658 h 78658"/>
              <a:gd name="connsiteX4" fmla="*/ 13110 w 78658"/>
              <a:gd name="connsiteY4" fmla="*/ 78658 h 78658"/>
              <a:gd name="connsiteX5" fmla="*/ 0 w 78658"/>
              <a:gd name="connsiteY5" fmla="*/ 78658 h 78658"/>
              <a:gd name="connsiteX6" fmla="*/ 0 w 78658"/>
              <a:gd name="connsiteY6" fmla="*/ 0 h 78658"/>
              <a:gd name="connsiteX7" fmla="*/ 13110 w 78658"/>
              <a:gd name="connsiteY7" fmla="*/ 0 h 7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658">
                <a:moveTo>
                  <a:pt x="65548" y="0"/>
                </a:moveTo>
                <a:cubicBezTo>
                  <a:pt x="72789" y="0"/>
                  <a:pt x="78658" y="0"/>
                  <a:pt x="78658" y="0"/>
                </a:cubicBezTo>
                <a:lnTo>
                  <a:pt x="78658" y="78658"/>
                </a:lnTo>
                <a:cubicBezTo>
                  <a:pt x="78658" y="78658"/>
                  <a:pt x="72789" y="78658"/>
                  <a:pt x="65548" y="78658"/>
                </a:cubicBezTo>
                <a:lnTo>
                  <a:pt x="13110" y="78658"/>
                </a:lnTo>
                <a:cubicBezTo>
                  <a:pt x="5869" y="78658"/>
                  <a:pt x="0" y="78658"/>
                  <a:pt x="0" y="78658"/>
                </a:cubicBezTo>
                <a:lnTo>
                  <a:pt x="0" y="0"/>
                </a:lnTo>
                <a:cubicBezTo>
                  <a:pt x="0" y="0"/>
                  <a:pt x="5869" y="0"/>
                  <a:pt x="13110" y="0"/>
                </a:cubicBezTo>
                <a:close/>
              </a:path>
            </a:pathLst>
          </a:custGeom>
          <a:solidFill>
            <a:srgbClr val="FF9800"/>
          </a:solidFill>
          <a:ln w="6555" cap="flat">
            <a:noFill/>
            <a:prstDash val="solid"/>
            <a:miter/>
          </a:ln>
        </p:spPr>
        <p:txBody>
          <a:bodyPr rtlCol="0" anchor="ctr"/>
          <a:lstStyle/>
          <a:p>
            <a:endParaRPr lang="zh-CN" altLang="en-US"/>
          </a:p>
        </p:txBody>
      </p:sp>
      <p:sp>
        <p:nvSpPr>
          <p:cNvPr id="1219" name="任意形状 1218"/>
          <p:cNvSpPr/>
          <p:nvPr/>
        </p:nvSpPr>
        <p:spPr>
          <a:xfrm>
            <a:off x="2785806" y="2582383"/>
            <a:ext cx="78658" cy="78658"/>
          </a:xfrm>
          <a:custGeom>
            <a:avLst/>
            <a:gdLst>
              <a:gd name="connsiteX0" fmla="*/ 65548 w 78658"/>
              <a:gd name="connsiteY0" fmla="*/ 0 h 78658"/>
              <a:gd name="connsiteX1" fmla="*/ 78658 w 78658"/>
              <a:gd name="connsiteY1" fmla="*/ 0 h 78658"/>
              <a:gd name="connsiteX2" fmla="*/ 78658 w 78658"/>
              <a:gd name="connsiteY2" fmla="*/ 78658 h 78658"/>
              <a:gd name="connsiteX3" fmla="*/ 65548 w 78658"/>
              <a:gd name="connsiteY3" fmla="*/ 78658 h 78658"/>
              <a:gd name="connsiteX4" fmla="*/ 13110 w 78658"/>
              <a:gd name="connsiteY4" fmla="*/ 78658 h 78658"/>
              <a:gd name="connsiteX5" fmla="*/ 0 w 78658"/>
              <a:gd name="connsiteY5" fmla="*/ 78658 h 78658"/>
              <a:gd name="connsiteX6" fmla="*/ 0 w 78658"/>
              <a:gd name="connsiteY6" fmla="*/ 0 h 78658"/>
              <a:gd name="connsiteX7" fmla="*/ 13110 w 78658"/>
              <a:gd name="connsiteY7" fmla="*/ 0 h 7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658">
                <a:moveTo>
                  <a:pt x="65548" y="0"/>
                </a:moveTo>
                <a:cubicBezTo>
                  <a:pt x="72789" y="0"/>
                  <a:pt x="78658" y="0"/>
                  <a:pt x="78658" y="0"/>
                </a:cubicBezTo>
                <a:lnTo>
                  <a:pt x="78658" y="78658"/>
                </a:lnTo>
                <a:cubicBezTo>
                  <a:pt x="78658" y="78658"/>
                  <a:pt x="72789" y="78658"/>
                  <a:pt x="65548" y="78658"/>
                </a:cubicBezTo>
                <a:lnTo>
                  <a:pt x="13110" y="78658"/>
                </a:lnTo>
                <a:cubicBezTo>
                  <a:pt x="5869" y="78658"/>
                  <a:pt x="0" y="78658"/>
                  <a:pt x="0" y="78658"/>
                </a:cubicBezTo>
                <a:lnTo>
                  <a:pt x="0" y="0"/>
                </a:lnTo>
                <a:cubicBezTo>
                  <a:pt x="0" y="0"/>
                  <a:pt x="5869" y="0"/>
                  <a:pt x="13110" y="0"/>
                </a:cubicBezTo>
                <a:close/>
              </a:path>
            </a:pathLst>
          </a:custGeom>
          <a:solidFill>
            <a:srgbClr val="FFC107"/>
          </a:solidFill>
          <a:ln w="6555" cap="flat">
            <a:noFill/>
            <a:prstDash val="solid"/>
            <a:miter/>
          </a:ln>
        </p:spPr>
        <p:txBody>
          <a:bodyPr rtlCol="0" anchor="ctr"/>
          <a:lstStyle/>
          <a:p>
            <a:endParaRPr lang="zh-CN" altLang="en-US"/>
          </a:p>
        </p:txBody>
      </p:sp>
      <p:sp>
        <p:nvSpPr>
          <p:cNvPr id="1222" name="任意形状 1221"/>
          <p:cNvSpPr/>
          <p:nvPr/>
        </p:nvSpPr>
        <p:spPr>
          <a:xfrm>
            <a:off x="2687483" y="2916082"/>
            <a:ext cx="1638709" cy="506319"/>
          </a:xfrm>
          <a:custGeom>
            <a:avLst/>
            <a:gdLst>
              <a:gd name="connsiteX0" fmla="*/ 1586271 w 1638709"/>
              <a:gd name="connsiteY0" fmla="*/ 0 h 445729"/>
              <a:gd name="connsiteX1" fmla="*/ 1638710 w 1638709"/>
              <a:gd name="connsiteY1" fmla="*/ 0 h 445729"/>
              <a:gd name="connsiteX2" fmla="*/ 1638710 w 1638709"/>
              <a:gd name="connsiteY2" fmla="*/ 445729 h 445729"/>
              <a:gd name="connsiteX3" fmla="*/ 1586271 w 1638709"/>
              <a:gd name="connsiteY3" fmla="*/ 445729 h 445729"/>
              <a:gd name="connsiteX4" fmla="*/ 52439 w 1638709"/>
              <a:gd name="connsiteY4" fmla="*/ 445729 h 445729"/>
              <a:gd name="connsiteX5" fmla="*/ 0 w 1638709"/>
              <a:gd name="connsiteY5" fmla="*/ 445729 h 445729"/>
              <a:gd name="connsiteX6" fmla="*/ 0 w 1638709"/>
              <a:gd name="connsiteY6" fmla="*/ 0 h 445729"/>
              <a:gd name="connsiteX7" fmla="*/ 52439 w 1638709"/>
              <a:gd name="connsiteY7" fmla="*/ 0 h 44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445729">
                <a:moveTo>
                  <a:pt x="1586271" y="0"/>
                </a:moveTo>
                <a:cubicBezTo>
                  <a:pt x="1615232" y="0"/>
                  <a:pt x="1638710" y="0"/>
                  <a:pt x="1638710" y="0"/>
                </a:cubicBezTo>
                <a:lnTo>
                  <a:pt x="1638710" y="445729"/>
                </a:lnTo>
                <a:cubicBezTo>
                  <a:pt x="1638710" y="445729"/>
                  <a:pt x="1615232" y="445729"/>
                  <a:pt x="1586271" y="445729"/>
                </a:cubicBezTo>
                <a:lnTo>
                  <a:pt x="52439" y="445729"/>
                </a:lnTo>
                <a:cubicBezTo>
                  <a:pt x="23478" y="445729"/>
                  <a:pt x="0" y="445729"/>
                  <a:pt x="0" y="445729"/>
                </a:cubicBezTo>
                <a:lnTo>
                  <a:pt x="0" y="0"/>
                </a:lnTo>
                <a:cubicBezTo>
                  <a:pt x="0" y="0"/>
                  <a:pt x="23478" y="0"/>
                  <a:pt x="52439" y="0"/>
                </a:cubicBezTo>
                <a:close/>
              </a:path>
            </a:pathLst>
          </a:custGeom>
          <a:solidFill>
            <a:srgbClr val="FFFFFF"/>
          </a:solidFill>
          <a:ln w="5244" cap="flat">
            <a:solidFill>
              <a:srgbClr val="FF6F00"/>
            </a:solidFill>
            <a:prstDash val="solid"/>
            <a:miter/>
          </a:ln>
        </p:spPr>
        <p:txBody>
          <a:bodyPr rtlCol="0" anchor="ctr"/>
          <a:lstStyle/>
          <a:p>
            <a:endParaRPr lang="zh-CN" altLang="en-US"/>
          </a:p>
        </p:txBody>
      </p:sp>
      <p:sp>
        <p:nvSpPr>
          <p:cNvPr id="1223" name="任意形状 1222"/>
          <p:cNvSpPr/>
          <p:nvPr/>
        </p:nvSpPr>
        <p:spPr>
          <a:xfrm>
            <a:off x="2687483" y="2916082"/>
            <a:ext cx="1638709" cy="144206"/>
          </a:xfrm>
          <a:custGeom>
            <a:avLst/>
            <a:gdLst>
              <a:gd name="connsiteX0" fmla="*/ 1586271 w 1638709"/>
              <a:gd name="connsiteY0" fmla="*/ 0 h 144206"/>
              <a:gd name="connsiteX1" fmla="*/ 1638710 w 1638709"/>
              <a:gd name="connsiteY1" fmla="*/ 0 h 144206"/>
              <a:gd name="connsiteX2" fmla="*/ 1638710 w 1638709"/>
              <a:gd name="connsiteY2" fmla="*/ 144206 h 144206"/>
              <a:gd name="connsiteX3" fmla="*/ 1586271 w 1638709"/>
              <a:gd name="connsiteY3" fmla="*/ 144206 h 144206"/>
              <a:gd name="connsiteX4" fmla="*/ 52439 w 1638709"/>
              <a:gd name="connsiteY4" fmla="*/ 144206 h 144206"/>
              <a:gd name="connsiteX5" fmla="*/ 0 w 1638709"/>
              <a:gd name="connsiteY5" fmla="*/ 144206 h 144206"/>
              <a:gd name="connsiteX6" fmla="*/ 0 w 1638709"/>
              <a:gd name="connsiteY6" fmla="*/ 0 h 144206"/>
              <a:gd name="connsiteX7" fmla="*/ 52439 w 1638709"/>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206">
                <a:moveTo>
                  <a:pt x="1586271" y="0"/>
                </a:moveTo>
                <a:cubicBezTo>
                  <a:pt x="1615232" y="0"/>
                  <a:pt x="1638710" y="0"/>
                  <a:pt x="1638710" y="0"/>
                </a:cubicBezTo>
                <a:lnTo>
                  <a:pt x="1638710" y="144206"/>
                </a:lnTo>
                <a:cubicBezTo>
                  <a:pt x="1638710" y="144206"/>
                  <a:pt x="1615232" y="144206"/>
                  <a:pt x="1586271" y="144206"/>
                </a:cubicBezTo>
                <a:lnTo>
                  <a:pt x="52439" y="144206"/>
                </a:lnTo>
                <a:cubicBezTo>
                  <a:pt x="23478" y="144206"/>
                  <a:pt x="0" y="144206"/>
                  <a:pt x="0" y="144206"/>
                </a:cubicBezTo>
                <a:lnTo>
                  <a:pt x="0" y="0"/>
                </a:lnTo>
                <a:cubicBezTo>
                  <a:pt x="0" y="0"/>
                  <a:pt x="23478" y="0"/>
                  <a:pt x="52439" y="0"/>
                </a:cubicBezTo>
                <a:close/>
              </a:path>
            </a:pathLst>
          </a:custGeom>
          <a:solidFill>
            <a:srgbClr val="FF8F00"/>
          </a:solidFill>
          <a:ln w="6555" cap="flat">
            <a:noFill/>
            <a:prstDash val="solid"/>
            <a:miter/>
          </a:ln>
        </p:spPr>
        <p:txBody>
          <a:bodyPr rtlCol="0" anchor="ctr"/>
          <a:lstStyle/>
          <a:p>
            <a:endParaRPr lang="zh-CN" altLang="en-US"/>
          </a:p>
        </p:txBody>
      </p:sp>
      <p:sp>
        <p:nvSpPr>
          <p:cNvPr id="1224" name="任意形状 1223"/>
          <p:cNvSpPr/>
          <p:nvPr/>
        </p:nvSpPr>
        <p:spPr>
          <a:xfrm>
            <a:off x="2687483" y="3020960"/>
            <a:ext cx="1638709" cy="39329"/>
          </a:xfrm>
          <a:custGeom>
            <a:avLst/>
            <a:gdLst>
              <a:gd name="connsiteX0" fmla="*/ 0 w 1638709"/>
              <a:gd name="connsiteY0" fmla="*/ 0 h 39329"/>
              <a:gd name="connsiteX1" fmla="*/ 1638710 w 1638709"/>
              <a:gd name="connsiteY1" fmla="*/ 0 h 39329"/>
              <a:gd name="connsiteX2" fmla="*/ 1638710 w 1638709"/>
              <a:gd name="connsiteY2" fmla="*/ 39329 h 39329"/>
              <a:gd name="connsiteX3" fmla="*/ 0 w 1638709"/>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638709" h="39329">
                <a:moveTo>
                  <a:pt x="0" y="0"/>
                </a:moveTo>
                <a:lnTo>
                  <a:pt x="1638710" y="0"/>
                </a:lnTo>
                <a:lnTo>
                  <a:pt x="1638710" y="39329"/>
                </a:lnTo>
                <a:lnTo>
                  <a:pt x="0" y="39329"/>
                </a:lnTo>
                <a:close/>
              </a:path>
            </a:pathLst>
          </a:custGeom>
          <a:solidFill>
            <a:srgbClr val="FF8F00"/>
          </a:solidFill>
          <a:ln w="6555" cap="flat">
            <a:noFill/>
            <a:prstDash val="solid"/>
            <a:miter/>
          </a:ln>
        </p:spPr>
        <p:txBody>
          <a:bodyPr rtlCol="0" anchor="ctr"/>
          <a:lstStyle/>
          <a:p>
            <a:endParaRPr lang="zh-CN" altLang="en-US"/>
          </a:p>
        </p:txBody>
      </p:sp>
      <p:sp>
        <p:nvSpPr>
          <p:cNvPr id="1225" name="文本框 1224"/>
          <p:cNvSpPr txBox="1"/>
          <p:nvPr/>
        </p:nvSpPr>
        <p:spPr>
          <a:xfrm>
            <a:off x="2677651" y="2903137"/>
            <a:ext cx="1658376" cy="184666"/>
          </a:xfrm>
          <a:prstGeom prst="rect">
            <a:avLst/>
          </a:prstGeom>
          <a:noFill/>
        </p:spPr>
        <p:txBody>
          <a:bodyPr wrap="square" rtlCol="0">
            <a:spAutoFit/>
          </a:bodyPr>
          <a:lstStyle/>
          <a:p>
            <a:pPr algn="ctr"/>
            <a:r>
              <a:rPr lang="zh-CN" altLang="en-US" sz="600" b="1" spc="0" baseline="0" dirty="0">
                <a:solidFill>
                  <a:srgbClr val="FFFFFF"/>
                </a:solidFill>
                <a:latin typeface="Segoe UI"/>
                <a:cs typeface="Segoe UI"/>
                <a:sym typeface="Segoe UI"/>
                <a:rtl val="0"/>
              </a:rPr>
              <a:t>Road Closure &amp; Congestion Modeling</a:t>
            </a:r>
          </a:p>
        </p:txBody>
      </p:sp>
      <p:sp>
        <p:nvSpPr>
          <p:cNvPr id="1226" name="文本框 1225"/>
          <p:cNvSpPr txBox="1"/>
          <p:nvPr/>
        </p:nvSpPr>
        <p:spPr>
          <a:xfrm>
            <a:off x="2669428" y="3064870"/>
            <a:ext cx="1646606" cy="461665"/>
          </a:xfrm>
          <a:prstGeom prst="rect">
            <a:avLst/>
          </a:prstGeom>
          <a:noFill/>
        </p:spPr>
        <p:txBody>
          <a:bodyPr wrap="squar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500m road closure · 1km core closure (96.7 km)</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ctr"/>
            <a:r>
              <a:rPr lang="zh-CN" altLang="en-US" sz="600" spc="0" baseline="0" dirty="0">
                <a:solidFill>
                  <a:srgbClr val="888888"/>
                </a:solidFill>
                <a:latin typeface="Arial" panose="020B0604020202090204"/>
                <a:cs typeface="Arial" panose="020B0604020202090204"/>
                <a:sym typeface="Arial" panose="020B0604020202090204"/>
                <a:rtl val="0"/>
              </a:rPr>
              <a:t>Closure ratio: 19.1% (96.7/505.3 km)</a:t>
            </a:r>
          </a:p>
          <a:p>
            <a:pPr algn="ctr"/>
            <a:endParaRPr lang="zh-CN" altLang="en-US" sz="600" spc="0" baseline="0" dirty="0">
              <a:solidFill>
                <a:srgbClr val="333333"/>
              </a:solidFill>
              <a:latin typeface="Arial" panose="020B0604020202090204"/>
              <a:cs typeface="Arial" panose="020B0604020202090204"/>
              <a:sym typeface="Arial" panose="020B0604020202090204"/>
              <a:rtl val="0"/>
            </a:endParaRPr>
          </a:p>
        </p:txBody>
      </p:sp>
      <p:sp>
        <p:nvSpPr>
          <p:cNvPr id="1230" name="任意形状 1229"/>
          <p:cNvSpPr/>
          <p:nvPr/>
        </p:nvSpPr>
        <p:spPr>
          <a:xfrm>
            <a:off x="2687483" y="3629069"/>
            <a:ext cx="1638709" cy="520581"/>
          </a:xfrm>
          <a:custGeom>
            <a:avLst/>
            <a:gdLst>
              <a:gd name="connsiteX0" fmla="*/ 1586271 w 1638709"/>
              <a:gd name="connsiteY0" fmla="*/ 0 h 360516"/>
              <a:gd name="connsiteX1" fmla="*/ 1638710 w 1638709"/>
              <a:gd name="connsiteY1" fmla="*/ 0 h 360516"/>
              <a:gd name="connsiteX2" fmla="*/ 1638710 w 1638709"/>
              <a:gd name="connsiteY2" fmla="*/ 360516 h 360516"/>
              <a:gd name="connsiteX3" fmla="*/ 1586271 w 1638709"/>
              <a:gd name="connsiteY3" fmla="*/ 360516 h 360516"/>
              <a:gd name="connsiteX4" fmla="*/ 52439 w 1638709"/>
              <a:gd name="connsiteY4" fmla="*/ 360516 h 360516"/>
              <a:gd name="connsiteX5" fmla="*/ 0 w 1638709"/>
              <a:gd name="connsiteY5" fmla="*/ 360516 h 360516"/>
              <a:gd name="connsiteX6" fmla="*/ 0 w 1638709"/>
              <a:gd name="connsiteY6" fmla="*/ 0 h 360516"/>
              <a:gd name="connsiteX7" fmla="*/ 52439 w 1638709"/>
              <a:gd name="connsiteY7" fmla="*/ 0 h 36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360516">
                <a:moveTo>
                  <a:pt x="1586271" y="0"/>
                </a:moveTo>
                <a:cubicBezTo>
                  <a:pt x="1615232" y="0"/>
                  <a:pt x="1638710" y="0"/>
                  <a:pt x="1638710" y="0"/>
                </a:cubicBezTo>
                <a:lnTo>
                  <a:pt x="1638710" y="360516"/>
                </a:lnTo>
                <a:cubicBezTo>
                  <a:pt x="1638710" y="360516"/>
                  <a:pt x="1615232" y="360516"/>
                  <a:pt x="1586271" y="360516"/>
                </a:cubicBezTo>
                <a:lnTo>
                  <a:pt x="52439" y="360516"/>
                </a:lnTo>
                <a:cubicBezTo>
                  <a:pt x="23478" y="360516"/>
                  <a:pt x="0" y="360516"/>
                  <a:pt x="0" y="360516"/>
                </a:cubicBezTo>
                <a:lnTo>
                  <a:pt x="0" y="0"/>
                </a:lnTo>
                <a:cubicBezTo>
                  <a:pt x="0" y="0"/>
                  <a:pt x="23478" y="0"/>
                  <a:pt x="52439" y="0"/>
                </a:cubicBezTo>
                <a:close/>
              </a:path>
            </a:pathLst>
          </a:custGeom>
          <a:solidFill>
            <a:srgbClr val="FFFFFF"/>
          </a:solidFill>
          <a:ln w="5244" cap="flat">
            <a:solidFill>
              <a:srgbClr val="FFA000"/>
            </a:solidFill>
            <a:prstDash val="solid"/>
            <a:miter/>
          </a:ln>
        </p:spPr>
        <p:txBody>
          <a:bodyPr rtlCol="0" anchor="ctr"/>
          <a:lstStyle/>
          <a:p>
            <a:endParaRPr lang="zh-CN" altLang="en-US"/>
          </a:p>
        </p:txBody>
      </p:sp>
      <p:sp>
        <p:nvSpPr>
          <p:cNvPr id="1231" name="任意形状 1230"/>
          <p:cNvSpPr/>
          <p:nvPr/>
        </p:nvSpPr>
        <p:spPr>
          <a:xfrm>
            <a:off x="2687483" y="3629070"/>
            <a:ext cx="1638709" cy="144206"/>
          </a:xfrm>
          <a:custGeom>
            <a:avLst/>
            <a:gdLst>
              <a:gd name="connsiteX0" fmla="*/ 1586271 w 1638709"/>
              <a:gd name="connsiteY0" fmla="*/ 0 h 144206"/>
              <a:gd name="connsiteX1" fmla="*/ 1638710 w 1638709"/>
              <a:gd name="connsiteY1" fmla="*/ 0 h 144206"/>
              <a:gd name="connsiteX2" fmla="*/ 1638710 w 1638709"/>
              <a:gd name="connsiteY2" fmla="*/ 144206 h 144206"/>
              <a:gd name="connsiteX3" fmla="*/ 1586271 w 1638709"/>
              <a:gd name="connsiteY3" fmla="*/ 144206 h 144206"/>
              <a:gd name="connsiteX4" fmla="*/ 52439 w 1638709"/>
              <a:gd name="connsiteY4" fmla="*/ 144206 h 144206"/>
              <a:gd name="connsiteX5" fmla="*/ 0 w 1638709"/>
              <a:gd name="connsiteY5" fmla="*/ 144206 h 144206"/>
              <a:gd name="connsiteX6" fmla="*/ 0 w 1638709"/>
              <a:gd name="connsiteY6" fmla="*/ 0 h 144206"/>
              <a:gd name="connsiteX7" fmla="*/ 52439 w 1638709"/>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206">
                <a:moveTo>
                  <a:pt x="1586271" y="0"/>
                </a:moveTo>
                <a:cubicBezTo>
                  <a:pt x="1615232" y="0"/>
                  <a:pt x="1638710" y="0"/>
                  <a:pt x="1638710" y="0"/>
                </a:cubicBezTo>
                <a:lnTo>
                  <a:pt x="1638710" y="144206"/>
                </a:lnTo>
                <a:cubicBezTo>
                  <a:pt x="1638710" y="144206"/>
                  <a:pt x="1615232" y="144206"/>
                  <a:pt x="1586271" y="144206"/>
                </a:cubicBezTo>
                <a:lnTo>
                  <a:pt x="52439" y="144206"/>
                </a:lnTo>
                <a:cubicBezTo>
                  <a:pt x="23478" y="144206"/>
                  <a:pt x="0" y="144206"/>
                  <a:pt x="0" y="144206"/>
                </a:cubicBezTo>
                <a:lnTo>
                  <a:pt x="0" y="0"/>
                </a:lnTo>
                <a:cubicBezTo>
                  <a:pt x="0" y="0"/>
                  <a:pt x="23478" y="0"/>
                  <a:pt x="52439" y="0"/>
                </a:cubicBezTo>
                <a:close/>
              </a:path>
            </a:pathLst>
          </a:custGeom>
          <a:solidFill>
            <a:srgbClr val="FFA726"/>
          </a:solidFill>
          <a:ln w="6555" cap="flat">
            <a:noFill/>
            <a:prstDash val="solid"/>
            <a:miter/>
          </a:ln>
        </p:spPr>
        <p:txBody>
          <a:bodyPr rtlCol="0" anchor="ctr"/>
          <a:lstStyle/>
          <a:p>
            <a:endParaRPr lang="zh-CN" altLang="en-US"/>
          </a:p>
        </p:txBody>
      </p:sp>
      <p:sp>
        <p:nvSpPr>
          <p:cNvPr id="1232" name="任意形状 1231"/>
          <p:cNvSpPr/>
          <p:nvPr/>
        </p:nvSpPr>
        <p:spPr>
          <a:xfrm>
            <a:off x="2687483" y="3733948"/>
            <a:ext cx="1638709" cy="39329"/>
          </a:xfrm>
          <a:custGeom>
            <a:avLst/>
            <a:gdLst>
              <a:gd name="connsiteX0" fmla="*/ 0 w 1638709"/>
              <a:gd name="connsiteY0" fmla="*/ 0 h 39329"/>
              <a:gd name="connsiteX1" fmla="*/ 1638710 w 1638709"/>
              <a:gd name="connsiteY1" fmla="*/ 0 h 39329"/>
              <a:gd name="connsiteX2" fmla="*/ 1638710 w 1638709"/>
              <a:gd name="connsiteY2" fmla="*/ 39329 h 39329"/>
              <a:gd name="connsiteX3" fmla="*/ 0 w 1638709"/>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638709" h="39329">
                <a:moveTo>
                  <a:pt x="0" y="0"/>
                </a:moveTo>
                <a:lnTo>
                  <a:pt x="1638710" y="0"/>
                </a:lnTo>
                <a:lnTo>
                  <a:pt x="1638710" y="39329"/>
                </a:lnTo>
                <a:lnTo>
                  <a:pt x="0" y="39329"/>
                </a:lnTo>
                <a:close/>
              </a:path>
            </a:pathLst>
          </a:custGeom>
          <a:solidFill>
            <a:srgbClr val="FFA726"/>
          </a:solidFill>
          <a:ln w="6555" cap="flat">
            <a:noFill/>
            <a:prstDash val="solid"/>
            <a:miter/>
          </a:ln>
        </p:spPr>
        <p:txBody>
          <a:bodyPr rtlCol="0" anchor="ctr"/>
          <a:lstStyle/>
          <a:p>
            <a:endParaRPr lang="zh-CN" altLang="en-US"/>
          </a:p>
        </p:txBody>
      </p:sp>
      <p:sp>
        <p:nvSpPr>
          <p:cNvPr id="1233" name="文本框 1232"/>
          <p:cNvSpPr txBox="1"/>
          <p:nvPr/>
        </p:nvSpPr>
        <p:spPr>
          <a:xfrm>
            <a:off x="2627359" y="3600249"/>
            <a:ext cx="1752403"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Wind Direction Sensitivity Analysis</a:t>
            </a:r>
          </a:p>
        </p:txBody>
      </p:sp>
      <p:sp>
        <p:nvSpPr>
          <p:cNvPr id="1234" name="文本框 1233"/>
          <p:cNvSpPr txBox="1"/>
          <p:nvPr/>
        </p:nvSpPr>
        <p:spPr>
          <a:xfrm>
            <a:off x="2680928" y="3780365"/>
            <a:ext cx="1635106" cy="351378"/>
          </a:xfrm>
          <a:prstGeom prst="rect">
            <a:avLst/>
          </a:prstGeom>
          <a:noFill/>
        </p:spPr>
        <p:txBody>
          <a:bodyPr wrap="square" rtlCol="0">
            <a:spAutoFit/>
          </a:bodyPr>
          <a:lstStyle/>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Four scenarios: SW(225°) base · N(0°) · E(90°)</a:t>
            </a:r>
          </a:p>
        </p:txBody>
      </p:sp>
      <p:sp>
        <p:nvSpPr>
          <p:cNvPr id="1237" name="任意形状 1236"/>
          <p:cNvSpPr/>
          <p:nvPr/>
        </p:nvSpPr>
        <p:spPr>
          <a:xfrm>
            <a:off x="2683908" y="4355812"/>
            <a:ext cx="1638709" cy="511686"/>
          </a:xfrm>
          <a:custGeom>
            <a:avLst/>
            <a:gdLst>
              <a:gd name="connsiteX0" fmla="*/ 1586271 w 1638709"/>
              <a:gd name="connsiteY0" fmla="*/ 0 h 367070"/>
              <a:gd name="connsiteX1" fmla="*/ 1638710 w 1638709"/>
              <a:gd name="connsiteY1" fmla="*/ 0 h 367070"/>
              <a:gd name="connsiteX2" fmla="*/ 1638710 w 1638709"/>
              <a:gd name="connsiteY2" fmla="*/ 367071 h 367070"/>
              <a:gd name="connsiteX3" fmla="*/ 1586271 w 1638709"/>
              <a:gd name="connsiteY3" fmla="*/ 367071 h 367070"/>
              <a:gd name="connsiteX4" fmla="*/ 52439 w 1638709"/>
              <a:gd name="connsiteY4" fmla="*/ 367071 h 367070"/>
              <a:gd name="connsiteX5" fmla="*/ 0 w 1638709"/>
              <a:gd name="connsiteY5" fmla="*/ 367071 h 367070"/>
              <a:gd name="connsiteX6" fmla="*/ 0 w 1638709"/>
              <a:gd name="connsiteY6" fmla="*/ 0 h 367070"/>
              <a:gd name="connsiteX7" fmla="*/ 52439 w 1638709"/>
              <a:gd name="connsiteY7" fmla="*/ 0 h 36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367070">
                <a:moveTo>
                  <a:pt x="1586271" y="0"/>
                </a:moveTo>
                <a:cubicBezTo>
                  <a:pt x="1615232" y="0"/>
                  <a:pt x="1638710" y="0"/>
                  <a:pt x="1638710" y="0"/>
                </a:cubicBezTo>
                <a:lnTo>
                  <a:pt x="1638710" y="367071"/>
                </a:lnTo>
                <a:cubicBezTo>
                  <a:pt x="1638710" y="367071"/>
                  <a:pt x="1615232" y="367071"/>
                  <a:pt x="1586271" y="367071"/>
                </a:cubicBezTo>
                <a:lnTo>
                  <a:pt x="52439" y="367071"/>
                </a:lnTo>
                <a:cubicBezTo>
                  <a:pt x="23478" y="367071"/>
                  <a:pt x="0" y="367071"/>
                  <a:pt x="0" y="367071"/>
                </a:cubicBezTo>
                <a:lnTo>
                  <a:pt x="0" y="0"/>
                </a:lnTo>
                <a:cubicBezTo>
                  <a:pt x="0" y="0"/>
                  <a:pt x="23478" y="0"/>
                  <a:pt x="52439" y="0"/>
                </a:cubicBezTo>
                <a:close/>
              </a:path>
            </a:pathLst>
          </a:custGeom>
          <a:solidFill>
            <a:srgbClr val="FFFFFF"/>
          </a:solidFill>
          <a:ln w="5244" cap="flat">
            <a:solidFill>
              <a:srgbClr val="FFA000"/>
            </a:solidFill>
            <a:prstDash val="solid"/>
            <a:miter/>
          </a:ln>
        </p:spPr>
        <p:txBody>
          <a:bodyPr rtlCol="0" anchor="ctr"/>
          <a:lstStyle/>
          <a:p>
            <a:endParaRPr lang="zh-CN" altLang="en-US"/>
          </a:p>
        </p:txBody>
      </p:sp>
      <p:sp>
        <p:nvSpPr>
          <p:cNvPr id="1238" name="任意形状 1237"/>
          <p:cNvSpPr/>
          <p:nvPr/>
        </p:nvSpPr>
        <p:spPr>
          <a:xfrm>
            <a:off x="2683908" y="4355812"/>
            <a:ext cx="1638709" cy="144206"/>
          </a:xfrm>
          <a:custGeom>
            <a:avLst/>
            <a:gdLst>
              <a:gd name="connsiteX0" fmla="*/ 1586271 w 1638709"/>
              <a:gd name="connsiteY0" fmla="*/ 0 h 144206"/>
              <a:gd name="connsiteX1" fmla="*/ 1638710 w 1638709"/>
              <a:gd name="connsiteY1" fmla="*/ 0 h 144206"/>
              <a:gd name="connsiteX2" fmla="*/ 1638710 w 1638709"/>
              <a:gd name="connsiteY2" fmla="*/ 144206 h 144206"/>
              <a:gd name="connsiteX3" fmla="*/ 1586271 w 1638709"/>
              <a:gd name="connsiteY3" fmla="*/ 144206 h 144206"/>
              <a:gd name="connsiteX4" fmla="*/ 52439 w 1638709"/>
              <a:gd name="connsiteY4" fmla="*/ 144206 h 144206"/>
              <a:gd name="connsiteX5" fmla="*/ 0 w 1638709"/>
              <a:gd name="connsiteY5" fmla="*/ 144206 h 144206"/>
              <a:gd name="connsiteX6" fmla="*/ 0 w 1638709"/>
              <a:gd name="connsiteY6" fmla="*/ 0 h 144206"/>
              <a:gd name="connsiteX7" fmla="*/ 52439 w 1638709"/>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206">
                <a:moveTo>
                  <a:pt x="1586271" y="0"/>
                </a:moveTo>
                <a:cubicBezTo>
                  <a:pt x="1615232" y="0"/>
                  <a:pt x="1638710" y="0"/>
                  <a:pt x="1638710" y="0"/>
                </a:cubicBezTo>
                <a:lnTo>
                  <a:pt x="1638710" y="144206"/>
                </a:lnTo>
                <a:cubicBezTo>
                  <a:pt x="1638710" y="144206"/>
                  <a:pt x="1615232" y="144206"/>
                  <a:pt x="1586271" y="144206"/>
                </a:cubicBezTo>
                <a:lnTo>
                  <a:pt x="52439" y="144206"/>
                </a:lnTo>
                <a:cubicBezTo>
                  <a:pt x="23478" y="144206"/>
                  <a:pt x="0" y="144206"/>
                  <a:pt x="0" y="144206"/>
                </a:cubicBezTo>
                <a:lnTo>
                  <a:pt x="0" y="0"/>
                </a:lnTo>
                <a:cubicBezTo>
                  <a:pt x="0" y="0"/>
                  <a:pt x="23478" y="0"/>
                  <a:pt x="52439" y="0"/>
                </a:cubicBezTo>
                <a:close/>
              </a:path>
            </a:pathLst>
          </a:custGeom>
          <a:solidFill>
            <a:srgbClr val="FFB74D"/>
          </a:solidFill>
          <a:ln w="6555" cap="flat">
            <a:noFill/>
            <a:prstDash val="solid"/>
            <a:miter/>
          </a:ln>
        </p:spPr>
        <p:txBody>
          <a:bodyPr rtlCol="0" anchor="ctr"/>
          <a:lstStyle/>
          <a:p>
            <a:endParaRPr lang="zh-CN" altLang="en-US"/>
          </a:p>
        </p:txBody>
      </p:sp>
      <p:sp>
        <p:nvSpPr>
          <p:cNvPr id="1239" name="任意形状 1238"/>
          <p:cNvSpPr/>
          <p:nvPr/>
        </p:nvSpPr>
        <p:spPr>
          <a:xfrm>
            <a:off x="2683908" y="4460689"/>
            <a:ext cx="1638709" cy="39329"/>
          </a:xfrm>
          <a:custGeom>
            <a:avLst/>
            <a:gdLst>
              <a:gd name="connsiteX0" fmla="*/ 0 w 1638709"/>
              <a:gd name="connsiteY0" fmla="*/ 0 h 39329"/>
              <a:gd name="connsiteX1" fmla="*/ 1638710 w 1638709"/>
              <a:gd name="connsiteY1" fmla="*/ 0 h 39329"/>
              <a:gd name="connsiteX2" fmla="*/ 1638710 w 1638709"/>
              <a:gd name="connsiteY2" fmla="*/ 39329 h 39329"/>
              <a:gd name="connsiteX3" fmla="*/ 0 w 1638709"/>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638709" h="39329">
                <a:moveTo>
                  <a:pt x="0" y="0"/>
                </a:moveTo>
                <a:lnTo>
                  <a:pt x="1638710" y="0"/>
                </a:lnTo>
                <a:lnTo>
                  <a:pt x="1638710" y="39329"/>
                </a:lnTo>
                <a:lnTo>
                  <a:pt x="0" y="39329"/>
                </a:lnTo>
                <a:close/>
              </a:path>
            </a:pathLst>
          </a:custGeom>
          <a:solidFill>
            <a:srgbClr val="FFB74D"/>
          </a:solidFill>
          <a:ln w="6555" cap="flat">
            <a:noFill/>
            <a:prstDash val="solid"/>
            <a:miter/>
          </a:ln>
        </p:spPr>
        <p:txBody>
          <a:bodyPr rtlCol="0" anchor="ctr"/>
          <a:lstStyle/>
          <a:p>
            <a:endParaRPr lang="zh-CN" altLang="en-US"/>
          </a:p>
        </p:txBody>
      </p:sp>
      <p:sp>
        <p:nvSpPr>
          <p:cNvPr id="1240" name="文本框 1239"/>
          <p:cNvSpPr txBox="1"/>
          <p:nvPr/>
        </p:nvSpPr>
        <p:spPr>
          <a:xfrm>
            <a:off x="2647100" y="4326991"/>
            <a:ext cx="1712328"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Affected Population Classification</a:t>
            </a:r>
          </a:p>
        </p:txBody>
      </p:sp>
      <p:sp>
        <p:nvSpPr>
          <p:cNvPr id="1241" name="文本框 1240"/>
          <p:cNvSpPr txBox="1"/>
          <p:nvPr/>
        </p:nvSpPr>
        <p:spPr>
          <a:xfrm>
            <a:off x="2690790" y="4466689"/>
            <a:ext cx="1621669" cy="352212"/>
          </a:xfrm>
          <a:prstGeom prst="rect">
            <a:avLst/>
          </a:prstGeom>
          <a:noFill/>
        </p:spPr>
        <p:txBody>
          <a:bodyPr wrap="square" rtlCol="0">
            <a:spAutoFit/>
          </a:bodyPr>
          <a:lstStyle/>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k=1 Critical(2%) · k=2 Vulnerable(27%) · k=3 General(71%)</a:t>
            </a:r>
          </a:p>
        </p:txBody>
      </p:sp>
      <p:sp>
        <p:nvSpPr>
          <p:cNvPr id="1244" name="任意形状 1243"/>
          <p:cNvSpPr/>
          <p:nvPr/>
        </p:nvSpPr>
        <p:spPr>
          <a:xfrm>
            <a:off x="4588387" y="1233128"/>
            <a:ext cx="3736258" cy="1374602"/>
          </a:xfrm>
          <a:custGeom>
            <a:avLst/>
            <a:gdLst>
              <a:gd name="connsiteX0" fmla="*/ 3670710 w 3736258"/>
              <a:gd name="connsiteY0" fmla="*/ 0 h 1278193"/>
              <a:gd name="connsiteX1" fmla="*/ 3736258 w 3736258"/>
              <a:gd name="connsiteY1" fmla="*/ 0 h 1278193"/>
              <a:gd name="connsiteX2" fmla="*/ 3736258 w 3736258"/>
              <a:gd name="connsiteY2" fmla="*/ 1278194 h 1278193"/>
              <a:gd name="connsiteX3" fmla="*/ 3670710 w 3736258"/>
              <a:gd name="connsiteY3" fmla="*/ 1278194 h 1278193"/>
              <a:gd name="connsiteX4" fmla="*/ 65548 w 3736258"/>
              <a:gd name="connsiteY4" fmla="*/ 1278194 h 1278193"/>
              <a:gd name="connsiteX5" fmla="*/ 0 w 3736258"/>
              <a:gd name="connsiteY5" fmla="*/ 1278194 h 1278193"/>
              <a:gd name="connsiteX6" fmla="*/ 0 w 3736258"/>
              <a:gd name="connsiteY6" fmla="*/ 0 h 1278193"/>
              <a:gd name="connsiteX7" fmla="*/ 65548 w 3736258"/>
              <a:gd name="connsiteY7" fmla="*/ 0 h 127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278193">
                <a:moveTo>
                  <a:pt x="3670710" y="0"/>
                </a:moveTo>
                <a:cubicBezTo>
                  <a:pt x="3706911" y="0"/>
                  <a:pt x="3736258" y="0"/>
                  <a:pt x="3736258" y="0"/>
                </a:cubicBezTo>
                <a:lnTo>
                  <a:pt x="3736258" y="1278194"/>
                </a:lnTo>
                <a:cubicBezTo>
                  <a:pt x="3736258" y="1278194"/>
                  <a:pt x="3706911" y="1278194"/>
                  <a:pt x="3670710" y="1278194"/>
                </a:cubicBezTo>
                <a:lnTo>
                  <a:pt x="65548" y="1278194"/>
                </a:lnTo>
                <a:cubicBezTo>
                  <a:pt x="29347" y="1278194"/>
                  <a:pt x="0" y="1278194"/>
                  <a:pt x="0" y="1278194"/>
                </a:cubicBezTo>
                <a:lnTo>
                  <a:pt x="0" y="0"/>
                </a:lnTo>
                <a:cubicBezTo>
                  <a:pt x="0" y="0"/>
                  <a:pt x="29347" y="0"/>
                  <a:pt x="65548" y="0"/>
                </a:cubicBezTo>
                <a:close/>
              </a:path>
            </a:pathLst>
          </a:custGeom>
          <a:solidFill>
            <a:srgbClr val="FFFFFF"/>
          </a:solidFill>
          <a:ln w="7866" cap="flat">
            <a:solidFill>
              <a:srgbClr val="2E7D32"/>
            </a:solidFill>
            <a:prstDash val="solid"/>
            <a:miter/>
          </a:ln>
        </p:spPr>
        <p:txBody>
          <a:bodyPr rtlCol="0" anchor="ctr"/>
          <a:lstStyle/>
          <a:p>
            <a:endParaRPr lang="zh-CN" altLang="en-US"/>
          </a:p>
        </p:txBody>
      </p:sp>
      <p:sp>
        <p:nvSpPr>
          <p:cNvPr id="1245" name="任意形状 1244"/>
          <p:cNvSpPr/>
          <p:nvPr/>
        </p:nvSpPr>
        <p:spPr>
          <a:xfrm>
            <a:off x="4588387" y="1233128"/>
            <a:ext cx="3736258" cy="170425"/>
          </a:xfrm>
          <a:custGeom>
            <a:avLst/>
            <a:gdLst>
              <a:gd name="connsiteX0" fmla="*/ 3670710 w 3736258"/>
              <a:gd name="connsiteY0" fmla="*/ 0 h 170425"/>
              <a:gd name="connsiteX1" fmla="*/ 3736258 w 3736258"/>
              <a:gd name="connsiteY1" fmla="*/ 0 h 170425"/>
              <a:gd name="connsiteX2" fmla="*/ 3736258 w 3736258"/>
              <a:gd name="connsiteY2" fmla="*/ 170426 h 170425"/>
              <a:gd name="connsiteX3" fmla="*/ 3670710 w 3736258"/>
              <a:gd name="connsiteY3" fmla="*/ 170426 h 170425"/>
              <a:gd name="connsiteX4" fmla="*/ 65548 w 3736258"/>
              <a:gd name="connsiteY4" fmla="*/ 170426 h 170425"/>
              <a:gd name="connsiteX5" fmla="*/ 0 w 3736258"/>
              <a:gd name="connsiteY5" fmla="*/ 170426 h 170425"/>
              <a:gd name="connsiteX6" fmla="*/ 0 w 3736258"/>
              <a:gd name="connsiteY6" fmla="*/ 0 h 170425"/>
              <a:gd name="connsiteX7" fmla="*/ 65548 w 3736258"/>
              <a:gd name="connsiteY7" fmla="*/ 0 h 17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70425">
                <a:moveTo>
                  <a:pt x="3670710" y="0"/>
                </a:moveTo>
                <a:cubicBezTo>
                  <a:pt x="3706911" y="0"/>
                  <a:pt x="3736258" y="0"/>
                  <a:pt x="3736258" y="0"/>
                </a:cubicBezTo>
                <a:lnTo>
                  <a:pt x="3736258" y="170426"/>
                </a:lnTo>
                <a:cubicBezTo>
                  <a:pt x="3736258" y="170426"/>
                  <a:pt x="3706911" y="170426"/>
                  <a:pt x="3670710" y="170426"/>
                </a:cubicBezTo>
                <a:lnTo>
                  <a:pt x="65548" y="170426"/>
                </a:lnTo>
                <a:cubicBezTo>
                  <a:pt x="29347" y="170426"/>
                  <a:pt x="0" y="170426"/>
                  <a:pt x="0" y="170426"/>
                </a:cubicBezTo>
                <a:lnTo>
                  <a:pt x="0" y="0"/>
                </a:lnTo>
                <a:cubicBezTo>
                  <a:pt x="0" y="0"/>
                  <a:pt x="29347" y="0"/>
                  <a:pt x="65548" y="0"/>
                </a:cubicBezTo>
                <a:close/>
              </a:path>
            </a:pathLst>
          </a:custGeom>
          <a:solidFill>
            <a:srgbClr val="2E7D32"/>
          </a:solidFill>
          <a:ln w="6555" cap="flat">
            <a:noFill/>
            <a:prstDash val="solid"/>
            <a:miter/>
          </a:ln>
        </p:spPr>
        <p:txBody>
          <a:bodyPr rtlCol="0" anchor="ctr"/>
          <a:lstStyle/>
          <a:p>
            <a:endParaRPr lang="zh-CN" altLang="en-US"/>
          </a:p>
        </p:txBody>
      </p:sp>
      <p:sp>
        <p:nvSpPr>
          <p:cNvPr id="1246" name="任意形状 1245"/>
          <p:cNvSpPr/>
          <p:nvPr/>
        </p:nvSpPr>
        <p:spPr>
          <a:xfrm>
            <a:off x="4588387" y="1364225"/>
            <a:ext cx="3736258" cy="39329"/>
          </a:xfrm>
          <a:custGeom>
            <a:avLst/>
            <a:gdLst>
              <a:gd name="connsiteX0" fmla="*/ 0 w 3736258"/>
              <a:gd name="connsiteY0" fmla="*/ 0 h 39329"/>
              <a:gd name="connsiteX1" fmla="*/ 3736258 w 3736258"/>
              <a:gd name="connsiteY1" fmla="*/ 0 h 39329"/>
              <a:gd name="connsiteX2" fmla="*/ 3736258 w 3736258"/>
              <a:gd name="connsiteY2" fmla="*/ 39329 h 39329"/>
              <a:gd name="connsiteX3" fmla="*/ 0 w 3736258"/>
              <a:gd name="connsiteY3" fmla="*/ 39329 h 39329"/>
            </a:gdLst>
            <a:ahLst/>
            <a:cxnLst>
              <a:cxn ang="0">
                <a:pos x="connsiteX0" y="connsiteY0"/>
              </a:cxn>
              <a:cxn ang="0">
                <a:pos x="connsiteX1" y="connsiteY1"/>
              </a:cxn>
              <a:cxn ang="0">
                <a:pos x="connsiteX2" y="connsiteY2"/>
              </a:cxn>
              <a:cxn ang="0">
                <a:pos x="connsiteX3" y="connsiteY3"/>
              </a:cxn>
            </a:cxnLst>
            <a:rect l="l" t="t" r="r" b="b"/>
            <a:pathLst>
              <a:path w="3736258" h="39329">
                <a:moveTo>
                  <a:pt x="0" y="0"/>
                </a:moveTo>
                <a:lnTo>
                  <a:pt x="3736258" y="0"/>
                </a:lnTo>
                <a:lnTo>
                  <a:pt x="3736258" y="39329"/>
                </a:lnTo>
                <a:lnTo>
                  <a:pt x="0" y="39329"/>
                </a:lnTo>
                <a:close/>
              </a:path>
            </a:pathLst>
          </a:custGeom>
          <a:solidFill>
            <a:srgbClr val="2E7D32"/>
          </a:solidFill>
          <a:ln w="6555" cap="flat">
            <a:noFill/>
            <a:prstDash val="solid"/>
            <a:miter/>
          </a:ln>
        </p:spPr>
        <p:txBody>
          <a:bodyPr rtlCol="0" anchor="ctr"/>
          <a:lstStyle/>
          <a:p>
            <a:endParaRPr lang="zh-CN" altLang="en-US"/>
          </a:p>
        </p:txBody>
      </p:sp>
      <p:sp>
        <p:nvSpPr>
          <p:cNvPr id="1247" name="文本框 1246"/>
          <p:cNvSpPr txBox="1"/>
          <p:nvPr/>
        </p:nvSpPr>
        <p:spPr>
          <a:xfrm>
            <a:off x="4611299" y="1210288"/>
            <a:ext cx="3690434" cy="219291"/>
          </a:xfrm>
          <a:prstGeom prst="rect">
            <a:avLst/>
          </a:prstGeom>
          <a:noFill/>
        </p:spPr>
        <p:txBody>
          <a:bodyPr wrap="none" rtlCol="0">
            <a:spAutoFit/>
          </a:bodyPr>
          <a:lstStyle/>
          <a:p>
            <a:pPr algn="ctr"/>
            <a:r>
              <a:rPr lang="zh-CN" altLang="en-US" sz="825" b="1" spc="0" baseline="0" dirty="0">
                <a:solidFill>
                  <a:srgbClr val="FFFFFF"/>
                </a:solidFill>
                <a:latin typeface="Segoe UI"/>
                <a:cs typeface="Segoe UI"/>
                <a:sym typeface="Segoe UI"/>
                <a:rtl val="0"/>
              </a:rPr>
              <a:t>Emergency Supply Delivery Optimization (Step 10) — Centripetal Flow</a:t>
            </a:r>
          </a:p>
        </p:txBody>
      </p:sp>
      <p:sp>
        <p:nvSpPr>
          <p:cNvPr id="1248" name="任意形状 1247"/>
          <p:cNvSpPr/>
          <p:nvPr/>
        </p:nvSpPr>
        <p:spPr>
          <a:xfrm>
            <a:off x="4686709" y="1475657"/>
            <a:ext cx="1127432" cy="426064"/>
          </a:xfrm>
          <a:custGeom>
            <a:avLst/>
            <a:gdLst>
              <a:gd name="connsiteX0" fmla="*/ 1094658 w 1127432"/>
              <a:gd name="connsiteY0" fmla="*/ 0 h 426064"/>
              <a:gd name="connsiteX1" fmla="*/ 1127432 w 1127432"/>
              <a:gd name="connsiteY1" fmla="*/ 0 h 426064"/>
              <a:gd name="connsiteX2" fmla="*/ 1127432 w 1127432"/>
              <a:gd name="connsiteY2" fmla="*/ 426065 h 426064"/>
              <a:gd name="connsiteX3" fmla="*/ 1094658 w 1127432"/>
              <a:gd name="connsiteY3" fmla="*/ 426065 h 426064"/>
              <a:gd name="connsiteX4" fmla="*/ 32774 w 1127432"/>
              <a:gd name="connsiteY4" fmla="*/ 426065 h 426064"/>
              <a:gd name="connsiteX5" fmla="*/ 0 w 1127432"/>
              <a:gd name="connsiteY5" fmla="*/ 426065 h 426064"/>
              <a:gd name="connsiteX6" fmla="*/ 0 w 1127432"/>
              <a:gd name="connsiteY6" fmla="*/ 0 h 426064"/>
              <a:gd name="connsiteX7" fmla="*/ 32774 w 1127432"/>
              <a:gd name="connsiteY7" fmla="*/ 0 h 42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26064">
                <a:moveTo>
                  <a:pt x="1094658" y="0"/>
                </a:moveTo>
                <a:cubicBezTo>
                  <a:pt x="1112759" y="0"/>
                  <a:pt x="1127432" y="0"/>
                  <a:pt x="1127432" y="0"/>
                </a:cubicBezTo>
                <a:lnTo>
                  <a:pt x="1127432" y="426065"/>
                </a:lnTo>
                <a:cubicBezTo>
                  <a:pt x="1127432" y="426065"/>
                  <a:pt x="1112759" y="426065"/>
                  <a:pt x="1094658" y="426065"/>
                </a:cubicBezTo>
                <a:lnTo>
                  <a:pt x="32774" y="426065"/>
                </a:lnTo>
                <a:cubicBezTo>
                  <a:pt x="14674" y="426065"/>
                  <a:pt x="0" y="426065"/>
                  <a:pt x="0" y="426065"/>
                </a:cubicBezTo>
                <a:lnTo>
                  <a:pt x="0" y="0"/>
                </a:lnTo>
                <a:cubicBezTo>
                  <a:pt x="0" y="0"/>
                  <a:pt x="14674" y="0"/>
                  <a:pt x="32774" y="0"/>
                </a:cubicBezTo>
                <a:close/>
              </a:path>
            </a:pathLst>
          </a:custGeom>
          <a:solidFill>
            <a:srgbClr val="E8F5E9"/>
          </a:solidFill>
          <a:ln w="3277" cap="flat">
            <a:solidFill>
              <a:srgbClr val="43A047"/>
            </a:solidFill>
            <a:prstDash val="solid"/>
            <a:miter/>
          </a:ln>
        </p:spPr>
        <p:txBody>
          <a:bodyPr rtlCol="0" anchor="ctr"/>
          <a:lstStyle/>
          <a:p>
            <a:endParaRPr lang="zh-CN" altLang="en-US"/>
          </a:p>
        </p:txBody>
      </p:sp>
      <p:sp>
        <p:nvSpPr>
          <p:cNvPr id="1249" name="文本框 1248"/>
          <p:cNvSpPr txBox="1"/>
          <p:nvPr/>
        </p:nvSpPr>
        <p:spPr>
          <a:xfrm>
            <a:off x="4635513" y="1456157"/>
            <a:ext cx="1229824" cy="184666"/>
          </a:xfrm>
          <a:prstGeom prst="rect">
            <a:avLst/>
          </a:prstGeom>
          <a:noFill/>
        </p:spPr>
        <p:txBody>
          <a:bodyPr wrap="none" rtlCol="0">
            <a:spAutoFit/>
          </a:bodyPr>
          <a:lstStyle/>
          <a:p>
            <a:pPr algn="ctr"/>
            <a:r>
              <a:rPr lang="zh-CN" altLang="en-US" sz="600" b="1" spc="0" baseline="0" dirty="0">
                <a:solidFill>
                  <a:srgbClr val="1B5E20"/>
                </a:solidFill>
                <a:latin typeface="Segoe UI"/>
                <a:cs typeface="Segoe UI"/>
                <a:sym typeface="Segoe UI"/>
                <a:rtl val="0"/>
              </a:rPr>
              <a:t>Three-Tier Logistics Network</a:t>
            </a:r>
          </a:p>
        </p:txBody>
      </p:sp>
      <p:sp>
        <p:nvSpPr>
          <p:cNvPr id="1250" name="文本框 1249"/>
          <p:cNvSpPr txBox="1"/>
          <p:nvPr/>
        </p:nvSpPr>
        <p:spPr>
          <a:xfrm>
            <a:off x="4617150" y="1574144"/>
            <a:ext cx="1273105"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Supply (H): 8 fire stations + 2 depots</a:t>
            </a:r>
          </a:p>
        </p:txBody>
      </p:sp>
      <p:sp>
        <p:nvSpPr>
          <p:cNvPr id="1251" name="文本框 1250"/>
          <p:cNvSpPr txBox="1"/>
          <p:nvPr/>
        </p:nvSpPr>
        <p:spPr>
          <a:xfrm>
            <a:off x="4630704" y="1660422"/>
            <a:ext cx="1239442"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Transit (I): 5 large-capacity facilities</a:t>
            </a:r>
          </a:p>
        </p:txBody>
      </p:sp>
      <p:sp>
        <p:nvSpPr>
          <p:cNvPr id="1252" name="文本框 1251"/>
          <p:cNvSpPr txBox="1"/>
          <p:nvPr/>
        </p:nvSpPr>
        <p:spPr>
          <a:xfrm>
            <a:off x="4786196" y="1746700"/>
            <a:ext cx="928460" cy="173124"/>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Demand (J): 15 locations</a:t>
            </a:r>
          </a:p>
        </p:txBody>
      </p:sp>
      <p:sp>
        <p:nvSpPr>
          <p:cNvPr id="1253" name="任意形状 1252"/>
          <p:cNvSpPr/>
          <p:nvPr/>
        </p:nvSpPr>
        <p:spPr>
          <a:xfrm>
            <a:off x="5879690" y="1475657"/>
            <a:ext cx="1127432" cy="426064"/>
          </a:xfrm>
          <a:custGeom>
            <a:avLst/>
            <a:gdLst>
              <a:gd name="connsiteX0" fmla="*/ 1094658 w 1127432"/>
              <a:gd name="connsiteY0" fmla="*/ 0 h 426064"/>
              <a:gd name="connsiteX1" fmla="*/ 1127432 w 1127432"/>
              <a:gd name="connsiteY1" fmla="*/ 0 h 426064"/>
              <a:gd name="connsiteX2" fmla="*/ 1127432 w 1127432"/>
              <a:gd name="connsiteY2" fmla="*/ 426065 h 426064"/>
              <a:gd name="connsiteX3" fmla="*/ 1094658 w 1127432"/>
              <a:gd name="connsiteY3" fmla="*/ 426065 h 426064"/>
              <a:gd name="connsiteX4" fmla="*/ 32774 w 1127432"/>
              <a:gd name="connsiteY4" fmla="*/ 426065 h 426064"/>
              <a:gd name="connsiteX5" fmla="*/ 0 w 1127432"/>
              <a:gd name="connsiteY5" fmla="*/ 426065 h 426064"/>
              <a:gd name="connsiteX6" fmla="*/ 0 w 1127432"/>
              <a:gd name="connsiteY6" fmla="*/ 0 h 426064"/>
              <a:gd name="connsiteX7" fmla="*/ 32774 w 1127432"/>
              <a:gd name="connsiteY7" fmla="*/ 0 h 42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26064">
                <a:moveTo>
                  <a:pt x="1094658" y="0"/>
                </a:moveTo>
                <a:cubicBezTo>
                  <a:pt x="1112759" y="0"/>
                  <a:pt x="1127432" y="0"/>
                  <a:pt x="1127432" y="0"/>
                </a:cubicBezTo>
                <a:lnTo>
                  <a:pt x="1127432" y="426065"/>
                </a:lnTo>
                <a:cubicBezTo>
                  <a:pt x="1127432" y="426065"/>
                  <a:pt x="1112759" y="426065"/>
                  <a:pt x="1094658" y="426065"/>
                </a:cubicBezTo>
                <a:lnTo>
                  <a:pt x="32774" y="426065"/>
                </a:lnTo>
                <a:cubicBezTo>
                  <a:pt x="14674" y="426065"/>
                  <a:pt x="0" y="426065"/>
                  <a:pt x="0" y="426065"/>
                </a:cubicBezTo>
                <a:lnTo>
                  <a:pt x="0" y="0"/>
                </a:lnTo>
                <a:cubicBezTo>
                  <a:pt x="0" y="0"/>
                  <a:pt x="14674" y="0"/>
                  <a:pt x="32774" y="0"/>
                </a:cubicBezTo>
                <a:close/>
              </a:path>
            </a:pathLst>
          </a:custGeom>
          <a:solidFill>
            <a:srgbClr val="E8F5E9"/>
          </a:solidFill>
          <a:ln w="3277" cap="flat">
            <a:solidFill>
              <a:srgbClr val="43A047"/>
            </a:solidFill>
            <a:prstDash val="solid"/>
            <a:miter/>
          </a:ln>
        </p:spPr>
        <p:txBody>
          <a:bodyPr rtlCol="0" anchor="ctr"/>
          <a:lstStyle/>
          <a:p>
            <a:endParaRPr lang="zh-CN" altLang="en-US"/>
          </a:p>
        </p:txBody>
      </p:sp>
      <p:sp>
        <p:nvSpPr>
          <p:cNvPr id="1254" name="文本框 1253"/>
          <p:cNvSpPr txBox="1"/>
          <p:nvPr/>
        </p:nvSpPr>
        <p:spPr>
          <a:xfrm>
            <a:off x="5845325" y="1456157"/>
            <a:ext cx="1196161" cy="184666"/>
          </a:xfrm>
          <a:prstGeom prst="rect">
            <a:avLst/>
          </a:prstGeom>
          <a:noFill/>
        </p:spPr>
        <p:txBody>
          <a:bodyPr wrap="none" rtlCol="0">
            <a:spAutoFit/>
          </a:bodyPr>
          <a:lstStyle/>
          <a:p>
            <a:pPr algn="ctr"/>
            <a:r>
              <a:rPr lang="zh-CN" altLang="en-US" sz="600" b="1" spc="0" baseline="0" dirty="0">
                <a:solidFill>
                  <a:srgbClr val="1B5E20"/>
                </a:solidFill>
                <a:latin typeface="Segoe UI"/>
                <a:cs typeface="Segoe UI"/>
                <a:sym typeface="Segoe UI"/>
                <a:rtl val="0"/>
              </a:rPr>
              <a:t>Four Priority Time Windows</a:t>
            </a:r>
          </a:p>
        </p:txBody>
      </p:sp>
      <p:sp>
        <p:nvSpPr>
          <p:cNvPr id="1255" name="任意形状 1254"/>
          <p:cNvSpPr/>
          <p:nvPr/>
        </p:nvSpPr>
        <p:spPr>
          <a:xfrm>
            <a:off x="5964903" y="1606754"/>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B71C1C"/>
          </a:solidFill>
          <a:ln w="6555" cap="flat">
            <a:noFill/>
            <a:prstDash val="solid"/>
            <a:miter/>
          </a:ln>
        </p:spPr>
        <p:txBody>
          <a:bodyPr rtlCol="0" anchor="ctr"/>
          <a:lstStyle/>
          <a:p>
            <a:endParaRPr lang="zh-CN" altLang="en-US"/>
          </a:p>
        </p:txBody>
      </p:sp>
      <p:sp>
        <p:nvSpPr>
          <p:cNvPr id="1256" name="文本框 1255"/>
          <p:cNvSpPr txBox="1"/>
          <p:nvPr/>
        </p:nvSpPr>
        <p:spPr>
          <a:xfrm>
            <a:off x="5952121" y="1546519"/>
            <a:ext cx="681047" cy="137323"/>
          </a:xfrm>
          <a:prstGeom prst="rect">
            <a:avLst/>
          </a:prstGeom>
          <a:noFill/>
        </p:spPr>
        <p:txBody>
          <a:bodyPr wrap="non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Life rescue 30min (hard)</a:t>
            </a:r>
          </a:p>
        </p:txBody>
      </p:sp>
      <p:sp>
        <p:nvSpPr>
          <p:cNvPr id="1257" name="任意形状 1256"/>
          <p:cNvSpPr/>
          <p:nvPr/>
        </p:nvSpPr>
        <p:spPr>
          <a:xfrm>
            <a:off x="5964903" y="1685412"/>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E53935"/>
          </a:solidFill>
          <a:ln w="6555" cap="flat">
            <a:noFill/>
            <a:prstDash val="solid"/>
            <a:miter/>
          </a:ln>
        </p:spPr>
        <p:txBody>
          <a:bodyPr rtlCol="0" anchor="ctr"/>
          <a:lstStyle/>
          <a:p>
            <a:endParaRPr lang="zh-CN" altLang="en-US"/>
          </a:p>
        </p:txBody>
      </p:sp>
      <p:sp>
        <p:nvSpPr>
          <p:cNvPr id="1258" name="文本框 1257"/>
          <p:cNvSpPr txBox="1"/>
          <p:nvPr/>
        </p:nvSpPr>
        <p:spPr>
          <a:xfrm>
            <a:off x="5952121" y="1629391"/>
            <a:ext cx="608944" cy="137323"/>
          </a:xfrm>
          <a:prstGeom prst="rect">
            <a:avLst/>
          </a:prstGeom>
          <a:noFill/>
        </p:spPr>
        <p:txBody>
          <a:bodyPr wrap="non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Medical 60min (hard)</a:t>
            </a:r>
          </a:p>
        </p:txBody>
      </p:sp>
      <p:sp>
        <p:nvSpPr>
          <p:cNvPr id="1259" name="任意形状 1258"/>
          <p:cNvSpPr/>
          <p:nvPr/>
        </p:nvSpPr>
        <p:spPr>
          <a:xfrm>
            <a:off x="5964903" y="1764070"/>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FF9800"/>
          </a:solidFill>
          <a:ln w="6555" cap="flat">
            <a:noFill/>
            <a:prstDash val="solid"/>
            <a:miter/>
          </a:ln>
        </p:spPr>
        <p:txBody>
          <a:bodyPr rtlCol="0" anchor="ctr"/>
          <a:lstStyle/>
          <a:p>
            <a:endParaRPr lang="zh-CN" altLang="en-US"/>
          </a:p>
        </p:txBody>
      </p:sp>
      <p:sp>
        <p:nvSpPr>
          <p:cNvPr id="1260" name="文本框 1259"/>
          <p:cNvSpPr txBox="1"/>
          <p:nvPr/>
        </p:nvSpPr>
        <p:spPr>
          <a:xfrm>
            <a:off x="5952121" y="1708049"/>
            <a:ext cx="667938" cy="137323"/>
          </a:xfrm>
          <a:prstGeom prst="rect">
            <a:avLst/>
          </a:prstGeom>
          <a:noFill/>
        </p:spPr>
        <p:txBody>
          <a:bodyPr wrap="non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Protection 120min (soft)</a:t>
            </a:r>
          </a:p>
        </p:txBody>
      </p:sp>
      <p:sp>
        <p:nvSpPr>
          <p:cNvPr id="1261" name="任意形状 1260"/>
          <p:cNvSpPr/>
          <p:nvPr/>
        </p:nvSpPr>
        <p:spPr>
          <a:xfrm>
            <a:off x="5964903" y="1842728"/>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FFC107"/>
          </a:solidFill>
          <a:ln w="6555" cap="flat">
            <a:noFill/>
            <a:prstDash val="solid"/>
            <a:miter/>
          </a:ln>
        </p:spPr>
        <p:txBody>
          <a:bodyPr rtlCol="0" anchor="ctr"/>
          <a:lstStyle/>
          <a:p>
            <a:endParaRPr lang="zh-CN" altLang="en-US"/>
          </a:p>
        </p:txBody>
      </p:sp>
      <p:sp>
        <p:nvSpPr>
          <p:cNvPr id="1262" name="文本框 1261"/>
          <p:cNvSpPr txBox="1"/>
          <p:nvPr/>
        </p:nvSpPr>
        <p:spPr>
          <a:xfrm>
            <a:off x="5952121" y="1781175"/>
            <a:ext cx="720376" cy="137323"/>
          </a:xfrm>
          <a:prstGeom prst="rect">
            <a:avLst/>
          </a:prstGeom>
          <a:noFill/>
        </p:spPr>
        <p:txBody>
          <a:bodyPr wrap="non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Basic supply 240min (soft)</a:t>
            </a:r>
          </a:p>
        </p:txBody>
      </p:sp>
      <p:sp>
        <p:nvSpPr>
          <p:cNvPr id="1263" name="任意形状 1262"/>
          <p:cNvSpPr/>
          <p:nvPr/>
        </p:nvSpPr>
        <p:spPr>
          <a:xfrm>
            <a:off x="7072670" y="1475657"/>
            <a:ext cx="1166761" cy="426064"/>
          </a:xfrm>
          <a:custGeom>
            <a:avLst/>
            <a:gdLst>
              <a:gd name="connsiteX0" fmla="*/ 1133987 w 1166761"/>
              <a:gd name="connsiteY0" fmla="*/ 0 h 426064"/>
              <a:gd name="connsiteX1" fmla="*/ 1166761 w 1166761"/>
              <a:gd name="connsiteY1" fmla="*/ 0 h 426064"/>
              <a:gd name="connsiteX2" fmla="*/ 1166761 w 1166761"/>
              <a:gd name="connsiteY2" fmla="*/ 426065 h 426064"/>
              <a:gd name="connsiteX3" fmla="*/ 1133987 w 1166761"/>
              <a:gd name="connsiteY3" fmla="*/ 426065 h 426064"/>
              <a:gd name="connsiteX4" fmla="*/ 32774 w 1166761"/>
              <a:gd name="connsiteY4" fmla="*/ 426065 h 426064"/>
              <a:gd name="connsiteX5" fmla="*/ 0 w 1166761"/>
              <a:gd name="connsiteY5" fmla="*/ 426065 h 426064"/>
              <a:gd name="connsiteX6" fmla="*/ 0 w 1166761"/>
              <a:gd name="connsiteY6" fmla="*/ 0 h 426064"/>
              <a:gd name="connsiteX7" fmla="*/ 32774 w 1166761"/>
              <a:gd name="connsiteY7" fmla="*/ 0 h 42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761" h="426064">
                <a:moveTo>
                  <a:pt x="1133987" y="0"/>
                </a:moveTo>
                <a:cubicBezTo>
                  <a:pt x="1152088" y="0"/>
                  <a:pt x="1166761" y="0"/>
                  <a:pt x="1166761" y="0"/>
                </a:cubicBezTo>
                <a:lnTo>
                  <a:pt x="1166761" y="426065"/>
                </a:lnTo>
                <a:cubicBezTo>
                  <a:pt x="1166761" y="426065"/>
                  <a:pt x="1152088" y="426065"/>
                  <a:pt x="1133987" y="426065"/>
                </a:cubicBezTo>
                <a:lnTo>
                  <a:pt x="32774" y="426065"/>
                </a:lnTo>
                <a:cubicBezTo>
                  <a:pt x="14673" y="426065"/>
                  <a:pt x="0" y="426065"/>
                  <a:pt x="0" y="426065"/>
                </a:cubicBezTo>
                <a:lnTo>
                  <a:pt x="0" y="0"/>
                </a:lnTo>
                <a:cubicBezTo>
                  <a:pt x="0" y="0"/>
                  <a:pt x="14673" y="0"/>
                  <a:pt x="32774" y="0"/>
                </a:cubicBezTo>
                <a:close/>
              </a:path>
            </a:pathLst>
          </a:custGeom>
          <a:solidFill>
            <a:srgbClr val="E8F5E9"/>
          </a:solidFill>
          <a:ln w="3277" cap="flat">
            <a:solidFill>
              <a:srgbClr val="43A047"/>
            </a:solidFill>
            <a:prstDash val="solid"/>
            <a:miter/>
          </a:ln>
        </p:spPr>
        <p:txBody>
          <a:bodyPr rtlCol="0" anchor="ctr"/>
          <a:lstStyle/>
          <a:p>
            <a:endParaRPr lang="zh-CN" altLang="en-US"/>
          </a:p>
        </p:txBody>
      </p:sp>
      <p:sp>
        <p:nvSpPr>
          <p:cNvPr id="1264" name="文本框 1263"/>
          <p:cNvSpPr txBox="1"/>
          <p:nvPr/>
        </p:nvSpPr>
        <p:spPr>
          <a:xfrm>
            <a:off x="7081142" y="1456157"/>
            <a:ext cx="1143262" cy="184666"/>
          </a:xfrm>
          <a:prstGeom prst="rect">
            <a:avLst/>
          </a:prstGeom>
          <a:noFill/>
        </p:spPr>
        <p:txBody>
          <a:bodyPr wrap="none" rtlCol="0">
            <a:spAutoFit/>
          </a:bodyPr>
          <a:lstStyle/>
          <a:p>
            <a:pPr algn="ctr"/>
            <a:r>
              <a:rPr lang="zh-CN" altLang="en-US" sz="600" b="1" spc="0" baseline="0" dirty="0">
                <a:solidFill>
                  <a:srgbClr val="1B5E20"/>
                </a:solidFill>
                <a:latin typeface="Segoe UI"/>
                <a:cs typeface="Segoe UI"/>
                <a:sym typeface="Segoe UI"/>
                <a:rtl val="0"/>
              </a:rPr>
              <a:t>Truck–Drone Coordination</a:t>
            </a:r>
          </a:p>
        </p:txBody>
      </p:sp>
      <p:sp>
        <p:nvSpPr>
          <p:cNvPr id="1265" name="文本框 1264"/>
          <p:cNvSpPr txBox="1"/>
          <p:nvPr/>
        </p:nvSpPr>
        <p:spPr>
          <a:xfrm>
            <a:off x="7058701" y="1555094"/>
            <a:ext cx="1188146" cy="173124"/>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Direct: truck→demand (20 trucks)</a:t>
            </a:r>
          </a:p>
        </p:txBody>
      </p:sp>
      <p:sp>
        <p:nvSpPr>
          <p:cNvPr id="1266" name="文本框 1265"/>
          <p:cNvSpPr txBox="1"/>
          <p:nvPr/>
        </p:nvSpPr>
        <p:spPr>
          <a:xfrm>
            <a:off x="6975344" y="1641372"/>
            <a:ext cx="1354859"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Relay: truck→transit→drone (10 UAVs)</a:t>
            </a:r>
          </a:p>
        </p:txBody>
      </p:sp>
      <p:sp>
        <p:nvSpPr>
          <p:cNvPr id="1267" name="文本框 1266"/>
          <p:cNvSpPr txBox="1"/>
          <p:nvPr/>
        </p:nvSpPr>
        <p:spPr>
          <a:xfrm>
            <a:off x="6997858" y="1731460"/>
            <a:ext cx="1316387" cy="173124"/>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Drone: 60km/h · ≤25kg · ≤15km range</a:t>
            </a:r>
          </a:p>
        </p:txBody>
      </p:sp>
      <p:sp>
        <p:nvSpPr>
          <p:cNvPr id="1268" name="任意形状 1267"/>
          <p:cNvSpPr/>
          <p:nvPr/>
        </p:nvSpPr>
        <p:spPr>
          <a:xfrm>
            <a:off x="4686709" y="1954161"/>
            <a:ext cx="1737032" cy="353523"/>
          </a:xfrm>
          <a:custGeom>
            <a:avLst/>
            <a:gdLst>
              <a:gd name="connsiteX0" fmla="*/ 1704258 w 1737032"/>
              <a:gd name="connsiteY0" fmla="*/ 0 h 249083"/>
              <a:gd name="connsiteX1" fmla="*/ 1737032 w 1737032"/>
              <a:gd name="connsiteY1" fmla="*/ 0 h 249083"/>
              <a:gd name="connsiteX2" fmla="*/ 1737032 w 1737032"/>
              <a:gd name="connsiteY2" fmla="*/ 249084 h 249083"/>
              <a:gd name="connsiteX3" fmla="*/ 1704258 w 1737032"/>
              <a:gd name="connsiteY3" fmla="*/ 249084 h 249083"/>
              <a:gd name="connsiteX4" fmla="*/ 32774 w 1737032"/>
              <a:gd name="connsiteY4" fmla="*/ 249084 h 249083"/>
              <a:gd name="connsiteX5" fmla="*/ 0 w 1737032"/>
              <a:gd name="connsiteY5" fmla="*/ 249084 h 249083"/>
              <a:gd name="connsiteX6" fmla="*/ 0 w 1737032"/>
              <a:gd name="connsiteY6" fmla="*/ 0 h 249083"/>
              <a:gd name="connsiteX7" fmla="*/ 32774 w 1737032"/>
              <a:gd name="connsiteY7" fmla="*/ 0 h 24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49083">
                <a:moveTo>
                  <a:pt x="1704258" y="0"/>
                </a:moveTo>
                <a:cubicBezTo>
                  <a:pt x="1722359" y="0"/>
                  <a:pt x="1737032" y="0"/>
                  <a:pt x="1737032" y="0"/>
                </a:cubicBezTo>
                <a:lnTo>
                  <a:pt x="1737032" y="249084"/>
                </a:lnTo>
                <a:cubicBezTo>
                  <a:pt x="1737032" y="249084"/>
                  <a:pt x="1722359" y="249084"/>
                  <a:pt x="1704258" y="249084"/>
                </a:cubicBezTo>
                <a:lnTo>
                  <a:pt x="32774" y="249084"/>
                </a:lnTo>
                <a:cubicBezTo>
                  <a:pt x="14674" y="249084"/>
                  <a:pt x="0" y="249084"/>
                  <a:pt x="0" y="249084"/>
                </a:cubicBezTo>
                <a:lnTo>
                  <a:pt x="0" y="0"/>
                </a:lnTo>
                <a:cubicBezTo>
                  <a:pt x="0" y="0"/>
                  <a:pt x="14674" y="0"/>
                  <a:pt x="32774" y="0"/>
                </a:cubicBezTo>
                <a:close/>
              </a:path>
            </a:pathLst>
          </a:custGeom>
          <a:solidFill>
            <a:srgbClr val="C8E6C9"/>
          </a:solidFill>
          <a:ln w="3277" cap="flat">
            <a:solidFill>
              <a:srgbClr val="388E3C"/>
            </a:solidFill>
            <a:prstDash val="solid"/>
            <a:miter/>
          </a:ln>
        </p:spPr>
        <p:txBody>
          <a:bodyPr rtlCol="0" anchor="ctr"/>
          <a:lstStyle/>
          <a:p>
            <a:endParaRPr lang="zh-CN" altLang="en-US"/>
          </a:p>
        </p:txBody>
      </p:sp>
      <p:sp>
        <p:nvSpPr>
          <p:cNvPr id="1269" name="文本框 1268"/>
          <p:cNvSpPr txBox="1"/>
          <p:nvPr/>
        </p:nvSpPr>
        <p:spPr>
          <a:xfrm>
            <a:off x="5115771" y="1941215"/>
            <a:ext cx="872355" cy="196208"/>
          </a:xfrm>
          <a:prstGeom prst="rect">
            <a:avLst/>
          </a:prstGeom>
          <a:noFill/>
        </p:spPr>
        <p:txBody>
          <a:bodyPr wrap="none" rtlCol="0">
            <a:spAutoFit/>
          </a:bodyPr>
          <a:lstStyle/>
          <a:p>
            <a:pPr algn="ctr"/>
            <a:r>
              <a:rPr lang="zh-CN" altLang="en-US" sz="675" b="1" spc="0" baseline="0" dirty="0">
                <a:solidFill>
                  <a:srgbClr val="1B5E20"/>
                </a:solidFill>
                <a:latin typeface="Segoe UI"/>
                <a:cs typeface="Segoe UI"/>
                <a:sym typeface="Segoe UI"/>
                <a:rtl val="0"/>
              </a:rPr>
              <a:t>Solution Method</a:t>
            </a:r>
          </a:p>
        </p:txBody>
      </p:sp>
      <p:sp>
        <p:nvSpPr>
          <p:cNvPr id="1270" name="文本框 1269"/>
          <p:cNvSpPr txBox="1"/>
          <p:nvPr/>
        </p:nvSpPr>
        <p:spPr>
          <a:xfrm>
            <a:off x="4686708" y="2059202"/>
            <a:ext cx="1735848" cy="276999"/>
          </a:xfrm>
          <a:prstGeom prst="rect">
            <a:avLst/>
          </a:prstGeom>
          <a:noFill/>
        </p:spPr>
        <p:txBody>
          <a:bodyPr wrap="squar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Priority-based greedy + 2-opt local search · Dijkstra</a:t>
            </a:r>
          </a:p>
        </p:txBody>
      </p:sp>
      <p:sp>
        <p:nvSpPr>
          <p:cNvPr id="1271" name="任意形状 1270"/>
          <p:cNvSpPr/>
          <p:nvPr/>
        </p:nvSpPr>
        <p:spPr>
          <a:xfrm>
            <a:off x="6489290" y="1954161"/>
            <a:ext cx="1737032" cy="353523"/>
          </a:xfrm>
          <a:custGeom>
            <a:avLst/>
            <a:gdLst>
              <a:gd name="connsiteX0" fmla="*/ 1704258 w 1737032"/>
              <a:gd name="connsiteY0" fmla="*/ 0 h 249083"/>
              <a:gd name="connsiteX1" fmla="*/ 1737032 w 1737032"/>
              <a:gd name="connsiteY1" fmla="*/ 0 h 249083"/>
              <a:gd name="connsiteX2" fmla="*/ 1737032 w 1737032"/>
              <a:gd name="connsiteY2" fmla="*/ 249084 h 249083"/>
              <a:gd name="connsiteX3" fmla="*/ 1704258 w 1737032"/>
              <a:gd name="connsiteY3" fmla="*/ 249084 h 249083"/>
              <a:gd name="connsiteX4" fmla="*/ 32774 w 1737032"/>
              <a:gd name="connsiteY4" fmla="*/ 249084 h 249083"/>
              <a:gd name="connsiteX5" fmla="*/ 0 w 1737032"/>
              <a:gd name="connsiteY5" fmla="*/ 249084 h 249083"/>
              <a:gd name="connsiteX6" fmla="*/ 0 w 1737032"/>
              <a:gd name="connsiteY6" fmla="*/ 0 h 249083"/>
              <a:gd name="connsiteX7" fmla="*/ 32774 w 1737032"/>
              <a:gd name="connsiteY7" fmla="*/ 0 h 24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49083">
                <a:moveTo>
                  <a:pt x="1704258" y="0"/>
                </a:moveTo>
                <a:cubicBezTo>
                  <a:pt x="1722359" y="0"/>
                  <a:pt x="1737032" y="0"/>
                  <a:pt x="1737032" y="0"/>
                </a:cubicBezTo>
                <a:lnTo>
                  <a:pt x="1737032" y="249084"/>
                </a:lnTo>
                <a:cubicBezTo>
                  <a:pt x="1737032" y="249084"/>
                  <a:pt x="1722359" y="249084"/>
                  <a:pt x="1704258" y="249084"/>
                </a:cubicBezTo>
                <a:lnTo>
                  <a:pt x="32774" y="249084"/>
                </a:lnTo>
                <a:cubicBezTo>
                  <a:pt x="14674" y="249084"/>
                  <a:pt x="0" y="249084"/>
                  <a:pt x="0" y="249084"/>
                </a:cubicBezTo>
                <a:lnTo>
                  <a:pt x="0" y="0"/>
                </a:lnTo>
                <a:cubicBezTo>
                  <a:pt x="0" y="0"/>
                  <a:pt x="14674" y="0"/>
                  <a:pt x="32774" y="0"/>
                </a:cubicBezTo>
                <a:close/>
              </a:path>
            </a:pathLst>
          </a:custGeom>
          <a:solidFill>
            <a:srgbClr val="C8E6C9"/>
          </a:solidFill>
          <a:ln w="3277" cap="flat">
            <a:solidFill>
              <a:srgbClr val="388E3C"/>
            </a:solidFill>
            <a:prstDash val="solid"/>
            <a:miter/>
          </a:ln>
        </p:spPr>
        <p:txBody>
          <a:bodyPr rtlCol="0" anchor="ctr"/>
          <a:lstStyle/>
          <a:p>
            <a:endParaRPr lang="zh-CN" altLang="en-US"/>
          </a:p>
        </p:txBody>
      </p:sp>
      <p:sp>
        <p:nvSpPr>
          <p:cNvPr id="1272" name="文本框 1271"/>
          <p:cNvSpPr txBox="1"/>
          <p:nvPr/>
        </p:nvSpPr>
        <p:spPr>
          <a:xfrm>
            <a:off x="6881482" y="1941215"/>
            <a:ext cx="946093" cy="196208"/>
          </a:xfrm>
          <a:prstGeom prst="rect">
            <a:avLst/>
          </a:prstGeom>
          <a:noFill/>
        </p:spPr>
        <p:txBody>
          <a:bodyPr wrap="none" rtlCol="0">
            <a:spAutoFit/>
          </a:bodyPr>
          <a:lstStyle/>
          <a:p>
            <a:pPr algn="ctr"/>
            <a:r>
              <a:rPr lang="zh-CN" altLang="en-US" sz="675" b="1" spc="0" baseline="0" dirty="0">
                <a:solidFill>
                  <a:srgbClr val="1B5E20"/>
                </a:solidFill>
                <a:latin typeface="Segoe UI"/>
                <a:cs typeface="Segoe UI"/>
                <a:sym typeface="Segoe UI"/>
                <a:rtl val="0"/>
              </a:rPr>
              <a:t>Objective Function</a:t>
            </a:r>
          </a:p>
        </p:txBody>
      </p:sp>
      <p:sp>
        <p:nvSpPr>
          <p:cNvPr id="1273" name="文本框 1272"/>
          <p:cNvSpPr txBox="1"/>
          <p:nvPr/>
        </p:nvSpPr>
        <p:spPr>
          <a:xfrm>
            <a:off x="6492895" y="2059202"/>
            <a:ext cx="1735848" cy="276999"/>
          </a:xfrm>
          <a:prstGeom prst="rect">
            <a:avLst/>
          </a:prstGeom>
          <a:noFill/>
        </p:spPr>
        <p:txBody>
          <a:bodyPr wrap="squar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min Z = w</a:t>
            </a:r>
            <a:r>
              <a:rPr lang="zh-CN" altLang="en-US" sz="600" spc="0" baseline="0" dirty="0">
                <a:solidFill>
                  <a:srgbClr val="333333"/>
                </a:solidFill>
                <a:latin typeface="Cambria Math"/>
                <a:cs typeface="Arial" panose="020B0604020202090204"/>
                <a:sym typeface="Cambria Math"/>
                <a:rtl val="0"/>
              </a:rPr>
              <a:t>₁</a:t>
            </a:r>
            <a:r>
              <a:rPr lang="zh-CN" altLang="en-US" sz="600" spc="0" baseline="0" dirty="0">
                <a:solidFill>
                  <a:srgbClr val="333333"/>
                </a:solidFill>
                <a:latin typeface="Arial" panose="020B0604020202090204"/>
                <a:cs typeface="Arial" panose="020B0604020202090204"/>
                <a:sym typeface="Arial" panose="020B0604020202090204"/>
                <a:rtl val="0"/>
              </a:rPr>
              <a:t>·Makespan + w</a:t>
            </a:r>
            <a:r>
              <a:rPr lang="zh-CN" altLang="en-US" sz="600" spc="0" baseline="0" dirty="0">
                <a:solidFill>
                  <a:srgbClr val="333333"/>
                </a:solidFill>
                <a:latin typeface="Cambria Math"/>
                <a:cs typeface="Arial" panose="020B0604020202090204"/>
                <a:sym typeface="Cambria Math"/>
                <a:rtl val="0"/>
              </a:rPr>
              <a:t>₂</a:t>
            </a:r>
            <a:r>
              <a:rPr lang="zh-CN" altLang="en-US" sz="600" spc="0" baseline="0" dirty="0">
                <a:solidFill>
                  <a:srgbClr val="333333"/>
                </a:solidFill>
                <a:latin typeface="Arial" panose="020B0604020202090204"/>
                <a:cs typeface="Arial" panose="020B0604020202090204"/>
                <a:sym typeface="Arial" panose="020B0604020202090204"/>
                <a:rtl val="0"/>
              </a:rPr>
              <a:t>·Σpenalty + w</a:t>
            </a:r>
            <a:r>
              <a:rPr lang="zh-CN" altLang="en-US" sz="600" spc="0" baseline="0" dirty="0">
                <a:solidFill>
                  <a:srgbClr val="333333"/>
                </a:solidFill>
                <a:latin typeface="Cambria Math"/>
                <a:cs typeface="Arial" panose="020B0604020202090204"/>
                <a:sym typeface="Cambria Math"/>
                <a:rtl val="0"/>
              </a:rPr>
              <a:t>₃</a:t>
            </a:r>
            <a:r>
              <a:rPr lang="zh-CN" altLang="en-US" sz="600" spc="0" baseline="0" dirty="0">
                <a:solidFill>
                  <a:srgbClr val="333333"/>
                </a:solidFill>
                <a:latin typeface="Arial" panose="020B0604020202090204"/>
                <a:cs typeface="Arial" panose="020B0604020202090204"/>
                <a:sym typeface="Arial" panose="020B0604020202090204"/>
                <a:rtl val="0"/>
              </a:rPr>
              <a:t>·Σunmet</a:t>
            </a:r>
          </a:p>
        </p:txBody>
      </p:sp>
      <p:sp>
        <p:nvSpPr>
          <p:cNvPr id="1274" name="任意形状 1273"/>
          <p:cNvSpPr/>
          <p:nvPr/>
        </p:nvSpPr>
        <p:spPr>
          <a:xfrm>
            <a:off x="4686709" y="2361332"/>
            <a:ext cx="3539612" cy="183535"/>
          </a:xfrm>
          <a:custGeom>
            <a:avLst/>
            <a:gdLst>
              <a:gd name="connsiteX0" fmla="*/ 3506839 w 3539612"/>
              <a:gd name="connsiteY0" fmla="*/ 0 h 183535"/>
              <a:gd name="connsiteX1" fmla="*/ 3539613 w 3539612"/>
              <a:gd name="connsiteY1" fmla="*/ 0 h 183535"/>
              <a:gd name="connsiteX2" fmla="*/ 3539613 w 3539612"/>
              <a:gd name="connsiteY2" fmla="*/ 183536 h 183535"/>
              <a:gd name="connsiteX3" fmla="*/ 3506839 w 3539612"/>
              <a:gd name="connsiteY3" fmla="*/ 183536 h 183535"/>
              <a:gd name="connsiteX4" fmla="*/ 32774 w 3539612"/>
              <a:gd name="connsiteY4" fmla="*/ 183536 h 183535"/>
              <a:gd name="connsiteX5" fmla="*/ 0 w 3539612"/>
              <a:gd name="connsiteY5" fmla="*/ 183536 h 183535"/>
              <a:gd name="connsiteX6" fmla="*/ 0 w 3539612"/>
              <a:gd name="connsiteY6" fmla="*/ 0 h 183535"/>
              <a:gd name="connsiteX7" fmla="*/ 32774 w 3539612"/>
              <a:gd name="connsiteY7" fmla="*/ 0 h 18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9612" h="183535">
                <a:moveTo>
                  <a:pt x="3506839" y="0"/>
                </a:moveTo>
                <a:cubicBezTo>
                  <a:pt x="3524940" y="0"/>
                  <a:pt x="3539613" y="0"/>
                  <a:pt x="3539613" y="0"/>
                </a:cubicBezTo>
                <a:lnTo>
                  <a:pt x="3539613" y="183536"/>
                </a:lnTo>
                <a:cubicBezTo>
                  <a:pt x="3539613" y="183536"/>
                  <a:pt x="3524940" y="183536"/>
                  <a:pt x="3506839" y="183536"/>
                </a:cubicBezTo>
                <a:lnTo>
                  <a:pt x="32774" y="183536"/>
                </a:lnTo>
                <a:cubicBezTo>
                  <a:pt x="14674" y="183536"/>
                  <a:pt x="0" y="183536"/>
                  <a:pt x="0" y="183536"/>
                </a:cubicBezTo>
                <a:lnTo>
                  <a:pt x="0" y="0"/>
                </a:lnTo>
                <a:cubicBezTo>
                  <a:pt x="0" y="0"/>
                  <a:pt x="14674" y="0"/>
                  <a:pt x="32774" y="0"/>
                </a:cubicBezTo>
                <a:close/>
              </a:path>
            </a:pathLst>
          </a:custGeom>
          <a:solidFill>
            <a:srgbClr val="1B5E20">
              <a:alpha val="90000"/>
            </a:srgbClr>
          </a:solidFill>
          <a:ln w="6555" cap="flat">
            <a:noFill/>
            <a:prstDash val="solid"/>
            <a:miter/>
          </a:ln>
        </p:spPr>
        <p:txBody>
          <a:bodyPr rtlCol="0" anchor="ctr"/>
          <a:lstStyle/>
          <a:p>
            <a:endParaRPr lang="zh-CN" altLang="en-US"/>
          </a:p>
        </p:txBody>
      </p:sp>
      <p:sp>
        <p:nvSpPr>
          <p:cNvPr id="1275" name="文本框 1274"/>
          <p:cNvSpPr txBox="1"/>
          <p:nvPr/>
        </p:nvSpPr>
        <p:spPr>
          <a:xfrm>
            <a:off x="4958237" y="2368051"/>
            <a:ext cx="2996565" cy="183515"/>
          </a:xfrm>
          <a:prstGeom prst="rect">
            <a:avLst/>
          </a:prstGeom>
          <a:noFill/>
        </p:spPr>
        <p:txBody>
          <a:bodyPr wrap="none" rtlCol="0">
            <a:spAutoFit/>
          </a:bodyPr>
          <a:lstStyle/>
          <a:p>
            <a:pPr algn="ctr"/>
            <a:r>
              <a:rPr lang="zh-CN" altLang="en-US" sz="600" spc="0" baseline="0" dirty="0">
                <a:solidFill>
                  <a:srgbClr val="FFFFFF"/>
                </a:solidFill>
                <a:latin typeface="Segoe UI"/>
                <a:cs typeface="Segoe UI"/>
                <a:sym typeface="Segoe UI"/>
                <a:rtl val="0"/>
              </a:rPr>
              <a:t>Results: Makespan 44.8→37.5 min (↓16.3%) · Zero penalty · 100% life-res</a:t>
            </a:r>
          </a:p>
        </p:txBody>
      </p:sp>
      <p:sp>
        <p:nvSpPr>
          <p:cNvPr id="1277" name="任意形状 1276"/>
          <p:cNvSpPr/>
          <p:nvPr/>
        </p:nvSpPr>
        <p:spPr>
          <a:xfrm>
            <a:off x="4588387" y="2779121"/>
            <a:ext cx="3736258" cy="1483179"/>
          </a:xfrm>
          <a:custGeom>
            <a:avLst/>
            <a:gdLst>
              <a:gd name="connsiteX0" fmla="*/ 3670710 w 3736258"/>
              <a:gd name="connsiteY0" fmla="*/ 0 h 1278193"/>
              <a:gd name="connsiteX1" fmla="*/ 3736258 w 3736258"/>
              <a:gd name="connsiteY1" fmla="*/ 0 h 1278193"/>
              <a:gd name="connsiteX2" fmla="*/ 3736258 w 3736258"/>
              <a:gd name="connsiteY2" fmla="*/ 1278194 h 1278193"/>
              <a:gd name="connsiteX3" fmla="*/ 3670710 w 3736258"/>
              <a:gd name="connsiteY3" fmla="*/ 1278194 h 1278193"/>
              <a:gd name="connsiteX4" fmla="*/ 65548 w 3736258"/>
              <a:gd name="connsiteY4" fmla="*/ 1278194 h 1278193"/>
              <a:gd name="connsiteX5" fmla="*/ 0 w 3736258"/>
              <a:gd name="connsiteY5" fmla="*/ 1278194 h 1278193"/>
              <a:gd name="connsiteX6" fmla="*/ 0 w 3736258"/>
              <a:gd name="connsiteY6" fmla="*/ 0 h 1278193"/>
              <a:gd name="connsiteX7" fmla="*/ 65548 w 3736258"/>
              <a:gd name="connsiteY7" fmla="*/ 0 h 127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278193">
                <a:moveTo>
                  <a:pt x="3670710" y="0"/>
                </a:moveTo>
                <a:cubicBezTo>
                  <a:pt x="3706911" y="0"/>
                  <a:pt x="3736258" y="0"/>
                  <a:pt x="3736258" y="0"/>
                </a:cubicBezTo>
                <a:lnTo>
                  <a:pt x="3736258" y="1278194"/>
                </a:lnTo>
                <a:cubicBezTo>
                  <a:pt x="3736258" y="1278194"/>
                  <a:pt x="3706911" y="1278194"/>
                  <a:pt x="3670710" y="1278194"/>
                </a:cubicBezTo>
                <a:lnTo>
                  <a:pt x="65548" y="1278194"/>
                </a:lnTo>
                <a:cubicBezTo>
                  <a:pt x="29347" y="1278194"/>
                  <a:pt x="0" y="1278194"/>
                  <a:pt x="0" y="1278194"/>
                </a:cubicBezTo>
                <a:lnTo>
                  <a:pt x="0" y="0"/>
                </a:lnTo>
                <a:cubicBezTo>
                  <a:pt x="0" y="0"/>
                  <a:pt x="29347" y="0"/>
                  <a:pt x="65548" y="0"/>
                </a:cubicBezTo>
                <a:close/>
              </a:path>
            </a:pathLst>
          </a:custGeom>
          <a:solidFill>
            <a:srgbClr val="FFFFFF"/>
          </a:solidFill>
          <a:ln w="7866" cap="flat">
            <a:solidFill>
              <a:srgbClr val="4527A0"/>
            </a:solidFill>
            <a:prstDash val="solid"/>
            <a:miter/>
          </a:ln>
        </p:spPr>
        <p:txBody>
          <a:bodyPr rtlCol="0" anchor="ctr"/>
          <a:lstStyle/>
          <a:p>
            <a:endParaRPr lang="zh-CN" altLang="en-US"/>
          </a:p>
        </p:txBody>
      </p:sp>
      <p:sp>
        <p:nvSpPr>
          <p:cNvPr id="1278" name="任意形状 1277"/>
          <p:cNvSpPr/>
          <p:nvPr/>
        </p:nvSpPr>
        <p:spPr>
          <a:xfrm>
            <a:off x="4588387" y="2779121"/>
            <a:ext cx="3736258" cy="170425"/>
          </a:xfrm>
          <a:custGeom>
            <a:avLst/>
            <a:gdLst>
              <a:gd name="connsiteX0" fmla="*/ 3670710 w 3736258"/>
              <a:gd name="connsiteY0" fmla="*/ 0 h 170425"/>
              <a:gd name="connsiteX1" fmla="*/ 3736258 w 3736258"/>
              <a:gd name="connsiteY1" fmla="*/ 0 h 170425"/>
              <a:gd name="connsiteX2" fmla="*/ 3736258 w 3736258"/>
              <a:gd name="connsiteY2" fmla="*/ 170426 h 170425"/>
              <a:gd name="connsiteX3" fmla="*/ 3670710 w 3736258"/>
              <a:gd name="connsiteY3" fmla="*/ 170426 h 170425"/>
              <a:gd name="connsiteX4" fmla="*/ 65548 w 3736258"/>
              <a:gd name="connsiteY4" fmla="*/ 170426 h 170425"/>
              <a:gd name="connsiteX5" fmla="*/ 0 w 3736258"/>
              <a:gd name="connsiteY5" fmla="*/ 170426 h 170425"/>
              <a:gd name="connsiteX6" fmla="*/ 0 w 3736258"/>
              <a:gd name="connsiteY6" fmla="*/ 0 h 170425"/>
              <a:gd name="connsiteX7" fmla="*/ 65548 w 3736258"/>
              <a:gd name="connsiteY7" fmla="*/ 0 h 17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70425">
                <a:moveTo>
                  <a:pt x="3670710" y="0"/>
                </a:moveTo>
                <a:cubicBezTo>
                  <a:pt x="3706911" y="0"/>
                  <a:pt x="3736258" y="0"/>
                  <a:pt x="3736258" y="0"/>
                </a:cubicBezTo>
                <a:lnTo>
                  <a:pt x="3736258" y="170426"/>
                </a:lnTo>
                <a:cubicBezTo>
                  <a:pt x="3736258" y="170426"/>
                  <a:pt x="3706911" y="170426"/>
                  <a:pt x="3670710" y="170426"/>
                </a:cubicBezTo>
                <a:lnTo>
                  <a:pt x="65548" y="170426"/>
                </a:lnTo>
                <a:cubicBezTo>
                  <a:pt x="29347" y="170426"/>
                  <a:pt x="0" y="170426"/>
                  <a:pt x="0" y="170426"/>
                </a:cubicBezTo>
                <a:lnTo>
                  <a:pt x="0" y="0"/>
                </a:lnTo>
                <a:cubicBezTo>
                  <a:pt x="0" y="0"/>
                  <a:pt x="29347" y="0"/>
                  <a:pt x="65548" y="0"/>
                </a:cubicBezTo>
                <a:close/>
              </a:path>
            </a:pathLst>
          </a:custGeom>
          <a:solidFill>
            <a:srgbClr val="4527A0"/>
          </a:solidFill>
          <a:ln w="6555" cap="flat">
            <a:noFill/>
            <a:prstDash val="solid"/>
            <a:miter/>
          </a:ln>
        </p:spPr>
        <p:txBody>
          <a:bodyPr rtlCol="0" anchor="ctr"/>
          <a:lstStyle/>
          <a:p>
            <a:endParaRPr lang="zh-CN" altLang="en-US"/>
          </a:p>
        </p:txBody>
      </p:sp>
      <p:sp>
        <p:nvSpPr>
          <p:cNvPr id="1279" name="任意形状 1278"/>
          <p:cNvSpPr/>
          <p:nvPr/>
        </p:nvSpPr>
        <p:spPr>
          <a:xfrm>
            <a:off x="4588387" y="2910217"/>
            <a:ext cx="3736258" cy="39329"/>
          </a:xfrm>
          <a:custGeom>
            <a:avLst/>
            <a:gdLst>
              <a:gd name="connsiteX0" fmla="*/ 0 w 3736258"/>
              <a:gd name="connsiteY0" fmla="*/ 0 h 39329"/>
              <a:gd name="connsiteX1" fmla="*/ 3736258 w 3736258"/>
              <a:gd name="connsiteY1" fmla="*/ 0 h 39329"/>
              <a:gd name="connsiteX2" fmla="*/ 3736258 w 3736258"/>
              <a:gd name="connsiteY2" fmla="*/ 39329 h 39329"/>
              <a:gd name="connsiteX3" fmla="*/ 0 w 3736258"/>
              <a:gd name="connsiteY3" fmla="*/ 39329 h 39329"/>
            </a:gdLst>
            <a:ahLst/>
            <a:cxnLst>
              <a:cxn ang="0">
                <a:pos x="connsiteX0" y="connsiteY0"/>
              </a:cxn>
              <a:cxn ang="0">
                <a:pos x="connsiteX1" y="connsiteY1"/>
              </a:cxn>
              <a:cxn ang="0">
                <a:pos x="connsiteX2" y="connsiteY2"/>
              </a:cxn>
              <a:cxn ang="0">
                <a:pos x="connsiteX3" y="connsiteY3"/>
              </a:cxn>
            </a:cxnLst>
            <a:rect l="l" t="t" r="r" b="b"/>
            <a:pathLst>
              <a:path w="3736258" h="39329">
                <a:moveTo>
                  <a:pt x="0" y="0"/>
                </a:moveTo>
                <a:lnTo>
                  <a:pt x="3736258" y="0"/>
                </a:lnTo>
                <a:lnTo>
                  <a:pt x="3736258" y="39329"/>
                </a:lnTo>
                <a:lnTo>
                  <a:pt x="0" y="39329"/>
                </a:lnTo>
                <a:close/>
              </a:path>
            </a:pathLst>
          </a:custGeom>
          <a:solidFill>
            <a:srgbClr val="4527A0"/>
          </a:solidFill>
          <a:ln w="6555" cap="flat">
            <a:noFill/>
            <a:prstDash val="solid"/>
            <a:miter/>
          </a:ln>
        </p:spPr>
        <p:txBody>
          <a:bodyPr rtlCol="0" anchor="ctr"/>
          <a:lstStyle/>
          <a:p>
            <a:endParaRPr lang="zh-CN" altLang="en-US"/>
          </a:p>
        </p:txBody>
      </p:sp>
      <p:sp>
        <p:nvSpPr>
          <p:cNvPr id="1280" name="文本框 1279"/>
          <p:cNvSpPr txBox="1"/>
          <p:nvPr/>
        </p:nvSpPr>
        <p:spPr>
          <a:xfrm>
            <a:off x="4723509" y="2756280"/>
            <a:ext cx="3466012" cy="215444"/>
          </a:xfrm>
          <a:prstGeom prst="rect">
            <a:avLst/>
          </a:prstGeom>
          <a:noFill/>
        </p:spPr>
        <p:txBody>
          <a:bodyPr wrap="none" rtlCol="0">
            <a:spAutoFit/>
          </a:bodyPr>
          <a:lstStyle/>
          <a:p>
            <a:pPr algn="ctr"/>
            <a:r>
              <a:rPr lang="zh-CN" altLang="en-US" sz="800" b="1" spc="0" baseline="0" dirty="0">
                <a:solidFill>
                  <a:srgbClr val="FFFFFF"/>
                </a:solidFill>
                <a:latin typeface="Segoe UI"/>
                <a:cs typeface="Segoe UI"/>
                <a:sym typeface="Segoe UI"/>
                <a:rtl val="0"/>
              </a:rPr>
              <a:t>Multi-Type Personnel Evacuation Optimization — Centrifugal Flow</a:t>
            </a:r>
          </a:p>
        </p:txBody>
      </p:sp>
      <p:sp>
        <p:nvSpPr>
          <p:cNvPr id="1281" name="任意形状 1280"/>
          <p:cNvSpPr/>
          <p:nvPr/>
        </p:nvSpPr>
        <p:spPr>
          <a:xfrm>
            <a:off x="4686709" y="3021650"/>
            <a:ext cx="1127432" cy="458838"/>
          </a:xfrm>
          <a:custGeom>
            <a:avLst/>
            <a:gdLst>
              <a:gd name="connsiteX0" fmla="*/ 1094658 w 1127432"/>
              <a:gd name="connsiteY0" fmla="*/ 0 h 458838"/>
              <a:gd name="connsiteX1" fmla="*/ 1127432 w 1127432"/>
              <a:gd name="connsiteY1" fmla="*/ 0 h 458838"/>
              <a:gd name="connsiteX2" fmla="*/ 1127432 w 1127432"/>
              <a:gd name="connsiteY2" fmla="*/ 458839 h 458838"/>
              <a:gd name="connsiteX3" fmla="*/ 1094658 w 1127432"/>
              <a:gd name="connsiteY3" fmla="*/ 458839 h 458838"/>
              <a:gd name="connsiteX4" fmla="*/ 32774 w 1127432"/>
              <a:gd name="connsiteY4" fmla="*/ 458839 h 458838"/>
              <a:gd name="connsiteX5" fmla="*/ 0 w 1127432"/>
              <a:gd name="connsiteY5" fmla="*/ 458839 h 458838"/>
              <a:gd name="connsiteX6" fmla="*/ 0 w 1127432"/>
              <a:gd name="connsiteY6" fmla="*/ 0 h 458838"/>
              <a:gd name="connsiteX7" fmla="*/ 32774 w 1127432"/>
              <a:gd name="connsiteY7" fmla="*/ 0 h 45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58838">
                <a:moveTo>
                  <a:pt x="1094658" y="0"/>
                </a:moveTo>
                <a:cubicBezTo>
                  <a:pt x="1112759" y="0"/>
                  <a:pt x="1127432" y="0"/>
                  <a:pt x="1127432" y="0"/>
                </a:cubicBezTo>
                <a:lnTo>
                  <a:pt x="1127432" y="458839"/>
                </a:lnTo>
                <a:cubicBezTo>
                  <a:pt x="1127432" y="458839"/>
                  <a:pt x="1112759" y="458839"/>
                  <a:pt x="1094658" y="458839"/>
                </a:cubicBezTo>
                <a:lnTo>
                  <a:pt x="32774" y="458839"/>
                </a:lnTo>
                <a:cubicBezTo>
                  <a:pt x="14674" y="458839"/>
                  <a:pt x="0" y="458839"/>
                  <a:pt x="0" y="458839"/>
                </a:cubicBezTo>
                <a:lnTo>
                  <a:pt x="0" y="0"/>
                </a:lnTo>
                <a:cubicBezTo>
                  <a:pt x="0" y="0"/>
                  <a:pt x="14674" y="0"/>
                  <a:pt x="32774" y="0"/>
                </a:cubicBezTo>
                <a:close/>
              </a:path>
            </a:pathLst>
          </a:custGeom>
          <a:solidFill>
            <a:srgbClr val="F3E5F5"/>
          </a:solidFill>
          <a:ln w="3277" cap="flat">
            <a:solidFill>
              <a:srgbClr val="7B1FA2"/>
            </a:solidFill>
            <a:prstDash val="solid"/>
            <a:miter/>
          </a:ln>
        </p:spPr>
        <p:txBody>
          <a:bodyPr rtlCol="0" anchor="ctr"/>
          <a:lstStyle/>
          <a:p>
            <a:endParaRPr lang="zh-CN" altLang="en-US"/>
          </a:p>
        </p:txBody>
      </p:sp>
      <p:sp>
        <p:nvSpPr>
          <p:cNvPr id="1282" name="文本框 1281"/>
          <p:cNvSpPr txBox="1"/>
          <p:nvPr/>
        </p:nvSpPr>
        <p:spPr>
          <a:xfrm>
            <a:off x="4718068" y="3002149"/>
            <a:ext cx="1064715" cy="196208"/>
          </a:xfrm>
          <a:prstGeom prst="rect">
            <a:avLst/>
          </a:prstGeom>
          <a:noFill/>
        </p:spPr>
        <p:txBody>
          <a:bodyPr wrap="none" rtlCol="0">
            <a:spAutoFit/>
          </a:bodyPr>
          <a:lstStyle/>
          <a:p>
            <a:pPr algn="ctr"/>
            <a:r>
              <a:rPr lang="zh-CN" altLang="en-US" sz="675" b="1" spc="0" baseline="0" dirty="0">
                <a:solidFill>
                  <a:srgbClr val="4A148C"/>
                </a:solidFill>
                <a:latin typeface="Segoe UI"/>
                <a:cs typeface="Segoe UI"/>
                <a:sym typeface="Segoe UI"/>
                <a:rtl val="0"/>
              </a:rPr>
              <a:t>Five Transport Modes</a:t>
            </a:r>
          </a:p>
        </p:txBody>
      </p:sp>
      <p:sp>
        <p:nvSpPr>
          <p:cNvPr id="1283" name="文本框 1282"/>
          <p:cNvSpPr txBox="1"/>
          <p:nvPr/>
        </p:nvSpPr>
        <p:spPr>
          <a:xfrm>
            <a:off x="4680153" y="3113581"/>
            <a:ext cx="1133987" cy="253916"/>
          </a:xfrm>
          <a:prstGeom prst="rect">
            <a:avLst/>
          </a:prstGeom>
          <a:noFill/>
        </p:spPr>
        <p:txBody>
          <a:bodyPr wrap="squar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Ambulance 15 (cap.3) · Helicopter 3 (cap.6)</a:t>
            </a:r>
          </a:p>
        </p:txBody>
      </p:sp>
      <p:sp>
        <p:nvSpPr>
          <p:cNvPr id="1285" name="文本框 1284"/>
          <p:cNvSpPr txBox="1"/>
          <p:nvPr/>
        </p:nvSpPr>
        <p:spPr>
          <a:xfrm>
            <a:off x="4684791" y="3271870"/>
            <a:ext cx="1123666" cy="253916"/>
          </a:xfrm>
          <a:prstGeom prst="rect">
            <a:avLst/>
          </a:prstGeom>
          <a:noFill/>
        </p:spPr>
        <p:txBody>
          <a:bodyPr wrap="squar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Subway 5 trains (cap.500) ← backbone</a:t>
            </a:r>
          </a:p>
        </p:txBody>
      </p:sp>
      <p:sp>
        <p:nvSpPr>
          <p:cNvPr id="1287" name="任意形状 1286"/>
          <p:cNvSpPr/>
          <p:nvPr/>
        </p:nvSpPr>
        <p:spPr>
          <a:xfrm>
            <a:off x="5879690" y="3021650"/>
            <a:ext cx="1127432" cy="458838"/>
          </a:xfrm>
          <a:custGeom>
            <a:avLst/>
            <a:gdLst>
              <a:gd name="connsiteX0" fmla="*/ 1094658 w 1127432"/>
              <a:gd name="connsiteY0" fmla="*/ 0 h 458838"/>
              <a:gd name="connsiteX1" fmla="*/ 1127432 w 1127432"/>
              <a:gd name="connsiteY1" fmla="*/ 0 h 458838"/>
              <a:gd name="connsiteX2" fmla="*/ 1127432 w 1127432"/>
              <a:gd name="connsiteY2" fmla="*/ 458839 h 458838"/>
              <a:gd name="connsiteX3" fmla="*/ 1094658 w 1127432"/>
              <a:gd name="connsiteY3" fmla="*/ 458839 h 458838"/>
              <a:gd name="connsiteX4" fmla="*/ 32774 w 1127432"/>
              <a:gd name="connsiteY4" fmla="*/ 458839 h 458838"/>
              <a:gd name="connsiteX5" fmla="*/ 0 w 1127432"/>
              <a:gd name="connsiteY5" fmla="*/ 458839 h 458838"/>
              <a:gd name="connsiteX6" fmla="*/ 0 w 1127432"/>
              <a:gd name="connsiteY6" fmla="*/ 0 h 458838"/>
              <a:gd name="connsiteX7" fmla="*/ 32774 w 1127432"/>
              <a:gd name="connsiteY7" fmla="*/ 0 h 45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58838">
                <a:moveTo>
                  <a:pt x="1094658" y="0"/>
                </a:moveTo>
                <a:cubicBezTo>
                  <a:pt x="1112759" y="0"/>
                  <a:pt x="1127432" y="0"/>
                  <a:pt x="1127432" y="0"/>
                </a:cubicBezTo>
                <a:lnTo>
                  <a:pt x="1127432" y="458839"/>
                </a:lnTo>
                <a:cubicBezTo>
                  <a:pt x="1127432" y="458839"/>
                  <a:pt x="1112759" y="458839"/>
                  <a:pt x="1094658" y="458839"/>
                </a:cubicBezTo>
                <a:lnTo>
                  <a:pt x="32774" y="458839"/>
                </a:lnTo>
                <a:cubicBezTo>
                  <a:pt x="14674" y="458839"/>
                  <a:pt x="0" y="458839"/>
                  <a:pt x="0" y="458839"/>
                </a:cubicBezTo>
                <a:lnTo>
                  <a:pt x="0" y="0"/>
                </a:lnTo>
                <a:cubicBezTo>
                  <a:pt x="0" y="0"/>
                  <a:pt x="14674" y="0"/>
                  <a:pt x="32774" y="0"/>
                </a:cubicBezTo>
                <a:close/>
              </a:path>
            </a:pathLst>
          </a:custGeom>
          <a:solidFill>
            <a:srgbClr val="F3E5F5"/>
          </a:solidFill>
          <a:ln w="3277" cap="flat">
            <a:solidFill>
              <a:srgbClr val="7B1FA2"/>
            </a:solidFill>
            <a:prstDash val="solid"/>
            <a:miter/>
          </a:ln>
        </p:spPr>
        <p:txBody>
          <a:bodyPr rtlCol="0" anchor="ctr"/>
          <a:lstStyle/>
          <a:p>
            <a:endParaRPr lang="zh-CN" altLang="en-US"/>
          </a:p>
        </p:txBody>
      </p:sp>
      <p:sp>
        <p:nvSpPr>
          <p:cNvPr id="1288" name="文本框 1287"/>
          <p:cNvSpPr txBox="1"/>
          <p:nvPr/>
        </p:nvSpPr>
        <p:spPr>
          <a:xfrm>
            <a:off x="5808457" y="3002149"/>
            <a:ext cx="1269899" cy="196208"/>
          </a:xfrm>
          <a:prstGeom prst="rect">
            <a:avLst/>
          </a:prstGeom>
          <a:noFill/>
        </p:spPr>
        <p:txBody>
          <a:bodyPr wrap="none" rtlCol="0">
            <a:spAutoFit/>
          </a:bodyPr>
          <a:lstStyle/>
          <a:p>
            <a:pPr algn="ctr"/>
            <a:r>
              <a:rPr lang="zh-CN" altLang="en-US" sz="675" b="1" spc="0" baseline="0" dirty="0">
                <a:solidFill>
                  <a:srgbClr val="4A148C"/>
                </a:solidFill>
                <a:latin typeface="Segoe UI"/>
                <a:cs typeface="Segoe UI"/>
                <a:sym typeface="Segoe UI"/>
                <a:rtl val="0"/>
              </a:rPr>
              <a:t>Three Vulnerability Classes</a:t>
            </a:r>
          </a:p>
        </p:txBody>
      </p:sp>
      <p:sp>
        <p:nvSpPr>
          <p:cNvPr id="1289" name="任意形状 1288"/>
          <p:cNvSpPr/>
          <p:nvPr/>
        </p:nvSpPr>
        <p:spPr>
          <a:xfrm>
            <a:off x="5900603" y="3169052"/>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B71C1C"/>
          </a:solidFill>
          <a:ln w="6555" cap="flat">
            <a:noFill/>
            <a:prstDash val="solid"/>
            <a:miter/>
          </a:ln>
        </p:spPr>
        <p:txBody>
          <a:bodyPr rtlCol="0" anchor="ctr"/>
          <a:lstStyle/>
          <a:p>
            <a:endParaRPr lang="zh-CN" altLang="en-US"/>
          </a:p>
        </p:txBody>
      </p:sp>
      <p:sp>
        <p:nvSpPr>
          <p:cNvPr id="1290" name="文本框 1289"/>
          <p:cNvSpPr txBox="1"/>
          <p:nvPr/>
        </p:nvSpPr>
        <p:spPr>
          <a:xfrm>
            <a:off x="5881105" y="3110816"/>
            <a:ext cx="1164145" cy="173124"/>
          </a:xfrm>
          <a:prstGeom prst="rect">
            <a:avLst/>
          </a:prstGeom>
          <a:noFill/>
        </p:spPr>
        <p:txBody>
          <a:bodyPr wrap="squar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k=1 Critical (ω=10) → Hospital</a:t>
            </a:r>
          </a:p>
        </p:txBody>
      </p:sp>
      <p:sp>
        <p:nvSpPr>
          <p:cNvPr id="1291" name="任意形状 1290"/>
          <p:cNvSpPr/>
          <p:nvPr/>
        </p:nvSpPr>
        <p:spPr>
          <a:xfrm>
            <a:off x="5900603" y="3291669"/>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FF6F00"/>
          </a:solidFill>
          <a:ln w="6555" cap="flat">
            <a:noFill/>
            <a:prstDash val="solid"/>
            <a:miter/>
          </a:ln>
        </p:spPr>
        <p:txBody>
          <a:bodyPr rtlCol="0" anchor="ctr"/>
          <a:lstStyle/>
          <a:p>
            <a:endParaRPr lang="zh-CN" altLang="en-US"/>
          </a:p>
        </p:txBody>
      </p:sp>
      <p:sp>
        <p:nvSpPr>
          <p:cNvPr id="1292" name="文本框 1291"/>
          <p:cNvSpPr txBox="1"/>
          <p:nvPr/>
        </p:nvSpPr>
        <p:spPr>
          <a:xfrm>
            <a:off x="5877611" y="3230749"/>
            <a:ext cx="1127606" cy="173124"/>
          </a:xfrm>
          <a:prstGeom prst="rect">
            <a:avLst/>
          </a:prstGeom>
          <a:noFill/>
        </p:spPr>
        <p:txBody>
          <a:bodyPr wrap="squar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k=2 Vuln</a:t>
            </a:r>
            <a:r>
              <a:rPr lang="en-US" altLang="zh-CN" sz="525" spc="0" baseline="0" dirty="0">
                <a:solidFill>
                  <a:srgbClr val="333333"/>
                </a:solidFill>
                <a:latin typeface="Arial" panose="020B0604020202090204"/>
                <a:cs typeface="Arial" panose="020B0604020202090204"/>
                <a:sym typeface="Arial" panose="020B0604020202090204"/>
                <a:rtl val="0"/>
              </a:rPr>
              <a:t>.</a:t>
            </a:r>
            <a:r>
              <a:rPr lang="zh-CN" altLang="en-US" sz="525" spc="0" baseline="0" dirty="0">
                <a:solidFill>
                  <a:srgbClr val="333333"/>
                </a:solidFill>
                <a:latin typeface="Arial" panose="020B0604020202090204"/>
                <a:cs typeface="Arial" panose="020B0604020202090204"/>
                <a:sym typeface="Arial" panose="020B0604020202090204"/>
                <a:rtl val="0"/>
              </a:rPr>
              <a:t>(ω=5)→Hosp./Shel</a:t>
            </a:r>
            <a:r>
              <a:rPr lang="en-US" altLang="zh-CN" sz="525" spc="0" baseline="0" dirty="0">
                <a:solidFill>
                  <a:srgbClr val="333333"/>
                </a:solidFill>
                <a:latin typeface="Arial" panose="020B0604020202090204"/>
                <a:cs typeface="Arial" panose="020B0604020202090204"/>
                <a:sym typeface="Arial" panose="020B0604020202090204"/>
                <a:rtl val="0"/>
              </a:rPr>
              <a:t>.</a:t>
            </a:r>
            <a:endParaRPr lang="zh-CN" altLang="en-US" sz="525" spc="0" baseline="0" dirty="0">
              <a:solidFill>
                <a:srgbClr val="333333"/>
              </a:solidFill>
              <a:latin typeface="Arial" panose="020B0604020202090204"/>
              <a:cs typeface="Arial" panose="020B0604020202090204"/>
              <a:sym typeface="Arial" panose="020B0604020202090204"/>
              <a:rtl val="0"/>
            </a:endParaRPr>
          </a:p>
        </p:txBody>
      </p:sp>
      <p:sp>
        <p:nvSpPr>
          <p:cNvPr id="1293" name="任意形状 1292"/>
          <p:cNvSpPr/>
          <p:nvPr/>
        </p:nvSpPr>
        <p:spPr>
          <a:xfrm>
            <a:off x="5904861" y="3411599"/>
            <a:ext cx="52438" cy="52438"/>
          </a:xfrm>
          <a:custGeom>
            <a:avLst/>
            <a:gdLst>
              <a:gd name="connsiteX0" fmla="*/ 45884 w 52438"/>
              <a:gd name="connsiteY0" fmla="*/ 0 h 52438"/>
              <a:gd name="connsiteX1" fmla="*/ 52439 w 52438"/>
              <a:gd name="connsiteY1" fmla="*/ 0 h 52438"/>
              <a:gd name="connsiteX2" fmla="*/ 52439 w 52438"/>
              <a:gd name="connsiteY2" fmla="*/ 52439 h 52438"/>
              <a:gd name="connsiteX3" fmla="*/ 45884 w 52438"/>
              <a:gd name="connsiteY3" fmla="*/ 52439 h 52438"/>
              <a:gd name="connsiteX4" fmla="*/ 6555 w 52438"/>
              <a:gd name="connsiteY4" fmla="*/ 52439 h 52438"/>
              <a:gd name="connsiteX5" fmla="*/ 0 w 52438"/>
              <a:gd name="connsiteY5" fmla="*/ 52439 h 52438"/>
              <a:gd name="connsiteX6" fmla="*/ 0 w 52438"/>
              <a:gd name="connsiteY6" fmla="*/ 0 h 52438"/>
              <a:gd name="connsiteX7" fmla="*/ 6555 w 52438"/>
              <a:gd name="connsiteY7" fmla="*/ 0 h 52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438">
                <a:moveTo>
                  <a:pt x="45884" y="0"/>
                </a:moveTo>
                <a:cubicBezTo>
                  <a:pt x="49504" y="0"/>
                  <a:pt x="52439" y="0"/>
                  <a:pt x="52439" y="0"/>
                </a:cubicBezTo>
                <a:lnTo>
                  <a:pt x="52439" y="52439"/>
                </a:lnTo>
                <a:cubicBezTo>
                  <a:pt x="52439" y="52439"/>
                  <a:pt x="49504" y="52439"/>
                  <a:pt x="45884" y="52439"/>
                </a:cubicBezTo>
                <a:lnTo>
                  <a:pt x="6555" y="52439"/>
                </a:lnTo>
                <a:cubicBezTo>
                  <a:pt x="2935" y="52439"/>
                  <a:pt x="0" y="52439"/>
                  <a:pt x="0" y="52439"/>
                </a:cubicBezTo>
                <a:lnTo>
                  <a:pt x="0" y="0"/>
                </a:lnTo>
                <a:cubicBezTo>
                  <a:pt x="0" y="0"/>
                  <a:pt x="2935" y="0"/>
                  <a:pt x="6555" y="0"/>
                </a:cubicBezTo>
                <a:close/>
              </a:path>
            </a:pathLst>
          </a:custGeom>
          <a:solidFill>
            <a:srgbClr val="1976D2"/>
          </a:solidFill>
          <a:ln w="6555" cap="flat">
            <a:noFill/>
            <a:prstDash val="solid"/>
            <a:miter/>
          </a:ln>
        </p:spPr>
        <p:txBody>
          <a:bodyPr rtlCol="0" anchor="ctr"/>
          <a:lstStyle/>
          <a:p>
            <a:endParaRPr lang="zh-CN" altLang="en-US"/>
          </a:p>
        </p:txBody>
      </p:sp>
      <p:sp>
        <p:nvSpPr>
          <p:cNvPr id="1294" name="文本框 1293"/>
          <p:cNvSpPr txBox="1"/>
          <p:nvPr/>
        </p:nvSpPr>
        <p:spPr>
          <a:xfrm>
            <a:off x="5882579" y="3353815"/>
            <a:ext cx="1160145" cy="172720"/>
          </a:xfrm>
          <a:prstGeom prst="rect">
            <a:avLst/>
          </a:prstGeom>
          <a:noFill/>
        </p:spPr>
        <p:txBody>
          <a:bodyPr wrap="square" rtlCol="0">
            <a:spAutoFit/>
          </a:bodyPr>
          <a:lstStyle/>
          <a:p>
            <a:pPr algn="l"/>
            <a:r>
              <a:rPr lang="zh-CN" altLang="en-US" sz="525" spc="0" baseline="0" dirty="0">
                <a:solidFill>
                  <a:srgbClr val="333333"/>
                </a:solidFill>
                <a:latin typeface="Arial" panose="020B0604020202090204"/>
                <a:cs typeface="Arial" panose="020B0604020202090204"/>
                <a:sym typeface="Arial" panose="020B0604020202090204"/>
                <a:rtl val="0"/>
              </a:rPr>
              <a:t>k=3 General(ω=1)→Any shelter</a:t>
            </a:r>
          </a:p>
        </p:txBody>
      </p:sp>
      <p:sp>
        <p:nvSpPr>
          <p:cNvPr id="1296" name="任意形状 1295"/>
          <p:cNvSpPr/>
          <p:nvPr/>
        </p:nvSpPr>
        <p:spPr>
          <a:xfrm>
            <a:off x="7072670" y="3021650"/>
            <a:ext cx="1166761" cy="458838"/>
          </a:xfrm>
          <a:custGeom>
            <a:avLst/>
            <a:gdLst>
              <a:gd name="connsiteX0" fmla="*/ 1133987 w 1166761"/>
              <a:gd name="connsiteY0" fmla="*/ 0 h 458838"/>
              <a:gd name="connsiteX1" fmla="*/ 1166761 w 1166761"/>
              <a:gd name="connsiteY1" fmla="*/ 0 h 458838"/>
              <a:gd name="connsiteX2" fmla="*/ 1166761 w 1166761"/>
              <a:gd name="connsiteY2" fmla="*/ 458839 h 458838"/>
              <a:gd name="connsiteX3" fmla="*/ 1133987 w 1166761"/>
              <a:gd name="connsiteY3" fmla="*/ 458839 h 458838"/>
              <a:gd name="connsiteX4" fmla="*/ 32774 w 1166761"/>
              <a:gd name="connsiteY4" fmla="*/ 458839 h 458838"/>
              <a:gd name="connsiteX5" fmla="*/ 0 w 1166761"/>
              <a:gd name="connsiteY5" fmla="*/ 458839 h 458838"/>
              <a:gd name="connsiteX6" fmla="*/ 0 w 1166761"/>
              <a:gd name="connsiteY6" fmla="*/ 0 h 458838"/>
              <a:gd name="connsiteX7" fmla="*/ 32774 w 1166761"/>
              <a:gd name="connsiteY7" fmla="*/ 0 h 45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761" h="458838">
                <a:moveTo>
                  <a:pt x="1133987" y="0"/>
                </a:moveTo>
                <a:cubicBezTo>
                  <a:pt x="1152088" y="0"/>
                  <a:pt x="1166761" y="0"/>
                  <a:pt x="1166761" y="0"/>
                </a:cubicBezTo>
                <a:lnTo>
                  <a:pt x="1166761" y="458839"/>
                </a:lnTo>
                <a:cubicBezTo>
                  <a:pt x="1166761" y="458839"/>
                  <a:pt x="1152088" y="458839"/>
                  <a:pt x="1133987" y="458839"/>
                </a:cubicBezTo>
                <a:lnTo>
                  <a:pt x="32774" y="458839"/>
                </a:lnTo>
                <a:cubicBezTo>
                  <a:pt x="14673" y="458839"/>
                  <a:pt x="0" y="458839"/>
                  <a:pt x="0" y="458839"/>
                </a:cubicBezTo>
                <a:lnTo>
                  <a:pt x="0" y="0"/>
                </a:lnTo>
                <a:cubicBezTo>
                  <a:pt x="0" y="0"/>
                  <a:pt x="14673" y="0"/>
                  <a:pt x="32774" y="0"/>
                </a:cubicBezTo>
                <a:close/>
              </a:path>
            </a:pathLst>
          </a:custGeom>
          <a:solidFill>
            <a:srgbClr val="F3E5F5"/>
          </a:solidFill>
          <a:ln w="3277" cap="flat">
            <a:solidFill>
              <a:srgbClr val="7B1FA2"/>
            </a:solidFill>
            <a:prstDash val="solid"/>
            <a:miter/>
          </a:ln>
        </p:spPr>
        <p:txBody>
          <a:bodyPr rtlCol="0" anchor="ctr"/>
          <a:lstStyle/>
          <a:p>
            <a:endParaRPr lang="zh-CN" altLang="en-US"/>
          </a:p>
        </p:txBody>
      </p:sp>
      <p:sp>
        <p:nvSpPr>
          <p:cNvPr id="1297" name="文本框 1296"/>
          <p:cNvSpPr txBox="1"/>
          <p:nvPr/>
        </p:nvSpPr>
        <p:spPr>
          <a:xfrm>
            <a:off x="7003468" y="3002149"/>
            <a:ext cx="1305165" cy="196208"/>
          </a:xfrm>
          <a:prstGeom prst="rect">
            <a:avLst/>
          </a:prstGeom>
          <a:noFill/>
        </p:spPr>
        <p:txBody>
          <a:bodyPr wrap="none" rtlCol="0">
            <a:spAutoFit/>
          </a:bodyPr>
          <a:lstStyle/>
          <a:p>
            <a:pPr algn="ctr"/>
            <a:r>
              <a:rPr lang="zh-CN" altLang="en-US" sz="675" b="1" spc="0" baseline="0">
                <a:solidFill>
                  <a:srgbClr val="4A148C"/>
                </a:solidFill>
                <a:latin typeface="Segoe UI"/>
                <a:cs typeface="Segoe UI"/>
                <a:sym typeface="Segoe UI"/>
                <a:rtl val="0"/>
              </a:rPr>
              <a:t>Risk-Aware Dispatch Model</a:t>
            </a:r>
          </a:p>
        </p:txBody>
      </p:sp>
      <p:sp>
        <p:nvSpPr>
          <p:cNvPr id="1298" name="文本框 1297"/>
          <p:cNvSpPr txBox="1"/>
          <p:nvPr/>
        </p:nvSpPr>
        <p:spPr>
          <a:xfrm>
            <a:off x="7023435" y="3113581"/>
            <a:ext cx="1258678" cy="173124"/>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Time-stepping (Δt=5min, T=180min)</a:t>
            </a:r>
          </a:p>
        </p:txBody>
      </p:sp>
      <p:sp>
        <p:nvSpPr>
          <p:cNvPr id="1299" name="文本框 1298"/>
          <p:cNvSpPr txBox="1"/>
          <p:nvPr/>
        </p:nvSpPr>
        <p:spPr>
          <a:xfrm>
            <a:off x="7072669" y="3192239"/>
            <a:ext cx="1166761" cy="253916"/>
          </a:xfrm>
          <a:prstGeom prst="rect">
            <a:avLst/>
          </a:prstGeom>
          <a:noFill/>
        </p:spPr>
        <p:txBody>
          <a:bodyPr wrap="squar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Dynamic risk exposure from plume field</a:t>
            </a:r>
          </a:p>
        </p:txBody>
      </p:sp>
      <p:sp>
        <p:nvSpPr>
          <p:cNvPr id="1300" name="文本框 1299"/>
          <p:cNvSpPr txBox="1"/>
          <p:nvPr/>
        </p:nvSpPr>
        <p:spPr>
          <a:xfrm>
            <a:off x="7054764" y="3334941"/>
            <a:ext cx="1202573" cy="173124"/>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Dijkstra on damaged road network</a:t>
            </a:r>
          </a:p>
        </p:txBody>
      </p:sp>
      <p:sp>
        <p:nvSpPr>
          <p:cNvPr id="1302" name="任意形状 1301"/>
          <p:cNvSpPr/>
          <p:nvPr/>
        </p:nvSpPr>
        <p:spPr>
          <a:xfrm>
            <a:off x="4686709" y="3532926"/>
            <a:ext cx="1737032" cy="396653"/>
          </a:xfrm>
          <a:custGeom>
            <a:avLst/>
            <a:gdLst>
              <a:gd name="connsiteX0" fmla="*/ 1704258 w 1737032"/>
              <a:gd name="connsiteY0" fmla="*/ 0 h 222864"/>
              <a:gd name="connsiteX1" fmla="*/ 1737032 w 1737032"/>
              <a:gd name="connsiteY1" fmla="*/ 0 h 222864"/>
              <a:gd name="connsiteX2" fmla="*/ 1737032 w 1737032"/>
              <a:gd name="connsiteY2" fmla="*/ 222865 h 222864"/>
              <a:gd name="connsiteX3" fmla="*/ 1704258 w 1737032"/>
              <a:gd name="connsiteY3" fmla="*/ 222865 h 222864"/>
              <a:gd name="connsiteX4" fmla="*/ 32774 w 1737032"/>
              <a:gd name="connsiteY4" fmla="*/ 222865 h 222864"/>
              <a:gd name="connsiteX5" fmla="*/ 0 w 1737032"/>
              <a:gd name="connsiteY5" fmla="*/ 222865 h 222864"/>
              <a:gd name="connsiteX6" fmla="*/ 0 w 1737032"/>
              <a:gd name="connsiteY6" fmla="*/ 0 h 222864"/>
              <a:gd name="connsiteX7" fmla="*/ 32774 w 1737032"/>
              <a:gd name="connsiteY7" fmla="*/ 0 h 22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22864">
                <a:moveTo>
                  <a:pt x="1704258" y="0"/>
                </a:moveTo>
                <a:cubicBezTo>
                  <a:pt x="1722359" y="0"/>
                  <a:pt x="1737032" y="0"/>
                  <a:pt x="1737032" y="0"/>
                </a:cubicBezTo>
                <a:lnTo>
                  <a:pt x="1737032" y="222865"/>
                </a:lnTo>
                <a:cubicBezTo>
                  <a:pt x="1737032" y="222865"/>
                  <a:pt x="1722359" y="222865"/>
                  <a:pt x="1704258" y="222865"/>
                </a:cubicBezTo>
                <a:lnTo>
                  <a:pt x="32774" y="222865"/>
                </a:lnTo>
                <a:cubicBezTo>
                  <a:pt x="14674" y="222865"/>
                  <a:pt x="0" y="222865"/>
                  <a:pt x="0" y="222865"/>
                </a:cubicBezTo>
                <a:lnTo>
                  <a:pt x="0" y="0"/>
                </a:lnTo>
                <a:cubicBezTo>
                  <a:pt x="0" y="0"/>
                  <a:pt x="14674" y="0"/>
                  <a:pt x="32774" y="0"/>
                </a:cubicBezTo>
                <a:close/>
              </a:path>
            </a:pathLst>
          </a:custGeom>
          <a:solidFill>
            <a:srgbClr val="E1BEE7"/>
          </a:solidFill>
          <a:ln w="3277" cap="flat">
            <a:solidFill>
              <a:srgbClr val="6A1B9A"/>
            </a:solidFill>
            <a:prstDash val="solid"/>
            <a:miter/>
          </a:ln>
        </p:spPr>
        <p:txBody>
          <a:bodyPr rtlCol="0" anchor="ctr"/>
          <a:lstStyle/>
          <a:p>
            <a:endParaRPr lang="zh-CN" altLang="en-US"/>
          </a:p>
        </p:txBody>
      </p:sp>
      <p:sp>
        <p:nvSpPr>
          <p:cNvPr id="1303" name="文本框 1302"/>
          <p:cNvSpPr txBox="1"/>
          <p:nvPr/>
        </p:nvSpPr>
        <p:spPr>
          <a:xfrm>
            <a:off x="5078902" y="3530679"/>
            <a:ext cx="946093" cy="196208"/>
          </a:xfrm>
          <a:prstGeom prst="rect">
            <a:avLst/>
          </a:prstGeom>
          <a:noFill/>
        </p:spPr>
        <p:txBody>
          <a:bodyPr wrap="none" rtlCol="0">
            <a:spAutoFit/>
          </a:bodyPr>
          <a:lstStyle/>
          <a:p>
            <a:pPr algn="ctr"/>
            <a:r>
              <a:rPr lang="zh-CN" altLang="en-US" sz="675" b="1" spc="0" baseline="0" dirty="0">
                <a:solidFill>
                  <a:srgbClr val="4A148C"/>
                </a:solidFill>
                <a:latin typeface="Segoe UI"/>
                <a:cs typeface="Segoe UI"/>
                <a:sym typeface="Segoe UI"/>
                <a:rtl val="0"/>
              </a:rPr>
              <a:t>Objective Function</a:t>
            </a:r>
          </a:p>
        </p:txBody>
      </p:sp>
      <p:sp>
        <p:nvSpPr>
          <p:cNvPr id="1305" name="任意形状 1304"/>
          <p:cNvSpPr/>
          <p:nvPr/>
        </p:nvSpPr>
        <p:spPr>
          <a:xfrm>
            <a:off x="6489290" y="3532927"/>
            <a:ext cx="1737032" cy="396654"/>
          </a:xfrm>
          <a:custGeom>
            <a:avLst/>
            <a:gdLst>
              <a:gd name="connsiteX0" fmla="*/ 1704258 w 1737032"/>
              <a:gd name="connsiteY0" fmla="*/ 0 h 222864"/>
              <a:gd name="connsiteX1" fmla="*/ 1737032 w 1737032"/>
              <a:gd name="connsiteY1" fmla="*/ 0 h 222864"/>
              <a:gd name="connsiteX2" fmla="*/ 1737032 w 1737032"/>
              <a:gd name="connsiteY2" fmla="*/ 222865 h 222864"/>
              <a:gd name="connsiteX3" fmla="*/ 1704258 w 1737032"/>
              <a:gd name="connsiteY3" fmla="*/ 222865 h 222864"/>
              <a:gd name="connsiteX4" fmla="*/ 32774 w 1737032"/>
              <a:gd name="connsiteY4" fmla="*/ 222865 h 222864"/>
              <a:gd name="connsiteX5" fmla="*/ 0 w 1737032"/>
              <a:gd name="connsiteY5" fmla="*/ 222865 h 222864"/>
              <a:gd name="connsiteX6" fmla="*/ 0 w 1737032"/>
              <a:gd name="connsiteY6" fmla="*/ 0 h 222864"/>
              <a:gd name="connsiteX7" fmla="*/ 32774 w 1737032"/>
              <a:gd name="connsiteY7" fmla="*/ 0 h 22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22864">
                <a:moveTo>
                  <a:pt x="1704258" y="0"/>
                </a:moveTo>
                <a:cubicBezTo>
                  <a:pt x="1722359" y="0"/>
                  <a:pt x="1737032" y="0"/>
                  <a:pt x="1737032" y="0"/>
                </a:cubicBezTo>
                <a:lnTo>
                  <a:pt x="1737032" y="222865"/>
                </a:lnTo>
                <a:cubicBezTo>
                  <a:pt x="1737032" y="222865"/>
                  <a:pt x="1722359" y="222865"/>
                  <a:pt x="1704258" y="222865"/>
                </a:cubicBezTo>
                <a:lnTo>
                  <a:pt x="32774" y="222865"/>
                </a:lnTo>
                <a:cubicBezTo>
                  <a:pt x="14674" y="222865"/>
                  <a:pt x="0" y="222865"/>
                  <a:pt x="0" y="222865"/>
                </a:cubicBezTo>
                <a:lnTo>
                  <a:pt x="0" y="0"/>
                </a:lnTo>
                <a:cubicBezTo>
                  <a:pt x="0" y="0"/>
                  <a:pt x="14674" y="0"/>
                  <a:pt x="32774" y="0"/>
                </a:cubicBezTo>
                <a:close/>
              </a:path>
            </a:pathLst>
          </a:custGeom>
          <a:solidFill>
            <a:srgbClr val="311B92">
              <a:alpha val="90000"/>
            </a:srgbClr>
          </a:solidFill>
          <a:ln w="6555" cap="flat">
            <a:noFill/>
            <a:prstDash val="solid"/>
            <a:miter/>
          </a:ln>
        </p:spPr>
        <p:txBody>
          <a:bodyPr rtlCol="0" anchor="ctr"/>
          <a:lstStyle/>
          <a:p>
            <a:endParaRPr lang="zh-CN" altLang="en-US"/>
          </a:p>
        </p:txBody>
      </p:sp>
      <p:sp>
        <p:nvSpPr>
          <p:cNvPr id="1306" name="文本框 1305"/>
          <p:cNvSpPr txBox="1"/>
          <p:nvPr/>
        </p:nvSpPr>
        <p:spPr>
          <a:xfrm>
            <a:off x="6492895" y="3526623"/>
            <a:ext cx="1731509" cy="200055"/>
          </a:xfrm>
          <a:prstGeom prst="rect">
            <a:avLst/>
          </a:prstGeom>
          <a:noFill/>
        </p:spPr>
        <p:txBody>
          <a:bodyPr wrap="square" rtlCol="0">
            <a:spAutoFit/>
          </a:bodyPr>
          <a:lstStyle/>
          <a:p>
            <a:pPr algn="ctr"/>
            <a:r>
              <a:rPr lang="zh-CN" altLang="en-US" sz="700" spc="0" baseline="0" dirty="0">
                <a:solidFill>
                  <a:srgbClr val="FFFFFF"/>
                </a:solidFill>
                <a:latin typeface="Segoe UI"/>
                <a:cs typeface="Segoe UI"/>
                <a:sym typeface="Segoe UI"/>
                <a:rtl val="0"/>
              </a:rPr>
              <a:t>Results: Evacuation rate 9.1%</a:t>
            </a:r>
          </a:p>
        </p:txBody>
      </p:sp>
      <p:sp>
        <p:nvSpPr>
          <p:cNvPr id="1308" name="任意形状 1307"/>
          <p:cNvSpPr/>
          <p:nvPr/>
        </p:nvSpPr>
        <p:spPr>
          <a:xfrm>
            <a:off x="4686709" y="4004173"/>
            <a:ext cx="3539612" cy="183535"/>
          </a:xfrm>
          <a:custGeom>
            <a:avLst/>
            <a:gdLst>
              <a:gd name="connsiteX0" fmla="*/ 3506839 w 3539612"/>
              <a:gd name="connsiteY0" fmla="*/ 0 h 183535"/>
              <a:gd name="connsiteX1" fmla="*/ 3539613 w 3539612"/>
              <a:gd name="connsiteY1" fmla="*/ 0 h 183535"/>
              <a:gd name="connsiteX2" fmla="*/ 3539613 w 3539612"/>
              <a:gd name="connsiteY2" fmla="*/ 183536 h 183535"/>
              <a:gd name="connsiteX3" fmla="*/ 3506839 w 3539612"/>
              <a:gd name="connsiteY3" fmla="*/ 183536 h 183535"/>
              <a:gd name="connsiteX4" fmla="*/ 32774 w 3539612"/>
              <a:gd name="connsiteY4" fmla="*/ 183536 h 183535"/>
              <a:gd name="connsiteX5" fmla="*/ 0 w 3539612"/>
              <a:gd name="connsiteY5" fmla="*/ 183536 h 183535"/>
              <a:gd name="connsiteX6" fmla="*/ 0 w 3539612"/>
              <a:gd name="connsiteY6" fmla="*/ 0 h 183535"/>
              <a:gd name="connsiteX7" fmla="*/ 32774 w 3539612"/>
              <a:gd name="connsiteY7" fmla="*/ 0 h 18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9612" h="183535">
                <a:moveTo>
                  <a:pt x="3506839" y="0"/>
                </a:moveTo>
                <a:cubicBezTo>
                  <a:pt x="3524940" y="0"/>
                  <a:pt x="3539613" y="0"/>
                  <a:pt x="3539613" y="0"/>
                </a:cubicBezTo>
                <a:lnTo>
                  <a:pt x="3539613" y="183536"/>
                </a:lnTo>
                <a:cubicBezTo>
                  <a:pt x="3539613" y="183536"/>
                  <a:pt x="3524940" y="183536"/>
                  <a:pt x="3506839" y="183536"/>
                </a:cubicBezTo>
                <a:lnTo>
                  <a:pt x="32774" y="183536"/>
                </a:lnTo>
                <a:cubicBezTo>
                  <a:pt x="14674" y="183536"/>
                  <a:pt x="0" y="183536"/>
                  <a:pt x="0" y="183536"/>
                </a:cubicBezTo>
                <a:lnTo>
                  <a:pt x="0" y="0"/>
                </a:lnTo>
                <a:cubicBezTo>
                  <a:pt x="0" y="0"/>
                  <a:pt x="14674" y="0"/>
                  <a:pt x="32774" y="0"/>
                </a:cubicBezTo>
                <a:close/>
              </a:path>
            </a:pathLst>
          </a:custGeom>
          <a:solidFill>
            <a:srgbClr val="4A148C">
              <a:alpha val="85000"/>
            </a:srgbClr>
          </a:solidFill>
          <a:ln w="6555" cap="flat">
            <a:noFill/>
            <a:prstDash val="solid"/>
            <a:miter/>
          </a:ln>
        </p:spPr>
        <p:txBody>
          <a:bodyPr rtlCol="0" anchor="ctr"/>
          <a:lstStyle/>
          <a:p>
            <a:endParaRPr lang="zh-CN" altLang="en-US"/>
          </a:p>
        </p:txBody>
      </p:sp>
      <p:sp>
        <p:nvSpPr>
          <p:cNvPr id="1309" name="文本框 1308"/>
          <p:cNvSpPr txBox="1"/>
          <p:nvPr/>
        </p:nvSpPr>
        <p:spPr>
          <a:xfrm>
            <a:off x="4830911" y="3993639"/>
            <a:ext cx="3251210" cy="196208"/>
          </a:xfrm>
          <a:prstGeom prst="rect">
            <a:avLst/>
          </a:prstGeom>
          <a:noFill/>
        </p:spPr>
        <p:txBody>
          <a:bodyPr wrap="none" rtlCol="0">
            <a:spAutoFit/>
          </a:bodyPr>
          <a:lstStyle/>
          <a:p>
            <a:pPr algn="ctr"/>
            <a:r>
              <a:rPr lang="zh-CN" altLang="en-US" sz="675" spc="0" baseline="0" dirty="0">
                <a:solidFill>
                  <a:srgbClr val="FFFFFF"/>
                </a:solidFill>
                <a:latin typeface="Segoe UI"/>
                <a:cs typeface="Segoe UI"/>
                <a:sym typeface="Segoe UI"/>
                <a:rtl val="0"/>
              </a:rPr>
              <a:t>Finding: Subway = 69% capacity (critical) · Severe capacity gap · Layered strategy</a:t>
            </a:r>
          </a:p>
        </p:txBody>
      </p:sp>
      <p:sp>
        <p:nvSpPr>
          <p:cNvPr id="1311" name="任意形状 1310"/>
          <p:cNvSpPr/>
          <p:nvPr/>
        </p:nvSpPr>
        <p:spPr>
          <a:xfrm>
            <a:off x="4588387" y="4384621"/>
            <a:ext cx="3736258" cy="513196"/>
          </a:xfrm>
          <a:custGeom>
            <a:avLst/>
            <a:gdLst>
              <a:gd name="connsiteX0" fmla="*/ 3683819 w 3736258"/>
              <a:gd name="connsiteY0" fmla="*/ 0 h 360516"/>
              <a:gd name="connsiteX1" fmla="*/ 3736258 w 3736258"/>
              <a:gd name="connsiteY1" fmla="*/ 0 h 360516"/>
              <a:gd name="connsiteX2" fmla="*/ 3736258 w 3736258"/>
              <a:gd name="connsiteY2" fmla="*/ 360516 h 360516"/>
              <a:gd name="connsiteX3" fmla="*/ 3683819 w 3736258"/>
              <a:gd name="connsiteY3" fmla="*/ 360516 h 360516"/>
              <a:gd name="connsiteX4" fmla="*/ 52439 w 3736258"/>
              <a:gd name="connsiteY4" fmla="*/ 360516 h 360516"/>
              <a:gd name="connsiteX5" fmla="*/ 0 w 3736258"/>
              <a:gd name="connsiteY5" fmla="*/ 360516 h 360516"/>
              <a:gd name="connsiteX6" fmla="*/ 0 w 3736258"/>
              <a:gd name="connsiteY6" fmla="*/ 0 h 360516"/>
              <a:gd name="connsiteX7" fmla="*/ 52439 w 3736258"/>
              <a:gd name="connsiteY7" fmla="*/ 0 h 36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360516">
                <a:moveTo>
                  <a:pt x="3683819" y="0"/>
                </a:moveTo>
                <a:cubicBezTo>
                  <a:pt x="3712781" y="0"/>
                  <a:pt x="3736258" y="0"/>
                  <a:pt x="3736258" y="0"/>
                </a:cubicBezTo>
                <a:lnTo>
                  <a:pt x="3736258" y="360516"/>
                </a:lnTo>
                <a:cubicBezTo>
                  <a:pt x="3736258" y="360516"/>
                  <a:pt x="3712781" y="360516"/>
                  <a:pt x="3683819" y="360516"/>
                </a:cubicBezTo>
                <a:lnTo>
                  <a:pt x="52439" y="360516"/>
                </a:lnTo>
                <a:cubicBezTo>
                  <a:pt x="23478" y="360516"/>
                  <a:pt x="0" y="360516"/>
                  <a:pt x="0" y="360516"/>
                </a:cubicBezTo>
                <a:lnTo>
                  <a:pt x="0" y="0"/>
                </a:lnTo>
                <a:cubicBezTo>
                  <a:pt x="0" y="0"/>
                  <a:pt x="23478" y="0"/>
                  <a:pt x="52439" y="0"/>
                </a:cubicBezTo>
                <a:close/>
              </a:path>
            </a:pathLst>
          </a:custGeom>
          <a:solidFill>
            <a:srgbClr val="FAFAFA"/>
          </a:solidFill>
          <a:ln w="6555" cap="flat">
            <a:solidFill>
              <a:srgbClr val="455A64"/>
            </a:solidFill>
            <a:custDash>
              <a:ds d="375000" sp="225000"/>
            </a:custDash>
            <a:miter/>
          </a:ln>
        </p:spPr>
        <p:txBody>
          <a:bodyPr rtlCol="0" anchor="ctr"/>
          <a:lstStyle/>
          <a:p>
            <a:endParaRPr lang="zh-CN" altLang="en-US"/>
          </a:p>
        </p:txBody>
      </p:sp>
      <p:sp>
        <p:nvSpPr>
          <p:cNvPr id="1312" name="文本框 1311"/>
          <p:cNvSpPr txBox="1"/>
          <p:nvPr/>
        </p:nvSpPr>
        <p:spPr>
          <a:xfrm>
            <a:off x="5578710" y="4398271"/>
            <a:ext cx="1755610" cy="207749"/>
          </a:xfrm>
          <a:prstGeom prst="rect">
            <a:avLst/>
          </a:prstGeom>
          <a:noFill/>
        </p:spPr>
        <p:txBody>
          <a:bodyPr wrap="none" rtlCol="0">
            <a:spAutoFit/>
          </a:bodyPr>
          <a:lstStyle/>
          <a:p>
            <a:pPr algn="ctr"/>
            <a:r>
              <a:rPr lang="zh-CN" altLang="en-US" sz="750" b="1" spc="0" baseline="0" dirty="0">
                <a:solidFill>
                  <a:srgbClr val="37474F"/>
                </a:solidFill>
                <a:latin typeface="Segoe UI"/>
                <a:cs typeface="Segoe UI"/>
                <a:sym typeface="Segoe UI"/>
                <a:rtl val="0"/>
              </a:rPr>
              <a:t>Supply–Evacuation Triple Coupling</a:t>
            </a:r>
          </a:p>
        </p:txBody>
      </p:sp>
      <p:sp>
        <p:nvSpPr>
          <p:cNvPr id="1313" name="文本框 1312"/>
          <p:cNvSpPr txBox="1"/>
          <p:nvPr/>
        </p:nvSpPr>
        <p:spPr>
          <a:xfrm>
            <a:off x="4588387" y="4558309"/>
            <a:ext cx="3736258" cy="351378"/>
          </a:xfrm>
          <a:prstGeom prst="rect">
            <a:avLst/>
          </a:prstGeom>
          <a:noFill/>
        </p:spPr>
        <p:txBody>
          <a:bodyPr wrap="square" rtlCol="0">
            <a:spAutoFit/>
          </a:bodyPr>
          <a:lstStyle/>
          <a:p>
            <a:pPr algn="ctr">
              <a:lnSpc>
                <a:spcPct val="150000"/>
              </a:lnSpc>
            </a:pPr>
            <a:r>
              <a:rPr lang="zh-CN" altLang="en-US" sz="600" spc="0" baseline="0" dirty="0">
                <a:solidFill>
                  <a:srgbClr val="555555"/>
                </a:solidFill>
                <a:latin typeface="Cambria Math"/>
                <a:sym typeface="Cambria Math"/>
                <a:rtl val="0"/>
              </a:rPr>
              <a:t>①</a:t>
            </a:r>
            <a:r>
              <a:rPr lang="zh-CN" altLang="en-US" sz="600" spc="0" baseline="0" dirty="0">
                <a:solidFill>
                  <a:srgbClr val="555555"/>
                </a:solidFill>
                <a:latin typeface="Arial" panose="020B0604020202090204"/>
                <a:cs typeface="Arial" panose="020B0604020202090204"/>
                <a:sym typeface="Arial" panose="020B0604020202090204"/>
                <a:rtl val="0"/>
              </a:rPr>
              <a:t> Resource competition: shared damaged network </a:t>
            </a:r>
            <a:r>
              <a:rPr lang="zh-CN" altLang="en-US" sz="600" spc="0" baseline="0" dirty="0">
                <a:solidFill>
                  <a:srgbClr val="555555"/>
                </a:solidFill>
                <a:latin typeface="Cambria Math"/>
                <a:cs typeface="Arial" panose="020B0604020202090204"/>
                <a:sym typeface="Cambria Math"/>
                <a:rtl val="0"/>
              </a:rPr>
              <a:t>②</a:t>
            </a:r>
            <a:r>
              <a:rPr lang="zh-CN" altLang="en-US" sz="600" spc="0" baseline="0" dirty="0">
                <a:solidFill>
                  <a:srgbClr val="555555"/>
                </a:solidFill>
                <a:latin typeface="Arial" panose="020B0604020202090204"/>
                <a:cs typeface="Arial" panose="020B0604020202090204"/>
                <a:sym typeface="Arial" panose="020B0604020202090204"/>
                <a:rtl val="0"/>
              </a:rPr>
              <a:t> Temporal coupling: supply-first → concurrent </a:t>
            </a:r>
            <a:endParaRPr lang="en-US" altLang="zh-CN" sz="600" spc="0" baseline="0" dirty="0">
              <a:solidFill>
                <a:srgbClr val="555555"/>
              </a:solidFill>
              <a:latin typeface="Arial" panose="020B0604020202090204"/>
              <a:cs typeface="Arial" panose="020B0604020202090204"/>
              <a:sym typeface="Arial" panose="020B0604020202090204"/>
              <a:rtl val="0"/>
            </a:endParaRPr>
          </a:p>
          <a:p>
            <a:pPr algn="ctr">
              <a:lnSpc>
                <a:spcPct val="150000"/>
              </a:lnSpc>
            </a:pPr>
            <a:r>
              <a:rPr lang="zh-CN" altLang="en-US" sz="600" spc="0" baseline="0" dirty="0">
                <a:solidFill>
                  <a:srgbClr val="555555"/>
                </a:solidFill>
                <a:latin typeface="Arial" panose="020B0604020202090204"/>
                <a:cs typeface="Arial" panose="020B0604020202090204"/>
                <a:sym typeface="Arial" panose="020B0604020202090204"/>
                <a:rtl val="0"/>
              </a:rPr>
              <a:t>evacuation </a:t>
            </a:r>
            <a:r>
              <a:rPr lang="zh-CN" altLang="en-US" sz="600" dirty="0">
                <a:solidFill>
                  <a:srgbClr val="555555"/>
                </a:solidFill>
                <a:latin typeface="Arial" panose="020B0604020202090204"/>
                <a:cs typeface="Arial" panose="020B0604020202090204"/>
                <a:sym typeface="Arial" panose="020B0604020202090204"/>
                <a:rtl val="0"/>
              </a:rPr>
              <a:t> </a:t>
            </a:r>
            <a:r>
              <a:rPr lang="zh-CN" altLang="en-US" sz="600" spc="0" baseline="0" dirty="0">
                <a:solidFill>
                  <a:srgbClr val="555555"/>
                </a:solidFill>
                <a:latin typeface="Cambria Math"/>
                <a:cs typeface="Arial" panose="020B0604020202090204"/>
                <a:sym typeface="Cambria Math"/>
                <a:rtl val="0"/>
              </a:rPr>
              <a:t>③</a:t>
            </a:r>
            <a:r>
              <a:rPr lang="zh-CN" altLang="en-US" sz="600" spc="0" baseline="0" dirty="0">
                <a:solidFill>
                  <a:srgbClr val="555555"/>
                </a:solidFill>
                <a:latin typeface="Arial" panose="020B0604020202090204"/>
                <a:cs typeface="Arial" panose="020B0604020202090204"/>
                <a:sym typeface="Arial" panose="020B0604020202090204"/>
                <a:rtl val="0"/>
              </a:rPr>
              <a:t> Spatial interaction: centripetal (supply) vs centrifugal (evac.)</a:t>
            </a:r>
          </a:p>
        </p:txBody>
      </p:sp>
      <p:sp>
        <p:nvSpPr>
          <p:cNvPr id="1315" name="任意形状 1314"/>
          <p:cNvSpPr/>
          <p:nvPr/>
        </p:nvSpPr>
        <p:spPr>
          <a:xfrm>
            <a:off x="8586838" y="1239660"/>
            <a:ext cx="1573161" cy="659804"/>
          </a:xfrm>
          <a:custGeom>
            <a:avLst/>
            <a:gdLst>
              <a:gd name="connsiteX0" fmla="*/ 1520723 w 1573161"/>
              <a:gd name="connsiteY0" fmla="*/ 0 h 524387"/>
              <a:gd name="connsiteX1" fmla="*/ 1573161 w 1573161"/>
              <a:gd name="connsiteY1" fmla="*/ 0 h 524387"/>
              <a:gd name="connsiteX2" fmla="*/ 1573161 w 1573161"/>
              <a:gd name="connsiteY2" fmla="*/ 524387 h 524387"/>
              <a:gd name="connsiteX3" fmla="*/ 1520723 w 1573161"/>
              <a:gd name="connsiteY3" fmla="*/ 524387 h 524387"/>
              <a:gd name="connsiteX4" fmla="*/ 52439 w 1573161"/>
              <a:gd name="connsiteY4" fmla="*/ 524387 h 524387"/>
              <a:gd name="connsiteX5" fmla="*/ 0 w 1573161"/>
              <a:gd name="connsiteY5" fmla="*/ 524387 h 524387"/>
              <a:gd name="connsiteX6" fmla="*/ 0 w 1573161"/>
              <a:gd name="connsiteY6" fmla="*/ 0 h 524387"/>
              <a:gd name="connsiteX7" fmla="*/ 52439 w 1573161"/>
              <a:gd name="connsiteY7" fmla="*/ 0 h 524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524387">
                <a:moveTo>
                  <a:pt x="1520723" y="0"/>
                </a:moveTo>
                <a:cubicBezTo>
                  <a:pt x="1549684" y="0"/>
                  <a:pt x="1573161" y="0"/>
                  <a:pt x="1573161" y="0"/>
                </a:cubicBezTo>
                <a:lnTo>
                  <a:pt x="1573161" y="524387"/>
                </a:lnTo>
                <a:cubicBezTo>
                  <a:pt x="1573161" y="524387"/>
                  <a:pt x="1549684" y="524387"/>
                  <a:pt x="1520723" y="524387"/>
                </a:cubicBezTo>
                <a:lnTo>
                  <a:pt x="52439" y="524387"/>
                </a:lnTo>
                <a:cubicBezTo>
                  <a:pt x="23477" y="524387"/>
                  <a:pt x="0" y="524387"/>
                  <a:pt x="0" y="524387"/>
                </a:cubicBezTo>
                <a:lnTo>
                  <a:pt x="0" y="0"/>
                </a:lnTo>
                <a:cubicBezTo>
                  <a:pt x="0" y="0"/>
                  <a:pt x="23477" y="0"/>
                  <a:pt x="52439" y="0"/>
                </a:cubicBezTo>
                <a:close/>
              </a:path>
            </a:pathLst>
          </a:custGeom>
          <a:solidFill>
            <a:srgbClr val="FFFFFF"/>
          </a:solidFill>
          <a:ln w="6555" cap="flat">
            <a:solidFill>
              <a:srgbClr val="C62828"/>
            </a:solidFill>
            <a:prstDash val="solid"/>
            <a:miter/>
          </a:ln>
        </p:spPr>
        <p:txBody>
          <a:bodyPr rtlCol="0" anchor="ctr"/>
          <a:lstStyle/>
          <a:p>
            <a:endParaRPr lang="zh-CN" altLang="en-US"/>
          </a:p>
        </p:txBody>
      </p:sp>
      <p:sp>
        <p:nvSpPr>
          <p:cNvPr id="1316" name="任意形状 1315"/>
          <p:cNvSpPr/>
          <p:nvPr/>
        </p:nvSpPr>
        <p:spPr>
          <a:xfrm>
            <a:off x="8586838" y="1239659"/>
            <a:ext cx="1573161" cy="170425"/>
          </a:xfrm>
          <a:custGeom>
            <a:avLst/>
            <a:gdLst>
              <a:gd name="connsiteX0" fmla="*/ 1520723 w 1573161"/>
              <a:gd name="connsiteY0" fmla="*/ 0 h 144206"/>
              <a:gd name="connsiteX1" fmla="*/ 1573161 w 1573161"/>
              <a:gd name="connsiteY1" fmla="*/ 0 h 144206"/>
              <a:gd name="connsiteX2" fmla="*/ 1573161 w 1573161"/>
              <a:gd name="connsiteY2" fmla="*/ 144206 h 144206"/>
              <a:gd name="connsiteX3" fmla="*/ 1520723 w 1573161"/>
              <a:gd name="connsiteY3" fmla="*/ 144206 h 144206"/>
              <a:gd name="connsiteX4" fmla="*/ 52439 w 1573161"/>
              <a:gd name="connsiteY4" fmla="*/ 144206 h 144206"/>
              <a:gd name="connsiteX5" fmla="*/ 0 w 1573161"/>
              <a:gd name="connsiteY5" fmla="*/ 144206 h 144206"/>
              <a:gd name="connsiteX6" fmla="*/ 0 w 1573161"/>
              <a:gd name="connsiteY6" fmla="*/ 0 h 144206"/>
              <a:gd name="connsiteX7" fmla="*/ 52439 w 1573161"/>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206">
                <a:moveTo>
                  <a:pt x="1520723" y="0"/>
                </a:moveTo>
                <a:cubicBezTo>
                  <a:pt x="1549684" y="0"/>
                  <a:pt x="1573161" y="0"/>
                  <a:pt x="1573161" y="0"/>
                </a:cubicBezTo>
                <a:lnTo>
                  <a:pt x="1573161" y="144206"/>
                </a:lnTo>
                <a:cubicBezTo>
                  <a:pt x="1573161" y="144206"/>
                  <a:pt x="1549684" y="144206"/>
                  <a:pt x="1520723" y="144206"/>
                </a:cubicBezTo>
                <a:lnTo>
                  <a:pt x="52439" y="144206"/>
                </a:lnTo>
                <a:cubicBezTo>
                  <a:pt x="23477" y="144206"/>
                  <a:pt x="0" y="144206"/>
                  <a:pt x="0" y="144206"/>
                </a:cubicBezTo>
                <a:lnTo>
                  <a:pt x="0" y="0"/>
                </a:lnTo>
                <a:cubicBezTo>
                  <a:pt x="0" y="0"/>
                  <a:pt x="23477" y="0"/>
                  <a:pt x="52439" y="0"/>
                </a:cubicBezTo>
                <a:close/>
              </a:path>
            </a:pathLst>
          </a:custGeom>
          <a:solidFill>
            <a:srgbClr val="C62828"/>
          </a:solidFill>
          <a:ln w="6555" cap="flat">
            <a:noFill/>
            <a:prstDash val="solid"/>
            <a:miter/>
          </a:ln>
        </p:spPr>
        <p:txBody>
          <a:bodyPr rtlCol="0" anchor="ctr"/>
          <a:lstStyle/>
          <a:p>
            <a:endParaRPr lang="zh-CN" altLang="en-US"/>
          </a:p>
        </p:txBody>
      </p:sp>
      <p:sp>
        <p:nvSpPr>
          <p:cNvPr id="1317" name="任意形状 1316"/>
          <p:cNvSpPr/>
          <p:nvPr/>
        </p:nvSpPr>
        <p:spPr>
          <a:xfrm>
            <a:off x="8586838" y="1344538"/>
            <a:ext cx="1573161" cy="39329"/>
          </a:xfrm>
          <a:custGeom>
            <a:avLst/>
            <a:gdLst>
              <a:gd name="connsiteX0" fmla="*/ 0 w 1573161"/>
              <a:gd name="connsiteY0" fmla="*/ 0 h 39329"/>
              <a:gd name="connsiteX1" fmla="*/ 1573161 w 1573161"/>
              <a:gd name="connsiteY1" fmla="*/ 0 h 39329"/>
              <a:gd name="connsiteX2" fmla="*/ 1573161 w 1573161"/>
              <a:gd name="connsiteY2" fmla="*/ 39329 h 39329"/>
              <a:gd name="connsiteX3" fmla="*/ 0 w 1573161"/>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573161" h="39329">
                <a:moveTo>
                  <a:pt x="0" y="0"/>
                </a:moveTo>
                <a:lnTo>
                  <a:pt x="1573161" y="0"/>
                </a:lnTo>
                <a:lnTo>
                  <a:pt x="1573161" y="39329"/>
                </a:lnTo>
                <a:lnTo>
                  <a:pt x="0" y="39329"/>
                </a:lnTo>
                <a:close/>
              </a:path>
            </a:pathLst>
          </a:custGeom>
          <a:solidFill>
            <a:srgbClr val="C62828"/>
          </a:solidFill>
          <a:ln w="6555" cap="flat">
            <a:noFill/>
            <a:prstDash val="solid"/>
            <a:miter/>
          </a:ln>
        </p:spPr>
        <p:txBody>
          <a:bodyPr rtlCol="0" anchor="ctr"/>
          <a:lstStyle/>
          <a:p>
            <a:endParaRPr lang="zh-CN" altLang="en-US"/>
          </a:p>
        </p:txBody>
      </p:sp>
      <p:sp>
        <p:nvSpPr>
          <p:cNvPr id="1318" name="文本框 1317"/>
          <p:cNvSpPr txBox="1"/>
          <p:nvPr/>
        </p:nvSpPr>
        <p:spPr>
          <a:xfrm>
            <a:off x="8822627" y="1221087"/>
            <a:ext cx="1101584"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Structural Resilience</a:t>
            </a:r>
          </a:p>
        </p:txBody>
      </p:sp>
      <p:sp>
        <p:nvSpPr>
          <p:cNvPr id="1319" name="文本框 1318"/>
          <p:cNvSpPr txBox="1"/>
          <p:nvPr/>
        </p:nvSpPr>
        <p:spPr>
          <a:xfrm>
            <a:off x="8559004" y="1410250"/>
            <a:ext cx="1635384" cy="415498"/>
          </a:xfrm>
          <a:prstGeom prst="rect">
            <a:avLst/>
          </a:prstGeom>
          <a:noFill/>
        </p:spPr>
        <p:txBody>
          <a:bodyPr wrap="none" rtlCol="0">
            <a:spAutoFit/>
          </a:bodyPr>
          <a:lstStyle/>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Road closure ratio: 19.1% (96.7/505.3 km)</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ctr"/>
            <a:r>
              <a:rPr lang="zh-CN" altLang="en-US" sz="600" spc="0" baseline="0" dirty="0">
                <a:solidFill>
                  <a:srgbClr val="666666"/>
                </a:solidFill>
                <a:latin typeface="Arial" panose="020B0604020202090204"/>
                <a:cs typeface="Arial" panose="020B0604020202090204"/>
                <a:sym typeface="Arial" panose="020B0604020202090204"/>
                <a:rtl val="0"/>
              </a:rPr>
              <a:t>Overall network connectivity preserved</a:t>
            </a:r>
            <a:endParaRPr lang="en-US" altLang="zh-CN" sz="600" spc="0" baseline="0" dirty="0">
              <a:solidFill>
                <a:srgbClr val="666666"/>
              </a:solidFill>
              <a:latin typeface="Arial" panose="020B0604020202090204"/>
              <a:cs typeface="Arial" panose="020B0604020202090204"/>
              <a:sym typeface="Arial" panose="020B0604020202090204"/>
              <a:rtl val="0"/>
            </a:endParaRPr>
          </a:p>
          <a:p>
            <a:pPr algn="ctr"/>
            <a:r>
              <a:rPr lang="zh-CN" altLang="en-US" sz="600" spc="0" baseline="0" dirty="0">
                <a:solidFill>
                  <a:srgbClr val="666666"/>
                </a:solidFill>
                <a:latin typeface="Arial" panose="020B0604020202090204"/>
                <a:cs typeface="Arial" panose="020B0604020202090204"/>
                <a:sym typeface="Arial" panose="020B0604020202090204"/>
                <a:rtl val="0"/>
              </a:rPr>
              <a:t>Ground delivery remains feasible</a:t>
            </a:r>
          </a:p>
        </p:txBody>
      </p:sp>
      <p:sp>
        <p:nvSpPr>
          <p:cNvPr id="1323" name="任意形状 1322"/>
          <p:cNvSpPr/>
          <p:nvPr/>
        </p:nvSpPr>
        <p:spPr>
          <a:xfrm>
            <a:off x="8586838" y="2129712"/>
            <a:ext cx="1573161" cy="657264"/>
          </a:xfrm>
          <a:custGeom>
            <a:avLst/>
            <a:gdLst>
              <a:gd name="connsiteX0" fmla="*/ 1520723 w 1573161"/>
              <a:gd name="connsiteY0" fmla="*/ 0 h 622709"/>
              <a:gd name="connsiteX1" fmla="*/ 1573161 w 1573161"/>
              <a:gd name="connsiteY1" fmla="*/ 0 h 622709"/>
              <a:gd name="connsiteX2" fmla="*/ 1573161 w 1573161"/>
              <a:gd name="connsiteY2" fmla="*/ 622710 h 622709"/>
              <a:gd name="connsiteX3" fmla="*/ 1520723 w 1573161"/>
              <a:gd name="connsiteY3" fmla="*/ 622710 h 622709"/>
              <a:gd name="connsiteX4" fmla="*/ 52439 w 1573161"/>
              <a:gd name="connsiteY4" fmla="*/ 622710 h 622709"/>
              <a:gd name="connsiteX5" fmla="*/ 0 w 1573161"/>
              <a:gd name="connsiteY5" fmla="*/ 622710 h 622709"/>
              <a:gd name="connsiteX6" fmla="*/ 0 w 1573161"/>
              <a:gd name="connsiteY6" fmla="*/ 0 h 622709"/>
              <a:gd name="connsiteX7" fmla="*/ 52439 w 1573161"/>
              <a:gd name="connsiteY7" fmla="*/ 0 h 622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622709">
                <a:moveTo>
                  <a:pt x="1520723" y="0"/>
                </a:moveTo>
                <a:cubicBezTo>
                  <a:pt x="1549684" y="0"/>
                  <a:pt x="1573161" y="0"/>
                  <a:pt x="1573161" y="0"/>
                </a:cubicBezTo>
                <a:lnTo>
                  <a:pt x="1573161" y="622710"/>
                </a:lnTo>
                <a:cubicBezTo>
                  <a:pt x="1573161" y="622710"/>
                  <a:pt x="1549684" y="622710"/>
                  <a:pt x="1520723" y="622710"/>
                </a:cubicBezTo>
                <a:lnTo>
                  <a:pt x="52439" y="622710"/>
                </a:lnTo>
                <a:cubicBezTo>
                  <a:pt x="23477" y="622710"/>
                  <a:pt x="0" y="622710"/>
                  <a:pt x="0" y="622710"/>
                </a:cubicBezTo>
                <a:lnTo>
                  <a:pt x="0" y="0"/>
                </a:lnTo>
                <a:cubicBezTo>
                  <a:pt x="0" y="0"/>
                  <a:pt x="23477" y="0"/>
                  <a:pt x="52439" y="0"/>
                </a:cubicBezTo>
                <a:close/>
              </a:path>
            </a:pathLst>
          </a:custGeom>
          <a:solidFill>
            <a:srgbClr val="FFFFFF"/>
          </a:solidFill>
          <a:ln w="6555" cap="flat">
            <a:solidFill>
              <a:srgbClr val="D32F2F"/>
            </a:solidFill>
            <a:prstDash val="solid"/>
            <a:miter/>
          </a:ln>
        </p:spPr>
        <p:txBody>
          <a:bodyPr rtlCol="0" anchor="ctr"/>
          <a:lstStyle/>
          <a:p>
            <a:endParaRPr lang="zh-CN" altLang="en-US"/>
          </a:p>
        </p:txBody>
      </p:sp>
      <p:sp>
        <p:nvSpPr>
          <p:cNvPr id="1324" name="任意形状 1323"/>
          <p:cNvSpPr/>
          <p:nvPr/>
        </p:nvSpPr>
        <p:spPr>
          <a:xfrm>
            <a:off x="8586838" y="2129712"/>
            <a:ext cx="1573161" cy="178760"/>
          </a:xfrm>
          <a:custGeom>
            <a:avLst/>
            <a:gdLst>
              <a:gd name="connsiteX0" fmla="*/ 1520723 w 1573161"/>
              <a:gd name="connsiteY0" fmla="*/ 0 h 144206"/>
              <a:gd name="connsiteX1" fmla="*/ 1573161 w 1573161"/>
              <a:gd name="connsiteY1" fmla="*/ 0 h 144206"/>
              <a:gd name="connsiteX2" fmla="*/ 1573161 w 1573161"/>
              <a:gd name="connsiteY2" fmla="*/ 144206 h 144206"/>
              <a:gd name="connsiteX3" fmla="*/ 1520723 w 1573161"/>
              <a:gd name="connsiteY3" fmla="*/ 144206 h 144206"/>
              <a:gd name="connsiteX4" fmla="*/ 52439 w 1573161"/>
              <a:gd name="connsiteY4" fmla="*/ 144206 h 144206"/>
              <a:gd name="connsiteX5" fmla="*/ 0 w 1573161"/>
              <a:gd name="connsiteY5" fmla="*/ 144206 h 144206"/>
              <a:gd name="connsiteX6" fmla="*/ 0 w 1573161"/>
              <a:gd name="connsiteY6" fmla="*/ 0 h 144206"/>
              <a:gd name="connsiteX7" fmla="*/ 52439 w 1573161"/>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206">
                <a:moveTo>
                  <a:pt x="1520723" y="0"/>
                </a:moveTo>
                <a:cubicBezTo>
                  <a:pt x="1549684" y="0"/>
                  <a:pt x="1573161" y="0"/>
                  <a:pt x="1573161" y="0"/>
                </a:cubicBezTo>
                <a:lnTo>
                  <a:pt x="1573161" y="144206"/>
                </a:lnTo>
                <a:cubicBezTo>
                  <a:pt x="1573161" y="144206"/>
                  <a:pt x="1549684" y="144206"/>
                  <a:pt x="1520723" y="144206"/>
                </a:cubicBezTo>
                <a:lnTo>
                  <a:pt x="52439" y="144206"/>
                </a:lnTo>
                <a:cubicBezTo>
                  <a:pt x="23477" y="144206"/>
                  <a:pt x="0" y="144206"/>
                  <a:pt x="0" y="144206"/>
                </a:cubicBezTo>
                <a:lnTo>
                  <a:pt x="0" y="0"/>
                </a:lnTo>
                <a:cubicBezTo>
                  <a:pt x="0" y="0"/>
                  <a:pt x="23477" y="0"/>
                  <a:pt x="52439" y="0"/>
                </a:cubicBezTo>
                <a:close/>
              </a:path>
            </a:pathLst>
          </a:custGeom>
          <a:solidFill>
            <a:srgbClr val="D32F2F"/>
          </a:solidFill>
          <a:ln w="6555" cap="flat">
            <a:noFill/>
            <a:prstDash val="solid"/>
            <a:miter/>
          </a:ln>
        </p:spPr>
        <p:txBody>
          <a:bodyPr rtlCol="0" anchor="ctr"/>
          <a:lstStyle/>
          <a:p>
            <a:endParaRPr lang="zh-CN" altLang="en-US"/>
          </a:p>
        </p:txBody>
      </p:sp>
      <p:sp>
        <p:nvSpPr>
          <p:cNvPr id="1325" name="任意形状 1324"/>
          <p:cNvSpPr/>
          <p:nvPr/>
        </p:nvSpPr>
        <p:spPr>
          <a:xfrm>
            <a:off x="8586838" y="2269144"/>
            <a:ext cx="1573161" cy="39329"/>
          </a:xfrm>
          <a:custGeom>
            <a:avLst/>
            <a:gdLst>
              <a:gd name="connsiteX0" fmla="*/ 0 w 1573161"/>
              <a:gd name="connsiteY0" fmla="*/ 0 h 39329"/>
              <a:gd name="connsiteX1" fmla="*/ 1573161 w 1573161"/>
              <a:gd name="connsiteY1" fmla="*/ 0 h 39329"/>
              <a:gd name="connsiteX2" fmla="*/ 1573161 w 1573161"/>
              <a:gd name="connsiteY2" fmla="*/ 39329 h 39329"/>
              <a:gd name="connsiteX3" fmla="*/ 0 w 1573161"/>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573161" h="39329">
                <a:moveTo>
                  <a:pt x="0" y="0"/>
                </a:moveTo>
                <a:lnTo>
                  <a:pt x="1573161" y="0"/>
                </a:lnTo>
                <a:lnTo>
                  <a:pt x="1573161" y="39329"/>
                </a:lnTo>
                <a:lnTo>
                  <a:pt x="0" y="39329"/>
                </a:lnTo>
                <a:close/>
              </a:path>
            </a:pathLst>
          </a:custGeom>
          <a:solidFill>
            <a:srgbClr val="D32F2F"/>
          </a:solidFill>
          <a:ln w="6555" cap="flat">
            <a:noFill/>
            <a:prstDash val="solid"/>
            <a:miter/>
          </a:ln>
        </p:spPr>
        <p:txBody>
          <a:bodyPr rtlCol="0" anchor="ctr"/>
          <a:lstStyle/>
          <a:p>
            <a:endParaRPr lang="zh-CN" altLang="en-US"/>
          </a:p>
        </p:txBody>
      </p:sp>
      <p:sp>
        <p:nvSpPr>
          <p:cNvPr id="1326" name="文本框 1325"/>
          <p:cNvSpPr txBox="1"/>
          <p:nvPr/>
        </p:nvSpPr>
        <p:spPr>
          <a:xfrm>
            <a:off x="8809803" y="2120542"/>
            <a:ext cx="1127232"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Functional Resilience</a:t>
            </a:r>
          </a:p>
        </p:txBody>
      </p:sp>
      <p:sp>
        <p:nvSpPr>
          <p:cNvPr id="1327" name="文本框 1326"/>
          <p:cNvSpPr txBox="1"/>
          <p:nvPr/>
        </p:nvSpPr>
        <p:spPr>
          <a:xfrm>
            <a:off x="8767323" y="2315191"/>
            <a:ext cx="1212191" cy="184666"/>
          </a:xfrm>
          <a:prstGeom prst="rect">
            <a:avLst/>
          </a:prstGeom>
          <a:noFill/>
        </p:spPr>
        <p:txBody>
          <a:bodyPr wrap="non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Supply completion rate: 100%</a:t>
            </a:r>
          </a:p>
        </p:txBody>
      </p:sp>
      <p:sp>
        <p:nvSpPr>
          <p:cNvPr id="1329" name="文本框 1328"/>
          <p:cNvSpPr txBox="1"/>
          <p:nvPr/>
        </p:nvSpPr>
        <p:spPr>
          <a:xfrm>
            <a:off x="8705607" y="2414967"/>
            <a:ext cx="1335623" cy="184666"/>
          </a:xfrm>
          <a:prstGeom prst="rect">
            <a:avLst/>
          </a:prstGeom>
          <a:noFill/>
        </p:spPr>
        <p:txBody>
          <a:bodyPr wrap="non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Evacuation completion rate: 9.1%</a:t>
            </a:r>
          </a:p>
        </p:txBody>
      </p:sp>
      <p:sp>
        <p:nvSpPr>
          <p:cNvPr id="1330" name="文本框 1329"/>
          <p:cNvSpPr txBox="1"/>
          <p:nvPr/>
        </p:nvSpPr>
        <p:spPr>
          <a:xfrm>
            <a:off x="8586837" y="2519844"/>
            <a:ext cx="1573162" cy="276999"/>
          </a:xfrm>
          <a:prstGeom prst="rect">
            <a:avLst/>
          </a:prstGeom>
          <a:noFill/>
        </p:spPr>
        <p:txBody>
          <a:bodyPr wrap="square" rtlCol="0">
            <a:spAutoFit/>
          </a:bodyPr>
          <a:lstStyle/>
          <a:p>
            <a:pPr algn="ctr"/>
            <a:r>
              <a:rPr lang="zh-CN" altLang="en-US" sz="600" b="1" spc="0" baseline="0" dirty="0">
                <a:solidFill>
                  <a:srgbClr val="C62828"/>
                </a:solidFill>
                <a:latin typeface="Apple Color Emoji"/>
                <a:ea typeface="Apple Color Emoji"/>
                <a:sym typeface="Apple Color Emoji"/>
                <a:rtl val="0"/>
              </a:rPr>
              <a:t>⚠</a:t>
            </a:r>
            <a:r>
              <a:rPr lang="zh-CN" altLang="en-US" sz="600" b="1" spc="0" baseline="0" dirty="0">
                <a:solidFill>
                  <a:srgbClr val="C62828"/>
                </a:solidFill>
                <a:latin typeface="Arial" panose="020B0604020202090204"/>
                <a:ea typeface="Apple Color Emoji"/>
                <a:cs typeface="Arial" panose="020B0604020202090204"/>
                <a:sym typeface="Arial" panose="020B0604020202090204"/>
                <a:rtl val="0"/>
              </a:rPr>
              <a:t> Asymmetry: high supply vs low evac. resilience</a:t>
            </a:r>
          </a:p>
        </p:txBody>
      </p:sp>
      <p:sp>
        <p:nvSpPr>
          <p:cNvPr id="1332" name="任意形状 1331"/>
          <p:cNvSpPr/>
          <p:nvPr/>
        </p:nvSpPr>
        <p:spPr>
          <a:xfrm>
            <a:off x="8586838" y="3156177"/>
            <a:ext cx="1573161" cy="533371"/>
          </a:xfrm>
          <a:custGeom>
            <a:avLst/>
            <a:gdLst>
              <a:gd name="connsiteX0" fmla="*/ 1520723 w 1573161"/>
              <a:gd name="connsiteY0" fmla="*/ 0 h 471948"/>
              <a:gd name="connsiteX1" fmla="*/ 1573161 w 1573161"/>
              <a:gd name="connsiteY1" fmla="*/ 0 h 471948"/>
              <a:gd name="connsiteX2" fmla="*/ 1573161 w 1573161"/>
              <a:gd name="connsiteY2" fmla="*/ 471948 h 471948"/>
              <a:gd name="connsiteX3" fmla="*/ 1520723 w 1573161"/>
              <a:gd name="connsiteY3" fmla="*/ 471948 h 471948"/>
              <a:gd name="connsiteX4" fmla="*/ 52439 w 1573161"/>
              <a:gd name="connsiteY4" fmla="*/ 471948 h 471948"/>
              <a:gd name="connsiteX5" fmla="*/ 0 w 1573161"/>
              <a:gd name="connsiteY5" fmla="*/ 471948 h 471948"/>
              <a:gd name="connsiteX6" fmla="*/ 0 w 1573161"/>
              <a:gd name="connsiteY6" fmla="*/ 0 h 471948"/>
              <a:gd name="connsiteX7" fmla="*/ 52439 w 1573161"/>
              <a:gd name="connsiteY7" fmla="*/ 0 h 471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471948">
                <a:moveTo>
                  <a:pt x="1520723" y="0"/>
                </a:moveTo>
                <a:cubicBezTo>
                  <a:pt x="1549684" y="0"/>
                  <a:pt x="1573161" y="0"/>
                  <a:pt x="1573161" y="0"/>
                </a:cubicBezTo>
                <a:lnTo>
                  <a:pt x="1573161" y="471948"/>
                </a:lnTo>
                <a:cubicBezTo>
                  <a:pt x="1573161" y="471948"/>
                  <a:pt x="1549684" y="471948"/>
                  <a:pt x="1520723" y="471948"/>
                </a:cubicBezTo>
                <a:lnTo>
                  <a:pt x="52439" y="471948"/>
                </a:lnTo>
                <a:cubicBezTo>
                  <a:pt x="23477" y="471948"/>
                  <a:pt x="0" y="471948"/>
                  <a:pt x="0" y="471948"/>
                </a:cubicBezTo>
                <a:lnTo>
                  <a:pt x="0" y="0"/>
                </a:lnTo>
                <a:cubicBezTo>
                  <a:pt x="0" y="0"/>
                  <a:pt x="23477" y="0"/>
                  <a:pt x="52439" y="0"/>
                </a:cubicBezTo>
                <a:close/>
              </a:path>
            </a:pathLst>
          </a:custGeom>
          <a:solidFill>
            <a:srgbClr val="FFFFFF"/>
          </a:solidFill>
          <a:ln w="6555" cap="flat">
            <a:solidFill>
              <a:srgbClr val="E53935"/>
            </a:solidFill>
            <a:prstDash val="solid"/>
            <a:miter/>
          </a:ln>
        </p:spPr>
        <p:txBody>
          <a:bodyPr rtlCol="0" anchor="ctr"/>
          <a:lstStyle/>
          <a:p>
            <a:endParaRPr lang="zh-CN" altLang="en-US"/>
          </a:p>
        </p:txBody>
      </p:sp>
      <p:sp>
        <p:nvSpPr>
          <p:cNvPr id="1333" name="任意形状 1332"/>
          <p:cNvSpPr/>
          <p:nvPr/>
        </p:nvSpPr>
        <p:spPr>
          <a:xfrm>
            <a:off x="8583663" y="2987545"/>
            <a:ext cx="1584000" cy="227250"/>
          </a:xfrm>
          <a:custGeom>
            <a:avLst/>
            <a:gdLst>
              <a:gd name="connsiteX0" fmla="*/ 1520723 w 1573161"/>
              <a:gd name="connsiteY0" fmla="*/ 0 h 144206"/>
              <a:gd name="connsiteX1" fmla="*/ 1573161 w 1573161"/>
              <a:gd name="connsiteY1" fmla="*/ 0 h 144206"/>
              <a:gd name="connsiteX2" fmla="*/ 1573161 w 1573161"/>
              <a:gd name="connsiteY2" fmla="*/ 144206 h 144206"/>
              <a:gd name="connsiteX3" fmla="*/ 1520723 w 1573161"/>
              <a:gd name="connsiteY3" fmla="*/ 144206 h 144206"/>
              <a:gd name="connsiteX4" fmla="*/ 52439 w 1573161"/>
              <a:gd name="connsiteY4" fmla="*/ 144206 h 144206"/>
              <a:gd name="connsiteX5" fmla="*/ 0 w 1573161"/>
              <a:gd name="connsiteY5" fmla="*/ 144206 h 144206"/>
              <a:gd name="connsiteX6" fmla="*/ 0 w 1573161"/>
              <a:gd name="connsiteY6" fmla="*/ 0 h 144206"/>
              <a:gd name="connsiteX7" fmla="*/ 52439 w 1573161"/>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206">
                <a:moveTo>
                  <a:pt x="1520723" y="0"/>
                </a:moveTo>
                <a:cubicBezTo>
                  <a:pt x="1549684" y="0"/>
                  <a:pt x="1573161" y="0"/>
                  <a:pt x="1573161" y="0"/>
                </a:cubicBezTo>
                <a:lnTo>
                  <a:pt x="1573161" y="144206"/>
                </a:lnTo>
                <a:cubicBezTo>
                  <a:pt x="1573161" y="144206"/>
                  <a:pt x="1549684" y="144206"/>
                  <a:pt x="1520723" y="144206"/>
                </a:cubicBezTo>
                <a:lnTo>
                  <a:pt x="52439" y="144206"/>
                </a:lnTo>
                <a:cubicBezTo>
                  <a:pt x="23477" y="144206"/>
                  <a:pt x="0" y="144206"/>
                  <a:pt x="0" y="144206"/>
                </a:cubicBezTo>
                <a:lnTo>
                  <a:pt x="0" y="0"/>
                </a:lnTo>
                <a:cubicBezTo>
                  <a:pt x="0" y="0"/>
                  <a:pt x="23477" y="0"/>
                  <a:pt x="52439" y="0"/>
                </a:cubicBezTo>
                <a:close/>
              </a:path>
            </a:pathLst>
          </a:custGeom>
          <a:solidFill>
            <a:srgbClr val="E53935"/>
          </a:solidFill>
          <a:ln w="6555" cap="flat">
            <a:noFill/>
            <a:prstDash val="solid"/>
            <a:miter/>
          </a:ln>
        </p:spPr>
        <p:txBody>
          <a:bodyPr rtlCol="0" anchor="ctr"/>
          <a:lstStyle/>
          <a:p>
            <a:endParaRPr lang="zh-CN" altLang="en-US" dirty="0"/>
          </a:p>
        </p:txBody>
      </p:sp>
      <p:sp>
        <p:nvSpPr>
          <p:cNvPr id="1335" name="文本框 1334"/>
          <p:cNvSpPr txBox="1"/>
          <p:nvPr/>
        </p:nvSpPr>
        <p:spPr>
          <a:xfrm>
            <a:off x="8849759" y="3001834"/>
            <a:ext cx="1061509"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Adaptive Resilience</a:t>
            </a:r>
          </a:p>
        </p:txBody>
      </p:sp>
      <p:sp>
        <p:nvSpPr>
          <p:cNvPr id="1336" name="文本框 1335"/>
          <p:cNvSpPr txBox="1"/>
          <p:nvPr/>
        </p:nvSpPr>
        <p:spPr>
          <a:xfrm>
            <a:off x="8533250" y="3206161"/>
            <a:ext cx="1659523" cy="490712"/>
          </a:xfrm>
          <a:prstGeom prst="rect">
            <a:avLst/>
          </a:prstGeom>
          <a:noFill/>
        </p:spPr>
        <p:txBody>
          <a:bodyPr wrap="square" rtlCol="0">
            <a:spAutoFit/>
          </a:bodyPr>
          <a:lstStyle/>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Drone coordination: Makespan ↓16.3%</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Subway emergency ops → evac. rate ×3.3</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gn="ct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Multi-modal synergy confirmed</a:t>
            </a:r>
          </a:p>
        </p:txBody>
      </p:sp>
      <p:sp>
        <p:nvSpPr>
          <p:cNvPr id="1341" name="任意形状 1340"/>
          <p:cNvSpPr/>
          <p:nvPr/>
        </p:nvSpPr>
        <p:spPr>
          <a:xfrm>
            <a:off x="8586838" y="3872942"/>
            <a:ext cx="1573161" cy="202467"/>
          </a:xfrm>
          <a:custGeom>
            <a:avLst/>
            <a:gdLst>
              <a:gd name="connsiteX0" fmla="*/ 1520723 w 1573161"/>
              <a:gd name="connsiteY0" fmla="*/ 0 h 144206"/>
              <a:gd name="connsiteX1" fmla="*/ 1573161 w 1573161"/>
              <a:gd name="connsiteY1" fmla="*/ 0 h 144206"/>
              <a:gd name="connsiteX2" fmla="*/ 1573161 w 1573161"/>
              <a:gd name="connsiteY2" fmla="*/ 144206 h 144206"/>
              <a:gd name="connsiteX3" fmla="*/ 1520723 w 1573161"/>
              <a:gd name="connsiteY3" fmla="*/ 144206 h 144206"/>
              <a:gd name="connsiteX4" fmla="*/ 52439 w 1573161"/>
              <a:gd name="connsiteY4" fmla="*/ 144206 h 144206"/>
              <a:gd name="connsiteX5" fmla="*/ 0 w 1573161"/>
              <a:gd name="connsiteY5" fmla="*/ 144206 h 144206"/>
              <a:gd name="connsiteX6" fmla="*/ 0 w 1573161"/>
              <a:gd name="connsiteY6" fmla="*/ 0 h 144206"/>
              <a:gd name="connsiteX7" fmla="*/ 52439 w 1573161"/>
              <a:gd name="connsiteY7" fmla="*/ 0 h 14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206">
                <a:moveTo>
                  <a:pt x="1520723" y="0"/>
                </a:moveTo>
                <a:cubicBezTo>
                  <a:pt x="1549684" y="0"/>
                  <a:pt x="1573161" y="0"/>
                  <a:pt x="1573161" y="0"/>
                </a:cubicBezTo>
                <a:lnTo>
                  <a:pt x="1573161" y="144206"/>
                </a:lnTo>
                <a:cubicBezTo>
                  <a:pt x="1573161" y="144206"/>
                  <a:pt x="1549684" y="144206"/>
                  <a:pt x="1520723" y="144206"/>
                </a:cubicBezTo>
                <a:lnTo>
                  <a:pt x="52439" y="144206"/>
                </a:lnTo>
                <a:cubicBezTo>
                  <a:pt x="23477" y="144206"/>
                  <a:pt x="0" y="144206"/>
                  <a:pt x="0" y="144206"/>
                </a:cubicBezTo>
                <a:lnTo>
                  <a:pt x="0" y="0"/>
                </a:lnTo>
                <a:cubicBezTo>
                  <a:pt x="0" y="0"/>
                  <a:pt x="23477" y="0"/>
                  <a:pt x="52439" y="0"/>
                </a:cubicBezTo>
                <a:close/>
              </a:path>
            </a:pathLst>
          </a:custGeom>
          <a:solidFill>
            <a:srgbClr val="EF5350"/>
          </a:solidFill>
          <a:ln w="6555" cap="flat">
            <a:noFill/>
            <a:prstDash val="solid"/>
            <a:miter/>
          </a:ln>
        </p:spPr>
        <p:txBody>
          <a:bodyPr rtlCol="0" anchor="ctr"/>
          <a:lstStyle/>
          <a:p>
            <a:endParaRPr lang="zh-CN" altLang="en-US"/>
          </a:p>
        </p:txBody>
      </p:sp>
      <p:sp>
        <p:nvSpPr>
          <p:cNvPr id="1342" name="任意形状 1341"/>
          <p:cNvSpPr/>
          <p:nvPr/>
        </p:nvSpPr>
        <p:spPr>
          <a:xfrm>
            <a:off x="8586838" y="4036081"/>
            <a:ext cx="1573161" cy="45719"/>
          </a:xfrm>
          <a:custGeom>
            <a:avLst/>
            <a:gdLst>
              <a:gd name="connsiteX0" fmla="*/ 0 w 1573161"/>
              <a:gd name="connsiteY0" fmla="*/ 0 h 39329"/>
              <a:gd name="connsiteX1" fmla="*/ 1573161 w 1573161"/>
              <a:gd name="connsiteY1" fmla="*/ 0 h 39329"/>
              <a:gd name="connsiteX2" fmla="*/ 1573161 w 1573161"/>
              <a:gd name="connsiteY2" fmla="*/ 39329 h 39329"/>
              <a:gd name="connsiteX3" fmla="*/ 0 w 1573161"/>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573161" h="39329">
                <a:moveTo>
                  <a:pt x="0" y="0"/>
                </a:moveTo>
                <a:lnTo>
                  <a:pt x="1573161" y="0"/>
                </a:lnTo>
                <a:lnTo>
                  <a:pt x="1573161" y="39329"/>
                </a:lnTo>
                <a:lnTo>
                  <a:pt x="0" y="39329"/>
                </a:lnTo>
                <a:close/>
              </a:path>
            </a:pathLst>
          </a:custGeom>
          <a:solidFill>
            <a:srgbClr val="EF5350"/>
          </a:solidFill>
          <a:ln w="6555" cap="flat">
            <a:noFill/>
            <a:prstDash val="solid"/>
            <a:miter/>
          </a:ln>
        </p:spPr>
        <p:txBody>
          <a:bodyPr rtlCol="0" anchor="ctr"/>
          <a:lstStyle/>
          <a:p>
            <a:endParaRPr lang="zh-CN" altLang="en-US"/>
          </a:p>
        </p:txBody>
      </p:sp>
      <p:sp>
        <p:nvSpPr>
          <p:cNvPr id="1343" name="文本框 1342"/>
          <p:cNvSpPr txBox="1"/>
          <p:nvPr/>
        </p:nvSpPr>
        <p:spPr>
          <a:xfrm>
            <a:off x="8803391" y="3873866"/>
            <a:ext cx="1140056" cy="207749"/>
          </a:xfrm>
          <a:prstGeom prst="rect">
            <a:avLst/>
          </a:prstGeom>
          <a:noFill/>
        </p:spPr>
        <p:txBody>
          <a:bodyPr wrap="none" rtlCol="0">
            <a:spAutoFit/>
          </a:bodyPr>
          <a:lstStyle/>
          <a:p>
            <a:pPr algn="ctr"/>
            <a:r>
              <a:rPr lang="zh-CN" altLang="en-US" sz="750" b="1" spc="0" baseline="0" dirty="0">
                <a:solidFill>
                  <a:srgbClr val="FFFFFF"/>
                </a:solidFill>
                <a:latin typeface="Segoe UI"/>
                <a:cs typeface="Segoe UI"/>
                <a:sym typeface="Segoe UI"/>
                <a:rtl val="0"/>
              </a:rPr>
              <a:t>Scenario Comparison</a:t>
            </a:r>
          </a:p>
        </p:txBody>
      </p:sp>
      <p:sp>
        <p:nvSpPr>
          <p:cNvPr id="1350" name="任意形状 1349"/>
          <p:cNvSpPr/>
          <p:nvPr/>
        </p:nvSpPr>
        <p:spPr>
          <a:xfrm>
            <a:off x="10422193" y="1233127"/>
            <a:ext cx="1573161" cy="3652571"/>
          </a:xfrm>
          <a:custGeom>
            <a:avLst/>
            <a:gdLst>
              <a:gd name="connsiteX0" fmla="*/ 1507613 w 1573161"/>
              <a:gd name="connsiteY0" fmla="*/ 0 h 2569496"/>
              <a:gd name="connsiteX1" fmla="*/ 1573161 w 1573161"/>
              <a:gd name="connsiteY1" fmla="*/ 0 h 2569496"/>
              <a:gd name="connsiteX2" fmla="*/ 1573161 w 1573161"/>
              <a:gd name="connsiteY2" fmla="*/ 2569497 h 2569496"/>
              <a:gd name="connsiteX3" fmla="*/ 1507613 w 1573161"/>
              <a:gd name="connsiteY3" fmla="*/ 2569497 h 2569496"/>
              <a:gd name="connsiteX4" fmla="*/ 65548 w 1573161"/>
              <a:gd name="connsiteY4" fmla="*/ 2569497 h 2569496"/>
              <a:gd name="connsiteX5" fmla="*/ 0 w 1573161"/>
              <a:gd name="connsiteY5" fmla="*/ 2569497 h 2569496"/>
              <a:gd name="connsiteX6" fmla="*/ 0 w 1573161"/>
              <a:gd name="connsiteY6" fmla="*/ 0 h 2569496"/>
              <a:gd name="connsiteX7" fmla="*/ 65548 w 1573161"/>
              <a:gd name="connsiteY7" fmla="*/ 0 h 256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2569496">
                <a:moveTo>
                  <a:pt x="1507613" y="0"/>
                </a:moveTo>
                <a:cubicBezTo>
                  <a:pt x="1543814" y="0"/>
                  <a:pt x="1573161" y="0"/>
                  <a:pt x="1573161" y="0"/>
                </a:cubicBezTo>
                <a:lnTo>
                  <a:pt x="1573161" y="2569497"/>
                </a:lnTo>
                <a:cubicBezTo>
                  <a:pt x="1573161" y="2569497"/>
                  <a:pt x="1543814" y="2569497"/>
                  <a:pt x="1507613" y="2569497"/>
                </a:cubicBezTo>
                <a:lnTo>
                  <a:pt x="65548" y="2569497"/>
                </a:lnTo>
                <a:cubicBezTo>
                  <a:pt x="29347" y="2569497"/>
                  <a:pt x="0" y="2569497"/>
                  <a:pt x="0" y="2569497"/>
                </a:cubicBezTo>
                <a:lnTo>
                  <a:pt x="0" y="0"/>
                </a:lnTo>
                <a:cubicBezTo>
                  <a:pt x="0" y="0"/>
                  <a:pt x="29347" y="0"/>
                  <a:pt x="65548" y="0"/>
                </a:cubicBezTo>
                <a:close/>
              </a:path>
            </a:pathLst>
          </a:custGeom>
          <a:solidFill>
            <a:srgbClr val="FFFFFF"/>
          </a:solidFill>
          <a:ln w="7866" cap="flat">
            <a:solidFill>
              <a:srgbClr val="4527A0"/>
            </a:solidFill>
            <a:prstDash val="solid"/>
            <a:miter/>
          </a:ln>
        </p:spPr>
        <p:txBody>
          <a:bodyPr rtlCol="0" anchor="ctr"/>
          <a:lstStyle/>
          <a:p>
            <a:endParaRPr lang="zh-CN" altLang="en-US" dirty="0"/>
          </a:p>
        </p:txBody>
      </p:sp>
      <p:sp>
        <p:nvSpPr>
          <p:cNvPr id="1351" name="任意形状 1350"/>
          <p:cNvSpPr/>
          <p:nvPr/>
        </p:nvSpPr>
        <p:spPr>
          <a:xfrm>
            <a:off x="10422193" y="1233128"/>
            <a:ext cx="1573161" cy="170425"/>
          </a:xfrm>
          <a:custGeom>
            <a:avLst/>
            <a:gdLst>
              <a:gd name="connsiteX0" fmla="*/ 1507613 w 1573161"/>
              <a:gd name="connsiteY0" fmla="*/ 0 h 170425"/>
              <a:gd name="connsiteX1" fmla="*/ 1573161 w 1573161"/>
              <a:gd name="connsiteY1" fmla="*/ 0 h 170425"/>
              <a:gd name="connsiteX2" fmla="*/ 1573161 w 1573161"/>
              <a:gd name="connsiteY2" fmla="*/ 170426 h 170425"/>
              <a:gd name="connsiteX3" fmla="*/ 1507613 w 1573161"/>
              <a:gd name="connsiteY3" fmla="*/ 170426 h 170425"/>
              <a:gd name="connsiteX4" fmla="*/ 65548 w 1573161"/>
              <a:gd name="connsiteY4" fmla="*/ 170426 h 170425"/>
              <a:gd name="connsiteX5" fmla="*/ 0 w 1573161"/>
              <a:gd name="connsiteY5" fmla="*/ 170426 h 170425"/>
              <a:gd name="connsiteX6" fmla="*/ 0 w 1573161"/>
              <a:gd name="connsiteY6" fmla="*/ 0 h 170425"/>
              <a:gd name="connsiteX7" fmla="*/ 65548 w 1573161"/>
              <a:gd name="connsiteY7" fmla="*/ 0 h 17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70425">
                <a:moveTo>
                  <a:pt x="1507613" y="0"/>
                </a:moveTo>
                <a:cubicBezTo>
                  <a:pt x="1543814" y="0"/>
                  <a:pt x="1573161" y="0"/>
                  <a:pt x="1573161" y="0"/>
                </a:cubicBezTo>
                <a:lnTo>
                  <a:pt x="1573161" y="170426"/>
                </a:lnTo>
                <a:cubicBezTo>
                  <a:pt x="1573161" y="170426"/>
                  <a:pt x="1543814" y="170426"/>
                  <a:pt x="1507613" y="170426"/>
                </a:cubicBezTo>
                <a:lnTo>
                  <a:pt x="65548" y="170426"/>
                </a:lnTo>
                <a:cubicBezTo>
                  <a:pt x="29347" y="170426"/>
                  <a:pt x="0" y="170426"/>
                  <a:pt x="0" y="170426"/>
                </a:cubicBezTo>
                <a:lnTo>
                  <a:pt x="0" y="0"/>
                </a:lnTo>
                <a:cubicBezTo>
                  <a:pt x="0" y="0"/>
                  <a:pt x="29347" y="0"/>
                  <a:pt x="65548" y="0"/>
                </a:cubicBezTo>
                <a:close/>
              </a:path>
            </a:pathLst>
          </a:custGeom>
          <a:solidFill>
            <a:srgbClr val="4527A0"/>
          </a:solidFill>
          <a:ln w="6555" cap="flat">
            <a:noFill/>
            <a:prstDash val="solid"/>
            <a:miter/>
          </a:ln>
        </p:spPr>
        <p:txBody>
          <a:bodyPr rtlCol="0" anchor="ctr"/>
          <a:lstStyle/>
          <a:p>
            <a:endParaRPr lang="zh-CN" altLang="en-US"/>
          </a:p>
        </p:txBody>
      </p:sp>
      <p:sp>
        <p:nvSpPr>
          <p:cNvPr id="1352" name="任意形状 1351"/>
          <p:cNvSpPr/>
          <p:nvPr/>
        </p:nvSpPr>
        <p:spPr>
          <a:xfrm>
            <a:off x="10422193" y="1364225"/>
            <a:ext cx="1573161" cy="39329"/>
          </a:xfrm>
          <a:custGeom>
            <a:avLst/>
            <a:gdLst>
              <a:gd name="connsiteX0" fmla="*/ 0 w 1573161"/>
              <a:gd name="connsiteY0" fmla="*/ 0 h 39329"/>
              <a:gd name="connsiteX1" fmla="*/ 1573161 w 1573161"/>
              <a:gd name="connsiteY1" fmla="*/ 0 h 39329"/>
              <a:gd name="connsiteX2" fmla="*/ 1573161 w 1573161"/>
              <a:gd name="connsiteY2" fmla="*/ 39329 h 39329"/>
              <a:gd name="connsiteX3" fmla="*/ 0 w 1573161"/>
              <a:gd name="connsiteY3" fmla="*/ 39329 h 39329"/>
            </a:gdLst>
            <a:ahLst/>
            <a:cxnLst>
              <a:cxn ang="0">
                <a:pos x="connsiteX0" y="connsiteY0"/>
              </a:cxn>
              <a:cxn ang="0">
                <a:pos x="connsiteX1" y="connsiteY1"/>
              </a:cxn>
              <a:cxn ang="0">
                <a:pos x="connsiteX2" y="connsiteY2"/>
              </a:cxn>
              <a:cxn ang="0">
                <a:pos x="connsiteX3" y="connsiteY3"/>
              </a:cxn>
            </a:cxnLst>
            <a:rect l="l" t="t" r="r" b="b"/>
            <a:pathLst>
              <a:path w="1573161" h="39329">
                <a:moveTo>
                  <a:pt x="0" y="0"/>
                </a:moveTo>
                <a:lnTo>
                  <a:pt x="1573161" y="0"/>
                </a:lnTo>
                <a:lnTo>
                  <a:pt x="1573161" y="39329"/>
                </a:lnTo>
                <a:lnTo>
                  <a:pt x="0" y="39329"/>
                </a:lnTo>
                <a:close/>
              </a:path>
            </a:pathLst>
          </a:custGeom>
          <a:solidFill>
            <a:srgbClr val="4527A0"/>
          </a:solidFill>
          <a:ln w="6555" cap="flat">
            <a:noFill/>
            <a:prstDash val="solid"/>
            <a:miter/>
          </a:ln>
        </p:spPr>
        <p:txBody>
          <a:bodyPr rtlCol="0" anchor="ctr"/>
          <a:lstStyle/>
          <a:p>
            <a:endParaRPr lang="zh-CN" altLang="en-US"/>
          </a:p>
        </p:txBody>
      </p:sp>
      <p:sp>
        <p:nvSpPr>
          <p:cNvPr id="1353" name="文本框 1352"/>
          <p:cNvSpPr txBox="1"/>
          <p:nvPr/>
        </p:nvSpPr>
        <p:spPr>
          <a:xfrm>
            <a:off x="10366966" y="1210288"/>
            <a:ext cx="1677062" cy="219291"/>
          </a:xfrm>
          <a:prstGeom prst="rect">
            <a:avLst/>
          </a:prstGeom>
          <a:noFill/>
        </p:spPr>
        <p:txBody>
          <a:bodyPr wrap="none" rtlCol="0">
            <a:spAutoFit/>
          </a:bodyPr>
          <a:lstStyle/>
          <a:p>
            <a:pPr algn="ctr"/>
            <a:r>
              <a:rPr lang="zh-CN" altLang="en-US" sz="825" b="1" spc="0" baseline="0" dirty="0">
                <a:solidFill>
                  <a:srgbClr val="FFFFFF"/>
                </a:solidFill>
                <a:latin typeface="Segoe UI"/>
                <a:cs typeface="Segoe UI"/>
                <a:sym typeface="Segoe UI"/>
                <a:rtl val="0"/>
              </a:rPr>
              <a:t>Policy Implications &amp; Outlook</a:t>
            </a:r>
          </a:p>
        </p:txBody>
      </p:sp>
      <p:sp>
        <p:nvSpPr>
          <p:cNvPr id="1354" name="文本框 1353"/>
          <p:cNvSpPr txBox="1"/>
          <p:nvPr/>
        </p:nvSpPr>
        <p:spPr>
          <a:xfrm>
            <a:off x="10425574" y="1416828"/>
            <a:ext cx="1205779" cy="196208"/>
          </a:xfrm>
          <a:prstGeom prst="rect">
            <a:avLst/>
          </a:prstGeom>
          <a:noFill/>
        </p:spPr>
        <p:txBody>
          <a:bodyPr wrap="none" rtlCol="0">
            <a:spAutoFit/>
          </a:bodyPr>
          <a:lstStyle/>
          <a:p>
            <a:pPr algn="ctr"/>
            <a:r>
              <a:rPr lang="zh-CN" altLang="en-US" sz="675" b="1" spc="0" baseline="0" dirty="0">
                <a:solidFill>
                  <a:srgbClr val="4527A0"/>
                </a:solidFill>
                <a:latin typeface="Segoe UI"/>
                <a:cs typeface="Segoe UI"/>
                <a:sym typeface="Segoe UI"/>
                <a:rtl val="0"/>
              </a:rPr>
              <a:t>Policy Recommendations</a:t>
            </a:r>
          </a:p>
        </p:txBody>
      </p:sp>
      <p:sp>
        <p:nvSpPr>
          <p:cNvPr id="1355" name="文本框 1354"/>
          <p:cNvSpPr txBox="1"/>
          <p:nvPr/>
        </p:nvSpPr>
        <p:spPr>
          <a:xfrm>
            <a:off x="10461850" y="1547925"/>
            <a:ext cx="1619354" cy="184666"/>
          </a:xfrm>
          <a:prstGeom prst="rect">
            <a:avLst/>
          </a:prstGeom>
          <a:noFill/>
        </p:spPr>
        <p:txBody>
          <a:bodyPr wrap="none" rtlCol="0">
            <a:spAutoFit/>
          </a:bodyPr>
          <a:lstStyle/>
          <a:p>
            <a:pPr algn="l"/>
            <a:r>
              <a:rPr lang="zh-CN" altLang="en-US" sz="600" spc="0" baseline="0" dirty="0">
                <a:solidFill>
                  <a:srgbClr val="333333"/>
                </a:solidFill>
                <a:latin typeface="Cambria Math"/>
                <a:sym typeface="Cambria Math"/>
                <a:rtl val="0"/>
              </a:rPr>
              <a:t>❶</a:t>
            </a:r>
            <a:r>
              <a:rPr lang="zh-CN" altLang="en-US" sz="600" spc="0" baseline="0" dirty="0">
                <a:solidFill>
                  <a:srgbClr val="333333"/>
                </a:solidFill>
                <a:latin typeface="Arial" panose="020B0604020202090204"/>
                <a:cs typeface="Arial" panose="020B0604020202090204"/>
                <a:sym typeface="Arial" panose="020B0604020202090204"/>
                <a:rtl val="0"/>
              </a:rPr>
              <a:t> Subway emergency operation protocol</a:t>
            </a:r>
          </a:p>
        </p:txBody>
      </p:sp>
      <p:sp>
        <p:nvSpPr>
          <p:cNvPr id="1356" name="文本框 1355"/>
          <p:cNvSpPr txBox="1"/>
          <p:nvPr/>
        </p:nvSpPr>
        <p:spPr>
          <a:xfrm>
            <a:off x="10514289" y="1626583"/>
            <a:ext cx="844918" cy="137323"/>
          </a:xfrm>
          <a:prstGeom prst="rect">
            <a:avLst/>
          </a:prstGeom>
          <a:noFill/>
        </p:spPr>
        <p:txBody>
          <a:bodyPr wrap="none" rtlCol="0">
            <a:spAutoFit/>
          </a:bodyPr>
          <a:lstStyle/>
          <a:p>
            <a:pPr algn="l"/>
            <a:r>
              <a:rPr lang="zh-CN" altLang="en-US" sz="525" spc="0" baseline="0">
                <a:solidFill>
                  <a:srgbClr val="666666"/>
                </a:solidFill>
                <a:latin typeface="Arial" panose="020B0604020202090204"/>
                <a:cs typeface="Arial" panose="020B0604020202090204"/>
                <a:sym typeface="Arial" panose="020B0604020202090204"/>
                <a:rtl val="0"/>
              </a:rPr>
              <a:t>(contributes 69% evac. capacity)</a:t>
            </a:r>
          </a:p>
        </p:txBody>
      </p:sp>
      <p:sp>
        <p:nvSpPr>
          <p:cNvPr id="1357" name="文本框 1356"/>
          <p:cNvSpPr txBox="1"/>
          <p:nvPr/>
        </p:nvSpPr>
        <p:spPr>
          <a:xfrm>
            <a:off x="10461850" y="1754036"/>
            <a:ext cx="1269899" cy="184666"/>
          </a:xfrm>
          <a:prstGeom prst="rect">
            <a:avLst/>
          </a:prstGeom>
          <a:noFill/>
        </p:spPr>
        <p:txBody>
          <a:bodyPr wrap="none" rtlCol="0">
            <a:spAutoFit/>
          </a:bodyPr>
          <a:lstStyle/>
          <a:p>
            <a:pPr algn="l"/>
            <a:r>
              <a:rPr lang="zh-CN" altLang="en-US" sz="600" spc="0" baseline="0" dirty="0">
                <a:solidFill>
                  <a:srgbClr val="333333"/>
                </a:solidFill>
                <a:latin typeface="Cambria Math"/>
                <a:sym typeface="Cambria Math"/>
                <a:rtl val="0"/>
              </a:rPr>
              <a:t>❷</a:t>
            </a:r>
            <a:r>
              <a:rPr lang="zh-CN" altLang="en-US" sz="600" spc="0" baseline="0" dirty="0">
                <a:solidFill>
                  <a:srgbClr val="333333"/>
                </a:solidFill>
                <a:latin typeface="Arial" panose="020B0604020202090204"/>
                <a:cs typeface="Arial" panose="020B0604020202090204"/>
                <a:sym typeface="Arial" panose="020B0604020202090204"/>
                <a:rtl val="0"/>
              </a:rPr>
              <a:t> Layered evacuation strategy</a:t>
            </a:r>
          </a:p>
        </p:txBody>
      </p:sp>
      <p:sp>
        <p:nvSpPr>
          <p:cNvPr id="1358" name="文本框 1357"/>
          <p:cNvSpPr txBox="1"/>
          <p:nvPr/>
        </p:nvSpPr>
        <p:spPr>
          <a:xfrm>
            <a:off x="10514289" y="1832694"/>
            <a:ext cx="1067783" cy="137323"/>
          </a:xfrm>
          <a:prstGeom prst="rect">
            <a:avLst/>
          </a:prstGeom>
          <a:noFill/>
        </p:spPr>
        <p:txBody>
          <a:bodyPr wrap="none" rtlCol="0">
            <a:spAutoFit/>
          </a:bodyPr>
          <a:lstStyle/>
          <a:p>
            <a:pPr algn="l"/>
            <a:r>
              <a:rPr lang="zh-CN" altLang="en-US" sz="525" spc="0" baseline="0" dirty="0">
                <a:solidFill>
                  <a:srgbClr val="666666"/>
                </a:solidFill>
                <a:latin typeface="Arial" panose="020B0604020202090204"/>
                <a:cs typeface="Arial" panose="020B0604020202090204"/>
                <a:sym typeface="Arial" panose="020B0604020202090204"/>
                <a:rtl val="0"/>
              </a:rPr>
              <a:t>(1km forced evac. + 1-3km shelter-in-place)</a:t>
            </a:r>
          </a:p>
        </p:txBody>
      </p:sp>
      <p:sp>
        <p:nvSpPr>
          <p:cNvPr id="1359" name="文本框 1358"/>
          <p:cNvSpPr txBox="1"/>
          <p:nvPr/>
        </p:nvSpPr>
        <p:spPr>
          <a:xfrm>
            <a:off x="10461851" y="1960148"/>
            <a:ext cx="1533504" cy="276999"/>
          </a:xfrm>
          <a:prstGeom prst="rect">
            <a:avLst/>
          </a:prstGeom>
          <a:noFill/>
        </p:spPr>
        <p:txBody>
          <a:bodyPr wrap="square" rtlCol="0">
            <a:spAutoFit/>
          </a:bodyPr>
          <a:lstStyle/>
          <a:p>
            <a:pPr algn="l"/>
            <a:r>
              <a:rPr lang="zh-CN" altLang="en-US" sz="600" spc="0" baseline="0" dirty="0">
                <a:solidFill>
                  <a:srgbClr val="333333"/>
                </a:solidFill>
                <a:latin typeface="Cambria Math"/>
                <a:sym typeface="Cambria Math"/>
                <a:rtl val="0"/>
              </a:rPr>
              <a:t>❸</a:t>
            </a:r>
            <a:r>
              <a:rPr lang="zh-CN" altLang="en-US" sz="600" spc="0" baseline="0" dirty="0">
                <a:solidFill>
                  <a:srgbClr val="333333"/>
                </a:solidFill>
                <a:latin typeface="Arial" panose="020B0604020202090204"/>
                <a:cs typeface="Arial" panose="020B0604020202090204"/>
                <a:sym typeface="Arial" panose="020B0604020202090204"/>
                <a:rtl val="0"/>
              </a:rPr>
              <a:t> Pre-position helicopters at high-risk corridors</a:t>
            </a:r>
          </a:p>
        </p:txBody>
      </p:sp>
      <p:sp>
        <p:nvSpPr>
          <p:cNvPr id="1360" name="文本框 1359"/>
          <p:cNvSpPr txBox="1"/>
          <p:nvPr/>
        </p:nvSpPr>
        <p:spPr>
          <a:xfrm>
            <a:off x="10514289" y="2127925"/>
            <a:ext cx="772815" cy="137323"/>
          </a:xfrm>
          <a:prstGeom prst="rect">
            <a:avLst/>
          </a:prstGeom>
          <a:noFill/>
        </p:spPr>
        <p:txBody>
          <a:bodyPr wrap="none" rtlCol="0">
            <a:spAutoFit/>
          </a:bodyPr>
          <a:lstStyle/>
          <a:p>
            <a:pPr algn="l"/>
            <a:r>
              <a:rPr lang="zh-CN" altLang="en-US" sz="525" spc="0" baseline="0" dirty="0">
                <a:solidFill>
                  <a:srgbClr val="666666"/>
                </a:solidFill>
                <a:latin typeface="Arial" panose="020B0604020202090204"/>
                <a:cs typeface="Arial" panose="020B0604020202090204"/>
                <a:sym typeface="Arial" panose="020B0604020202090204"/>
                <a:rtl val="0"/>
              </a:rPr>
              <a:t>(rapid critical patient transfer)</a:t>
            </a:r>
          </a:p>
        </p:txBody>
      </p:sp>
      <p:sp>
        <p:nvSpPr>
          <p:cNvPr id="1361" name="文本框 1360"/>
          <p:cNvSpPr txBox="1"/>
          <p:nvPr/>
        </p:nvSpPr>
        <p:spPr>
          <a:xfrm>
            <a:off x="10461850" y="2255378"/>
            <a:ext cx="1236236" cy="184666"/>
          </a:xfrm>
          <a:prstGeom prst="rect">
            <a:avLst/>
          </a:prstGeom>
          <a:noFill/>
        </p:spPr>
        <p:txBody>
          <a:bodyPr wrap="none" rtlCol="0">
            <a:spAutoFit/>
          </a:bodyPr>
          <a:lstStyle/>
          <a:p>
            <a:pPr algn="l"/>
            <a:r>
              <a:rPr lang="zh-CN" altLang="en-US" sz="600" spc="0" baseline="0" dirty="0">
                <a:solidFill>
                  <a:srgbClr val="333333"/>
                </a:solidFill>
                <a:latin typeface="Cambria Math"/>
                <a:sym typeface="Cambria Math"/>
                <a:rtl val="0"/>
              </a:rPr>
              <a:t>❹</a:t>
            </a:r>
            <a:r>
              <a:rPr lang="zh-CN" altLang="en-US" sz="600" spc="0" baseline="0" dirty="0">
                <a:solidFill>
                  <a:srgbClr val="333333"/>
                </a:solidFill>
                <a:latin typeface="Arial" panose="020B0604020202090204"/>
                <a:cs typeface="Arial" panose="020B0604020202090204"/>
                <a:sym typeface="Arial" panose="020B0604020202090204"/>
                <a:rtl val="0"/>
              </a:rPr>
              <a:t> Invest in UAV infrastructure</a:t>
            </a:r>
          </a:p>
        </p:txBody>
      </p:sp>
      <p:sp>
        <p:nvSpPr>
          <p:cNvPr id="1362" name="文本框 1361"/>
          <p:cNvSpPr txBox="1"/>
          <p:nvPr/>
        </p:nvSpPr>
        <p:spPr>
          <a:xfrm>
            <a:off x="10514289" y="2334036"/>
            <a:ext cx="1021899" cy="137323"/>
          </a:xfrm>
          <a:prstGeom prst="rect">
            <a:avLst/>
          </a:prstGeom>
          <a:noFill/>
        </p:spPr>
        <p:txBody>
          <a:bodyPr wrap="none" rtlCol="0">
            <a:spAutoFit/>
          </a:bodyPr>
          <a:lstStyle/>
          <a:p>
            <a:pPr algn="l"/>
            <a:r>
              <a:rPr lang="zh-CN" altLang="en-US" sz="525" spc="0" baseline="0">
                <a:solidFill>
                  <a:srgbClr val="666666"/>
                </a:solidFill>
                <a:latin typeface="Arial" panose="020B0604020202090204"/>
                <a:cs typeface="Arial" panose="020B0604020202090204"/>
                <a:sym typeface="Arial" panose="020B0604020202090204"/>
                <a:rtl val="0"/>
              </a:rPr>
              <a:t>(advantage grows with larger disruptions)</a:t>
            </a:r>
          </a:p>
        </p:txBody>
      </p:sp>
      <p:sp>
        <p:nvSpPr>
          <p:cNvPr id="1363" name="文本框 1362"/>
          <p:cNvSpPr txBox="1"/>
          <p:nvPr/>
        </p:nvSpPr>
        <p:spPr>
          <a:xfrm>
            <a:off x="10461850" y="2461490"/>
            <a:ext cx="1489510" cy="184666"/>
          </a:xfrm>
          <a:prstGeom prst="rect">
            <a:avLst/>
          </a:prstGeom>
          <a:noFill/>
        </p:spPr>
        <p:txBody>
          <a:bodyPr wrap="none" rtlCol="0">
            <a:spAutoFit/>
          </a:bodyPr>
          <a:lstStyle/>
          <a:p>
            <a:pPr algn="l"/>
            <a:r>
              <a:rPr lang="zh-CN" altLang="en-US" sz="600" spc="0" baseline="0" dirty="0">
                <a:solidFill>
                  <a:srgbClr val="333333"/>
                </a:solidFill>
                <a:latin typeface="Cambria Math"/>
                <a:sym typeface="Cambria Math"/>
                <a:rtl val="0"/>
              </a:rPr>
              <a:t>❺</a:t>
            </a:r>
            <a:r>
              <a:rPr lang="zh-CN" altLang="en-US" sz="600" spc="0" baseline="0" dirty="0">
                <a:solidFill>
                  <a:srgbClr val="333333"/>
                </a:solidFill>
                <a:latin typeface="Arial" panose="020B0604020202090204"/>
                <a:cs typeface="Arial" panose="020B0604020202090204"/>
                <a:sym typeface="Arial" panose="020B0604020202090204"/>
                <a:rtl val="0"/>
              </a:rPr>
              <a:t> Integrate real-time wind monitoring</a:t>
            </a:r>
          </a:p>
        </p:txBody>
      </p:sp>
      <p:sp>
        <p:nvSpPr>
          <p:cNvPr id="1364" name="文本框 1363"/>
          <p:cNvSpPr txBox="1"/>
          <p:nvPr/>
        </p:nvSpPr>
        <p:spPr>
          <a:xfrm>
            <a:off x="10514289" y="2540148"/>
            <a:ext cx="825254" cy="137323"/>
          </a:xfrm>
          <a:prstGeom prst="rect">
            <a:avLst/>
          </a:prstGeom>
          <a:noFill/>
        </p:spPr>
        <p:txBody>
          <a:bodyPr wrap="none" rtlCol="0">
            <a:spAutoFit/>
          </a:bodyPr>
          <a:lstStyle/>
          <a:p>
            <a:pPr algn="l"/>
            <a:r>
              <a:rPr lang="zh-CN" altLang="en-US" sz="525" spc="0" baseline="0">
                <a:solidFill>
                  <a:srgbClr val="666666"/>
                </a:solidFill>
                <a:latin typeface="Arial" panose="020B0604020202090204"/>
                <a:cs typeface="Arial" panose="020B0604020202090204"/>
                <a:sym typeface="Arial" panose="020B0604020202090204"/>
                <a:rtl val="0"/>
              </a:rPr>
              <a:t>(dynamic hazard zone updates)</a:t>
            </a:r>
          </a:p>
        </p:txBody>
      </p:sp>
      <p:sp>
        <p:nvSpPr>
          <p:cNvPr id="1365" name="任意形状 1364"/>
          <p:cNvSpPr/>
          <p:nvPr/>
        </p:nvSpPr>
        <p:spPr>
          <a:xfrm>
            <a:off x="10553290" y="2695073"/>
            <a:ext cx="1310967" cy="6554"/>
          </a:xfrm>
          <a:custGeom>
            <a:avLst/>
            <a:gdLst>
              <a:gd name="connsiteX0" fmla="*/ 0 w 1310967"/>
              <a:gd name="connsiteY0" fmla="*/ 0 h 6554"/>
              <a:gd name="connsiteX1" fmla="*/ 1310968 w 1310967"/>
              <a:gd name="connsiteY1" fmla="*/ 0 h 6554"/>
            </a:gdLst>
            <a:ahLst/>
            <a:cxnLst>
              <a:cxn ang="0">
                <a:pos x="connsiteX0" y="connsiteY0"/>
              </a:cxn>
              <a:cxn ang="0">
                <a:pos x="connsiteX1" y="connsiteY1"/>
              </a:cxn>
            </a:cxnLst>
            <a:rect l="l" t="t" r="r" b="b"/>
            <a:pathLst>
              <a:path w="1310967" h="6554">
                <a:moveTo>
                  <a:pt x="0" y="0"/>
                </a:moveTo>
                <a:lnTo>
                  <a:pt x="1310968" y="0"/>
                </a:lnTo>
              </a:path>
            </a:pathLst>
          </a:custGeom>
          <a:ln w="3277" cap="flat">
            <a:solidFill>
              <a:srgbClr val="D1C4E9"/>
            </a:solidFill>
            <a:prstDash val="solid"/>
            <a:miter/>
          </a:ln>
        </p:spPr>
        <p:txBody>
          <a:bodyPr rtlCol="0" anchor="ctr"/>
          <a:lstStyle/>
          <a:p>
            <a:endParaRPr lang="zh-CN" altLang="en-US"/>
          </a:p>
        </p:txBody>
      </p:sp>
      <p:sp>
        <p:nvSpPr>
          <p:cNvPr id="1366" name="文本框 1365"/>
          <p:cNvSpPr txBox="1"/>
          <p:nvPr/>
        </p:nvSpPr>
        <p:spPr>
          <a:xfrm>
            <a:off x="10418217" y="2713580"/>
            <a:ext cx="638316" cy="196208"/>
          </a:xfrm>
          <a:prstGeom prst="rect">
            <a:avLst/>
          </a:prstGeom>
          <a:noFill/>
        </p:spPr>
        <p:txBody>
          <a:bodyPr wrap="none" rtlCol="0">
            <a:spAutoFit/>
          </a:bodyPr>
          <a:lstStyle/>
          <a:p>
            <a:pPr algn="ctr"/>
            <a:r>
              <a:rPr lang="zh-CN" altLang="en-US" sz="675" b="1" spc="0" baseline="0" dirty="0">
                <a:solidFill>
                  <a:srgbClr val="4527A0"/>
                </a:solidFill>
                <a:latin typeface="Segoe UI"/>
                <a:cs typeface="Segoe UI"/>
                <a:sym typeface="Segoe UI"/>
                <a:rtl val="0"/>
              </a:rPr>
              <a:t>Limitations</a:t>
            </a:r>
          </a:p>
        </p:txBody>
      </p:sp>
      <p:sp>
        <p:nvSpPr>
          <p:cNvPr id="1367" name="文本框 1366"/>
          <p:cNvSpPr txBox="1"/>
          <p:nvPr/>
        </p:nvSpPr>
        <p:spPr>
          <a:xfrm>
            <a:off x="10461851" y="2867253"/>
            <a:ext cx="1533504" cy="767711"/>
          </a:xfrm>
          <a:prstGeom prst="rect">
            <a:avLst/>
          </a:prstGeom>
          <a:noFill/>
        </p:spPr>
        <p:txBody>
          <a:bodyPr wrap="square" rtlCol="0">
            <a:spAutoFit/>
          </a:bodyPr>
          <a:lstStyle/>
          <a:p>
            <a:pPr algn="l">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Greedy heuristic: no global optimality</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Uniform age structure at district level</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Static Gaussian plume (not CFD)</a:t>
            </a: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BPR static congestion (no DTA feedback)</a:t>
            </a:r>
          </a:p>
        </p:txBody>
      </p:sp>
      <p:sp>
        <p:nvSpPr>
          <p:cNvPr id="1371" name="任意形状 1370"/>
          <p:cNvSpPr/>
          <p:nvPr/>
        </p:nvSpPr>
        <p:spPr>
          <a:xfrm>
            <a:off x="10553290" y="3663095"/>
            <a:ext cx="1310967" cy="6554"/>
          </a:xfrm>
          <a:custGeom>
            <a:avLst/>
            <a:gdLst>
              <a:gd name="connsiteX0" fmla="*/ 0 w 1310967"/>
              <a:gd name="connsiteY0" fmla="*/ 0 h 6554"/>
              <a:gd name="connsiteX1" fmla="*/ 1310968 w 1310967"/>
              <a:gd name="connsiteY1" fmla="*/ 0 h 6554"/>
            </a:gdLst>
            <a:ahLst/>
            <a:cxnLst>
              <a:cxn ang="0">
                <a:pos x="connsiteX0" y="connsiteY0"/>
              </a:cxn>
              <a:cxn ang="0">
                <a:pos x="connsiteX1" y="connsiteY1"/>
              </a:cxn>
            </a:cxnLst>
            <a:rect l="l" t="t" r="r" b="b"/>
            <a:pathLst>
              <a:path w="1310967" h="6554">
                <a:moveTo>
                  <a:pt x="0" y="0"/>
                </a:moveTo>
                <a:lnTo>
                  <a:pt x="1310968" y="0"/>
                </a:lnTo>
              </a:path>
            </a:pathLst>
          </a:custGeom>
          <a:ln w="3277" cap="flat">
            <a:solidFill>
              <a:srgbClr val="D1C4E9"/>
            </a:solidFill>
            <a:prstDash val="solid"/>
            <a:miter/>
          </a:ln>
        </p:spPr>
        <p:txBody>
          <a:bodyPr rtlCol="0" anchor="ctr"/>
          <a:lstStyle/>
          <a:p>
            <a:endParaRPr lang="zh-CN" altLang="en-US"/>
          </a:p>
        </p:txBody>
      </p:sp>
      <p:sp>
        <p:nvSpPr>
          <p:cNvPr id="1372" name="文本框 1371"/>
          <p:cNvSpPr txBox="1"/>
          <p:nvPr/>
        </p:nvSpPr>
        <p:spPr>
          <a:xfrm>
            <a:off x="10428858" y="3749355"/>
            <a:ext cx="885179" cy="196208"/>
          </a:xfrm>
          <a:prstGeom prst="rect">
            <a:avLst/>
          </a:prstGeom>
          <a:noFill/>
        </p:spPr>
        <p:txBody>
          <a:bodyPr wrap="none" rtlCol="0">
            <a:spAutoFit/>
          </a:bodyPr>
          <a:lstStyle/>
          <a:p>
            <a:pPr algn="ctr"/>
            <a:r>
              <a:rPr lang="zh-CN" altLang="en-US" sz="675" b="1" spc="0" baseline="0" dirty="0">
                <a:solidFill>
                  <a:srgbClr val="4527A0"/>
                </a:solidFill>
                <a:latin typeface="Segoe UI"/>
                <a:cs typeface="Segoe UI"/>
                <a:sym typeface="Segoe UI"/>
                <a:rtl val="0"/>
              </a:rPr>
              <a:t>Future Directions</a:t>
            </a:r>
          </a:p>
        </p:txBody>
      </p:sp>
      <p:sp>
        <p:nvSpPr>
          <p:cNvPr id="1373" name="文本框 1372"/>
          <p:cNvSpPr txBox="1"/>
          <p:nvPr/>
        </p:nvSpPr>
        <p:spPr>
          <a:xfrm>
            <a:off x="10461851" y="3903028"/>
            <a:ext cx="1533504" cy="906210"/>
          </a:xfrm>
          <a:prstGeom prst="rect">
            <a:avLst/>
          </a:prstGeom>
          <a:noFill/>
        </p:spPr>
        <p:txBody>
          <a:bodyPr wrap="square" rtlCol="0">
            <a:spAutoFit/>
          </a:bodyPr>
          <a:lstStyle/>
          <a:p>
            <a:pPr algn="l">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MIP exact methods / ALNS metaheuristic</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CFD-coupled dispersion simulation</a:t>
            </a:r>
            <a:endParaRPr lang="en-US" altLang="zh-CN" sz="600" spc="0" baseline="0" dirty="0">
              <a:solidFill>
                <a:srgbClr val="333333"/>
              </a:solidFill>
              <a:latin typeface="Arial" panose="020B0604020202090204"/>
              <a:cs typeface="Arial" panose="020B0604020202090204"/>
              <a:sym typeface="Arial" panose="020B0604020202090204"/>
              <a:rtl val="0"/>
            </a:endParaRP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Meso/micro traffic simulation coupling</a:t>
            </a: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Building-level population model</a:t>
            </a:r>
          </a:p>
          <a:p>
            <a:pPr>
              <a:lnSpc>
                <a:spcPct val="150000"/>
              </a:lnSpc>
            </a:pPr>
            <a:r>
              <a:rPr lang="zh-CN" altLang="en-US" sz="600" spc="0" baseline="0" dirty="0">
                <a:solidFill>
                  <a:srgbClr val="333333"/>
                </a:solidFill>
                <a:latin typeface="Arial" panose="020B0604020202090204"/>
                <a:cs typeface="Arial" panose="020B0604020202090204"/>
                <a:sym typeface="Arial" panose="020B0604020202090204"/>
                <a:rtl val="0"/>
              </a:rPr>
              <a:t>• Calibration with real emergency plans</a:t>
            </a:r>
          </a:p>
        </p:txBody>
      </p:sp>
      <p:sp>
        <p:nvSpPr>
          <p:cNvPr id="1378" name="任意形状 1377"/>
          <p:cNvSpPr/>
          <p:nvPr/>
        </p:nvSpPr>
        <p:spPr>
          <a:xfrm>
            <a:off x="2523612" y="3066246"/>
            <a:ext cx="167897" cy="45719"/>
          </a:xfrm>
          <a:custGeom>
            <a:avLst/>
            <a:gdLst>
              <a:gd name="connsiteX0" fmla="*/ 0 w 150761"/>
              <a:gd name="connsiteY0" fmla="*/ 0 h 6554"/>
              <a:gd name="connsiteX1" fmla="*/ 150761 w 150761"/>
              <a:gd name="connsiteY1" fmla="*/ 0 h 6554"/>
            </a:gdLst>
            <a:ahLst/>
            <a:cxnLst>
              <a:cxn ang="0">
                <a:pos x="connsiteX0" y="connsiteY0"/>
              </a:cxn>
              <a:cxn ang="0">
                <a:pos x="connsiteX1" y="connsiteY1"/>
              </a:cxn>
            </a:cxnLst>
            <a:rect l="l" t="t" r="r" b="b"/>
            <a:pathLst>
              <a:path w="150761" h="6554">
                <a:moveTo>
                  <a:pt x="0" y="0"/>
                </a:moveTo>
                <a:lnTo>
                  <a:pt x="150761" y="0"/>
                </a:lnTo>
              </a:path>
            </a:pathLst>
          </a:custGeom>
          <a:ln w="9832" cap="flat">
            <a:solidFill>
              <a:srgbClr val="455A64"/>
            </a:solidFill>
            <a:prstDash val="solid"/>
            <a:miter/>
          </a:ln>
        </p:spPr>
        <p:txBody>
          <a:bodyPr rtlCol="0" anchor="ctr"/>
          <a:lstStyle/>
          <a:p>
            <a:endParaRPr lang="zh-CN" altLang="en-US"/>
          </a:p>
        </p:txBody>
      </p:sp>
      <p:sp>
        <p:nvSpPr>
          <p:cNvPr id="1379" name="任意形状 1378"/>
          <p:cNvSpPr/>
          <p:nvPr/>
        </p:nvSpPr>
        <p:spPr>
          <a:xfrm>
            <a:off x="4326193" y="1945224"/>
            <a:ext cx="266249" cy="132659"/>
          </a:xfrm>
          <a:custGeom>
            <a:avLst/>
            <a:gdLst>
              <a:gd name="connsiteX0" fmla="*/ 0 w 249083"/>
              <a:gd name="connsiteY0" fmla="*/ 131097 h 131096"/>
              <a:gd name="connsiteX1" fmla="*/ 163871 w 249083"/>
              <a:gd name="connsiteY1" fmla="*/ 131097 h 131096"/>
              <a:gd name="connsiteX2" fmla="*/ 163871 w 249083"/>
              <a:gd name="connsiteY2" fmla="*/ 0 h 131096"/>
              <a:gd name="connsiteX3" fmla="*/ 249084 w 249083"/>
              <a:gd name="connsiteY3" fmla="*/ 0 h 131096"/>
            </a:gdLst>
            <a:ahLst/>
            <a:cxnLst>
              <a:cxn ang="0">
                <a:pos x="connsiteX0" y="connsiteY0"/>
              </a:cxn>
              <a:cxn ang="0">
                <a:pos x="connsiteX1" y="connsiteY1"/>
              </a:cxn>
              <a:cxn ang="0">
                <a:pos x="connsiteX2" y="connsiteY2"/>
              </a:cxn>
              <a:cxn ang="0">
                <a:pos x="connsiteX3" y="connsiteY3"/>
              </a:cxn>
            </a:cxnLst>
            <a:rect l="l" t="t" r="r" b="b"/>
            <a:pathLst>
              <a:path w="249083" h="131096">
                <a:moveTo>
                  <a:pt x="0" y="131097"/>
                </a:moveTo>
                <a:lnTo>
                  <a:pt x="163871" y="131097"/>
                </a:lnTo>
                <a:lnTo>
                  <a:pt x="163871" y="0"/>
                </a:lnTo>
                <a:lnTo>
                  <a:pt x="249084" y="0"/>
                </a:lnTo>
              </a:path>
            </a:pathLst>
          </a:custGeom>
          <a:noFill/>
          <a:ln w="9832" cap="flat">
            <a:solidFill>
              <a:srgbClr val="2E7D32"/>
            </a:solidFill>
            <a:prstDash val="solid"/>
            <a:miter/>
          </a:ln>
        </p:spPr>
        <p:txBody>
          <a:bodyPr rtlCol="0" anchor="ctr"/>
          <a:lstStyle/>
          <a:p>
            <a:endParaRPr lang="zh-CN" altLang="en-US"/>
          </a:p>
        </p:txBody>
      </p:sp>
      <p:sp>
        <p:nvSpPr>
          <p:cNvPr id="1380" name="任意形状 1379"/>
          <p:cNvSpPr/>
          <p:nvPr/>
        </p:nvSpPr>
        <p:spPr>
          <a:xfrm>
            <a:off x="4326193" y="3297522"/>
            <a:ext cx="262193" cy="65929"/>
          </a:xfrm>
          <a:custGeom>
            <a:avLst/>
            <a:gdLst>
              <a:gd name="connsiteX0" fmla="*/ 0 w 249083"/>
              <a:gd name="connsiteY0" fmla="*/ 65548 h 65548"/>
              <a:gd name="connsiteX1" fmla="*/ 163871 w 249083"/>
              <a:gd name="connsiteY1" fmla="*/ 65548 h 65548"/>
              <a:gd name="connsiteX2" fmla="*/ 163871 w 249083"/>
              <a:gd name="connsiteY2" fmla="*/ 0 h 65548"/>
              <a:gd name="connsiteX3" fmla="*/ 249084 w 249083"/>
              <a:gd name="connsiteY3" fmla="*/ 0 h 65548"/>
            </a:gdLst>
            <a:ahLst/>
            <a:cxnLst>
              <a:cxn ang="0">
                <a:pos x="connsiteX0" y="connsiteY0"/>
              </a:cxn>
              <a:cxn ang="0">
                <a:pos x="connsiteX1" y="connsiteY1"/>
              </a:cxn>
              <a:cxn ang="0">
                <a:pos x="connsiteX2" y="connsiteY2"/>
              </a:cxn>
              <a:cxn ang="0">
                <a:pos x="connsiteX3" y="connsiteY3"/>
              </a:cxn>
            </a:cxnLst>
            <a:rect l="l" t="t" r="r" b="b"/>
            <a:pathLst>
              <a:path w="249083" h="65548">
                <a:moveTo>
                  <a:pt x="0" y="65548"/>
                </a:moveTo>
                <a:lnTo>
                  <a:pt x="163871" y="65548"/>
                </a:lnTo>
                <a:lnTo>
                  <a:pt x="163871" y="0"/>
                </a:lnTo>
                <a:lnTo>
                  <a:pt x="249084" y="0"/>
                </a:lnTo>
              </a:path>
            </a:pathLst>
          </a:custGeom>
          <a:noFill/>
          <a:ln w="9832" cap="flat">
            <a:solidFill>
              <a:srgbClr val="4527A0"/>
            </a:solidFill>
            <a:prstDash val="solid"/>
            <a:miter/>
          </a:ln>
        </p:spPr>
        <p:txBody>
          <a:bodyPr rtlCol="0" anchor="ctr"/>
          <a:lstStyle/>
          <a:p>
            <a:endParaRPr lang="zh-CN" altLang="en-US"/>
          </a:p>
        </p:txBody>
      </p:sp>
      <p:sp>
        <p:nvSpPr>
          <p:cNvPr id="1381" name="任意形状 1380"/>
          <p:cNvSpPr/>
          <p:nvPr/>
        </p:nvSpPr>
        <p:spPr>
          <a:xfrm>
            <a:off x="8337754" y="2052483"/>
            <a:ext cx="235974" cy="6554"/>
          </a:xfrm>
          <a:custGeom>
            <a:avLst/>
            <a:gdLst>
              <a:gd name="connsiteX0" fmla="*/ 0 w 235974"/>
              <a:gd name="connsiteY0" fmla="*/ 0 h 6554"/>
              <a:gd name="connsiteX1" fmla="*/ 235974 w 235974"/>
              <a:gd name="connsiteY1" fmla="*/ 0 h 6554"/>
            </a:gdLst>
            <a:ahLst/>
            <a:cxnLst>
              <a:cxn ang="0">
                <a:pos x="connsiteX0" y="connsiteY0"/>
              </a:cxn>
              <a:cxn ang="0">
                <a:pos x="connsiteX1" y="connsiteY1"/>
              </a:cxn>
            </a:cxnLst>
            <a:rect l="l" t="t" r="r" b="b"/>
            <a:pathLst>
              <a:path w="235974" h="6554">
                <a:moveTo>
                  <a:pt x="0" y="0"/>
                </a:moveTo>
                <a:lnTo>
                  <a:pt x="235974" y="0"/>
                </a:lnTo>
              </a:path>
            </a:pathLst>
          </a:custGeom>
          <a:ln w="9832" cap="flat">
            <a:solidFill>
              <a:srgbClr val="C62828"/>
            </a:solidFill>
            <a:prstDash val="solid"/>
            <a:miter/>
          </a:ln>
        </p:spPr>
        <p:txBody>
          <a:bodyPr rtlCol="0" anchor="ctr"/>
          <a:lstStyle/>
          <a:p>
            <a:endParaRPr lang="zh-CN" altLang="en-US"/>
          </a:p>
        </p:txBody>
      </p:sp>
      <p:sp>
        <p:nvSpPr>
          <p:cNvPr id="1382" name="任意形状 1381"/>
          <p:cNvSpPr/>
          <p:nvPr/>
        </p:nvSpPr>
        <p:spPr>
          <a:xfrm>
            <a:off x="8327268" y="3035709"/>
            <a:ext cx="273760" cy="327741"/>
          </a:xfrm>
          <a:custGeom>
            <a:avLst/>
            <a:gdLst>
              <a:gd name="connsiteX0" fmla="*/ 0 w 235974"/>
              <a:gd name="connsiteY0" fmla="*/ 327742 h 327741"/>
              <a:gd name="connsiteX1" fmla="*/ 117987 w 235974"/>
              <a:gd name="connsiteY1" fmla="*/ 327742 h 327741"/>
              <a:gd name="connsiteX2" fmla="*/ 117987 w 235974"/>
              <a:gd name="connsiteY2" fmla="*/ 0 h 327741"/>
              <a:gd name="connsiteX3" fmla="*/ 235974 w 235974"/>
              <a:gd name="connsiteY3" fmla="*/ 0 h 327741"/>
            </a:gdLst>
            <a:ahLst/>
            <a:cxnLst>
              <a:cxn ang="0">
                <a:pos x="connsiteX0" y="connsiteY0"/>
              </a:cxn>
              <a:cxn ang="0">
                <a:pos x="connsiteX1" y="connsiteY1"/>
              </a:cxn>
              <a:cxn ang="0">
                <a:pos x="connsiteX2" y="connsiteY2"/>
              </a:cxn>
              <a:cxn ang="0">
                <a:pos x="connsiteX3" y="connsiteY3"/>
              </a:cxn>
            </a:cxnLst>
            <a:rect l="l" t="t" r="r" b="b"/>
            <a:pathLst>
              <a:path w="235974" h="327741">
                <a:moveTo>
                  <a:pt x="0" y="327742"/>
                </a:moveTo>
                <a:lnTo>
                  <a:pt x="117987" y="327742"/>
                </a:lnTo>
                <a:lnTo>
                  <a:pt x="117987" y="0"/>
                </a:lnTo>
                <a:lnTo>
                  <a:pt x="235974" y="0"/>
                </a:lnTo>
              </a:path>
            </a:pathLst>
          </a:custGeom>
          <a:noFill/>
          <a:ln w="9832" cap="flat">
            <a:solidFill>
              <a:srgbClr val="C62828"/>
            </a:solidFill>
            <a:prstDash val="solid"/>
            <a:miter/>
          </a:ln>
        </p:spPr>
        <p:txBody>
          <a:bodyPr rtlCol="0" anchor="ctr"/>
          <a:lstStyle/>
          <a:p>
            <a:endParaRPr lang="zh-CN" altLang="en-US"/>
          </a:p>
        </p:txBody>
      </p:sp>
      <p:sp>
        <p:nvSpPr>
          <p:cNvPr id="1383" name="任意形状 1382"/>
          <p:cNvSpPr/>
          <p:nvPr/>
        </p:nvSpPr>
        <p:spPr>
          <a:xfrm>
            <a:off x="10173109" y="2707967"/>
            <a:ext cx="235974" cy="6554"/>
          </a:xfrm>
          <a:custGeom>
            <a:avLst/>
            <a:gdLst>
              <a:gd name="connsiteX0" fmla="*/ 0 w 235974"/>
              <a:gd name="connsiteY0" fmla="*/ 0 h 6554"/>
              <a:gd name="connsiteX1" fmla="*/ 235974 w 235974"/>
              <a:gd name="connsiteY1" fmla="*/ 0 h 6554"/>
            </a:gdLst>
            <a:ahLst/>
            <a:cxnLst>
              <a:cxn ang="0">
                <a:pos x="connsiteX0" y="connsiteY0"/>
              </a:cxn>
              <a:cxn ang="0">
                <a:pos x="connsiteX1" y="connsiteY1"/>
              </a:cxn>
            </a:cxnLst>
            <a:rect l="l" t="t" r="r" b="b"/>
            <a:pathLst>
              <a:path w="235974" h="6554">
                <a:moveTo>
                  <a:pt x="0" y="0"/>
                </a:moveTo>
                <a:lnTo>
                  <a:pt x="235974" y="0"/>
                </a:lnTo>
              </a:path>
            </a:pathLst>
          </a:custGeom>
          <a:ln w="9832" cap="flat">
            <a:solidFill>
              <a:srgbClr val="4527A0"/>
            </a:solidFill>
            <a:prstDash val="solid"/>
            <a:miter/>
          </a:ln>
        </p:spPr>
        <p:txBody>
          <a:bodyPr rtlCol="0" anchor="ctr"/>
          <a:lstStyle/>
          <a:p>
            <a:endParaRPr lang="zh-CN" altLang="en-US"/>
          </a:p>
        </p:txBody>
      </p:sp>
      <p:sp>
        <p:nvSpPr>
          <p:cNvPr id="1384" name="任意形状 1383"/>
          <p:cNvSpPr/>
          <p:nvPr/>
        </p:nvSpPr>
        <p:spPr>
          <a:xfrm>
            <a:off x="721032" y="1751031"/>
            <a:ext cx="6554" cy="78658"/>
          </a:xfrm>
          <a:custGeom>
            <a:avLst/>
            <a:gdLst>
              <a:gd name="connsiteX0" fmla="*/ 0 w 6554"/>
              <a:gd name="connsiteY0" fmla="*/ 0 h 78658"/>
              <a:gd name="connsiteX1" fmla="*/ 0 w 6554"/>
              <a:gd name="connsiteY1" fmla="*/ 78658 h 78658"/>
            </a:gdLst>
            <a:ahLst/>
            <a:cxnLst>
              <a:cxn ang="0">
                <a:pos x="connsiteX0" y="connsiteY0"/>
              </a:cxn>
              <a:cxn ang="0">
                <a:pos x="connsiteX1" y="connsiteY1"/>
              </a:cxn>
            </a:cxnLst>
            <a:rect l="l" t="t" r="r" b="b"/>
            <a:pathLst>
              <a:path w="6554" h="78658">
                <a:moveTo>
                  <a:pt x="0" y="0"/>
                </a:moveTo>
                <a:lnTo>
                  <a:pt x="0" y="78658"/>
                </a:lnTo>
              </a:path>
            </a:pathLst>
          </a:custGeom>
          <a:ln w="3933" cap="flat">
            <a:solidFill>
              <a:srgbClr val="90CAF9"/>
            </a:solidFill>
            <a:prstDash val="solid"/>
            <a:miter/>
          </a:ln>
        </p:spPr>
        <p:txBody>
          <a:bodyPr rtlCol="0" anchor="ctr"/>
          <a:lstStyle/>
          <a:p>
            <a:endParaRPr lang="zh-CN" altLang="en-US"/>
          </a:p>
        </p:txBody>
      </p:sp>
      <p:sp>
        <p:nvSpPr>
          <p:cNvPr id="1385" name="任意形状 1384"/>
          <p:cNvSpPr/>
          <p:nvPr/>
        </p:nvSpPr>
        <p:spPr>
          <a:xfrm>
            <a:off x="1900903" y="1751031"/>
            <a:ext cx="6554" cy="78658"/>
          </a:xfrm>
          <a:custGeom>
            <a:avLst/>
            <a:gdLst>
              <a:gd name="connsiteX0" fmla="*/ 0 w 6554"/>
              <a:gd name="connsiteY0" fmla="*/ 0 h 78658"/>
              <a:gd name="connsiteX1" fmla="*/ 0 w 6554"/>
              <a:gd name="connsiteY1" fmla="*/ 78658 h 78658"/>
            </a:gdLst>
            <a:ahLst/>
            <a:cxnLst>
              <a:cxn ang="0">
                <a:pos x="connsiteX0" y="connsiteY0"/>
              </a:cxn>
              <a:cxn ang="0">
                <a:pos x="connsiteX1" y="connsiteY1"/>
              </a:cxn>
            </a:cxnLst>
            <a:rect l="l" t="t" r="r" b="b"/>
            <a:pathLst>
              <a:path w="6554" h="78658">
                <a:moveTo>
                  <a:pt x="0" y="0"/>
                </a:moveTo>
                <a:lnTo>
                  <a:pt x="0" y="78658"/>
                </a:lnTo>
              </a:path>
            </a:pathLst>
          </a:custGeom>
          <a:ln w="3933" cap="flat">
            <a:solidFill>
              <a:srgbClr val="90CAF9"/>
            </a:solidFill>
            <a:prstDash val="solid"/>
            <a:miter/>
          </a:ln>
        </p:spPr>
        <p:txBody>
          <a:bodyPr rtlCol="0" anchor="ctr"/>
          <a:lstStyle/>
          <a:p>
            <a:endParaRPr lang="zh-CN" altLang="en-US"/>
          </a:p>
        </p:txBody>
      </p:sp>
      <p:sp>
        <p:nvSpPr>
          <p:cNvPr id="1386" name="任意形状 1385"/>
          <p:cNvSpPr/>
          <p:nvPr/>
        </p:nvSpPr>
        <p:spPr>
          <a:xfrm>
            <a:off x="721032" y="2325325"/>
            <a:ext cx="6554" cy="78658"/>
          </a:xfrm>
          <a:custGeom>
            <a:avLst/>
            <a:gdLst>
              <a:gd name="connsiteX0" fmla="*/ 0 w 6554"/>
              <a:gd name="connsiteY0" fmla="*/ 0 h 78658"/>
              <a:gd name="connsiteX1" fmla="*/ 0 w 6554"/>
              <a:gd name="connsiteY1" fmla="*/ 78658 h 78658"/>
            </a:gdLst>
            <a:ahLst/>
            <a:cxnLst>
              <a:cxn ang="0">
                <a:pos x="connsiteX0" y="connsiteY0"/>
              </a:cxn>
              <a:cxn ang="0">
                <a:pos x="connsiteX1" y="connsiteY1"/>
              </a:cxn>
            </a:cxnLst>
            <a:rect l="l" t="t" r="r" b="b"/>
            <a:pathLst>
              <a:path w="6554" h="78658">
                <a:moveTo>
                  <a:pt x="0" y="0"/>
                </a:moveTo>
                <a:lnTo>
                  <a:pt x="0" y="78658"/>
                </a:lnTo>
              </a:path>
            </a:pathLst>
          </a:custGeom>
          <a:ln w="3933" cap="flat">
            <a:solidFill>
              <a:srgbClr val="90CAF9"/>
            </a:solidFill>
            <a:prstDash val="solid"/>
            <a:miter/>
          </a:ln>
        </p:spPr>
        <p:txBody>
          <a:bodyPr rtlCol="0" anchor="ctr"/>
          <a:lstStyle/>
          <a:p>
            <a:endParaRPr lang="zh-CN" altLang="en-US"/>
          </a:p>
        </p:txBody>
      </p:sp>
      <p:sp>
        <p:nvSpPr>
          <p:cNvPr id="1387" name="任意形状 1386"/>
          <p:cNvSpPr/>
          <p:nvPr/>
        </p:nvSpPr>
        <p:spPr>
          <a:xfrm>
            <a:off x="1900903" y="2325325"/>
            <a:ext cx="6554" cy="78658"/>
          </a:xfrm>
          <a:custGeom>
            <a:avLst/>
            <a:gdLst>
              <a:gd name="connsiteX0" fmla="*/ 0 w 6554"/>
              <a:gd name="connsiteY0" fmla="*/ 0 h 78658"/>
              <a:gd name="connsiteX1" fmla="*/ 0 w 6554"/>
              <a:gd name="connsiteY1" fmla="*/ 78658 h 78658"/>
            </a:gdLst>
            <a:ahLst/>
            <a:cxnLst>
              <a:cxn ang="0">
                <a:pos x="connsiteX0" y="connsiteY0"/>
              </a:cxn>
              <a:cxn ang="0">
                <a:pos x="connsiteX1" y="connsiteY1"/>
              </a:cxn>
            </a:cxnLst>
            <a:rect l="l" t="t" r="r" b="b"/>
            <a:pathLst>
              <a:path w="6554" h="78658">
                <a:moveTo>
                  <a:pt x="0" y="0"/>
                </a:moveTo>
                <a:lnTo>
                  <a:pt x="0" y="78658"/>
                </a:lnTo>
              </a:path>
            </a:pathLst>
          </a:custGeom>
          <a:ln w="3933" cap="flat">
            <a:solidFill>
              <a:srgbClr val="90CAF9"/>
            </a:solidFill>
            <a:prstDash val="solid"/>
            <a:miter/>
          </a:ln>
        </p:spPr>
        <p:txBody>
          <a:bodyPr rtlCol="0" anchor="ctr"/>
          <a:lstStyle/>
          <a:p>
            <a:endParaRPr lang="zh-CN" altLang="en-US"/>
          </a:p>
        </p:txBody>
      </p:sp>
      <p:sp>
        <p:nvSpPr>
          <p:cNvPr id="1388" name="任意形状 1387"/>
          <p:cNvSpPr/>
          <p:nvPr/>
        </p:nvSpPr>
        <p:spPr>
          <a:xfrm>
            <a:off x="1278164" y="2874405"/>
            <a:ext cx="50813" cy="213398"/>
          </a:xfrm>
          <a:custGeom>
            <a:avLst/>
            <a:gdLst>
              <a:gd name="connsiteX0" fmla="*/ 0 w 6554"/>
              <a:gd name="connsiteY0" fmla="*/ 0 h 111432"/>
              <a:gd name="connsiteX1" fmla="*/ 0 w 6554"/>
              <a:gd name="connsiteY1" fmla="*/ 111432 h 111432"/>
            </a:gdLst>
            <a:ahLst/>
            <a:cxnLst>
              <a:cxn ang="0">
                <a:pos x="connsiteX0" y="connsiteY0"/>
              </a:cxn>
              <a:cxn ang="0">
                <a:pos x="connsiteX1" y="connsiteY1"/>
              </a:cxn>
            </a:cxnLst>
            <a:rect l="l" t="t" r="r" b="b"/>
            <a:pathLst>
              <a:path w="6554" h="111432">
                <a:moveTo>
                  <a:pt x="0" y="0"/>
                </a:moveTo>
                <a:lnTo>
                  <a:pt x="0" y="111432"/>
                </a:lnTo>
              </a:path>
            </a:pathLst>
          </a:custGeom>
          <a:ln w="6555" cap="flat">
            <a:solidFill>
              <a:srgbClr val="1565C0"/>
            </a:solidFill>
            <a:prstDash val="solid"/>
            <a:miter/>
          </a:ln>
        </p:spPr>
        <p:txBody>
          <a:bodyPr rtlCol="0" anchor="ctr"/>
          <a:lstStyle/>
          <a:p>
            <a:endParaRPr lang="zh-CN" altLang="en-US"/>
          </a:p>
        </p:txBody>
      </p:sp>
      <p:sp>
        <p:nvSpPr>
          <p:cNvPr id="1389" name="任意形状 1388"/>
          <p:cNvSpPr/>
          <p:nvPr/>
        </p:nvSpPr>
        <p:spPr>
          <a:xfrm>
            <a:off x="1276868" y="4129998"/>
            <a:ext cx="45719" cy="263997"/>
          </a:xfrm>
          <a:custGeom>
            <a:avLst/>
            <a:gdLst>
              <a:gd name="connsiteX0" fmla="*/ 0 w 6554"/>
              <a:gd name="connsiteY0" fmla="*/ 0 h 85212"/>
              <a:gd name="connsiteX1" fmla="*/ 0 w 6554"/>
              <a:gd name="connsiteY1" fmla="*/ 85213 h 85212"/>
            </a:gdLst>
            <a:ahLst/>
            <a:cxnLst>
              <a:cxn ang="0">
                <a:pos x="connsiteX0" y="connsiteY0"/>
              </a:cxn>
              <a:cxn ang="0">
                <a:pos x="connsiteX1" y="connsiteY1"/>
              </a:cxn>
            </a:cxnLst>
            <a:rect l="l" t="t" r="r" b="b"/>
            <a:pathLst>
              <a:path w="6554" h="85212">
                <a:moveTo>
                  <a:pt x="0" y="0"/>
                </a:moveTo>
                <a:lnTo>
                  <a:pt x="0" y="85213"/>
                </a:lnTo>
              </a:path>
            </a:pathLst>
          </a:custGeom>
          <a:ln w="6555" cap="flat">
            <a:solidFill>
              <a:srgbClr val="0D47A1"/>
            </a:solidFill>
            <a:prstDash val="solid"/>
            <a:miter/>
          </a:ln>
        </p:spPr>
        <p:txBody>
          <a:bodyPr rtlCol="0" anchor="ctr"/>
          <a:lstStyle/>
          <a:p>
            <a:endParaRPr lang="zh-CN" altLang="en-US"/>
          </a:p>
        </p:txBody>
      </p:sp>
      <p:sp>
        <p:nvSpPr>
          <p:cNvPr id="2" name="文本框 1">
            <a:extLst>
              <a:ext uri="{FF2B5EF4-FFF2-40B4-BE49-F238E27FC236}">
                <a16:creationId xmlns:a16="http://schemas.microsoft.com/office/drawing/2014/main" id="{A4097D70-5CC8-1C26-F667-54156D70BE50}"/>
              </a:ext>
            </a:extLst>
          </p:cNvPr>
          <p:cNvSpPr txBox="1"/>
          <p:nvPr/>
        </p:nvSpPr>
        <p:spPr>
          <a:xfrm>
            <a:off x="4686710" y="3669984"/>
            <a:ext cx="1737032" cy="276999"/>
          </a:xfrm>
          <a:prstGeom prst="rect">
            <a:avLst/>
          </a:prstGeom>
          <a:noFill/>
        </p:spPr>
        <p:txBody>
          <a:bodyPr wrap="square" rtlCol="0">
            <a:spAutoFit/>
          </a:bodyPr>
          <a:lstStyle/>
          <a:p>
            <a:pPr algn="ctr"/>
            <a:r>
              <a:rPr lang="zh-CN" altLang="en-US" sz="600" spc="0" baseline="0" dirty="0">
                <a:ln/>
                <a:solidFill>
                  <a:srgbClr val="333333"/>
                </a:solidFill>
                <a:latin typeface="Arial"/>
                <a:cs typeface="Arial"/>
                <a:sym typeface="Arial"/>
                <a:rtl val="0"/>
              </a:rPr>
              <a:t>min Z</a:t>
            </a:r>
            <a:r>
              <a:rPr lang="zh-CN" altLang="en-US" sz="600" spc="0" baseline="0" dirty="0">
                <a:ln/>
                <a:solidFill>
                  <a:srgbClr val="333333"/>
                </a:solidFill>
                <a:latin typeface="Cambria Math"/>
                <a:cs typeface="Arial"/>
                <a:sym typeface="Cambria Math"/>
                <a:rtl val="0"/>
              </a:rPr>
              <a:t>₁</a:t>
            </a:r>
            <a:r>
              <a:rPr lang="zh-CN" altLang="en-US" sz="600" spc="0" baseline="0" dirty="0">
                <a:ln/>
                <a:solidFill>
                  <a:srgbClr val="333333"/>
                </a:solidFill>
                <a:latin typeface="Arial"/>
                <a:cs typeface="Arial"/>
                <a:sym typeface="Arial"/>
                <a:rtl val="0"/>
              </a:rPr>
              <a:t>(weighted evac. time) + Z</a:t>
            </a:r>
            <a:r>
              <a:rPr lang="zh-CN" altLang="en-US" sz="600" spc="0" baseline="0" dirty="0">
                <a:ln/>
                <a:solidFill>
                  <a:srgbClr val="333333"/>
                </a:solidFill>
                <a:latin typeface="Cambria Math"/>
                <a:cs typeface="Arial"/>
                <a:sym typeface="Cambria Math"/>
                <a:rtl val="0"/>
              </a:rPr>
              <a:t>₂</a:t>
            </a:r>
            <a:r>
              <a:rPr lang="zh-CN" altLang="en-US" sz="600" spc="0" baseline="0" dirty="0">
                <a:ln/>
                <a:solidFill>
                  <a:srgbClr val="333333"/>
                </a:solidFill>
                <a:latin typeface="Arial"/>
                <a:cs typeface="Arial"/>
                <a:sym typeface="Arial"/>
                <a:rtl val="0"/>
              </a:rPr>
              <a:t>(dynamic risk exposure) + Z</a:t>
            </a:r>
            <a:r>
              <a:rPr lang="zh-CN" altLang="en-US" sz="600" spc="0" baseline="0" dirty="0">
                <a:ln/>
                <a:solidFill>
                  <a:srgbClr val="333333"/>
                </a:solidFill>
                <a:latin typeface="Cambria Math"/>
                <a:cs typeface="Arial"/>
                <a:sym typeface="Cambria Math"/>
                <a:rtl val="0"/>
              </a:rPr>
              <a:t>₃</a:t>
            </a:r>
            <a:r>
              <a:rPr lang="zh-CN" altLang="en-US" sz="600" spc="0" baseline="0" dirty="0">
                <a:ln/>
                <a:solidFill>
                  <a:srgbClr val="333333"/>
                </a:solidFill>
                <a:latin typeface="Arial"/>
                <a:cs typeface="Arial"/>
                <a:sym typeface="Arial"/>
                <a:rtl val="0"/>
              </a:rPr>
              <a:t>(unserved penalty)</a:t>
            </a:r>
          </a:p>
        </p:txBody>
      </p:sp>
      <p:sp>
        <p:nvSpPr>
          <p:cNvPr id="3" name="文本框 2">
            <a:extLst>
              <a:ext uri="{FF2B5EF4-FFF2-40B4-BE49-F238E27FC236}">
                <a16:creationId xmlns:a16="http://schemas.microsoft.com/office/drawing/2014/main" id="{A962EB00-3F84-AE4B-C84B-E790F5112021}"/>
              </a:ext>
            </a:extLst>
          </p:cNvPr>
          <p:cNvSpPr txBox="1"/>
          <p:nvPr/>
        </p:nvSpPr>
        <p:spPr>
          <a:xfrm>
            <a:off x="6489289" y="3672378"/>
            <a:ext cx="1731509" cy="276999"/>
          </a:xfrm>
          <a:prstGeom prst="rect">
            <a:avLst/>
          </a:prstGeom>
          <a:noFill/>
        </p:spPr>
        <p:txBody>
          <a:bodyPr wrap="square" rtlCol="0">
            <a:spAutoFit/>
          </a:bodyPr>
          <a:lstStyle/>
          <a:p>
            <a:pPr algn="ctr"/>
            <a:r>
              <a:rPr lang="zh-CN" altLang="en-US" sz="600" spc="0" baseline="0" dirty="0">
                <a:ln/>
                <a:solidFill>
                  <a:srgbClr val="E0E0E0"/>
                </a:solidFill>
                <a:latin typeface="Arial"/>
                <a:cs typeface="Arial"/>
                <a:sym typeface="Arial"/>
                <a:rtl val="0"/>
              </a:rPr>
              <a:t>No subway→2.8% · Double ambulance→9.2% · Risk↓4.8%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任意形状 16"/>
          <p:cNvSpPr/>
          <p:nvPr/>
        </p:nvSpPr>
        <p:spPr>
          <a:xfrm>
            <a:off x="98322" y="1529931"/>
            <a:ext cx="2425290" cy="3241507"/>
          </a:xfrm>
          <a:custGeom>
            <a:avLst/>
            <a:gdLst>
              <a:gd name="connsiteX0" fmla="*/ 2346632 w 2425290"/>
              <a:gd name="connsiteY0" fmla="*/ 0 h 2684886"/>
              <a:gd name="connsiteX1" fmla="*/ 2425290 w 2425290"/>
              <a:gd name="connsiteY1" fmla="*/ 0 h 2684886"/>
              <a:gd name="connsiteX2" fmla="*/ 2425290 w 2425290"/>
              <a:gd name="connsiteY2" fmla="*/ 2684886 h 2684886"/>
              <a:gd name="connsiteX3" fmla="*/ 2346632 w 2425290"/>
              <a:gd name="connsiteY3" fmla="*/ 2684886 h 2684886"/>
              <a:gd name="connsiteX4" fmla="*/ 78658 w 2425290"/>
              <a:gd name="connsiteY4" fmla="*/ 2684886 h 2684886"/>
              <a:gd name="connsiteX5" fmla="*/ 0 w 2425290"/>
              <a:gd name="connsiteY5" fmla="*/ 2684886 h 2684886"/>
              <a:gd name="connsiteX6" fmla="*/ 0 w 2425290"/>
              <a:gd name="connsiteY6" fmla="*/ 0 h 2684886"/>
              <a:gd name="connsiteX7" fmla="*/ 78658 w 2425290"/>
              <a:gd name="connsiteY7" fmla="*/ 0 h 2684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290" h="2684886">
                <a:moveTo>
                  <a:pt x="2346632" y="0"/>
                </a:moveTo>
                <a:cubicBezTo>
                  <a:pt x="2390074" y="0"/>
                  <a:pt x="2425290" y="0"/>
                  <a:pt x="2425290" y="0"/>
                </a:cubicBezTo>
                <a:lnTo>
                  <a:pt x="2425290" y="2684886"/>
                </a:lnTo>
                <a:cubicBezTo>
                  <a:pt x="2425290" y="2684886"/>
                  <a:pt x="2390074" y="2684886"/>
                  <a:pt x="2346632" y="2684886"/>
                </a:cubicBezTo>
                <a:lnTo>
                  <a:pt x="78658" y="2684886"/>
                </a:lnTo>
                <a:cubicBezTo>
                  <a:pt x="35216" y="2684886"/>
                  <a:pt x="0" y="2684886"/>
                  <a:pt x="0" y="2684886"/>
                </a:cubicBezTo>
                <a:lnTo>
                  <a:pt x="0" y="0"/>
                </a:lnTo>
                <a:cubicBezTo>
                  <a:pt x="0" y="0"/>
                  <a:pt x="35216" y="0"/>
                  <a:pt x="78658" y="0"/>
                </a:cubicBezTo>
                <a:close/>
              </a:path>
            </a:pathLst>
          </a:custGeom>
          <a:solidFill>
            <a:srgbClr val="F5F9FF"/>
          </a:solidFill>
          <a:ln w="3277" cap="flat">
            <a:solidFill>
              <a:srgbClr val="BBDEFB"/>
            </a:solidFill>
            <a:prstDash val="solid"/>
            <a:miter/>
          </a:ln>
        </p:spPr>
        <p:txBody>
          <a:bodyPr rtlCol="0" anchor="ctr"/>
          <a:lstStyle/>
          <a:p>
            <a:pPr algn="ctr"/>
            <a:endParaRPr lang="zh-CN" altLang="en-US" dirty="0">
              <a:latin typeface="Microsoft YaHei" panose="020B0503020204020204" pitchFamily="34" charset="-122"/>
              <a:ea typeface="Microsoft YaHei" panose="020B0503020204020204" pitchFamily="34" charset="-122"/>
            </a:endParaRPr>
          </a:p>
        </p:txBody>
      </p:sp>
      <p:sp>
        <p:nvSpPr>
          <p:cNvPr id="268" name="任意形状 267"/>
          <p:cNvSpPr/>
          <p:nvPr/>
        </p:nvSpPr>
        <p:spPr>
          <a:xfrm>
            <a:off x="10173109" y="3134315"/>
            <a:ext cx="235974" cy="6548"/>
          </a:xfrm>
          <a:custGeom>
            <a:avLst/>
            <a:gdLst>
              <a:gd name="connsiteX0" fmla="*/ 0 w 235974"/>
              <a:gd name="connsiteY0" fmla="*/ 0 h 6548"/>
              <a:gd name="connsiteX1" fmla="*/ 235974 w 235974"/>
              <a:gd name="connsiteY1" fmla="*/ 0 h 6548"/>
            </a:gdLst>
            <a:ahLst/>
            <a:cxnLst>
              <a:cxn ang="0">
                <a:pos x="connsiteX0" y="connsiteY0"/>
              </a:cxn>
              <a:cxn ang="0">
                <a:pos x="connsiteX1" y="connsiteY1"/>
              </a:cxn>
            </a:cxnLst>
            <a:rect l="l" t="t" r="r" b="b"/>
            <a:pathLst>
              <a:path w="235974" h="6548">
                <a:moveTo>
                  <a:pt x="0" y="0"/>
                </a:moveTo>
                <a:lnTo>
                  <a:pt x="235974" y="0"/>
                </a:lnTo>
              </a:path>
            </a:pathLst>
          </a:custGeom>
          <a:ln w="9832" cap="flat">
            <a:solidFill>
              <a:srgbClr val="4527A0"/>
            </a:solidFill>
            <a:prstDash val="solid"/>
            <a:miter/>
          </a:ln>
        </p:spPr>
        <p:txBody>
          <a:bodyPr rtlCol="0" anchor="ctr"/>
          <a:lstStyle/>
          <a:p>
            <a:pPr algn="ctr"/>
            <a:endParaRPr lang="zh-CN" altLang="en-US"/>
          </a:p>
        </p:txBody>
      </p:sp>
      <p:sp>
        <p:nvSpPr>
          <p:cNvPr id="18" name="任意形状 17"/>
          <p:cNvSpPr/>
          <p:nvPr/>
        </p:nvSpPr>
        <p:spPr>
          <a:xfrm>
            <a:off x="2589161" y="1529932"/>
            <a:ext cx="1835354" cy="3241506"/>
          </a:xfrm>
          <a:custGeom>
            <a:avLst/>
            <a:gdLst>
              <a:gd name="connsiteX0" fmla="*/ 1756697 w 1835354"/>
              <a:gd name="connsiteY0" fmla="*/ 0 h 2783113"/>
              <a:gd name="connsiteX1" fmla="*/ 1835355 w 1835354"/>
              <a:gd name="connsiteY1" fmla="*/ 0 h 2783113"/>
              <a:gd name="connsiteX2" fmla="*/ 1835355 w 1835354"/>
              <a:gd name="connsiteY2" fmla="*/ 2783114 h 2783113"/>
              <a:gd name="connsiteX3" fmla="*/ 1756697 w 1835354"/>
              <a:gd name="connsiteY3" fmla="*/ 2783114 h 2783113"/>
              <a:gd name="connsiteX4" fmla="*/ 78658 w 1835354"/>
              <a:gd name="connsiteY4" fmla="*/ 2783114 h 2783113"/>
              <a:gd name="connsiteX5" fmla="*/ 0 w 1835354"/>
              <a:gd name="connsiteY5" fmla="*/ 2783114 h 2783113"/>
              <a:gd name="connsiteX6" fmla="*/ 0 w 1835354"/>
              <a:gd name="connsiteY6" fmla="*/ 0 h 2783113"/>
              <a:gd name="connsiteX7" fmla="*/ 78658 w 1835354"/>
              <a:gd name="connsiteY7" fmla="*/ 0 h 278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35354" h="2783113">
                <a:moveTo>
                  <a:pt x="1756697" y="0"/>
                </a:moveTo>
                <a:cubicBezTo>
                  <a:pt x="1800139" y="0"/>
                  <a:pt x="1835355" y="0"/>
                  <a:pt x="1835355" y="0"/>
                </a:cubicBezTo>
                <a:lnTo>
                  <a:pt x="1835355" y="2783114"/>
                </a:lnTo>
                <a:cubicBezTo>
                  <a:pt x="1835355" y="2783114"/>
                  <a:pt x="1800139" y="2783114"/>
                  <a:pt x="1756697" y="2783114"/>
                </a:cubicBezTo>
                <a:lnTo>
                  <a:pt x="78658" y="2783114"/>
                </a:lnTo>
                <a:cubicBezTo>
                  <a:pt x="35216" y="2783114"/>
                  <a:pt x="0" y="2783114"/>
                  <a:pt x="0" y="2783114"/>
                </a:cubicBezTo>
                <a:lnTo>
                  <a:pt x="0" y="0"/>
                </a:lnTo>
                <a:cubicBezTo>
                  <a:pt x="0" y="0"/>
                  <a:pt x="35216" y="0"/>
                  <a:pt x="78658" y="0"/>
                </a:cubicBezTo>
                <a:close/>
              </a:path>
            </a:pathLst>
          </a:custGeom>
          <a:solidFill>
            <a:srgbClr val="FFF8F0"/>
          </a:solidFill>
          <a:ln w="3277" cap="flat">
            <a:solidFill>
              <a:srgbClr val="FFE0B2"/>
            </a:solidFill>
            <a:prstDash val="solid"/>
            <a:miter/>
          </a:ln>
        </p:spPr>
        <p:txBody>
          <a:bodyPr rtlCol="0" anchor="ctr"/>
          <a:lstStyle/>
          <a:p>
            <a:pPr algn="ctr"/>
            <a:endParaRPr lang="zh-CN" altLang="en-US"/>
          </a:p>
        </p:txBody>
      </p:sp>
      <p:sp>
        <p:nvSpPr>
          <p:cNvPr id="19" name="任意形状 18"/>
          <p:cNvSpPr/>
          <p:nvPr/>
        </p:nvSpPr>
        <p:spPr>
          <a:xfrm>
            <a:off x="4490064" y="1529932"/>
            <a:ext cx="3932903" cy="3241508"/>
          </a:xfrm>
          <a:custGeom>
            <a:avLst/>
            <a:gdLst>
              <a:gd name="connsiteX0" fmla="*/ 3854245 w 3932903"/>
              <a:gd name="connsiteY0" fmla="*/ 0 h 3241508"/>
              <a:gd name="connsiteX1" fmla="*/ 3932903 w 3932903"/>
              <a:gd name="connsiteY1" fmla="*/ 0 h 3241508"/>
              <a:gd name="connsiteX2" fmla="*/ 3932903 w 3932903"/>
              <a:gd name="connsiteY2" fmla="*/ 3241509 h 3241508"/>
              <a:gd name="connsiteX3" fmla="*/ 3854245 w 3932903"/>
              <a:gd name="connsiteY3" fmla="*/ 3241509 h 3241508"/>
              <a:gd name="connsiteX4" fmla="*/ 78658 w 3932903"/>
              <a:gd name="connsiteY4" fmla="*/ 3241509 h 3241508"/>
              <a:gd name="connsiteX5" fmla="*/ 0 w 3932903"/>
              <a:gd name="connsiteY5" fmla="*/ 3241509 h 3241508"/>
              <a:gd name="connsiteX6" fmla="*/ 0 w 3932903"/>
              <a:gd name="connsiteY6" fmla="*/ 0 h 3241508"/>
              <a:gd name="connsiteX7" fmla="*/ 78658 w 3932903"/>
              <a:gd name="connsiteY7" fmla="*/ 0 h 3241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2903" h="3241508">
                <a:moveTo>
                  <a:pt x="3854245" y="0"/>
                </a:moveTo>
                <a:cubicBezTo>
                  <a:pt x="3897687" y="0"/>
                  <a:pt x="3932903" y="0"/>
                  <a:pt x="3932903" y="0"/>
                </a:cubicBezTo>
                <a:lnTo>
                  <a:pt x="3932903" y="3241509"/>
                </a:lnTo>
                <a:cubicBezTo>
                  <a:pt x="3932903" y="3241509"/>
                  <a:pt x="3897687" y="3241509"/>
                  <a:pt x="3854245" y="3241509"/>
                </a:cubicBezTo>
                <a:lnTo>
                  <a:pt x="78658" y="3241509"/>
                </a:lnTo>
                <a:cubicBezTo>
                  <a:pt x="35216" y="3241509"/>
                  <a:pt x="0" y="3241509"/>
                  <a:pt x="0" y="3241509"/>
                </a:cubicBezTo>
                <a:lnTo>
                  <a:pt x="0" y="0"/>
                </a:lnTo>
                <a:cubicBezTo>
                  <a:pt x="0" y="0"/>
                  <a:pt x="35216" y="0"/>
                  <a:pt x="78658" y="0"/>
                </a:cubicBezTo>
                <a:close/>
              </a:path>
            </a:pathLst>
          </a:custGeom>
          <a:solidFill>
            <a:srgbClr val="F0FFF4"/>
          </a:solidFill>
          <a:ln w="3277" cap="flat">
            <a:solidFill>
              <a:srgbClr val="C8E6C9"/>
            </a:solidFill>
            <a:prstDash val="solid"/>
            <a:miter/>
          </a:ln>
        </p:spPr>
        <p:txBody>
          <a:bodyPr rtlCol="0" anchor="ctr"/>
          <a:lstStyle/>
          <a:p>
            <a:pPr algn="ctr"/>
            <a:endParaRPr lang="zh-CN" altLang="en-US"/>
          </a:p>
        </p:txBody>
      </p:sp>
      <p:sp>
        <p:nvSpPr>
          <p:cNvPr id="20" name="任意形状 19"/>
          <p:cNvSpPr/>
          <p:nvPr/>
        </p:nvSpPr>
        <p:spPr>
          <a:xfrm>
            <a:off x="8488516" y="1529932"/>
            <a:ext cx="1769806" cy="3241506"/>
          </a:xfrm>
          <a:custGeom>
            <a:avLst/>
            <a:gdLst>
              <a:gd name="connsiteX0" fmla="*/ 1691148 w 1769806"/>
              <a:gd name="connsiteY0" fmla="*/ 0 h 2783113"/>
              <a:gd name="connsiteX1" fmla="*/ 1769807 w 1769806"/>
              <a:gd name="connsiteY1" fmla="*/ 0 h 2783113"/>
              <a:gd name="connsiteX2" fmla="*/ 1769807 w 1769806"/>
              <a:gd name="connsiteY2" fmla="*/ 2783114 h 2783113"/>
              <a:gd name="connsiteX3" fmla="*/ 1691148 w 1769806"/>
              <a:gd name="connsiteY3" fmla="*/ 2783114 h 2783113"/>
              <a:gd name="connsiteX4" fmla="*/ 78658 w 1769806"/>
              <a:gd name="connsiteY4" fmla="*/ 2783114 h 2783113"/>
              <a:gd name="connsiteX5" fmla="*/ 0 w 1769806"/>
              <a:gd name="connsiteY5" fmla="*/ 2783114 h 2783113"/>
              <a:gd name="connsiteX6" fmla="*/ 0 w 1769806"/>
              <a:gd name="connsiteY6" fmla="*/ 0 h 2783113"/>
              <a:gd name="connsiteX7" fmla="*/ 78658 w 1769806"/>
              <a:gd name="connsiteY7" fmla="*/ 0 h 278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806" h="2783113">
                <a:moveTo>
                  <a:pt x="1691148" y="0"/>
                </a:moveTo>
                <a:cubicBezTo>
                  <a:pt x="1734590" y="0"/>
                  <a:pt x="1769807" y="0"/>
                  <a:pt x="1769807" y="0"/>
                </a:cubicBezTo>
                <a:lnTo>
                  <a:pt x="1769807" y="2783114"/>
                </a:lnTo>
                <a:cubicBezTo>
                  <a:pt x="1769807" y="2783114"/>
                  <a:pt x="1734590" y="2783114"/>
                  <a:pt x="1691148" y="2783114"/>
                </a:cubicBezTo>
                <a:lnTo>
                  <a:pt x="78658" y="2783114"/>
                </a:lnTo>
                <a:cubicBezTo>
                  <a:pt x="35216" y="2783114"/>
                  <a:pt x="0" y="2783114"/>
                  <a:pt x="0" y="2783114"/>
                </a:cubicBezTo>
                <a:lnTo>
                  <a:pt x="0" y="0"/>
                </a:lnTo>
                <a:cubicBezTo>
                  <a:pt x="0" y="0"/>
                  <a:pt x="35216" y="0"/>
                  <a:pt x="78658" y="0"/>
                </a:cubicBezTo>
                <a:close/>
              </a:path>
            </a:pathLst>
          </a:custGeom>
          <a:solidFill>
            <a:srgbClr val="FFF3F0"/>
          </a:solidFill>
          <a:ln w="3277" cap="flat">
            <a:solidFill>
              <a:srgbClr val="FFCDD2"/>
            </a:solidFill>
            <a:prstDash val="solid"/>
            <a:miter/>
          </a:ln>
        </p:spPr>
        <p:txBody>
          <a:bodyPr rtlCol="0" anchor="ctr"/>
          <a:lstStyle/>
          <a:p>
            <a:pPr algn="ctr"/>
            <a:endParaRPr lang="zh-CN" altLang="en-US"/>
          </a:p>
        </p:txBody>
      </p:sp>
      <p:sp>
        <p:nvSpPr>
          <p:cNvPr id="21" name="任意形状 20"/>
          <p:cNvSpPr/>
          <p:nvPr/>
        </p:nvSpPr>
        <p:spPr>
          <a:xfrm>
            <a:off x="10323870" y="1529932"/>
            <a:ext cx="1769806" cy="3241506"/>
          </a:xfrm>
          <a:custGeom>
            <a:avLst/>
            <a:gdLst>
              <a:gd name="connsiteX0" fmla="*/ 1691148 w 1769806"/>
              <a:gd name="connsiteY0" fmla="*/ 0 h 2783113"/>
              <a:gd name="connsiteX1" fmla="*/ 1769807 w 1769806"/>
              <a:gd name="connsiteY1" fmla="*/ 0 h 2783113"/>
              <a:gd name="connsiteX2" fmla="*/ 1769807 w 1769806"/>
              <a:gd name="connsiteY2" fmla="*/ 2783114 h 2783113"/>
              <a:gd name="connsiteX3" fmla="*/ 1691148 w 1769806"/>
              <a:gd name="connsiteY3" fmla="*/ 2783114 h 2783113"/>
              <a:gd name="connsiteX4" fmla="*/ 78658 w 1769806"/>
              <a:gd name="connsiteY4" fmla="*/ 2783114 h 2783113"/>
              <a:gd name="connsiteX5" fmla="*/ 0 w 1769806"/>
              <a:gd name="connsiteY5" fmla="*/ 2783114 h 2783113"/>
              <a:gd name="connsiteX6" fmla="*/ 0 w 1769806"/>
              <a:gd name="connsiteY6" fmla="*/ 0 h 2783113"/>
              <a:gd name="connsiteX7" fmla="*/ 78658 w 1769806"/>
              <a:gd name="connsiteY7" fmla="*/ 0 h 278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806" h="2783113">
                <a:moveTo>
                  <a:pt x="1691148" y="0"/>
                </a:moveTo>
                <a:cubicBezTo>
                  <a:pt x="1734590" y="0"/>
                  <a:pt x="1769807" y="0"/>
                  <a:pt x="1769807" y="0"/>
                </a:cubicBezTo>
                <a:lnTo>
                  <a:pt x="1769807" y="2783114"/>
                </a:lnTo>
                <a:cubicBezTo>
                  <a:pt x="1769807" y="2783114"/>
                  <a:pt x="1734590" y="2783114"/>
                  <a:pt x="1691148" y="2783114"/>
                </a:cubicBezTo>
                <a:lnTo>
                  <a:pt x="78658" y="2783114"/>
                </a:lnTo>
                <a:cubicBezTo>
                  <a:pt x="35216" y="2783114"/>
                  <a:pt x="0" y="2783114"/>
                  <a:pt x="0" y="2783114"/>
                </a:cubicBezTo>
                <a:lnTo>
                  <a:pt x="0" y="0"/>
                </a:lnTo>
                <a:cubicBezTo>
                  <a:pt x="0" y="0"/>
                  <a:pt x="35216" y="0"/>
                  <a:pt x="78658" y="0"/>
                </a:cubicBezTo>
                <a:close/>
              </a:path>
            </a:pathLst>
          </a:custGeom>
          <a:solidFill>
            <a:srgbClr val="F5F0FF"/>
          </a:solidFill>
          <a:ln w="3277" cap="flat">
            <a:solidFill>
              <a:srgbClr val="D1C4E9"/>
            </a:solidFill>
            <a:prstDash val="solid"/>
            <a:miter/>
          </a:ln>
        </p:spPr>
        <p:txBody>
          <a:bodyPr rtlCol="0" anchor="ctr"/>
          <a:lstStyle/>
          <a:p>
            <a:pPr algn="ctr"/>
            <a:endParaRPr lang="zh-CN" altLang="en-US"/>
          </a:p>
        </p:txBody>
      </p:sp>
      <p:sp>
        <p:nvSpPr>
          <p:cNvPr id="22" name="文本框 21"/>
          <p:cNvSpPr txBox="1"/>
          <p:nvPr/>
        </p:nvSpPr>
        <p:spPr>
          <a:xfrm>
            <a:off x="958877" y="1219438"/>
            <a:ext cx="697627" cy="242374"/>
          </a:xfrm>
          <a:prstGeom prst="rect">
            <a:avLst/>
          </a:prstGeom>
          <a:noFill/>
        </p:spPr>
        <p:txBody>
          <a:bodyPr wrap="none" rtlCol="0">
            <a:spAutoFit/>
          </a:bodyPr>
          <a:lstStyle/>
          <a:p>
            <a:pPr algn="ctr"/>
            <a:r>
              <a:rPr lang="zh-CN" altLang="en-US" sz="975" b="1" spc="0" baseline="0">
                <a:solidFill>
                  <a:srgbClr val="1565C0"/>
                </a:solidFill>
                <a:latin typeface="Microsoft YaHei" panose="020B0503020204020204" pitchFamily="34" charset="-122"/>
                <a:ea typeface="Microsoft YaHei" panose="020B0503020204020204" pitchFamily="34" charset="-122"/>
                <a:sym typeface="黑体" panose="02010600030101010101" charset="-122"/>
                <a:rtl val="0"/>
              </a:rPr>
              <a:t>第一阶段</a:t>
            </a:r>
          </a:p>
        </p:txBody>
      </p:sp>
      <p:sp>
        <p:nvSpPr>
          <p:cNvPr id="23" name="文本框 22"/>
          <p:cNvSpPr txBox="1"/>
          <p:nvPr/>
        </p:nvSpPr>
        <p:spPr>
          <a:xfrm>
            <a:off x="901240" y="1350408"/>
            <a:ext cx="819455" cy="219291"/>
          </a:xfrm>
          <a:prstGeom prst="rect">
            <a:avLst/>
          </a:prstGeom>
          <a:noFill/>
        </p:spPr>
        <p:txBody>
          <a:bodyPr wrap="none" rtlCol="0">
            <a:spAutoFit/>
          </a:bodyPr>
          <a:lstStyle/>
          <a:p>
            <a:pPr algn="ctr"/>
            <a:r>
              <a:rPr lang="zh-CN" altLang="en-US" sz="825" spc="0" baseline="0">
                <a:solidFill>
                  <a:srgbClr val="42A5F5"/>
                </a:solidFill>
                <a:latin typeface="Microsoft YaHei" panose="020B0503020204020204" pitchFamily="34" charset="-122"/>
                <a:ea typeface="Microsoft YaHei" panose="020B0503020204020204" pitchFamily="34" charset="-122"/>
                <a:sym typeface="黑体" panose="02010600030101010101" charset="-122"/>
                <a:rtl val="0"/>
              </a:rPr>
              <a:t>多源数据融合</a:t>
            </a:r>
          </a:p>
        </p:txBody>
      </p:sp>
      <p:sp>
        <p:nvSpPr>
          <p:cNvPr id="24" name="文本框 23"/>
          <p:cNvSpPr txBox="1"/>
          <p:nvPr/>
        </p:nvSpPr>
        <p:spPr>
          <a:xfrm>
            <a:off x="3154748" y="1219438"/>
            <a:ext cx="697627" cy="242374"/>
          </a:xfrm>
          <a:prstGeom prst="rect">
            <a:avLst/>
          </a:prstGeom>
          <a:noFill/>
        </p:spPr>
        <p:txBody>
          <a:bodyPr wrap="none" rtlCol="0">
            <a:spAutoFit/>
          </a:bodyPr>
          <a:lstStyle/>
          <a:p>
            <a:pPr algn="ctr"/>
            <a:r>
              <a:rPr lang="zh-CN" altLang="en-US" sz="975" b="1" spc="0" baseline="0">
                <a:solidFill>
                  <a:srgbClr val="E65100"/>
                </a:solidFill>
                <a:latin typeface="黑体" panose="02010600030101010101" charset="-122"/>
                <a:ea typeface="黑体" panose="02010600030101010101" charset="-122"/>
                <a:sym typeface="黑体" panose="02010600030101010101" charset="-122"/>
                <a:rtl val="0"/>
              </a:rPr>
              <a:t>第二阶段</a:t>
            </a:r>
          </a:p>
        </p:txBody>
      </p:sp>
      <p:sp>
        <p:nvSpPr>
          <p:cNvPr id="25" name="文本框 24"/>
          <p:cNvSpPr txBox="1"/>
          <p:nvPr/>
        </p:nvSpPr>
        <p:spPr>
          <a:xfrm>
            <a:off x="3097111" y="1350408"/>
            <a:ext cx="819455" cy="219291"/>
          </a:xfrm>
          <a:prstGeom prst="rect">
            <a:avLst/>
          </a:prstGeom>
          <a:noFill/>
        </p:spPr>
        <p:txBody>
          <a:bodyPr wrap="none" rtlCol="0">
            <a:spAutoFit/>
          </a:bodyPr>
          <a:lstStyle/>
          <a:p>
            <a:pPr algn="ctr"/>
            <a:r>
              <a:rPr lang="zh-CN" altLang="en-US" sz="825" spc="0" baseline="0">
                <a:solidFill>
                  <a:srgbClr val="FF9800"/>
                </a:solidFill>
                <a:latin typeface="黑体" panose="02010600030101010101" charset="-122"/>
                <a:ea typeface="黑体" panose="02010600030101010101" charset="-122"/>
                <a:sym typeface="黑体" panose="02010600030101010101" charset="-122"/>
                <a:rtl val="0"/>
              </a:rPr>
              <a:t>事故场景构建</a:t>
            </a:r>
          </a:p>
        </p:txBody>
      </p:sp>
      <p:sp>
        <p:nvSpPr>
          <p:cNvPr id="26" name="文本框 25"/>
          <p:cNvSpPr txBox="1"/>
          <p:nvPr/>
        </p:nvSpPr>
        <p:spPr>
          <a:xfrm>
            <a:off x="6104425" y="1219438"/>
            <a:ext cx="697627" cy="242374"/>
          </a:xfrm>
          <a:prstGeom prst="rect">
            <a:avLst/>
          </a:prstGeom>
          <a:noFill/>
        </p:spPr>
        <p:txBody>
          <a:bodyPr wrap="none" rtlCol="0">
            <a:spAutoFit/>
          </a:bodyPr>
          <a:lstStyle/>
          <a:p>
            <a:pPr algn="ctr"/>
            <a:r>
              <a:rPr lang="zh-CN" altLang="en-US" sz="975" b="1" spc="0" baseline="0">
                <a:solidFill>
                  <a:srgbClr val="2E7D32"/>
                </a:solidFill>
                <a:latin typeface="黑体" panose="02010600030101010101" charset="-122"/>
                <a:ea typeface="黑体" panose="02010600030101010101" charset="-122"/>
                <a:sym typeface="黑体" panose="02010600030101010101" charset="-122"/>
                <a:rtl val="0"/>
              </a:rPr>
              <a:t>第三阶段</a:t>
            </a:r>
          </a:p>
        </p:txBody>
      </p:sp>
      <p:sp>
        <p:nvSpPr>
          <p:cNvPr id="27" name="文本框 26"/>
          <p:cNvSpPr txBox="1"/>
          <p:nvPr/>
        </p:nvSpPr>
        <p:spPr>
          <a:xfrm>
            <a:off x="6046788" y="1350408"/>
            <a:ext cx="819455" cy="219291"/>
          </a:xfrm>
          <a:prstGeom prst="rect">
            <a:avLst/>
          </a:prstGeom>
          <a:noFill/>
        </p:spPr>
        <p:txBody>
          <a:bodyPr wrap="none" rtlCol="0">
            <a:spAutoFit/>
          </a:bodyPr>
          <a:lstStyle/>
          <a:p>
            <a:pPr algn="ctr"/>
            <a:r>
              <a:rPr lang="zh-CN" altLang="en-US" sz="825" spc="0" baseline="0">
                <a:solidFill>
                  <a:srgbClr val="4CAF50"/>
                </a:solidFill>
                <a:latin typeface="黑体" panose="02010600030101010101" charset="-122"/>
                <a:ea typeface="黑体" panose="02010600030101010101" charset="-122"/>
                <a:sym typeface="黑体" panose="02010600030101010101" charset="-122"/>
                <a:rtl val="0"/>
              </a:rPr>
              <a:t>协同优化求解</a:t>
            </a:r>
          </a:p>
        </p:txBody>
      </p:sp>
      <p:sp>
        <p:nvSpPr>
          <p:cNvPr id="28" name="文本框 27"/>
          <p:cNvSpPr txBox="1"/>
          <p:nvPr/>
        </p:nvSpPr>
        <p:spPr>
          <a:xfrm>
            <a:off x="9021328" y="1219438"/>
            <a:ext cx="697627" cy="242374"/>
          </a:xfrm>
          <a:prstGeom prst="rect">
            <a:avLst/>
          </a:prstGeom>
          <a:noFill/>
        </p:spPr>
        <p:txBody>
          <a:bodyPr wrap="none" rtlCol="0">
            <a:spAutoFit/>
          </a:bodyPr>
          <a:lstStyle/>
          <a:p>
            <a:pPr algn="ctr"/>
            <a:r>
              <a:rPr lang="zh-CN" altLang="en-US" sz="975" b="1" spc="0" baseline="0">
                <a:solidFill>
                  <a:srgbClr val="C62828"/>
                </a:solidFill>
                <a:latin typeface="黑体" panose="02010600030101010101" charset="-122"/>
                <a:ea typeface="黑体" panose="02010600030101010101" charset="-122"/>
                <a:sym typeface="黑体" panose="02010600030101010101" charset="-122"/>
                <a:rtl val="0"/>
              </a:rPr>
              <a:t>第四阶段</a:t>
            </a:r>
          </a:p>
        </p:txBody>
      </p:sp>
      <p:sp>
        <p:nvSpPr>
          <p:cNvPr id="29" name="文本框 28"/>
          <p:cNvSpPr txBox="1"/>
          <p:nvPr/>
        </p:nvSpPr>
        <p:spPr>
          <a:xfrm>
            <a:off x="9069488" y="1350408"/>
            <a:ext cx="607860" cy="219291"/>
          </a:xfrm>
          <a:prstGeom prst="rect">
            <a:avLst/>
          </a:prstGeom>
          <a:noFill/>
        </p:spPr>
        <p:txBody>
          <a:bodyPr wrap="none" rtlCol="0">
            <a:spAutoFit/>
          </a:bodyPr>
          <a:lstStyle/>
          <a:p>
            <a:pPr algn="ctr"/>
            <a:r>
              <a:rPr lang="zh-CN" altLang="en-US" sz="825" spc="0" baseline="0">
                <a:solidFill>
                  <a:srgbClr val="EF5350"/>
                </a:solidFill>
                <a:latin typeface="黑体" panose="02010600030101010101" charset="-122"/>
                <a:ea typeface="黑体" panose="02010600030101010101" charset="-122"/>
                <a:sym typeface="黑体" panose="02010600030101010101" charset="-122"/>
                <a:rtl val="0"/>
              </a:rPr>
              <a:t>韧性评估</a:t>
            </a:r>
          </a:p>
        </p:txBody>
      </p:sp>
      <p:sp>
        <p:nvSpPr>
          <p:cNvPr id="30" name="文本框 29"/>
          <p:cNvSpPr txBox="1"/>
          <p:nvPr/>
        </p:nvSpPr>
        <p:spPr>
          <a:xfrm>
            <a:off x="10856683" y="1219438"/>
            <a:ext cx="697627" cy="242374"/>
          </a:xfrm>
          <a:prstGeom prst="rect">
            <a:avLst/>
          </a:prstGeom>
          <a:noFill/>
        </p:spPr>
        <p:txBody>
          <a:bodyPr wrap="none" rtlCol="0">
            <a:spAutoFit/>
          </a:bodyPr>
          <a:lstStyle/>
          <a:p>
            <a:pPr algn="ctr"/>
            <a:r>
              <a:rPr lang="zh-CN" altLang="en-US" sz="975" b="1" spc="0" baseline="0">
                <a:solidFill>
                  <a:srgbClr val="4527A0"/>
                </a:solidFill>
                <a:latin typeface="黑体" panose="02010600030101010101" charset="-122"/>
                <a:ea typeface="黑体" panose="02010600030101010101" charset="-122"/>
                <a:sym typeface="黑体" panose="02010600030101010101" charset="-122"/>
                <a:rtl val="0"/>
              </a:rPr>
              <a:t>第五阶段</a:t>
            </a:r>
          </a:p>
        </p:txBody>
      </p:sp>
      <p:sp>
        <p:nvSpPr>
          <p:cNvPr id="31" name="文本框 30"/>
          <p:cNvSpPr txBox="1"/>
          <p:nvPr/>
        </p:nvSpPr>
        <p:spPr>
          <a:xfrm>
            <a:off x="10851945" y="1350408"/>
            <a:ext cx="713658" cy="219291"/>
          </a:xfrm>
          <a:prstGeom prst="rect">
            <a:avLst/>
          </a:prstGeom>
          <a:noFill/>
        </p:spPr>
        <p:txBody>
          <a:bodyPr wrap="none" rtlCol="0">
            <a:spAutoFit/>
          </a:bodyPr>
          <a:lstStyle/>
          <a:p>
            <a:pPr algn="ctr"/>
            <a:r>
              <a:rPr lang="zh-CN" altLang="en-US" sz="825" spc="0" baseline="0">
                <a:solidFill>
                  <a:srgbClr val="7E57C2"/>
                </a:solidFill>
                <a:latin typeface="黑体" panose="02010600030101010101" charset="-122"/>
                <a:ea typeface="黑体" panose="02010600030101010101" charset="-122"/>
                <a:sym typeface="黑体" panose="02010600030101010101" charset="-122"/>
                <a:rtl val="0"/>
              </a:rPr>
              <a:t>结论与建议</a:t>
            </a:r>
          </a:p>
        </p:txBody>
      </p:sp>
      <p:sp>
        <p:nvSpPr>
          <p:cNvPr id="33" name="任意形状 32"/>
          <p:cNvSpPr/>
          <p:nvPr/>
        </p:nvSpPr>
        <p:spPr>
          <a:xfrm>
            <a:off x="196645" y="1660902"/>
            <a:ext cx="1048774" cy="366716"/>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34" name="任意形状 33"/>
          <p:cNvSpPr/>
          <p:nvPr/>
        </p:nvSpPr>
        <p:spPr>
          <a:xfrm>
            <a:off x="196645" y="1660902"/>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1565C0"/>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35" name="任意形状 34"/>
          <p:cNvSpPr/>
          <p:nvPr/>
        </p:nvSpPr>
        <p:spPr>
          <a:xfrm>
            <a:off x="196645" y="1739484"/>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1565C0"/>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36" name="文本框 35"/>
          <p:cNvSpPr txBox="1"/>
          <p:nvPr/>
        </p:nvSpPr>
        <p:spPr>
          <a:xfrm>
            <a:off x="346498" y="1625893"/>
            <a:ext cx="742511"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OSM路网数据</a:t>
            </a:r>
          </a:p>
        </p:txBody>
      </p:sp>
      <p:sp>
        <p:nvSpPr>
          <p:cNvPr id="37" name="文本框 36"/>
          <p:cNvSpPr txBox="1"/>
          <p:nvPr/>
        </p:nvSpPr>
        <p:spPr>
          <a:xfrm>
            <a:off x="176651" y="1772346"/>
            <a:ext cx="1088760"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sym typeface="微软雅黑"/>
                <a:rtl val="0"/>
              </a:rPr>
              <a:t>道路等级</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限速</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通行方向</a:t>
            </a:r>
          </a:p>
        </p:txBody>
      </p:sp>
      <p:sp>
        <p:nvSpPr>
          <p:cNvPr id="38" name="文本框 37"/>
          <p:cNvSpPr txBox="1"/>
          <p:nvPr/>
        </p:nvSpPr>
        <p:spPr>
          <a:xfrm>
            <a:off x="255271" y="1870574"/>
            <a:ext cx="938078"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26,699</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微软雅黑"/>
                <a:rtl val="0"/>
              </a:rPr>
              <a:t>路段</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11,232 km</a:t>
            </a:r>
          </a:p>
        </p:txBody>
      </p:sp>
      <p:sp>
        <p:nvSpPr>
          <p:cNvPr id="40" name="任意形状 39"/>
          <p:cNvSpPr/>
          <p:nvPr/>
        </p:nvSpPr>
        <p:spPr>
          <a:xfrm>
            <a:off x="1376516" y="1660902"/>
            <a:ext cx="1048774" cy="366716"/>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41" name="任意形状 40"/>
          <p:cNvSpPr/>
          <p:nvPr/>
        </p:nvSpPr>
        <p:spPr>
          <a:xfrm>
            <a:off x="1376516" y="1660902"/>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1976D2"/>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42" name="任意形状 41"/>
          <p:cNvSpPr/>
          <p:nvPr/>
        </p:nvSpPr>
        <p:spPr>
          <a:xfrm>
            <a:off x="1376516" y="1739484"/>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1976D2"/>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43" name="文本框 42"/>
          <p:cNvSpPr txBox="1"/>
          <p:nvPr/>
        </p:nvSpPr>
        <p:spPr>
          <a:xfrm>
            <a:off x="1511141" y="1625893"/>
            <a:ext cx="772969"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百度POI数据库</a:t>
            </a:r>
          </a:p>
        </p:txBody>
      </p:sp>
      <p:sp>
        <p:nvSpPr>
          <p:cNvPr id="44" name="文本框 43"/>
          <p:cNvSpPr txBox="1"/>
          <p:nvPr/>
        </p:nvSpPr>
        <p:spPr>
          <a:xfrm>
            <a:off x="1284388" y="1772346"/>
            <a:ext cx="1233030" cy="184666"/>
          </a:xfrm>
          <a:prstGeom prst="rect">
            <a:avLst/>
          </a:prstGeom>
          <a:noFill/>
        </p:spPr>
        <p:txBody>
          <a:bodyPr wrap="none" rtlCol="0">
            <a:spAutoFit/>
          </a:bodyPr>
          <a:lstStyle/>
          <a:p>
            <a:pPr algn="ctr"/>
            <a:r>
              <a:rPr lang="zh-CN" altLang="en-US" sz="600" spc="0" baseline="0" dirty="0">
                <a:solidFill>
                  <a:srgbClr val="555555"/>
                </a:solidFill>
                <a:latin typeface="Microsoft YaHei" panose="020B0503020204020204" pitchFamily="34" charset="-122"/>
                <a:ea typeface="Microsoft YaHei" panose="020B0503020204020204" pitchFamily="34" charset="-122"/>
                <a:sym typeface="微软雅黑"/>
                <a:rtl val="0"/>
              </a:rPr>
              <a:t>医院</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消防站</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避难所</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dirty="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地铁站</a:t>
            </a:r>
          </a:p>
        </p:txBody>
      </p:sp>
      <p:sp>
        <p:nvSpPr>
          <p:cNvPr id="45" name="文本框 44"/>
          <p:cNvSpPr txBox="1"/>
          <p:nvPr/>
        </p:nvSpPr>
        <p:spPr>
          <a:xfrm>
            <a:off x="1565715" y="1870574"/>
            <a:ext cx="670376"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25,276</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微软雅黑"/>
                <a:rtl val="0"/>
              </a:rPr>
              <a:t>个兴趣点</a:t>
            </a:r>
          </a:p>
        </p:txBody>
      </p:sp>
      <p:sp>
        <p:nvSpPr>
          <p:cNvPr id="47" name="任意形状 46"/>
          <p:cNvSpPr/>
          <p:nvPr/>
        </p:nvSpPr>
        <p:spPr>
          <a:xfrm>
            <a:off x="196645" y="2150825"/>
            <a:ext cx="1048774" cy="366716"/>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48" name="任意形状 47"/>
          <p:cNvSpPr/>
          <p:nvPr/>
        </p:nvSpPr>
        <p:spPr>
          <a:xfrm>
            <a:off x="196645" y="2150825"/>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1E88E5"/>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49" name="任意形状 48"/>
          <p:cNvSpPr/>
          <p:nvPr/>
        </p:nvSpPr>
        <p:spPr>
          <a:xfrm>
            <a:off x="196645" y="2229407"/>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1E88E5"/>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50" name="文本框 49"/>
          <p:cNvSpPr txBox="1"/>
          <p:nvPr/>
        </p:nvSpPr>
        <p:spPr>
          <a:xfrm>
            <a:off x="360926" y="2115816"/>
            <a:ext cx="713658"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七普人口数据</a:t>
            </a:r>
          </a:p>
        </p:txBody>
      </p:sp>
      <p:sp>
        <p:nvSpPr>
          <p:cNvPr id="51" name="文本框 50"/>
          <p:cNvSpPr txBox="1"/>
          <p:nvPr/>
        </p:nvSpPr>
        <p:spPr>
          <a:xfrm>
            <a:off x="195087" y="2262269"/>
            <a:ext cx="1051891"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sym typeface="微软雅黑"/>
                <a:rtl val="0"/>
              </a:rPr>
              <a:t>分年龄</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性别人口</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区县级</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a:t>
            </a:r>
          </a:p>
        </p:txBody>
      </p:sp>
      <p:sp>
        <p:nvSpPr>
          <p:cNvPr id="52" name="文本框 51"/>
          <p:cNvSpPr txBox="1"/>
          <p:nvPr/>
        </p:nvSpPr>
        <p:spPr>
          <a:xfrm>
            <a:off x="330541" y="2360497"/>
            <a:ext cx="780983"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sym typeface="微软雅黑"/>
                <a:rtl val="0"/>
              </a:rPr>
              <a:t>老人</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15% · </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微软雅黑"/>
                <a:rtl val="0"/>
              </a:rPr>
              <a:t>儿童</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12%</a:t>
            </a:r>
          </a:p>
        </p:txBody>
      </p:sp>
      <p:sp>
        <p:nvSpPr>
          <p:cNvPr id="54" name="任意形状 53"/>
          <p:cNvSpPr/>
          <p:nvPr/>
        </p:nvSpPr>
        <p:spPr>
          <a:xfrm>
            <a:off x="1376516" y="2150825"/>
            <a:ext cx="1048774" cy="366716"/>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55" name="任意形状 54"/>
          <p:cNvSpPr/>
          <p:nvPr/>
        </p:nvSpPr>
        <p:spPr>
          <a:xfrm>
            <a:off x="1376516" y="2150825"/>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2196F3"/>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56" name="任意形状 55"/>
          <p:cNvSpPr/>
          <p:nvPr/>
        </p:nvSpPr>
        <p:spPr>
          <a:xfrm>
            <a:off x="1376516" y="2229407"/>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2196F3"/>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57" name="文本框 56"/>
          <p:cNvSpPr txBox="1"/>
          <p:nvPr/>
        </p:nvSpPr>
        <p:spPr>
          <a:xfrm>
            <a:off x="1540797" y="2115816"/>
            <a:ext cx="713658"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百度手机信令</a:t>
            </a:r>
          </a:p>
        </p:txBody>
      </p:sp>
      <p:sp>
        <p:nvSpPr>
          <p:cNvPr id="58" name="文本框 57"/>
          <p:cNvSpPr txBox="1"/>
          <p:nvPr/>
        </p:nvSpPr>
        <p:spPr>
          <a:xfrm>
            <a:off x="1298814" y="2262269"/>
            <a:ext cx="1204177"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OD</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流量</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通勤模式</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方式划分</a:t>
            </a:r>
          </a:p>
        </p:txBody>
      </p:sp>
      <p:sp>
        <p:nvSpPr>
          <p:cNvPr id="59" name="文本框 58"/>
          <p:cNvSpPr txBox="1"/>
          <p:nvPr/>
        </p:nvSpPr>
        <p:spPr>
          <a:xfrm>
            <a:off x="1385378" y="2360497"/>
            <a:ext cx="1031051"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5659</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微软雅黑"/>
                <a:rtl val="0"/>
              </a:rPr>
              <a:t>万日</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OD / 311.8</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微软雅黑"/>
                <a:rtl val="0"/>
              </a:rPr>
              <a:t>万通勤</a:t>
            </a:r>
          </a:p>
        </p:txBody>
      </p:sp>
      <p:sp>
        <p:nvSpPr>
          <p:cNvPr id="61" name="任意形状 60"/>
          <p:cNvSpPr/>
          <p:nvPr/>
        </p:nvSpPr>
        <p:spPr>
          <a:xfrm>
            <a:off x="196645" y="2640749"/>
            <a:ext cx="1048774" cy="388282"/>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62" name="任意形状 61"/>
          <p:cNvSpPr/>
          <p:nvPr/>
        </p:nvSpPr>
        <p:spPr>
          <a:xfrm>
            <a:off x="196645" y="2640749"/>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42A5F5"/>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63" name="任意形状 62"/>
          <p:cNvSpPr/>
          <p:nvPr/>
        </p:nvSpPr>
        <p:spPr>
          <a:xfrm>
            <a:off x="196645" y="2719331"/>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42A5F5"/>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64" name="文本框 63"/>
          <p:cNvSpPr txBox="1"/>
          <p:nvPr/>
        </p:nvSpPr>
        <p:spPr>
          <a:xfrm>
            <a:off x="316842" y="2605739"/>
            <a:ext cx="801823"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地块级人口数据</a:t>
            </a:r>
          </a:p>
        </p:txBody>
      </p:sp>
      <p:sp>
        <p:nvSpPr>
          <p:cNvPr id="65" name="文本框 64"/>
          <p:cNvSpPr txBox="1"/>
          <p:nvPr/>
        </p:nvSpPr>
        <p:spPr>
          <a:xfrm>
            <a:off x="247986" y="2752193"/>
            <a:ext cx="946093"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sym typeface="微软雅黑"/>
                <a:rtl val="0"/>
              </a:rPr>
              <a:t>百度</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LBS</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常住人口分布</a:t>
            </a:r>
          </a:p>
        </p:txBody>
      </p:sp>
      <p:sp>
        <p:nvSpPr>
          <p:cNvPr id="66" name="文本框 65"/>
          <p:cNvSpPr txBox="1"/>
          <p:nvPr/>
        </p:nvSpPr>
        <p:spPr>
          <a:xfrm>
            <a:off x="393057" y="2850420"/>
            <a:ext cx="655949"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sym typeface="微软雅黑"/>
                <a:rtl val="0"/>
              </a:rPr>
              <a:t>地块级空间精度</a:t>
            </a:r>
          </a:p>
        </p:txBody>
      </p:sp>
      <p:sp>
        <p:nvSpPr>
          <p:cNvPr id="68" name="任意形状 67"/>
          <p:cNvSpPr/>
          <p:nvPr/>
        </p:nvSpPr>
        <p:spPr>
          <a:xfrm>
            <a:off x="1376516" y="2640748"/>
            <a:ext cx="1048774" cy="393537"/>
          </a:xfrm>
          <a:custGeom>
            <a:avLst/>
            <a:gdLst>
              <a:gd name="connsiteX0" fmla="*/ 1009445 w 1048774"/>
              <a:gd name="connsiteY0" fmla="*/ 0 h 366716"/>
              <a:gd name="connsiteX1" fmla="*/ 1048774 w 1048774"/>
              <a:gd name="connsiteY1" fmla="*/ 0 h 366716"/>
              <a:gd name="connsiteX2" fmla="*/ 1048774 w 1048774"/>
              <a:gd name="connsiteY2" fmla="*/ 366716 h 366716"/>
              <a:gd name="connsiteX3" fmla="*/ 1009445 w 1048774"/>
              <a:gd name="connsiteY3" fmla="*/ 366716 h 366716"/>
              <a:gd name="connsiteX4" fmla="*/ 39329 w 1048774"/>
              <a:gd name="connsiteY4" fmla="*/ 366716 h 366716"/>
              <a:gd name="connsiteX5" fmla="*/ 0 w 1048774"/>
              <a:gd name="connsiteY5" fmla="*/ 366716 h 366716"/>
              <a:gd name="connsiteX6" fmla="*/ 0 w 1048774"/>
              <a:gd name="connsiteY6" fmla="*/ 0 h 366716"/>
              <a:gd name="connsiteX7" fmla="*/ 39329 w 1048774"/>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366716">
                <a:moveTo>
                  <a:pt x="1009445" y="0"/>
                </a:moveTo>
                <a:cubicBezTo>
                  <a:pt x="1031166" y="0"/>
                  <a:pt x="1048774" y="0"/>
                  <a:pt x="1048774" y="0"/>
                </a:cubicBezTo>
                <a:lnTo>
                  <a:pt x="1048774" y="366716"/>
                </a:lnTo>
                <a:cubicBezTo>
                  <a:pt x="1048774" y="366716"/>
                  <a:pt x="1031166" y="366716"/>
                  <a:pt x="1009445" y="366716"/>
                </a:cubicBezTo>
                <a:lnTo>
                  <a:pt x="39329" y="366716"/>
                </a:lnTo>
                <a:cubicBezTo>
                  <a:pt x="17608" y="366716"/>
                  <a:pt x="0" y="366716"/>
                  <a:pt x="0" y="366716"/>
                </a:cubicBezTo>
                <a:lnTo>
                  <a:pt x="0" y="0"/>
                </a:lnTo>
                <a:cubicBezTo>
                  <a:pt x="0" y="0"/>
                  <a:pt x="17608" y="0"/>
                  <a:pt x="39329" y="0"/>
                </a:cubicBezTo>
                <a:close/>
              </a:path>
            </a:pathLst>
          </a:custGeom>
          <a:solidFill>
            <a:srgbClr val="FFFFFF"/>
          </a:solidFill>
          <a:ln w="5244"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69" name="任意形状 68"/>
          <p:cNvSpPr/>
          <p:nvPr/>
        </p:nvSpPr>
        <p:spPr>
          <a:xfrm>
            <a:off x="1376516" y="2640749"/>
            <a:ext cx="1048774" cy="117873"/>
          </a:xfrm>
          <a:custGeom>
            <a:avLst/>
            <a:gdLst>
              <a:gd name="connsiteX0" fmla="*/ 1009445 w 1048774"/>
              <a:gd name="connsiteY0" fmla="*/ 0 h 117873"/>
              <a:gd name="connsiteX1" fmla="*/ 1048774 w 1048774"/>
              <a:gd name="connsiteY1" fmla="*/ 0 h 117873"/>
              <a:gd name="connsiteX2" fmla="*/ 1048774 w 1048774"/>
              <a:gd name="connsiteY2" fmla="*/ 117873 h 117873"/>
              <a:gd name="connsiteX3" fmla="*/ 1009445 w 1048774"/>
              <a:gd name="connsiteY3" fmla="*/ 117873 h 117873"/>
              <a:gd name="connsiteX4" fmla="*/ 39329 w 1048774"/>
              <a:gd name="connsiteY4" fmla="*/ 117873 h 117873"/>
              <a:gd name="connsiteX5" fmla="*/ 0 w 1048774"/>
              <a:gd name="connsiteY5" fmla="*/ 117873 h 117873"/>
              <a:gd name="connsiteX6" fmla="*/ 0 w 1048774"/>
              <a:gd name="connsiteY6" fmla="*/ 0 h 117873"/>
              <a:gd name="connsiteX7" fmla="*/ 39329 w 1048774"/>
              <a:gd name="connsiteY7" fmla="*/ 0 h 117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8774" h="117873">
                <a:moveTo>
                  <a:pt x="1009445" y="0"/>
                </a:moveTo>
                <a:cubicBezTo>
                  <a:pt x="1031166" y="0"/>
                  <a:pt x="1048774" y="0"/>
                  <a:pt x="1048774" y="0"/>
                </a:cubicBezTo>
                <a:lnTo>
                  <a:pt x="1048774" y="117873"/>
                </a:lnTo>
                <a:cubicBezTo>
                  <a:pt x="1048774" y="117873"/>
                  <a:pt x="1031166" y="117873"/>
                  <a:pt x="1009445" y="117873"/>
                </a:cubicBezTo>
                <a:lnTo>
                  <a:pt x="39329" y="117873"/>
                </a:lnTo>
                <a:cubicBezTo>
                  <a:pt x="17608" y="117873"/>
                  <a:pt x="0" y="117873"/>
                  <a:pt x="0" y="117873"/>
                </a:cubicBezTo>
                <a:lnTo>
                  <a:pt x="0" y="0"/>
                </a:lnTo>
                <a:cubicBezTo>
                  <a:pt x="0" y="0"/>
                  <a:pt x="17608" y="0"/>
                  <a:pt x="39329" y="0"/>
                </a:cubicBezTo>
                <a:close/>
              </a:path>
            </a:pathLst>
          </a:custGeom>
          <a:solidFill>
            <a:srgbClr val="64B5F6"/>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70" name="任意形状 69"/>
          <p:cNvSpPr/>
          <p:nvPr/>
        </p:nvSpPr>
        <p:spPr>
          <a:xfrm>
            <a:off x="1376516" y="2719331"/>
            <a:ext cx="1048774" cy="39291"/>
          </a:xfrm>
          <a:custGeom>
            <a:avLst/>
            <a:gdLst>
              <a:gd name="connsiteX0" fmla="*/ 0 w 1048774"/>
              <a:gd name="connsiteY0" fmla="*/ 0 h 39291"/>
              <a:gd name="connsiteX1" fmla="*/ 1048774 w 1048774"/>
              <a:gd name="connsiteY1" fmla="*/ 0 h 39291"/>
              <a:gd name="connsiteX2" fmla="*/ 1048774 w 1048774"/>
              <a:gd name="connsiteY2" fmla="*/ 39291 h 39291"/>
              <a:gd name="connsiteX3" fmla="*/ 0 w 1048774"/>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048774" h="39291">
                <a:moveTo>
                  <a:pt x="0" y="0"/>
                </a:moveTo>
                <a:lnTo>
                  <a:pt x="1048774" y="0"/>
                </a:lnTo>
                <a:lnTo>
                  <a:pt x="1048774" y="39291"/>
                </a:lnTo>
                <a:lnTo>
                  <a:pt x="0" y="39291"/>
                </a:lnTo>
                <a:close/>
              </a:path>
            </a:pathLst>
          </a:custGeom>
          <a:solidFill>
            <a:srgbClr val="64B5F6"/>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71" name="文本框 70"/>
          <p:cNvSpPr txBox="1"/>
          <p:nvPr/>
        </p:nvSpPr>
        <p:spPr>
          <a:xfrm>
            <a:off x="1540797" y="2600231"/>
            <a:ext cx="713658" cy="196208"/>
          </a:xfrm>
          <a:prstGeom prst="rect">
            <a:avLst/>
          </a:prstGeom>
          <a:noFill/>
        </p:spPr>
        <p:txBody>
          <a:bodyPr wrap="none" rtlCol="0">
            <a:spAutoFit/>
          </a:bodyPr>
          <a:lstStyle/>
          <a:p>
            <a:pPr algn="ctr"/>
            <a:r>
              <a:rPr lang="zh-CN" altLang="en-US" sz="675"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行政边界数据</a:t>
            </a:r>
          </a:p>
        </p:txBody>
      </p:sp>
      <p:sp>
        <p:nvSpPr>
          <p:cNvPr id="72" name="文本框 71"/>
          <p:cNvSpPr txBox="1"/>
          <p:nvPr/>
        </p:nvSpPr>
        <p:spPr>
          <a:xfrm>
            <a:off x="1366943" y="2752193"/>
            <a:ext cx="1067921"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sym typeface="微软雅黑"/>
                <a:rtl val="0"/>
              </a:rPr>
              <a:t>亦庄控规界</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15km</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缓冲区</a:t>
            </a:r>
          </a:p>
        </p:txBody>
      </p:sp>
      <p:sp>
        <p:nvSpPr>
          <p:cNvPr id="73" name="文本框 72"/>
          <p:cNvSpPr txBox="1"/>
          <p:nvPr/>
        </p:nvSpPr>
        <p:spPr>
          <a:xfrm>
            <a:off x="1527972" y="2850420"/>
            <a:ext cx="739306" cy="173124"/>
          </a:xfrm>
          <a:prstGeom prst="rect">
            <a:avLst/>
          </a:prstGeom>
          <a:noFill/>
        </p:spPr>
        <p:txBody>
          <a:bodyPr wrap="none" rtlCol="0">
            <a:spAutoFit/>
          </a:bodyPr>
          <a:lstStyle/>
          <a:p>
            <a:pPr algn="ctr"/>
            <a:r>
              <a:rPr lang="zh-CN" altLang="en-US" sz="525" spc="0" baseline="0">
                <a:solidFill>
                  <a:srgbClr val="888888"/>
                </a:solidFill>
                <a:latin typeface="Microsoft YaHei" panose="020B0503020204020204" pitchFamily="34" charset="-122"/>
                <a:ea typeface="Microsoft YaHei" panose="020B0503020204020204" pitchFamily="34" charset="-122"/>
                <a:sym typeface="微软雅黑"/>
                <a:rtl val="0"/>
              </a:rPr>
              <a:t>研究范围</a:t>
            </a:r>
            <a:r>
              <a:rPr lang="zh-CN" altLang="en-US" sz="525" spc="0" baseline="0">
                <a:solidFill>
                  <a:srgbClr val="888888"/>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707 km²</a:t>
            </a:r>
          </a:p>
        </p:txBody>
      </p:sp>
      <p:sp>
        <p:nvSpPr>
          <p:cNvPr id="75" name="任意形状 74"/>
          <p:cNvSpPr/>
          <p:nvPr/>
        </p:nvSpPr>
        <p:spPr>
          <a:xfrm>
            <a:off x="229419" y="3323265"/>
            <a:ext cx="2228645" cy="654850"/>
          </a:xfrm>
          <a:custGeom>
            <a:avLst/>
            <a:gdLst>
              <a:gd name="connsiteX0" fmla="*/ 2176207 w 2228645"/>
              <a:gd name="connsiteY0" fmla="*/ 0 h 654850"/>
              <a:gd name="connsiteX1" fmla="*/ 2228645 w 2228645"/>
              <a:gd name="connsiteY1" fmla="*/ 0 h 654850"/>
              <a:gd name="connsiteX2" fmla="*/ 2228645 w 2228645"/>
              <a:gd name="connsiteY2" fmla="*/ 654850 h 654850"/>
              <a:gd name="connsiteX3" fmla="*/ 2176207 w 2228645"/>
              <a:gd name="connsiteY3" fmla="*/ 654850 h 654850"/>
              <a:gd name="connsiteX4" fmla="*/ 52439 w 2228645"/>
              <a:gd name="connsiteY4" fmla="*/ 654850 h 654850"/>
              <a:gd name="connsiteX5" fmla="*/ 0 w 2228645"/>
              <a:gd name="connsiteY5" fmla="*/ 654850 h 654850"/>
              <a:gd name="connsiteX6" fmla="*/ 0 w 2228645"/>
              <a:gd name="connsiteY6" fmla="*/ 0 h 654850"/>
              <a:gd name="connsiteX7" fmla="*/ 52439 w 2228645"/>
              <a:gd name="connsiteY7" fmla="*/ 0 h 65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654850">
                <a:moveTo>
                  <a:pt x="2176207" y="0"/>
                </a:moveTo>
                <a:cubicBezTo>
                  <a:pt x="2205168" y="0"/>
                  <a:pt x="2228645" y="0"/>
                  <a:pt x="2228645" y="0"/>
                </a:cubicBezTo>
                <a:lnTo>
                  <a:pt x="2228645" y="654850"/>
                </a:lnTo>
                <a:cubicBezTo>
                  <a:pt x="2228645" y="654850"/>
                  <a:pt x="2205168" y="654850"/>
                  <a:pt x="2176207" y="654850"/>
                </a:cubicBezTo>
                <a:lnTo>
                  <a:pt x="52439" y="654850"/>
                </a:lnTo>
                <a:cubicBezTo>
                  <a:pt x="23478" y="654850"/>
                  <a:pt x="0" y="654850"/>
                  <a:pt x="0" y="654850"/>
                </a:cubicBezTo>
                <a:lnTo>
                  <a:pt x="0" y="0"/>
                </a:lnTo>
                <a:cubicBezTo>
                  <a:pt x="0" y="0"/>
                  <a:pt x="23478" y="0"/>
                  <a:pt x="52439" y="0"/>
                </a:cubicBezTo>
                <a:close/>
              </a:path>
            </a:pathLst>
          </a:custGeom>
          <a:solidFill>
            <a:srgbClr val="FFFFFF"/>
          </a:solidFill>
          <a:ln w="6555" cap="flat">
            <a:solidFill>
              <a:srgbClr val="0D47A1"/>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76" name="任意形状 75"/>
          <p:cNvSpPr/>
          <p:nvPr/>
        </p:nvSpPr>
        <p:spPr>
          <a:xfrm>
            <a:off x="229419" y="3304695"/>
            <a:ext cx="2228645" cy="162638"/>
          </a:xfrm>
          <a:custGeom>
            <a:avLst/>
            <a:gdLst>
              <a:gd name="connsiteX0" fmla="*/ 2176207 w 2228645"/>
              <a:gd name="connsiteY0" fmla="*/ 0 h 144067"/>
              <a:gd name="connsiteX1" fmla="*/ 2228645 w 2228645"/>
              <a:gd name="connsiteY1" fmla="*/ 0 h 144067"/>
              <a:gd name="connsiteX2" fmla="*/ 2228645 w 2228645"/>
              <a:gd name="connsiteY2" fmla="*/ 144067 h 144067"/>
              <a:gd name="connsiteX3" fmla="*/ 2176207 w 2228645"/>
              <a:gd name="connsiteY3" fmla="*/ 144067 h 144067"/>
              <a:gd name="connsiteX4" fmla="*/ 52439 w 2228645"/>
              <a:gd name="connsiteY4" fmla="*/ 144067 h 144067"/>
              <a:gd name="connsiteX5" fmla="*/ 0 w 2228645"/>
              <a:gd name="connsiteY5" fmla="*/ 144067 h 144067"/>
              <a:gd name="connsiteX6" fmla="*/ 0 w 2228645"/>
              <a:gd name="connsiteY6" fmla="*/ 0 h 144067"/>
              <a:gd name="connsiteX7" fmla="*/ 52439 w 2228645"/>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144067">
                <a:moveTo>
                  <a:pt x="2176207" y="0"/>
                </a:moveTo>
                <a:cubicBezTo>
                  <a:pt x="2205168" y="0"/>
                  <a:pt x="2228645" y="0"/>
                  <a:pt x="2228645" y="0"/>
                </a:cubicBezTo>
                <a:lnTo>
                  <a:pt x="2228645" y="144067"/>
                </a:lnTo>
                <a:cubicBezTo>
                  <a:pt x="2228645" y="144067"/>
                  <a:pt x="2205168" y="144067"/>
                  <a:pt x="2176207" y="144067"/>
                </a:cubicBezTo>
                <a:lnTo>
                  <a:pt x="52439" y="144067"/>
                </a:lnTo>
                <a:cubicBezTo>
                  <a:pt x="23478" y="144067"/>
                  <a:pt x="0" y="144067"/>
                  <a:pt x="0" y="144067"/>
                </a:cubicBezTo>
                <a:lnTo>
                  <a:pt x="0" y="0"/>
                </a:lnTo>
                <a:cubicBezTo>
                  <a:pt x="0" y="0"/>
                  <a:pt x="23478" y="0"/>
                  <a:pt x="52439" y="0"/>
                </a:cubicBezTo>
                <a:close/>
              </a:path>
            </a:pathLst>
          </a:custGeom>
          <a:solidFill>
            <a:srgbClr val="0D47A1"/>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77" name="任意形状 76"/>
          <p:cNvSpPr/>
          <p:nvPr/>
        </p:nvSpPr>
        <p:spPr>
          <a:xfrm>
            <a:off x="229419" y="3428041"/>
            <a:ext cx="2228645" cy="39291"/>
          </a:xfrm>
          <a:custGeom>
            <a:avLst/>
            <a:gdLst>
              <a:gd name="connsiteX0" fmla="*/ 0 w 2228645"/>
              <a:gd name="connsiteY0" fmla="*/ 0 h 39291"/>
              <a:gd name="connsiteX1" fmla="*/ 2228645 w 2228645"/>
              <a:gd name="connsiteY1" fmla="*/ 0 h 39291"/>
              <a:gd name="connsiteX2" fmla="*/ 2228645 w 2228645"/>
              <a:gd name="connsiteY2" fmla="*/ 39291 h 39291"/>
              <a:gd name="connsiteX3" fmla="*/ 0 w 2228645"/>
              <a:gd name="connsiteY3" fmla="*/ 39291 h 39291"/>
            </a:gdLst>
            <a:ahLst/>
            <a:cxnLst>
              <a:cxn ang="0">
                <a:pos x="connsiteX0" y="connsiteY0"/>
              </a:cxn>
              <a:cxn ang="0">
                <a:pos x="connsiteX1" y="connsiteY1"/>
              </a:cxn>
              <a:cxn ang="0">
                <a:pos x="connsiteX2" y="connsiteY2"/>
              </a:cxn>
              <a:cxn ang="0">
                <a:pos x="connsiteX3" y="connsiteY3"/>
              </a:cxn>
            </a:cxnLst>
            <a:rect l="l" t="t" r="r" b="b"/>
            <a:pathLst>
              <a:path w="2228645" h="39291">
                <a:moveTo>
                  <a:pt x="0" y="0"/>
                </a:moveTo>
                <a:lnTo>
                  <a:pt x="2228645" y="0"/>
                </a:lnTo>
                <a:lnTo>
                  <a:pt x="2228645" y="39291"/>
                </a:lnTo>
                <a:lnTo>
                  <a:pt x="0" y="39291"/>
                </a:lnTo>
                <a:close/>
              </a:path>
            </a:pathLst>
          </a:custGeom>
          <a:solidFill>
            <a:srgbClr val="0D47A1"/>
          </a:solidFill>
          <a:ln w="6555" cap="flat">
            <a:no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78" name="文本框 77"/>
          <p:cNvSpPr txBox="1"/>
          <p:nvPr/>
        </p:nvSpPr>
        <p:spPr>
          <a:xfrm>
            <a:off x="913427" y="3290337"/>
            <a:ext cx="854075" cy="206375"/>
          </a:xfrm>
          <a:prstGeom prst="rect">
            <a:avLst/>
          </a:prstGeom>
          <a:noFill/>
        </p:spPr>
        <p:txBody>
          <a:bodyPr wrap="none" rtlCol="0">
            <a:spAutoFit/>
          </a:bodyPr>
          <a:lstStyle/>
          <a:p>
            <a:pPr algn="ctr"/>
            <a:r>
              <a:rPr lang="zh-CN" altLang="en-US" sz="750" b="1" spc="0" baseline="0" dirty="0">
                <a:solidFill>
                  <a:srgbClr val="FFFFFF"/>
                </a:solidFill>
                <a:latin typeface="Microsoft YaHei" panose="020B0503020204020204" pitchFamily="34" charset="-122"/>
                <a:ea typeface="Microsoft YaHei" panose="020B0503020204020204" pitchFamily="34" charset="-122"/>
                <a:sym typeface="黑体" panose="02010600030101010101" charset="-122"/>
                <a:rtl val="0"/>
              </a:rPr>
              <a:t>数据处理流水线</a:t>
            </a:r>
          </a:p>
        </p:txBody>
      </p:sp>
      <p:sp>
        <p:nvSpPr>
          <p:cNvPr id="79" name="文本框 78"/>
          <p:cNvSpPr txBox="1"/>
          <p:nvPr/>
        </p:nvSpPr>
        <p:spPr>
          <a:xfrm>
            <a:off x="151046" y="3482931"/>
            <a:ext cx="1579279" cy="184666"/>
          </a:xfrm>
          <a:prstGeom prst="rect">
            <a:avLst/>
          </a:prstGeom>
          <a:noFill/>
        </p:spPr>
        <p:txBody>
          <a:bodyPr wrap="none" rtlCol="0">
            <a:spAutoFit/>
          </a:bodyPr>
          <a:lstStyle/>
          <a:p>
            <a:pPr algn="ct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BD-09 → GCJ-02 → WGS84 </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坐标转换</a:t>
            </a:r>
          </a:p>
        </p:txBody>
      </p:sp>
      <p:sp>
        <p:nvSpPr>
          <p:cNvPr id="80" name="文本框 79"/>
          <p:cNvSpPr txBox="1"/>
          <p:nvPr/>
        </p:nvSpPr>
        <p:spPr>
          <a:xfrm>
            <a:off x="151790" y="3578776"/>
            <a:ext cx="1975221" cy="184666"/>
          </a:xfrm>
          <a:prstGeom prst="rect">
            <a:avLst/>
          </a:prstGeom>
          <a:noFill/>
        </p:spPr>
        <p:txBody>
          <a:bodyPr wrap="none" rtlCol="0">
            <a:spAutoFit/>
          </a:bodyPr>
          <a:lstStyle/>
          <a:p>
            <a:pPr algn="ct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路网裁剪</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NetworkX</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有向图</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Dijkstra</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行程时间</a:t>
            </a:r>
          </a:p>
        </p:txBody>
      </p:sp>
      <p:sp>
        <p:nvSpPr>
          <p:cNvPr id="81" name="文本框 80"/>
          <p:cNvSpPr txBox="1"/>
          <p:nvPr/>
        </p:nvSpPr>
        <p:spPr>
          <a:xfrm>
            <a:off x="160243" y="3675573"/>
            <a:ext cx="1794082" cy="184666"/>
          </a:xfrm>
          <a:prstGeom prst="rect">
            <a:avLst/>
          </a:prstGeom>
          <a:noFill/>
        </p:spPr>
        <p:txBody>
          <a:bodyPr wrap="none" rtlCol="0">
            <a:spAutoFit/>
          </a:bodyPr>
          <a:lstStyle/>
          <a:p>
            <a:pPr algn="ct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人口空间分配（七普年龄结构</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地块级人口）</a:t>
            </a:r>
          </a:p>
        </p:txBody>
      </p:sp>
      <p:sp>
        <p:nvSpPr>
          <p:cNvPr id="82" name="文本框 81"/>
          <p:cNvSpPr txBox="1"/>
          <p:nvPr/>
        </p:nvSpPr>
        <p:spPr>
          <a:xfrm>
            <a:off x="158499" y="3774335"/>
            <a:ext cx="1887056" cy="184666"/>
          </a:xfrm>
          <a:prstGeom prst="rect">
            <a:avLst/>
          </a:prstGeom>
          <a:noFill/>
        </p:spPr>
        <p:txBody>
          <a:bodyPr wrap="none" rtlCol="0">
            <a:spAutoFit/>
          </a:bodyPr>
          <a:lstStyle/>
          <a:p>
            <a:pPr algn="ct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地铁网络拓扑</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OD/</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通勤数据裁剪</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POI</a:t>
            </a:r>
            <a:r>
              <a:rPr lang="zh-CN" altLang="en-US" sz="600" spc="0" baseline="0" dirty="0">
                <a:solidFill>
                  <a:srgbClr val="333333"/>
                </a:solidFill>
                <a:latin typeface="Microsoft YaHei" panose="020B0503020204020204" pitchFamily="34" charset="-122"/>
                <a:ea typeface="Microsoft YaHei" panose="020B0503020204020204" pitchFamily="34" charset="-122"/>
                <a:cs typeface="Arial" panose="020B0604020202090204"/>
                <a:sym typeface="微软雅黑"/>
                <a:rtl val="0"/>
              </a:rPr>
              <a:t>筛选分类</a:t>
            </a:r>
          </a:p>
        </p:txBody>
      </p:sp>
      <p:sp>
        <p:nvSpPr>
          <p:cNvPr id="84" name="任意形状 83"/>
          <p:cNvSpPr/>
          <p:nvPr/>
        </p:nvSpPr>
        <p:spPr>
          <a:xfrm>
            <a:off x="229419" y="4221485"/>
            <a:ext cx="2228645" cy="407719"/>
          </a:xfrm>
          <a:custGeom>
            <a:avLst/>
            <a:gdLst>
              <a:gd name="connsiteX0" fmla="*/ 2176207 w 2228645"/>
              <a:gd name="connsiteY0" fmla="*/ 0 h 314328"/>
              <a:gd name="connsiteX1" fmla="*/ 2228645 w 2228645"/>
              <a:gd name="connsiteY1" fmla="*/ 0 h 314328"/>
              <a:gd name="connsiteX2" fmla="*/ 2228645 w 2228645"/>
              <a:gd name="connsiteY2" fmla="*/ 314328 h 314328"/>
              <a:gd name="connsiteX3" fmla="*/ 2176207 w 2228645"/>
              <a:gd name="connsiteY3" fmla="*/ 314328 h 314328"/>
              <a:gd name="connsiteX4" fmla="*/ 52439 w 2228645"/>
              <a:gd name="connsiteY4" fmla="*/ 314328 h 314328"/>
              <a:gd name="connsiteX5" fmla="*/ 0 w 2228645"/>
              <a:gd name="connsiteY5" fmla="*/ 314328 h 314328"/>
              <a:gd name="connsiteX6" fmla="*/ 0 w 2228645"/>
              <a:gd name="connsiteY6" fmla="*/ 0 h 314328"/>
              <a:gd name="connsiteX7" fmla="*/ 52439 w 2228645"/>
              <a:gd name="connsiteY7" fmla="*/ 0 h 314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8645" h="314328">
                <a:moveTo>
                  <a:pt x="2176207" y="0"/>
                </a:moveTo>
                <a:cubicBezTo>
                  <a:pt x="2205168" y="0"/>
                  <a:pt x="2228645" y="0"/>
                  <a:pt x="2228645" y="0"/>
                </a:cubicBezTo>
                <a:lnTo>
                  <a:pt x="2228645" y="314328"/>
                </a:lnTo>
                <a:cubicBezTo>
                  <a:pt x="2228645" y="314328"/>
                  <a:pt x="2205168" y="314328"/>
                  <a:pt x="2176207" y="314328"/>
                </a:cubicBezTo>
                <a:lnTo>
                  <a:pt x="52439" y="314328"/>
                </a:lnTo>
                <a:cubicBezTo>
                  <a:pt x="23478" y="314328"/>
                  <a:pt x="0" y="314328"/>
                  <a:pt x="0" y="314328"/>
                </a:cubicBezTo>
                <a:lnTo>
                  <a:pt x="0" y="0"/>
                </a:lnTo>
                <a:cubicBezTo>
                  <a:pt x="0" y="0"/>
                  <a:pt x="23478" y="0"/>
                  <a:pt x="52439" y="0"/>
                </a:cubicBezTo>
                <a:close/>
              </a:path>
            </a:pathLst>
          </a:custGeom>
          <a:solidFill>
            <a:srgbClr val="FFFFFF"/>
          </a:solidFill>
          <a:ln w="6555" cap="flat">
            <a:solidFill>
              <a:srgbClr val="0D47A1"/>
            </a:solidFill>
            <a:custDash>
              <a:ds d="300000" sp="150000"/>
            </a:custDash>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85" name="文本框 84"/>
          <p:cNvSpPr txBox="1"/>
          <p:nvPr/>
        </p:nvSpPr>
        <p:spPr>
          <a:xfrm>
            <a:off x="807305" y="4285027"/>
            <a:ext cx="1066318" cy="196208"/>
          </a:xfrm>
          <a:prstGeom prst="rect">
            <a:avLst/>
          </a:prstGeom>
          <a:noFill/>
        </p:spPr>
        <p:txBody>
          <a:bodyPr wrap="none" rtlCol="0">
            <a:spAutoFit/>
          </a:bodyPr>
          <a:lstStyle/>
          <a:p>
            <a:pPr algn="ctr"/>
            <a:r>
              <a:rPr lang="zh-CN" altLang="en-US" sz="675" b="1" spc="0" baseline="0" dirty="0">
                <a:solidFill>
                  <a:srgbClr val="0D47A1"/>
                </a:solidFill>
                <a:latin typeface="Microsoft YaHei" panose="020B0503020204020204" pitchFamily="34" charset="-122"/>
                <a:ea typeface="Microsoft YaHei" panose="020B0503020204020204" pitchFamily="34" charset="-122"/>
                <a:sym typeface="黑体" panose="02010600030101010101" charset="-122"/>
                <a:rtl val="0"/>
              </a:rPr>
              <a:t>数据整合与一致性检验</a:t>
            </a:r>
          </a:p>
        </p:txBody>
      </p:sp>
      <p:sp>
        <p:nvSpPr>
          <p:cNvPr id="86" name="文本框 85"/>
          <p:cNvSpPr txBox="1"/>
          <p:nvPr/>
        </p:nvSpPr>
        <p:spPr>
          <a:xfrm>
            <a:off x="645474" y="4412759"/>
            <a:ext cx="1396536" cy="184666"/>
          </a:xfrm>
          <a:prstGeom prst="rect">
            <a:avLst/>
          </a:prstGeom>
          <a:noFill/>
        </p:spPr>
        <p:txBody>
          <a:bodyPr wrap="none" rtlCol="0">
            <a:spAutoFit/>
          </a:bodyPr>
          <a:lstStyle/>
          <a:p>
            <a:pPr algn="ctr"/>
            <a:r>
              <a:rPr lang="zh-CN" altLang="en-US" sz="600" spc="0" baseline="0">
                <a:solidFill>
                  <a:srgbClr val="555555"/>
                </a:solidFill>
                <a:latin typeface="Microsoft YaHei" panose="020B0503020204020204" pitchFamily="34" charset="-122"/>
                <a:ea typeface="Microsoft YaHei" panose="020B0503020204020204" pitchFamily="34" charset="-122"/>
                <a:sym typeface="微软雅黑"/>
                <a:rtl val="0"/>
              </a:rPr>
              <a:t>空间叠加</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拓扑检查</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Arial" panose="020B0604020202090204"/>
                <a:rtl val="0"/>
              </a:rPr>
              <a:t> · </a:t>
            </a:r>
            <a:r>
              <a:rPr lang="zh-CN" altLang="en-US" sz="600" spc="0" baseline="0">
                <a:solidFill>
                  <a:srgbClr val="555555"/>
                </a:solidFill>
                <a:latin typeface="Microsoft YaHei" panose="020B0503020204020204" pitchFamily="34" charset="-122"/>
                <a:ea typeface="Microsoft YaHei" panose="020B0503020204020204" pitchFamily="34" charset="-122"/>
                <a:cs typeface="Arial" panose="020B0604020202090204"/>
                <a:sym typeface="微软雅黑"/>
                <a:rtl val="0"/>
              </a:rPr>
              <a:t>场景参数输出</a:t>
            </a:r>
          </a:p>
        </p:txBody>
      </p:sp>
      <p:sp>
        <p:nvSpPr>
          <p:cNvPr id="88" name="任意形状 87"/>
          <p:cNvSpPr/>
          <p:nvPr/>
        </p:nvSpPr>
        <p:spPr>
          <a:xfrm>
            <a:off x="2687483" y="1660902"/>
            <a:ext cx="1638709" cy="471492"/>
          </a:xfrm>
          <a:custGeom>
            <a:avLst/>
            <a:gdLst>
              <a:gd name="connsiteX0" fmla="*/ 1586271 w 1638709"/>
              <a:gd name="connsiteY0" fmla="*/ 0 h 471492"/>
              <a:gd name="connsiteX1" fmla="*/ 1638710 w 1638709"/>
              <a:gd name="connsiteY1" fmla="*/ 0 h 471492"/>
              <a:gd name="connsiteX2" fmla="*/ 1638710 w 1638709"/>
              <a:gd name="connsiteY2" fmla="*/ 471492 h 471492"/>
              <a:gd name="connsiteX3" fmla="*/ 1586271 w 1638709"/>
              <a:gd name="connsiteY3" fmla="*/ 471492 h 471492"/>
              <a:gd name="connsiteX4" fmla="*/ 52439 w 1638709"/>
              <a:gd name="connsiteY4" fmla="*/ 471492 h 471492"/>
              <a:gd name="connsiteX5" fmla="*/ 0 w 1638709"/>
              <a:gd name="connsiteY5" fmla="*/ 471492 h 471492"/>
              <a:gd name="connsiteX6" fmla="*/ 0 w 1638709"/>
              <a:gd name="connsiteY6" fmla="*/ 0 h 471492"/>
              <a:gd name="connsiteX7" fmla="*/ 52439 w 1638709"/>
              <a:gd name="connsiteY7" fmla="*/ 0 h 47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471492">
                <a:moveTo>
                  <a:pt x="1586271" y="0"/>
                </a:moveTo>
                <a:cubicBezTo>
                  <a:pt x="1615232" y="0"/>
                  <a:pt x="1638710" y="0"/>
                  <a:pt x="1638710" y="0"/>
                </a:cubicBezTo>
                <a:lnTo>
                  <a:pt x="1638710" y="471492"/>
                </a:lnTo>
                <a:cubicBezTo>
                  <a:pt x="1638710" y="471492"/>
                  <a:pt x="1615232" y="471492"/>
                  <a:pt x="1586271" y="471492"/>
                </a:cubicBezTo>
                <a:lnTo>
                  <a:pt x="52439" y="471492"/>
                </a:lnTo>
                <a:cubicBezTo>
                  <a:pt x="23478" y="471492"/>
                  <a:pt x="0" y="471492"/>
                  <a:pt x="0" y="471492"/>
                </a:cubicBezTo>
                <a:lnTo>
                  <a:pt x="0" y="0"/>
                </a:lnTo>
                <a:cubicBezTo>
                  <a:pt x="0" y="0"/>
                  <a:pt x="23478" y="0"/>
                  <a:pt x="52439" y="0"/>
                </a:cubicBezTo>
                <a:close/>
              </a:path>
            </a:pathLst>
          </a:custGeom>
          <a:solidFill>
            <a:srgbClr val="FFFFFF"/>
          </a:solidFill>
          <a:ln w="6555" cap="flat">
            <a:solidFill>
              <a:srgbClr val="E65100"/>
            </a:solidFill>
            <a:prstDash val="solid"/>
            <a:miter/>
          </a:ln>
        </p:spPr>
        <p:txBody>
          <a:bodyPr rtlCol="0" anchor="ctr"/>
          <a:lstStyle/>
          <a:p>
            <a:pPr algn="ctr"/>
            <a:endParaRPr lang="zh-CN" altLang="en-US"/>
          </a:p>
        </p:txBody>
      </p:sp>
      <p:sp>
        <p:nvSpPr>
          <p:cNvPr id="89" name="任意形状 88"/>
          <p:cNvSpPr/>
          <p:nvPr/>
        </p:nvSpPr>
        <p:spPr>
          <a:xfrm>
            <a:off x="2687483" y="1660902"/>
            <a:ext cx="1638709" cy="144067"/>
          </a:xfrm>
          <a:custGeom>
            <a:avLst/>
            <a:gdLst>
              <a:gd name="connsiteX0" fmla="*/ 1586271 w 1638709"/>
              <a:gd name="connsiteY0" fmla="*/ 0 h 144067"/>
              <a:gd name="connsiteX1" fmla="*/ 1638710 w 1638709"/>
              <a:gd name="connsiteY1" fmla="*/ 0 h 144067"/>
              <a:gd name="connsiteX2" fmla="*/ 1638710 w 1638709"/>
              <a:gd name="connsiteY2" fmla="*/ 144067 h 144067"/>
              <a:gd name="connsiteX3" fmla="*/ 1586271 w 1638709"/>
              <a:gd name="connsiteY3" fmla="*/ 144067 h 144067"/>
              <a:gd name="connsiteX4" fmla="*/ 52439 w 1638709"/>
              <a:gd name="connsiteY4" fmla="*/ 144067 h 144067"/>
              <a:gd name="connsiteX5" fmla="*/ 0 w 1638709"/>
              <a:gd name="connsiteY5" fmla="*/ 144067 h 144067"/>
              <a:gd name="connsiteX6" fmla="*/ 0 w 1638709"/>
              <a:gd name="connsiteY6" fmla="*/ 0 h 144067"/>
              <a:gd name="connsiteX7" fmla="*/ 52439 w 1638709"/>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067">
                <a:moveTo>
                  <a:pt x="1586271" y="0"/>
                </a:moveTo>
                <a:cubicBezTo>
                  <a:pt x="1615232" y="0"/>
                  <a:pt x="1638710" y="0"/>
                  <a:pt x="1638710" y="0"/>
                </a:cubicBezTo>
                <a:lnTo>
                  <a:pt x="1638710" y="144067"/>
                </a:lnTo>
                <a:cubicBezTo>
                  <a:pt x="1638710" y="144067"/>
                  <a:pt x="1615232" y="144067"/>
                  <a:pt x="1586271" y="144067"/>
                </a:cubicBezTo>
                <a:lnTo>
                  <a:pt x="52439" y="144067"/>
                </a:lnTo>
                <a:cubicBezTo>
                  <a:pt x="23478" y="144067"/>
                  <a:pt x="0" y="144067"/>
                  <a:pt x="0" y="144067"/>
                </a:cubicBezTo>
                <a:lnTo>
                  <a:pt x="0" y="0"/>
                </a:lnTo>
                <a:cubicBezTo>
                  <a:pt x="0" y="0"/>
                  <a:pt x="23478" y="0"/>
                  <a:pt x="52439" y="0"/>
                </a:cubicBezTo>
                <a:close/>
              </a:path>
            </a:pathLst>
          </a:custGeom>
          <a:solidFill>
            <a:srgbClr val="E65100"/>
          </a:solidFill>
          <a:ln w="6555" cap="flat">
            <a:noFill/>
            <a:prstDash val="solid"/>
            <a:miter/>
          </a:ln>
        </p:spPr>
        <p:txBody>
          <a:bodyPr rtlCol="0" anchor="ctr"/>
          <a:lstStyle/>
          <a:p>
            <a:pPr algn="ctr"/>
            <a:endParaRPr lang="zh-CN" altLang="en-US"/>
          </a:p>
        </p:txBody>
      </p:sp>
      <p:sp>
        <p:nvSpPr>
          <p:cNvPr id="90" name="任意形状 89"/>
          <p:cNvSpPr/>
          <p:nvPr/>
        </p:nvSpPr>
        <p:spPr>
          <a:xfrm>
            <a:off x="2687483" y="1765678"/>
            <a:ext cx="1638709" cy="39291"/>
          </a:xfrm>
          <a:custGeom>
            <a:avLst/>
            <a:gdLst>
              <a:gd name="connsiteX0" fmla="*/ 0 w 1638709"/>
              <a:gd name="connsiteY0" fmla="*/ 0 h 39291"/>
              <a:gd name="connsiteX1" fmla="*/ 1638710 w 1638709"/>
              <a:gd name="connsiteY1" fmla="*/ 0 h 39291"/>
              <a:gd name="connsiteX2" fmla="*/ 1638710 w 1638709"/>
              <a:gd name="connsiteY2" fmla="*/ 39291 h 39291"/>
              <a:gd name="connsiteX3" fmla="*/ 0 w 1638709"/>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638709" h="39291">
                <a:moveTo>
                  <a:pt x="0" y="0"/>
                </a:moveTo>
                <a:lnTo>
                  <a:pt x="1638710" y="0"/>
                </a:lnTo>
                <a:lnTo>
                  <a:pt x="1638710" y="39291"/>
                </a:lnTo>
                <a:lnTo>
                  <a:pt x="0" y="39291"/>
                </a:lnTo>
                <a:close/>
              </a:path>
            </a:pathLst>
          </a:custGeom>
          <a:solidFill>
            <a:srgbClr val="E65100"/>
          </a:solidFill>
          <a:ln w="6555" cap="flat">
            <a:noFill/>
            <a:prstDash val="solid"/>
            <a:miter/>
          </a:ln>
        </p:spPr>
        <p:txBody>
          <a:bodyPr rtlCol="0" anchor="ctr"/>
          <a:lstStyle/>
          <a:p>
            <a:pPr algn="ctr"/>
            <a:endParaRPr lang="zh-CN" altLang="en-US"/>
          </a:p>
        </p:txBody>
      </p:sp>
      <p:sp>
        <p:nvSpPr>
          <p:cNvPr id="91" name="文本框 90"/>
          <p:cNvSpPr txBox="1"/>
          <p:nvPr/>
        </p:nvSpPr>
        <p:spPr>
          <a:xfrm>
            <a:off x="3020095" y="1626588"/>
            <a:ext cx="966931"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高斯烟羽扩散模型</a:t>
            </a:r>
          </a:p>
        </p:txBody>
      </p:sp>
      <p:sp>
        <p:nvSpPr>
          <p:cNvPr id="92" name="文本框 91"/>
          <p:cNvSpPr txBox="1"/>
          <p:nvPr/>
        </p:nvSpPr>
        <p:spPr>
          <a:xfrm>
            <a:off x="2697962" y="1785959"/>
            <a:ext cx="1617752" cy="184666"/>
          </a:xfrm>
          <a:prstGeom prst="rect">
            <a:avLst/>
          </a:prstGeom>
          <a:noFill/>
        </p:spPr>
        <p:txBody>
          <a:bodyPr wrap="none" rtlCol="0">
            <a:spAutoFit/>
          </a:bodyPr>
          <a:lstStyle/>
          <a:p>
            <a:pPr algn="ctr"/>
            <a:r>
              <a:rPr lang="zh-CN" altLang="en-US" sz="600" spc="0" baseline="0" dirty="0">
                <a:solidFill>
                  <a:srgbClr val="333333"/>
                </a:solidFill>
                <a:latin typeface="Arial" panose="020B0604020202090204"/>
                <a:cs typeface="Arial" panose="020B0604020202090204"/>
                <a:sym typeface="Arial" panose="020B0604020202090204"/>
                <a:rtl val="0"/>
              </a:rPr>
              <a:t>Cl</a:t>
            </a:r>
            <a:r>
              <a:rPr lang="zh-CN" altLang="en-US" sz="600" spc="0" baseline="0" dirty="0">
                <a:solidFill>
                  <a:srgbClr val="333333"/>
                </a:solidFill>
                <a:latin typeface="Cambria Math"/>
                <a:cs typeface="Arial" panose="020B0604020202090204"/>
                <a:sym typeface="Cambria Math"/>
                <a:rtl val="0"/>
              </a:rPr>
              <a:t>₂</a:t>
            </a:r>
            <a:r>
              <a:rPr lang="zh-CN" altLang="en-US" sz="600" spc="0" baseline="0" dirty="0">
                <a:solidFill>
                  <a:srgbClr val="333333"/>
                </a:solidFill>
                <a:latin typeface="微软雅黑"/>
                <a:ea typeface="微软雅黑"/>
                <a:cs typeface="Arial" panose="020B0604020202090204"/>
                <a:sym typeface="微软雅黑"/>
                <a:rtl val="0"/>
              </a:rPr>
              <a:t>泄漏</a:t>
            </a:r>
            <a:r>
              <a:rPr lang="zh-CN" altLang="en-US" sz="600" spc="0" baseline="0" dirty="0">
                <a:solidFill>
                  <a:srgbClr val="333333"/>
                </a:solidFill>
                <a:latin typeface="Arial" panose="020B0604020202090204"/>
                <a:ea typeface="微软雅黑"/>
                <a:cs typeface="Arial" panose="020B0604020202090204"/>
                <a:sym typeface="Arial" panose="020B0604020202090204"/>
                <a:rtl val="0"/>
              </a:rPr>
              <a:t> 5 kg/min · </a:t>
            </a:r>
            <a:r>
              <a:rPr lang="zh-CN" altLang="en-US" sz="600" spc="0" baseline="0" dirty="0">
                <a:solidFill>
                  <a:srgbClr val="333333"/>
                </a:solidFill>
                <a:latin typeface="微软雅黑"/>
                <a:ea typeface="微软雅黑"/>
                <a:cs typeface="Arial" panose="020B0604020202090204"/>
                <a:sym typeface="微软雅黑"/>
                <a:rtl val="0"/>
              </a:rPr>
              <a:t>风速</a:t>
            </a:r>
            <a:r>
              <a:rPr lang="zh-CN" altLang="en-US" sz="600" spc="0" baseline="0" dirty="0">
                <a:solidFill>
                  <a:srgbClr val="333333"/>
                </a:solidFill>
                <a:latin typeface="Arial" panose="020B0604020202090204"/>
                <a:ea typeface="微软雅黑"/>
                <a:cs typeface="Arial" panose="020B0604020202090204"/>
                <a:sym typeface="Arial" panose="020B0604020202090204"/>
                <a:rtl val="0"/>
              </a:rPr>
              <a:t> 3 m/s · D</a:t>
            </a:r>
            <a:r>
              <a:rPr lang="zh-CN" altLang="en-US" sz="600" spc="0" baseline="0" dirty="0">
                <a:solidFill>
                  <a:srgbClr val="333333"/>
                </a:solidFill>
                <a:latin typeface="微软雅黑"/>
                <a:ea typeface="微软雅黑"/>
                <a:cs typeface="Arial" panose="020B0604020202090204"/>
                <a:sym typeface="微软雅黑"/>
                <a:rtl val="0"/>
              </a:rPr>
              <a:t>级稳定度</a:t>
            </a:r>
          </a:p>
        </p:txBody>
      </p:sp>
      <p:sp>
        <p:nvSpPr>
          <p:cNvPr id="93" name="文本框 92"/>
          <p:cNvSpPr txBox="1"/>
          <p:nvPr/>
        </p:nvSpPr>
        <p:spPr>
          <a:xfrm>
            <a:off x="2698764" y="1881464"/>
            <a:ext cx="1616148" cy="184666"/>
          </a:xfrm>
          <a:prstGeom prst="rect">
            <a:avLst/>
          </a:prstGeom>
          <a:noFill/>
        </p:spPr>
        <p:txBody>
          <a:bodyPr wrap="none" rtlCol="0">
            <a:spAutoFit/>
          </a:bodyPr>
          <a:lstStyle/>
          <a:p>
            <a:pPr algn="ctr"/>
            <a:r>
              <a:rPr lang="zh-CN" altLang="en-US" sz="600" spc="0" baseline="0" dirty="0">
                <a:solidFill>
                  <a:srgbClr val="666666"/>
                </a:solidFill>
                <a:latin typeface="Arial" panose="020B0604020202090204"/>
                <a:cs typeface="Arial" panose="020B0604020202090204"/>
                <a:sym typeface="Arial" panose="020B0604020202090204"/>
                <a:rtl val="0"/>
              </a:rPr>
              <a:t>Pasquill-Gifford</a:t>
            </a:r>
            <a:r>
              <a:rPr lang="zh-CN" altLang="en-US" sz="600" spc="0" baseline="0" dirty="0">
                <a:solidFill>
                  <a:srgbClr val="666666"/>
                </a:solidFill>
                <a:latin typeface="微软雅黑"/>
                <a:ea typeface="微软雅黑"/>
                <a:cs typeface="Arial" panose="020B0604020202090204"/>
                <a:sym typeface="微软雅黑"/>
                <a:rtl val="0"/>
              </a:rPr>
              <a:t>扩散参数</a:t>
            </a:r>
            <a:r>
              <a:rPr lang="zh-CN" altLang="en-US" sz="600" spc="0" baseline="0" dirty="0">
                <a:solidFill>
                  <a:srgbClr val="666666"/>
                </a:solidFill>
                <a:latin typeface="Arial" panose="020B0604020202090204"/>
                <a:ea typeface="微软雅黑"/>
                <a:cs typeface="Arial" panose="020B0604020202090204"/>
                <a:sym typeface="Arial" panose="020B0604020202090204"/>
                <a:rtl val="0"/>
              </a:rPr>
              <a:t> · Briggs</a:t>
            </a:r>
            <a:r>
              <a:rPr lang="zh-CN" altLang="en-US" sz="600" spc="0" baseline="0" dirty="0">
                <a:solidFill>
                  <a:srgbClr val="666666"/>
                </a:solidFill>
                <a:latin typeface="微软雅黑"/>
                <a:ea typeface="微软雅黑"/>
                <a:cs typeface="Arial" panose="020B0604020202090204"/>
                <a:sym typeface="微软雅黑"/>
                <a:rtl val="0"/>
              </a:rPr>
              <a:t>城市公式</a:t>
            </a:r>
          </a:p>
        </p:txBody>
      </p:sp>
      <p:sp>
        <p:nvSpPr>
          <p:cNvPr id="94" name="文本框 93"/>
          <p:cNvSpPr txBox="1"/>
          <p:nvPr/>
        </p:nvSpPr>
        <p:spPr>
          <a:xfrm>
            <a:off x="2726817" y="1988447"/>
            <a:ext cx="1560042" cy="184666"/>
          </a:xfrm>
          <a:prstGeom prst="rect">
            <a:avLst/>
          </a:prstGeom>
          <a:noFill/>
        </p:spPr>
        <p:txBody>
          <a:bodyPr wrap="none" rtlCol="0">
            <a:spAutoFit/>
          </a:bodyPr>
          <a:lstStyle/>
          <a:p>
            <a:pPr algn="ctr"/>
            <a:r>
              <a:rPr lang="zh-CN" altLang="en-US" sz="600" spc="0" baseline="0">
                <a:solidFill>
                  <a:srgbClr val="666666"/>
                </a:solidFill>
                <a:latin typeface="Arial" panose="020B0604020202090204"/>
                <a:cs typeface="Arial" panose="020B0604020202090204"/>
                <a:sym typeface="Arial" panose="020B0604020202090204"/>
                <a:rtl val="0"/>
              </a:rPr>
              <a:t>C(x,y) = Q/(2πuσyσz) · exp(-y²/2σy²) · ...</a:t>
            </a:r>
          </a:p>
        </p:txBody>
      </p:sp>
      <p:sp>
        <p:nvSpPr>
          <p:cNvPr id="96" name="任意形状 95"/>
          <p:cNvSpPr/>
          <p:nvPr/>
        </p:nvSpPr>
        <p:spPr>
          <a:xfrm>
            <a:off x="2687483" y="2326767"/>
            <a:ext cx="1638709" cy="576268"/>
          </a:xfrm>
          <a:custGeom>
            <a:avLst/>
            <a:gdLst>
              <a:gd name="connsiteX0" fmla="*/ 1586271 w 1638709"/>
              <a:gd name="connsiteY0" fmla="*/ 0 h 576268"/>
              <a:gd name="connsiteX1" fmla="*/ 1638710 w 1638709"/>
              <a:gd name="connsiteY1" fmla="*/ 0 h 576268"/>
              <a:gd name="connsiteX2" fmla="*/ 1638710 w 1638709"/>
              <a:gd name="connsiteY2" fmla="*/ 576268 h 576268"/>
              <a:gd name="connsiteX3" fmla="*/ 1586271 w 1638709"/>
              <a:gd name="connsiteY3" fmla="*/ 576268 h 576268"/>
              <a:gd name="connsiteX4" fmla="*/ 52439 w 1638709"/>
              <a:gd name="connsiteY4" fmla="*/ 576268 h 576268"/>
              <a:gd name="connsiteX5" fmla="*/ 0 w 1638709"/>
              <a:gd name="connsiteY5" fmla="*/ 576268 h 576268"/>
              <a:gd name="connsiteX6" fmla="*/ 0 w 1638709"/>
              <a:gd name="connsiteY6" fmla="*/ 0 h 576268"/>
              <a:gd name="connsiteX7" fmla="*/ 52439 w 1638709"/>
              <a:gd name="connsiteY7" fmla="*/ 0 h 576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576268">
                <a:moveTo>
                  <a:pt x="1586271" y="0"/>
                </a:moveTo>
                <a:cubicBezTo>
                  <a:pt x="1615232" y="0"/>
                  <a:pt x="1638710" y="0"/>
                  <a:pt x="1638710" y="0"/>
                </a:cubicBezTo>
                <a:lnTo>
                  <a:pt x="1638710" y="576268"/>
                </a:lnTo>
                <a:cubicBezTo>
                  <a:pt x="1638710" y="576268"/>
                  <a:pt x="1615232" y="576268"/>
                  <a:pt x="1586271" y="576268"/>
                </a:cubicBezTo>
                <a:lnTo>
                  <a:pt x="52439" y="576268"/>
                </a:lnTo>
                <a:cubicBezTo>
                  <a:pt x="23478" y="576268"/>
                  <a:pt x="0" y="576268"/>
                  <a:pt x="0" y="576268"/>
                </a:cubicBezTo>
                <a:lnTo>
                  <a:pt x="0" y="0"/>
                </a:lnTo>
                <a:cubicBezTo>
                  <a:pt x="0" y="0"/>
                  <a:pt x="23478" y="0"/>
                  <a:pt x="52439" y="0"/>
                </a:cubicBezTo>
                <a:close/>
              </a:path>
            </a:pathLst>
          </a:custGeom>
          <a:solidFill>
            <a:srgbClr val="FFFFFF"/>
          </a:solidFill>
          <a:ln w="6555" cap="flat">
            <a:solidFill>
              <a:srgbClr val="E65100"/>
            </a:solidFill>
            <a:prstDash val="solid"/>
            <a:miter/>
          </a:ln>
        </p:spPr>
        <p:txBody>
          <a:bodyPr rtlCol="0" anchor="ctr"/>
          <a:lstStyle/>
          <a:p>
            <a:pPr algn="ctr"/>
            <a:endParaRPr lang="zh-CN" altLang="en-US"/>
          </a:p>
        </p:txBody>
      </p:sp>
      <p:sp>
        <p:nvSpPr>
          <p:cNvPr id="97" name="任意形状 96"/>
          <p:cNvSpPr/>
          <p:nvPr/>
        </p:nvSpPr>
        <p:spPr>
          <a:xfrm>
            <a:off x="2687483" y="2326767"/>
            <a:ext cx="1638709" cy="144067"/>
          </a:xfrm>
          <a:custGeom>
            <a:avLst/>
            <a:gdLst>
              <a:gd name="connsiteX0" fmla="*/ 1586271 w 1638709"/>
              <a:gd name="connsiteY0" fmla="*/ 0 h 144067"/>
              <a:gd name="connsiteX1" fmla="*/ 1638710 w 1638709"/>
              <a:gd name="connsiteY1" fmla="*/ 0 h 144067"/>
              <a:gd name="connsiteX2" fmla="*/ 1638710 w 1638709"/>
              <a:gd name="connsiteY2" fmla="*/ 144067 h 144067"/>
              <a:gd name="connsiteX3" fmla="*/ 1586271 w 1638709"/>
              <a:gd name="connsiteY3" fmla="*/ 144067 h 144067"/>
              <a:gd name="connsiteX4" fmla="*/ 52439 w 1638709"/>
              <a:gd name="connsiteY4" fmla="*/ 144067 h 144067"/>
              <a:gd name="connsiteX5" fmla="*/ 0 w 1638709"/>
              <a:gd name="connsiteY5" fmla="*/ 144067 h 144067"/>
              <a:gd name="connsiteX6" fmla="*/ 0 w 1638709"/>
              <a:gd name="connsiteY6" fmla="*/ 0 h 144067"/>
              <a:gd name="connsiteX7" fmla="*/ 52439 w 1638709"/>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067">
                <a:moveTo>
                  <a:pt x="1586271" y="0"/>
                </a:moveTo>
                <a:cubicBezTo>
                  <a:pt x="1615232" y="0"/>
                  <a:pt x="1638710" y="0"/>
                  <a:pt x="1638710" y="0"/>
                </a:cubicBezTo>
                <a:lnTo>
                  <a:pt x="1638710" y="144067"/>
                </a:lnTo>
                <a:cubicBezTo>
                  <a:pt x="1638710" y="144067"/>
                  <a:pt x="1615232" y="144067"/>
                  <a:pt x="1586271" y="144067"/>
                </a:cubicBezTo>
                <a:lnTo>
                  <a:pt x="52439" y="144067"/>
                </a:lnTo>
                <a:cubicBezTo>
                  <a:pt x="23478" y="144067"/>
                  <a:pt x="0" y="144067"/>
                  <a:pt x="0" y="144067"/>
                </a:cubicBezTo>
                <a:lnTo>
                  <a:pt x="0" y="0"/>
                </a:lnTo>
                <a:cubicBezTo>
                  <a:pt x="0" y="0"/>
                  <a:pt x="23478" y="0"/>
                  <a:pt x="52439" y="0"/>
                </a:cubicBezTo>
                <a:close/>
              </a:path>
            </a:pathLst>
          </a:custGeom>
          <a:solidFill>
            <a:srgbClr val="FF6F00"/>
          </a:solidFill>
          <a:ln w="6555" cap="flat">
            <a:noFill/>
            <a:prstDash val="solid"/>
            <a:miter/>
          </a:ln>
        </p:spPr>
        <p:txBody>
          <a:bodyPr rtlCol="0" anchor="ctr"/>
          <a:lstStyle/>
          <a:p>
            <a:pPr algn="ctr"/>
            <a:endParaRPr lang="zh-CN" altLang="en-US"/>
          </a:p>
        </p:txBody>
      </p:sp>
      <p:sp>
        <p:nvSpPr>
          <p:cNvPr id="98" name="任意形状 97"/>
          <p:cNvSpPr/>
          <p:nvPr/>
        </p:nvSpPr>
        <p:spPr>
          <a:xfrm>
            <a:off x="2687483" y="2431543"/>
            <a:ext cx="1638709" cy="39291"/>
          </a:xfrm>
          <a:custGeom>
            <a:avLst/>
            <a:gdLst>
              <a:gd name="connsiteX0" fmla="*/ 0 w 1638709"/>
              <a:gd name="connsiteY0" fmla="*/ 0 h 39291"/>
              <a:gd name="connsiteX1" fmla="*/ 1638710 w 1638709"/>
              <a:gd name="connsiteY1" fmla="*/ 0 h 39291"/>
              <a:gd name="connsiteX2" fmla="*/ 1638710 w 1638709"/>
              <a:gd name="connsiteY2" fmla="*/ 39291 h 39291"/>
              <a:gd name="connsiteX3" fmla="*/ 0 w 1638709"/>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638709" h="39291">
                <a:moveTo>
                  <a:pt x="0" y="0"/>
                </a:moveTo>
                <a:lnTo>
                  <a:pt x="1638710" y="0"/>
                </a:lnTo>
                <a:lnTo>
                  <a:pt x="1638710" y="39291"/>
                </a:lnTo>
                <a:lnTo>
                  <a:pt x="0" y="39291"/>
                </a:lnTo>
                <a:close/>
              </a:path>
            </a:pathLst>
          </a:custGeom>
          <a:solidFill>
            <a:srgbClr val="FF6F00"/>
          </a:solidFill>
          <a:ln w="6555" cap="flat">
            <a:noFill/>
            <a:prstDash val="solid"/>
            <a:miter/>
          </a:ln>
        </p:spPr>
        <p:txBody>
          <a:bodyPr rtlCol="0" anchor="ctr"/>
          <a:lstStyle/>
          <a:p>
            <a:pPr algn="ctr"/>
            <a:endParaRPr lang="zh-CN" altLang="en-US"/>
          </a:p>
        </p:txBody>
      </p:sp>
      <p:sp>
        <p:nvSpPr>
          <p:cNvPr id="99" name="文本框 98"/>
          <p:cNvSpPr txBox="1"/>
          <p:nvPr/>
        </p:nvSpPr>
        <p:spPr>
          <a:xfrm>
            <a:off x="2920708" y="2296278"/>
            <a:ext cx="1165705"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ERPG危险区域三级划分</a:t>
            </a:r>
          </a:p>
        </p:txBody>
      </p:sp>
      <p:sp>
        <p:nvSpPr>
          <p:cNvPr id="100" name="任意形状 99"/>
          <p:cNvSpPr/>
          <p:nvPr/>
        </p:nvSpPr>
        <p:spPr>
          <a:xfrm>
            <a:off x="2785806" y="2536319"/>
            <a:ext cx="78658" cy="78582"/>
          </a:xfrm>
          <a:custGeom>
            <a:avLst/>
            <a:gdLst>
              <a:gd name="connsiteX0" fmla="*/ 65548 w 78658"/>
              <a:gd name="connsiteY0" fmla="*/ 0 h 78582"/>
              <a:gd name="connsiteX1" fmla="*/ 78658 w 78658"/>
              <a:gd name="connsiteY1" fmla="*/ 0 h 78582"/>
              <a:gd name="connsiteX2" fmla="*/ 78658 w 78658"/>
              <a:gd name="connsiteY2" fmla="*/ 78582 h 78582"/>
              <a:gd name="connsiteX3" fmla="*/ 65548 w 78658"/>
              <a:gd name="connsiteY3" fmla="*/ 78582 h 78582"/>
              <a:gd name="connsiteX4" fmla="*/ 13110 w 78658"/>
              <a:gd name="connsiteY4" fmla="*/ 78582 h 78582"/>
              <a:gd name="connsiteX5" fmla="*/ 0 w 78658"/>
              <a:gd name="connsiteY5" fmla="*/ 78582 h 78582"/>
              <a:gd name="connsiteX6" fmla="*/ 0 w 78658"/>
              <a:gd name="connsiteY6" fmla="*/ 0 h 78582"/>
              <a:gd name="connsiteX7" fmla="*/ 13110 w 78658"/>
              <a:gd name="connsiteY7" fmla="*/ 0 h 7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582">
                <a:moveTo>
                  <a:pt x="65548" y="0"/>
                </a:moveTo>
                <a:cubicBezTo>
                  <a:pt x="72789" y="0"/>
                  <a:pt x="78658" y="0"/>
                  <a:pt x="78658" y="0"/>
                </a:cubicBezTo>
                <a:lnTo>
                  <a:pt x="78658" y="78582"/>
                </a:lnTo>
                <a:cubicBezTo>
                  <a:pt x="78658" y="78582"/>
                  <a:pt x="72789" y="78582"/>
                  <a:pt x="65548" y="78582"/>
                </a:cubicBezTo>
                <a:lnTo>
                  <a:pt x="13110" y="78582"/>
                </a:lnTo>
                <a:cubicBezTo>
                  <a:pt x="5869" y="78582"/>
                  <a:pt x="0" y="78582"/>
                  <a:pt x="0" y="78582"/>
                </a:cubicBezTo>
                <a:lnTo>
                  <a:pt x="0" y="0"/>
                </a:lnTo>
                <a:cubicBezTo>
                  <a:pt x="0" y="0"/>
                  <a:pt x="5869" y="0"/>
                  <a:pt x="13110" y="0"/>
                </a:cubicBezTo>
                <a:close/>
              </a:path>
            </a:pathLst>
          </a:custGeom>
          <a:solidFill>
            <a:srgbClr val="D32F2F"/>
          </a:solidFill>
          <a:ln w="6555" cap="flat">
            <a:noFill/>
            <a:prstDash val="solid"/>
            <a:miter/>
          </a:ln>
        </p:spPr>
        <p:txBody>
          <a:bodyPr rtlCol="0" anchor="ctr"/>
          <a:lstStyle/>
          <a:p>
            <a:pPr algn="ctr"/>
            <a:endParaRPr lang="zh-CN" altLang="en-US"/>
          </a:p>
        </p:txBody>
      </p:sp>
      <p:sp>
        <p:nvSpPr>
          <p:cNvPr id="101" name="文本框 100"/>
          <p:cNvSpPr txBox="1"/>
          <p:nvPr/>
        </p:nvSpPr>
        <p:spPr>
          <a:xfrm>
            <a:off x="2771857" y="2484566"/>
            <a:ext cx="1645002" cy="184666"/>
          </a:xfrm>
          <a:prstGeom prst="rect">
            <a:avLst/>
          </a:prstGeom>
          <a:noFill/>
        </p:spPr>
        <p:txBody>
          <a:bodyPr wrap="none" rtlCol="0">
            <a:spAutoFit/>
          </a:bodyPr>
          <a:lstStyle/>
          <a:p>
            <a:pPr algn="ctr"/>
            <a:r>
              <a:rPr lang="zh-CN" altLang="en-US" sz="600" spc="0" baseline="0" dirty="0">
                <a:solidFill>
                  <a:srgbClr val="333333"/>
                </a:solidFill>
                <a:latin typeface="微软雅黑"/>
                <a:ea typeface="微软雅黑"/>
                <a:sym typeface="微软雅黑"/>
                <a:rtl val="0"/>
              </a:rPr>
              <a:t>核心危险区</a:t>
            </a:r>
            <a:r>
              <a:rPr lang="zh-CN" altLang="en-US" sz="600" spc="0" baseline="0" dirty="0">
                <a:solidFill>
                  <a:srgbClr val="333333"/>
                </a:solidFill>
                <a:latin typeface="Arial" panose="020B0604020202090204"/>
                <a:ea typeface="微软雅黑"/>
                <a:cs typeface="Arial" panose="020B0604020202090204"/>
                <a:sym typeface="Arial" panose="020B0604020202090204"/>
                <a:rtl val="0"/>
              </a:rPr>
              <a:t> ERPG-3 (≥20 mg/m³) </a:t>
            </a:r>
            <a:r>
              <a:rPr lang="zh-CN" altLang="en-US" sz="600" spc="0" baseline="0" dirty="0">
                <a:solidFill>
                  <a:srgbClr val="333333"/>
                </a:solidFill>
                <a:latin typeface="微软雅黑"/>
                <a:ea typeface="微软雅黑"/>
                <a:cs typeface="Arial" panose="020B0604020202090204"/>
                <a:sym typeface="微软雅黑"/>
                <a:rtl val="0"/>
              </a:rPr>
              <a:t>立即疏散</a:t>
            </a:r>
          </a:p>
        </p:txBody>
      </p:sp>
      <p:sp>
        <p:nvSpPr>
          <p:cNvPr id="102" name="任意形状 101"/>
          <p:cNvSpPr/>
          <p:nvPr/>
        </p:nvSpPr>
        <p:spPr>
          <a:xfrm>
            <a:off x="2785806" y="2654192"/>
            <a:ext cx="78658" cy="78582"/>
          </a:xfrm>
          <a:custGeom>
            <a:avLst/>
            <a:gdLst>
              <a:gd name="connsiteX0" fmla="*/ 65548 w 78658"/>
              <a:gd name="connsiteY0" fmla="*/ 0 h 78582"/>
              <a:gd name="connsiteX1" fmla="*/ 78658 w 78658"/>
              <a:gd name="connsiteY1" fmla="*/ 0 h 78582"/>
              <a:gd name="connsiteX2" fmla="*/ 78658 w 78658"/>
              <a:gd name="connsiteY2" fmla="*/ 78582 h 78582"/>
              <a:gd name="connsiteX3" fmla="*/ 65548 w 78658"/>
              <a:gd name="connsiteY3" fmla="*/ 78582 h 78582"/>
              <a:gd name="connsiteX4" fmla="*/ 13110 w 78658"/>
              <a:gd name="connsiteY4" fmla="*/ 78582 h 78582"/>
              <a:gd name="connsiteX5" fmla="*/ 0 w 78658"/>
              <a:gd name="connsiteY5" fmla="*/ 78582 h 78582"/>
              <a:gd name="connsiteX6" fmla="*/ 0 w 78658"/>
              <a:gd name="connsiteY6" fmla="*/ 0 h 78582"/>
              <a:gd name="connsiteX7" fmla="*/ 13110 w 78658"/>
              <a:gd name="connsiteY7" fmla="*/ 0 h 7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582">
                <a:moveTo>
                  <a:pt x="65548" y="0"/>
                </a:moveTo>
                <a:cubicBezTo>
                  <a:pt x="72789" y="0"/>
                  <a:pt x="78658" y="0"/>
                  <a:pt x="78658" y="0"/>
                </a:cubicBezTo>
                <a:lnTo>
                  <a:pt x="78658" y="78582"/>
                </a:lnTo>
                <a:cubicBezTo>
                  <a:pt x="78658" y="78582"/>
                  <a:pt x="72789" y="78582"/>
                  <a:pt x="65548" y="78582"/>
                </a:cubicBezTo>
                <a:lnTo>
                  <a:pt x="13110" y="78582"/>
                </a:lnTo>
                <a:cubicBezTo>
                  <a:pt x="5869" y="78582"/>
                  <a:pt x="0" y="78582"/>
                  <a:pt x="0" y="78582"/>
                </a:cubicBezTo>
                <a:lnTo>
                  <a:pt x="0" y="0"/>
                </a:lnTo>
                <a:cubicBezTo>
                  <a:pt x="0" y="0"/>
                  <a:pt x="5869" y="0"/>
                  <a:pt x="13110" y="0"/>
                </a:cubicBezTo>
                <a:close/>
              </a:path>
            </a:pathLst>
          </a:custGeom>
          <a:solidFill>
            <a:srgbClr val="FF9800"/>
          </a:solidFill>
          <a:ln w="6555" cap="flat">
            <a:noFill/>
            <a:prstDash val="solid"/>
            <a:miter/>
          </a:ln>
        </p:spPr>
        <p:txBody>
          <a:bodyPr rtlCol="0" anchor="ctr"/>
          <a:lstStyle/>
          <a:p>
            <a:pPr algn="ctr"/>
            <a:endParaRPr lang="zh-CN" altLang="en-US"/>
          </a:p>
        </p:txBody>
      </p:sp>
      <p:sp>
        <p:nvSpPr>
          <p:cNvPr id="103" name="文本框 102"/>
          <p:cNvSpPr txBox="1"/>
          <p:nvPr/>
        </p:nvSpPr>
        <p:spPr>
          <a:xfrm>
            <a:off x="2782409" y="2602439"/>
            <a:ext cx="1489510" cy="184666"/>
          </a:xfrm>
          <a:prstGeom prst="rect">
            <a:avLst/>
          </a:prstGeom>
          <a:noFill/>
        </p:spPr>
        <p:txBody>
          <a:bodyPr wrap="none" rtlCol="0">
            <a:spAutoFit/>
          </a:bodyPr>
          <a:lstStyle/>
          <a:p>
            <a:r>
              <a:rPr lang="zh-CN" altLang="en-US" sz="600" spc="0" baseline="0" dirty="0">
                <a:solidFill>
                  <a:srgbClr val="333333"/>
                </a:solidFill>
                <a:latin typeface="微软雅黑"/>
                <a:ea typeface="微软雅黑"/>
                <a:sym typeface="微软雅黑"/>
                <a:rtl val="0"/>
              </a:rPr>
              <a:t>警</a:t>
            </a:r>
            <a:r>
              <a:rPr lang="zh-CN" altLang="en-US" sz="600" spc="0" baseline="0" dirty="0">
                <a:solidFill>
                  <a:srgbClr val="333333"/>
                </a:solidFill>
                <a:latin typeface="微软雅黑"/>
                <a:ea typeface="微软雅黑"/>
                <a:cs typeface="Arial" panose="020B0604020202090204"/>
                <a:sym typeface="微软雅黑"/>
                <a:rtl val="0"/>
              </a:rPr>
              <a:t>戒区</a:t>
            </a:r>
            <a:r>
              <a:rPr lang="zh-CN" altLang="en-US" sz="600" spc="0" baseline="0" dirty="0">
                <a:solidFill>
                  <a:srgbClr val="333333"/>
                </a:solidFill>
                <a:latin typeface="Arial" panose="020B0604020202090204"/>
                <a:ea typeface="微软雅黑"/>
                <a:cs typeface="Arial" panose="020B0604020202090204"/>
                <a:sym typeface="Arial" panose="020B0604020202090204"/>
                <a:rtl val="0"/>
              </a:rPr>
              <a:t> ERPG-2 (≥3 mg/m³) </a:t>
            </a:r>
            <a:r>
              <a:rPr lang="zh-CN" altLang="en-US" sz="600" spc="0" baseline="0" dirty="0">
                <a:solidFill>
                  <a:srgbClr val="333333"/>
                </a:solidFill>
                <a:latin typeface="微软雅黑"/>
                <a:ea typeface="微软雅黑"/>
                <a:cs typeface="Arial" panose="020B0604020202090204"/>
                <a:sym typeface="微软雅黑"/>
                <a:rtl val="0"/>
              </a:rPr>
              <a:t>紧急疏散</a:t>
            </a:r>
          </a:p>
        </p:txBody>
      </p:sp>
      <p:sp>
        <p:nvSpPr>
          <p:cNvPr id="104" name="任意形状 103"/>
          <p:cNvSpPr/>
          <p:nvPr/>
        </p:nvSpPr>
        <p:spPr>
          <a:xfrm>
            <a:off x="2785806" y="2772065"/>
            <a:ext cx="78658" cy="78582"/>
          </a:xfrm>
          <a:custGeom>
            <a:avLst/>
            <a:gdLst>
              <a:gd name="connsiteX0" fmla="*/ 65548 w 78658"/>
              <a:gd name="connsiteY0" fmla="*/ 0 h 78582"/>
              <a:gd name="connsiteX1" fmla="*/ 78658 w 78658"/>
              <a:gd name="connsiteY1" fmla="*/ 0 h 78582"/>
              <a:gd name="connsiteX2" fmla="*/ 78658 w 78658"/>
              <a:gd name="connsiteY2" fmla="*/ 78582 h 78582"/>
              <a:gd name="connsiteX3" fmla="*/ 65548 w 78658"/>
              <a:gd name="connsiteY3" fmla="*/ 78582 h 78582"/>
              <a:gd name="connsiteX4" fmla="*/ 13110 w 78658"/>
              <a:gd name="connsiteY4" fmla="*/ 78582 h 78582"/>
              <a:gd name="connsiteX5" fmla="*/ 0 w 78658"/>
              <a:gd name="connsiteY5" fmla="*/ 78582 h 78582"/>
              <a:gd name="connsiteX6" fmla="*/ 0 w 78658"/>
              <a:gd name="connsiteY6" fmla="*/ 0 h 78582"/>
              <a:gd name="connsiteX7" fmla="*/ 13110 w 78658"/>
              <a:gd name="connsiteY7" fmla="*/ 0 h 7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658" h="78582">
                <a:moveTo>
                  <a:pt x="65548" y="0"/>
                </a:moveTo>
                <a:cubicBezTo>
                  <a:pt x="72789" y="0"/>
                  <a:pt x="78658" y="0"/>
                  <a:pt x="78658" y="0"/>
                </a:cubicBezTo>
                <a:lnTo>
                  <a:pt x="78658" y="78582"/>
                </a:lnTo>
                <a:cubicBezTo>
                  <a:pt x="78658" y="78582"/>
                  <a:pt x="72789" y="78582"/>
                  <a:pt x="65548" y="78582"/>
                </a:cubicBezTo>
                <a:lnTo>
                  <a:pt x="13110" y="78582"/>
                </a:lnTo>
                <a:cubicBezTo>
                  <a:pt x="5869" y="78582"/>
                  <a:pt x="0" y="78582"/>
                  <a:pt x="0" y="78582"/>
                </a:cubicBezTo>
                <a:lnTo>
                  <a:pt x="0" y="0"/>
                </a:lnTo>
                <a:cubicBezTo>
                  <a:pt x="0" y="0"/>
                  <a:pt x="5869" y="0"/>
                  <a:pt x="13110" y="0"/>
                </a:cubicBezTo>
                <a:close/>
              </a:path>
            </a:pathLst>
          </a:custGeom>
          <a:solidFill>
            <a:srgbClr val="FFC107"/>
          </a:solidFill>
          <a:ln w="6555" cap="flat">
            <a:noFill/>
            <a:prstDash val="solid"/>
            <a:miter/>
          </a:ln>
        </p:spPr>
        <p:txBody>
          <a:bodyPr rtlCol="0" anchor="ctr"/>
          <a:lstStyle/>
          <a:p>
            <a:pPr algn="ctr"/>
            <a:endParaRPr lang="zh-CN" altLang="en-US"/>
          </a:p>
        </p:txBody>
      </p:sp>
      <p:sp>
        <p:nvSpPr>
          <p:cNvPr id="105" name="文本框 104"/>
          <p:cNvSpPr txBox="1"/>
          <p:nvPr/>
        </p:nvSpPr>
        <p:spPr>
          <a:xfrm>
            <a:off x="2790063" y="2717813"/>
            <a:ext cx="1426994" cy="184666"/>
          </a:xfrm>
          <a:prstGeom prst="rect">
            <a:avLst/>
          </a:prstGeom>
          <a:noFill/>
        </p:spPr>
        <p:txBody>
          <a:bodyPr wrap="none" rtlCol="0">
            <a:spAutoFit/>
          </a:bodyPr>
          <a:lstStyle/>
          <a:p>
            <a:r>
              <a:rPr lang="zh-CN" altLang="en-US" sz="600" spc="0" baseline="0" dirty="0">
                <a:solidFill>
                  <a:srgbClr val="333333"/>
                </a:solidFill>
                <a:latin typeface="微软雅黑"/>
                <a:ea typeface="微软雅黑"/>
                <a:sym typeface="微软雅黑"/>
                <a:rtl val="0"/>
              </a:rPr>
              <a:t>影</a:t>
            </a:r>
            <a:r>
              <a:rPr lang="zh-CN" altLang="en-US" sz="600" spc="0" baseline="0" dirty="0">
                <a:solidFill>
                  <a:srgbClr val="333333"/>
                </a:solidFill>
                <a:latin typeface="微软雅黑"/>
                <a:ea typeface="微软雅黑"/>
                <a:cs typeface="Arial" panose="020B0604020202090204"/>
                <a:sym typeface="微软雅黑"/>
                <a:rtl val="0"/>
              </a:rPr>
              <a:t>响区</a:t>
            </a:r>
            <a:r>
              <a:rPr lang="zh-CN" altLang="en-US" sz="600" spc="0" baseline="0" dirty="0">
                <a:solidFill>
                  <a:srgbClr val="333333"/>
                </a:solidFill>
                <a:latin typeface="Arial" panose="020B0604020202090204"/>
                <a:ea typeface="微软雅黑"/>
                <a:cs typeface="Arial" panose="020B0604020202090204"/>
                <a:sym typeface="Arial" panose="020B0604020202090204"/>
                <a:rtl val="0"/>
              </a:rPr>
              <a:t>ERPG-1 (≥1 mg/m³) </a:t>
            </a:r>
            <a:r>
              <a:rPr lang="zh-CN" altLang="en-US" sz="600" spc="0" baseline="0" dirty="0">
                <a:solidFill>
                  <a:srgbClr val="333333"/>
                </a:solidFill>
                <a:latin typeface="微软雅黑"/>
                <a:ea typeface="微软雅黑"/>
                <a:cs typeface="Arial" panose="020B0604020202090204"/>
                <a:sym typeface="微软雅黑"/>
                <a:rtl val="0"/>
              </a:rPr>
              <a:t>就地避难</a:t>
            </a:r>
          </a:p>
        </p:txBody>
      </p:sp>
      <p:sp>
        <p:nvSpPr>
          <p:cNvPr id="107" name="任意形状 106"/>
          <p:cNvSpPr/>
          <p:nvPr/>
        </p:nvSpPr>
        <p:spPr>
          <a:xfrm>
            <a:off x="2687483" y="3093566"/>
            <a:ext cx="1638709" cy="445298"/>
          </a:xfrm>
          <a:custGeom>
            <a:avLst/>
            <a:gdLst>
              <a:gd name="connsiteX0" fmla="*/ 1586271 w 1638709"/>
              <a:gd name="connsiteY0" fmla="*/ 0 h 445298"/>
              <a:gd name="connsiteX1" fmla="*/ 1638710 w 1638709"/>
              <a:gd name="connsiteY1" fmla="*/ 0 h 445298"/>
              <a:gd name="connsiteX2" fmla="*/ 1638710 w 1638709"/>
              <a:gd name="connsiteY2" fmla="*/ 445298 h 445298"/>
              <a:gd name="connsiteX3" fmla="*/ 1586271 w 1638709"/>
              <a:gd name="connsiteY3" fmla="*/ 445298 h 445298"/>
              <a:gd name="connsiteX4" fmla="*/ 52439 w 1638709"/>
              <a:gd name="connsiteY4" fmla="*/ 445298 h 445298"/>
              <a:gd name="connsiteX5" fmla="*/ 0 w 1638709"/>
              <a:gd name="connsiteY5" fmla="*/ 445298 h 445298"/>
              <a:gd name="connsiteX6" fmla="*/ 0 w 1638709"/>
              <a:gd name="connsiteY6" fmla="*/ 0 h 445298"/>
              <a:gd name="connsiteX7" fmla="*/ 52439 w 1638709"/>
              <a:gd name="connsiteY7" fmla="*/ 0 h 445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445298">
                <a:moveTo>
                  <a:pt x="1586271" y="0"/>
                </a:moveTo>
                <a:cubicBezTo>
                  <a:pt x="1615232" y="0"/>
                  <a:pt x="1638710" y="0"/>
                  <a:pt x="1638710" y="0"/>
                </a:cubicBezTo>
                <a:lnTo>
                  <a:pt x="1638710" y="445298"/>
                </a:lnTo>
                <a:cubicBezTo>
                  <a:pt x="1638710" y="445298"/>
                  <a:pt x="1615232" y="445298"/>
                  <a:pt x="1586271" y="445298"/>
                </a:cubicBezTo>
                <a:lnTo>
                  <a:pt x="52439" y="445298"/>
                </a:lnTo>
                <a:cubicBezTo>
                  <a:pt x="23478" y="445298"/>
                  <a:pt x="0" y="445298"/>
                  <a:pt x="0" y="445298"/>
                </a:cubicBezTo>
                <a:lnTo>
                  <a:pt x="0" y="0"/>
                </a:lnTo>
                <a:cubicBezTo>
                  <a:pt x="0" y="0"/>
                  <a:pt x="23478" y="0"/>
                  <a:pt x="52439" y="0"/>
                </a:cubicBezTo>
                <a:close/>
              </a:path>
            </a:pathLst>
          </a:custGeom>
          <a:solidFill>
            <a:srgbClr val="FFFFFF"/>
          </a:solidFill>
          <a:ln w="5244" cap="flat">
            <a:solidFill>
              <a:srgbClr val="FF6F00"/>
            </a:solidFill>
            <a:prstDash val="solid"/>
            <a:miter/>
          </a:ln>
        </p:spPr>
        <p:txBody>
          <a:bodyPr rtlCol="0" anchor="ctr"/>
          <a:lstStyle/>
          <a:p>
            <a:pPr algn="ctr"/>
            <a:endParaRPr lang="zh-CN" altLang="en-US"/>
          </a:p>
        </p:txBody>
      </p:sp>
      <p:sp>
        <p:nvSpPr>
          <p:cNvPr id="108" name="任意形状 107"/>
          <p:cNvSpPr/>
          <p:nvPr/>
        </p:nvSpPr>
        <p:spPr>
          <a:xfrm>
            <a:off x="2687483" y="3093566"/>
            <a:ext cx="1638709" cy="144067"/>
          </a:xfrm>
          <a:custGeom>
            <a:avLst/>
            <a:gdLst>
              <a:gd name="connsiteX0" fmla="*/ 1586271 w 1638709"/>
              <a:gd name="connsiteY0" fmla="*/ 0 h 144067"/>
              <a:gd name="connsiteX1" fmla="*/ 1638710 w 1638709"/>
              <a:gd name="connsiteY1" fmla="*/ 0 h 144067"/>
              <a:gd name="connsiteX2" fmla="*/ 1638710 w 1638709"/>
              <a:gd name="connsiteY2" fmla="*/ 144067 h 144067"/>
              <a:gd name="connsiteX3" fmla="*/ 1586271 w 1638709"/>
              <a:gd name="connsiteY3" fmla="*/ 144067 h 144067"/>
              <a:gd name="connsiteX4" fmla="*/ 52439 w 1638709"/>
              <a:gd name="connsiteY4" fmla="*/ 144067 h 144067"/>
              <a:gd name="connsiteX5" fmla="*/ 0 w 1638709"/>
              <a:gd name="connsiteY5" fmla="*/ 144067 h 144067"/>
              <a:gd name="connsiteX6" fmla="*/ 0 w 1638709"/>
              <a:gd name="connsiteY6" fmla="*/ 0 h 144067"/>
              <a:gd name="connsiteX7" fmla="*/ 52439 w 1638709"/>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067">
                <a:moveTo>
                  <a:pt x="1586271" y="0"/>
                </a:moveTo>
                <a:cubicBezTo>
                  <a:pt x="1615232" y="0"/>
                  <a:pt x="1638710" y="0"/>
                  <a:pt x="1638710" y="0"/>
                </a:cubicBezTo>
                <a:lnTo>
                  <a:pt x="1638710" y="144067"/>
                </a:lnTo>
                <a:cubicBezTo>
                  <a:pt x="1638710" y="144067"/>
                  <a:pt x="1615232" y="144067"/>
                  <a:pt x="1586271" y="144067"/>
                </a:cubicBezTo>
                <a:lnTo>
                  <a:pt x="52439" y="144067"/>
                </a:lnTo>
                <a:cubicBezTo>
                  <a:pt x="23478" y="144067"/>
                  <a:pt x="0" y="144067"/>
                  <a:pt x="0" y="144067"/>
                </a:cubicBezTo>
                <a:lnTo>
                  <a:pt x="0" y="0"/>
                </a:lnTo>
                <a:cubicBezTo>
                  <a:pt x="0" y="0"/>
                  <a:pt x="23478" y="0"/>
                  <a:pt x="52439" y="0"/>
                </a:cubicBezTo>
                <a:close/>
              </a:path>
            </a:pathLst>
          </a:custGeom>
          <a:solidFill>
            <a:srgbClr val="FF8F00"/>
          </a:solidFill>
          <a:ln w="6555" cap="flat">
            <a:noFill/>
            <a:prstDash val="solid"/>
            <a:miter/>
          </a:ln>
        </p:spPr>
        <p:txBody>
          <a:bodyPr rtlCol="0" anchor="ctr"/>
          <a:lstStyle/>
          <a:p>
            <a:pPr algn="ctr"/>
            <a:endParaRPr lang="zh-CN" altLang="en-US"/>
          </a:p>
        </p:txBody>
      </p:sp>
      <p:sp>
        <p:nvSpPr>
          <p:cNvPr id="109" name="任意形状 108"/>
          <p:cNvSpPr/>
          <p:nvPr/>
        </p:nvSpPr>
        <p:spPr>
          <a:xfrm>
            <a:off x="2687483" y="3198342"/>
            <a:ext cx="1638709" cy="39291"/>
          </a:xfrm>
          <a:custGeom>
            <a:avLst/>
            <a:gdLst>
              <a:gd name="connsiteX0" fmla="*/ 0 w 1638709"/>
              <a:gd name="connsiteY0" fmla="*/ 0 h 39291"/>
              <a:gd name="connsiteX1" fmla="*/ 1638710 w 1638709"/>
              <a:gd name="connsiteY1" fmla="*/ 0 h 39291"/>
              <a:gd name="connsiteX2" fmla="*/ 1638710 w 1638709"/>
              <a:gd name="connsiteY2" fmla="*/ 39291 h 39291"/>
              <a:gd name="connsiteX3" fmla="*/ 0 w 1638709"/>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638709" h="39291">
                <a:moveTo>
                  <a:pt x="0" y="0"/>
                </a:moveTo>
                <a:lnTo>
                  <a:pt x="1638710" y="0"/>
                </a:lnTo>
                <a:lnTo>
                  <a:pt x="1638710" y="39291"/>
                </a:lnTo>
                <a:lnTo>
                  <a:pt x="0" y="39291"/>
                </a:lnTo>
                <a:close/>
              </a:path>
            </a:pathLst>
          </a:custGeom>
          <a:solidFill>
            <a:srgbClr val="FF8F00"/>
          </a:solidFill>
          <a:ln w="6555" cap="flat">
            <a:noFill/>
            <a:prstDash val="solid"/>
            <a:miter/>
          </a:ln>
        </p:spPr>
        <p:txBody>
          <a:bodyPr rtlCol="0" anchor="ctr"/>
          <a:lstStyle/>
          <a:p>
            <a:pPr algn="ctr"/>
            <a:endParaRPr lang="zh-CN" altLang="en-US"/>
          </a:p>
        </p:txBody>
      </p:sp>
      <p:sp>
        <p:nvSpPr>
          <p:cNvPr id="110" name="文本框 109"/>
          <p:cNvSpPr txBox="1"/>
          <p:nvPr/>
        </p:nvSpPr>
        <p:spPr>
          <a:xfrm>
            <a:off x="2971204" y="3063078"/>
            <a:ext cx="1064715"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道路封闭与拥堵模拟</a:t>
            </a:r>
          </a:p>
        </p:txBody>
      </p:sp>
      <p:sp>
        <p:nvSpPr>
          <p:cNvPr id="111" name="文本框 110"/>
          <p:cNvSpPr txBox="1"/>
          <p:nvPr/>
        </p:nvSpPr>
        <p:spPr>
          <a:xfrm>
            <a:off x="2612202" y="3231204"/>
            <a:ext cx="1789272" cy="184666"/>
          </a:xfrm>
          <a:prstGeom prst="rect">
            <a:avLst/>
          </a:prstGeom>
          <a:noFill/>
        </p:spPr>
        <p:txBody>
          <a:bodyPr wrap="none" rtlCol="0">
            <a:spAutoFit/>
          </a:bodyPr>
          <a:lstStyle/>
          <a:p>
            <a:pPr algn="ctr"/>
            <a:r>
              <a:rPr lang="zh-CN" altLang="en-US" sz="600" spc="0" baseline="0">
                <a:solidFill>
                  <a:srgbClr val="333333"/>
                </a:solidFill>
                <a:latin typeface="Arial" panose="020B0604020202090204"/>
                <a:cs typeface="Arial" panose="020B0604020202090204"/>
                <a:sym typeface="Arial" panose="020B0604020202090204"/>
                <a:rtl val="0"/>
              </a:rPr>
              <a:t>500m</a:t>
            </a:r>
            <a:r>
              <a:rPr lang="zh-CN" altLang="en-US" sz="600" spc="0" baseline="0">
                <a:solidFill>
                  <a:srgbClr val="333333"/>
                </a:solidFill>
                <a:latin typeface="微软雅黑"/>
                <a:ea typeface="微软雅黑"/>
                <a:cs typeface="Arial" panose="020B0604020202090204"/>
                <a:sym typeface="微软雅黑"/>
                <a:rtl val="0"/>
              </a:rPr>
              <a:t>道路封闭区</a:t>
            </a:r>
            <a:r>
              <a:rPr lang="zh-CN" altLang="en-US" sz="600" spc="0" baseline="0">
                <a:solidFill>
                  <a:srgbClr val="333333"/>
                </a:solidFill>
                <a:latin typeface="Arial" panose="020B0604020202090204"/>
                <a:ea typeface="微软雅黑"/>
                <a:cs typeface="Arial" panose="020B0604020202090204"/>
                <a:sym typeface="Arial" panose="020B0604020202090204"/>
                <a:rtl val="0"/>
              </a:rPr>
              <a:t> · 1km</a:t>
            </a:r>
            <a:r>
              <a:rPr lang="zh-CN" altLang="en-US" sz="600" spc="0" baseline="0">
                <a:solidFill>
                  <a:srgbClr val="333333"/>
                </a:solidFill>
                <a:latin typeface="微软雅黑"/>
                <a:ea typeface="微软雅黑"/>
                <a:cs typeface="Arial" panose="020B0604020202090204"/>
                <a:sym typeface="微软雅黑"/>
                <a:rtl val="0"/>
              </a:rPr>
              <a:t>核心封闭区（</a:t>
            </a:r>
            <a:r>
              <a:rPr lang="zh-CN" altLang="en-US" sz="600" spc="0" baseline="0">
                <a:solidFill>
                  <a:srgbClr val="333333"/>
                </a:solidFill>
                <a:latin typeface="Arial" panose="020B0604020202090204"/>
                <a:ea typeface="微软雅黑"/>
                <a:cs typeface="Arial" panose="020B0604020202090204"/>
                <a:sym typeface="Arial" panose="020B0604020202090204"/>
                <a:rtl val="0"/>
              </a:rPr>
              <a:t>96.7 km</a:t>
            </a:r>
            <a:r>
              <a:rPr lang="zh-CN" altLang="en-US" sz="600" spc="0" baseline="0">
                <a:solidFill>
                  <a:srgbClr val="333333"/>
                </a:solidFill>
                <a:latin typeface="微软雅黑"/>
                <a:ea typeface="微软雅黑"/>
                <a:cs typeface="Arial" panose="020B0604020202090204"/>
                <a:sym typeface="微软雅黑"/>
                <a:rtl val="0"/>
              </a:rPr>
              <a:t>）</a:t>
            </a:r>
          </a:p>
        </p:txBody>
      </p:sp>
      <p:sp>
        <p:nvSpPr>
          <p:cNvPr id="112" name="文本框 111"/>
          <p:cNvSpPr txBox="1"/>
          <p:nvPr/>
        </p:nvSpPr>
        <p:spPr>
          <a:xfrm>
            <a:off x="2638651" y="3322883"/>
            <a:ext cx="1736373" cy="184666"/>
          </a:xfrm>
          <a:prstGeom prst="rect">
            <a:avLst/>
          </a:prstGeom>
          <a:noFill/>
        </p:spPr>
        <p:txBody>
          <a:bodyPr wrap="none" rtlCol="0">
            <a:spAutoFit/>
          </a:bodyPr>
          <a:lstStyle/>
          <a:p>
            <a:pPr algn="ctr"/>
            <a:r>
              <a:rPr lang="zh-CN" altLang="en-US" sz="600" spc="0" baseline="0">
                <a:solidFill>
                  <a:srgbClr val="333333"/>
                </a:solidFill>
                <a:latin typeface="Arial" panose="020B0604020202090204"/>
                <a:cs typeface="Arial" panose="020B0604020202090204"/>
                <a:sym typeface="Arial" panose="020B0604020202090204"/>
                <a:rtl val="0"/>
              </a:rPr>
              <a:t>3km BPR</a:t>
            </a:r>
            <a:r>
              <a:rPr lang="zh-CN" altLang="en-US" sz="600" spc="0" baseline="0">
                <a:solidFill>
                  <a:srgbClr val="333333"/>
                </a:solidFill>
                <a:latin typeface="微软雅黑"/>
                <a:ea typeface="微软雅黑"/>
                <a:cs typeface="Arial" panose="020B0604020202090204"/>
                <a:sym typeface="微软雅黑"/>
                <a:rtl val="0"/>
              </a:rPr>
              <a:t>拥堵区</a:t>
            </a:r>
            <a:r>
              <a:rPr lang="zh-CN" altLang="en-US" sz="600" spc="0" baseline="0">
                <a:solidFill>
                  <a:srgbClr val="333333"/>
                </a:solidFill>
                <a:latin typeface="Arial" panose="020B0604020202090204"/>
                <a:ea typeface="微软雅黑"/>
                <a:cs typeface="Arial" panose="020B0604020202090204"/>
                <a:sym typeface="Arial" panose="020B0604020202090204"/>
                <a:rtl val="0"/>
              </a:rPr>
              <a:t> (α=0.15, β=4.0) · 5km</a:t>
            </a:r>
            <a:r>
              <a:rPr lang="zh-CN" altLang="en-US" sz="600" spc="0" baseline="0">
                <a:solidFill>
                  <a:srgbClr val="333333"/>
                </a:solidFill>
                <a:latin typeface="微软雅黑"/>
                <a:ea typeface="微软雅黑"/>
                <a:cs typeface="Arial" panose="020B0604020202090204"/>
                <a:sym typeface="微软雅黑"/>
                <a:rtl val="0"/>
              </a:rPr>
              <a:t>影响区</a:t>
            </a:r>
          </a:p>
        </p:txBody>
      </p:sp>
      <p:sp>
        <p:nvSpPr>
          <p:cNvPr id="113" name="文本框 112"/>
          <p:cNvSpPr txBox="1"/>
          <p:nvPr/>
        </p:nvSpPr>
        <p:spPr>
          <a:xfrm>
            <a:off x="2929597" y="3414562"/>
            <a:ext cx="1154483" cy="173124"/>
          </a:xfrm>
          <a:prstGeom prst="rect">
            <a:avLst/>
          </a:prstGeom>
          <a:noFill/>
        </p:spPr>
        <p:txBody>
          <a:bodyPr wrap="none" rtlCol="0">
            <a:spAutoFit/>
          </a:bodyPr>
          <a:lstStyle/>
          <a:p>
            <a:pPr algn="ctr"/>
            <a:r>
              <a:rPr lang="zh-CN" altLang="en-US" sz="525" spc="0" baseline="0">
                <a:solidFill>
                  <a:srgbClr val="888888"/>
                </a:solidFill>
                <a:latin typeface="微软雅黑"/>
                <a:ea typeface="微软雅黑"/>
                <a:sym typeface="微软雅黑"/>
                <a:rtl val="0"/>
              </a:rPr>
              <a:t>封闭率</a:t>
            </a:r>
            <a:r>
              <a:rPr lang="zh-CN" altLang="en-US" sz="525" spc="0" baseline="0">
                <a:solidFill>
                  <a:srgbClr val="888888"/>
                </a:solidFill>
                <a:latin typeface="Arial" panose="020B0604020202090204"/>
                <a:ea typeface="微软雅黑"/>
                <a:cs typeface="Arial" panose="020B0604020202090204"/>
                <a:sym typeface="Arial" panose="020B0604020202090204"/>
                <a:rtl val="0"/>
              </a:rPr>
              <a:t> 19.1%</a:t>
            </a:r>
            <a:r>
              <a:rPr lang="zh-CN" altLang="en-US" sz="525" spc="0" baseline="0">
                <a:solidFill>
                  <a:srgbClr val="888888"/>
                </a:solidFill>
                <a:latin typeface="微软雅黑"/>
                <a:ea typeface="微软雅黑"/>
                <a:cs typeface="Arial" panose="020B0604020202090204"/>
                <a:sym typeface="微软雅黑"/>
                <a:rtl val="0"/>
              </a:rPr>
              <a:t>（</a:t>
            </a:r>
            <a:r>
              <a:rPr lang="zh-CN" altLang="en-US" sz="525" spc="0" baseline="0">
                <a:solidFill>
                  <a:srgbClr val="888888"/>
                </a:solidFill>
                <a:latin typeface="Arial" panose="020B0604020202090204"/>
                <a:ea typeface="微软雅黑"/>
                <a:cs typeface="Arial" panose="020B0604020202090204"/>
                <a:sym typeface="Arial" panose="020B0604020202090204"/>
                <a:rtl val="0"/>
              </a:rPr>
              <a:t>96.7/505.3 km</a:t>
            </a:r>
            <a:r>
              <a:rPr lang="zh-CN" altLang="en-US" sz="525" spc="0" baseline="0">
                <a:solidFill>
                  <a:srgbClr val="888888"/>
                </a:solidFill>
                <a:latin typeface="微软雅黑"/>
                <a:ea typeface="微软雅黑"/>
                <a:cs typeface="Arial" panose="020B0604020202090204"/>
                <a:sym typeface="微软雅黑"/>
                <a:rtl val="0"/>
              </a:rPr>
              <a:t>）</a:t>
            </a:r>
          </a:p>
        </p:txBody>
      </p:sp>
      <p:sp>
        <p:nvSpPr>
          <p:cNvPr id="115" name="任意形状 114"/>
          <p:cNvSpPr/>
          <p:nvPr/>
        </p:nvSpPr>
        <p:spPr>
          <a:xfrm>
            <a:off x="2687483" y="3718302"/>
            <a:ext cx="1638709" cy="360167"/>
          </a:xfrm>
          <a:custGeom>
            <a:avLst/>
            <a:gdLst>
              <a:gd name="connsiteX0" fmla="*/ 1586271 w 1638709"/>
              <a:gd name="connsiteY0" fmla="*/ 0 h 360167"/>
              <a:gd name="connsiteX1" fmla="*/ 1638710 w 1638709"/>
              <a:gd name="connsiteY1" fmla="*/ 0 h 360167"/>
              <a:gd name="connsiteX2" fmla="*/ 1638710 w 1638709"/>
              <a:gd name="connsiteY2" fmla="*/ 360168 h 360167"/>
              <a:gd name="connsiteX3" fmla="*/ 1586271 w 1638709"/>
              <a:gd name="connsiteY3" fmla="*/ 360168 h 360167"/>
              <a:gd name="connsiteX4" fmla="*/ 52439 w 1638709"/>
              <a:gd name="connsiteY4" fmla="*/ 360168 h 360167"/>
              <a:gd name="connsiteX5" fmla="*/ 0 w 1638709"/>
              <a:gd name="connsiteY5" fmla="*/ 360168 h 360167"/>
              <a:gd name="connsiteX6" fmla="*/ 0 w 1638709"/>
              <a:gd name="connsiteY6" fmla="*/ 0 h 360167"/>
              <a:gd name="connsiteX7" fmla="*/ 52439 w 1638709"/>
              <a:gd name="connsiteY7" fmla="*/ 0 h 36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360167">
                <a:moveTo>
                  <a:pt x="1586271" y="0"/>
                </a:moveTo>
                <a:cubicBezTo>
                  <a:pt x="1615232" y="0"/>
                  <a:pt x="1638710" y="0"/>
                  <a:pt x="1638710" y="0"/>
                </a:cubicBezTo>
                <a:lnTo>
                  <a:pt x="1638710" y="360168"/>
                </a:lnTo>
                <a:cubicBezTo>
                  <a:pt x="1638710" y="360168"/>
                  <a:pt x="1615232" y="360168"/>
                  <a:pt x="1586271" y="360168"/>
                </a:cubicBezTo>
                <a:lnTo>
                  <a:pt x="52439" y="360168"/>
                </a:lnTo>
                <a:cubicBezTo>
                  <a:pt x="23478" y="360168"/>
                  <a:pt x="0" y="360168"/>
                  <a:pt x="0" y="360168"/>
                </a:cubicBezTo>
                <a:lnTo>
                  <a:pt x="0" y="0"/>
                </a:lnTo>
                <a:cubicBezTo>
                  <a:pt x="0" y="0"/>
                  <a:pt x="23478" y="0"/>
                  <a:pt x="52439" y="0"/>
                </a:cubicBezTo>
                <a:close/>
              </a:path>
            </a:pathLst>
          </a:custGeom>
          <a:solidFill>
            <a:srgbClr val="FFFFFF"/>
          </a:solidFill>
          <a:ln w="5244" cap="flat">
            <a:solidFill>
              <a:srgbClr val="FFA000"/>
            </a:solidFill>
            <a:prstDash val="solid"/>
            <a:miter/>
          </a:ln>
        </p:spPr>
        <p:txBody>
          <a:bodyPr rtlCol="0" anchor="ctr"/>
          <a:lstStyle/>
          <a:p>
            <a:pPr algn="ctr"/>
            <a:endParaRPr lang="zh-CN" altLang="en-US"/>
          </a:p>
        </p:txBody>
      </p:sp>
      <p:sp>
        <p:nvSpPr>
          <p:cNvPr id="116" name="任意形状 115"/>
          <p:cNvSpPr/>
          <p:nvPr/>
        </p:nvSpPr>
        <p:spPr>
          <a:xfrm>
            <a:off x="2687483" y="3718302"/>
            <a:ext cx="1638709" cy="144067"/>
          </a:xfrm>
          <a:custGeom>
            <a:avLst/>
            <a:gdLst>
              <a:gd name="connsiteX0" fmla="*/ 1586271 w 1638709"/>
              <a:gd name="connsiteY0" fmla="*/ 0 h 144067"/>
              <a:gd name="connsiteX1" fmla="*/ 1638710 w 1638709"/>
              <a:gd name="connsiteY1" fmla="*/ 0 h 144067"/>
              <a:gd name="connsiteX2" fmla="*/ 1638710 w 1638709"/>
              <a:gd name="connsiteY2" fmla="*/ 144067 h 144067"/>
              <a:gd name="connsiteX3" fmla="*/ 1586271 w 1638709"/>
              <a:gd name="connsiteY3" fmla="*/ 144067 h 144067"/>
              <a:gd name="connsiteX4" fmla="*/ 52439 w 1638709"/>
              <a:gd name="connsiteY4" fmla="*/ 144067 h 144067"/>
              <a:gd name="connsiteX5" fmla="*/ 0 w 1638709"/>
              <a:gd name="connsiteY5" fmla="*/ 144067 h 144067"/>
              <a:gd name="connsiteX6" fmla="*/ 0 w 1638709"/>
              <a:gd name="connsiteY6" fmla="*/ 0 h 144067"/>
              <a:gd name="connsiteX7" fmla="*/ 52439 w 1638709"/>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067">
                <a:moveTo>
                  <a:pt x="1586271" y="0"/>
                </a:moveTo>
                <a:cubicBezTo>
                  <a:pt x="1615232" y="0"/>
                  <a:pt x="1638710" y="0"/>
                  <a:pt x="1638710" y="0"/>
                </a:cubicBezTo>
                <a:lnTo>
                  <a:pt x="1638710" y="144067"/>
                </a:lnTo>
                <a:cubicBezTo>
                  <a:pt x="1638710" y="144067"/>
                  <a:pt x="1615232" y="144067"/>
                  <a:pt x="1586271" y="144067"/>
                </a:cubicBezTo>
                <a:lnTo>
                  <a:pt x="52439" y="144067"/>
                </a:lnTo>
                <a:cubicBezTo>
                  <a:pt x="23478" y="144067"/>
                  <a:pt x="0" y="144067"/>
                  <a:pt x="0" y="144067"/>
                </a:cubicBezTo>
                <a:lnTo>
                  <a:pt x="0" y="0"/>
                </a:lnTo>
                <a:cubicBezTo>
                  <a:pt x="0" y="0"/>
                  <a:pt x="23478" y="0"/>
                  <a:pt x="52439" y="0"/>
                </a:cubicBezTo>
                <a:close/>
              </a:path>
            </a:pathLst>
          </a:custGeom>
          <a:solidFill>
            <a:srgbClr val="FFA726"/>
          </a:solidFill>
          <a:ln w="6555" cap="flat">
            <a:noFill/>
            <a:prstDash val="solid"/>
            <a:miter/>
          </a:ln>
        </p:spPr>
        <p:txBody>
          <a:bodyPr rtlCol="0" anchor="ctr"/>
          <a:lstStyle/>
          <a:p>
            <a:pPr algn="ctr"/>
            <a:endParaRPr lang="zh-CN" altLang="en-US"/>
          </a:p>
        </p:txBody>
      </p:sp>
      <p:sp>
        <p:nvSpPr>
          <p:cNvPr id="117" name="任意形状 116"/>
          <p:cNvSpPr/>
          <p:nvPr/>
        </p:nvSpPr>
        <p:spPr>
          <a:xfrm>
            <a:off x="2687483" y="3823079"/>
            <a:ext cx="1638709" cy="39291"/>
          </a:xfrm>
          <a:custGeom>
            <a:avLst/>
            <a:gdLst>
              <a:gd name="connsiteX0" fmla="*/ 0 w 1638709"/>
              <a:gd name="connsiteY0" fmla="*/ 0 h 39291"/>
              <a:gd name="connsiteX1" fmla="*/ 1638710 w 1638709"/>
              <a:gd name="connsiteY1" fmla="*/ 0 h 39291"/>
              <a:gd name="connsiteX2" fmla="*/ 1638710 w 1638709"/>
              <a:gd name="connsiteY2" fmla="*/ 39291 h 39291"/>
              <a:gd name="connsiteX3" fmla="*/ 0 w 1638709"/>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638709" h="39291">
                <a:moveTo>
                  <a:pt x="0" y="0"/>
                </a:moveTo>
                <a:lnTo>
                  <a:pt x="1638710" y="0"/>
                </a:lnTo>
                <a:lnTo>
                  <a:pt x="1638710" y="39291"/>
                </a:lnTo>
                <a:lnTo>
                  <a:pt x="0" y="39291"/>
                </a:lnTo>
                <a:close/>
              </a:path>
            </a:pathLst>
          </a:custGeom>
          <a:solidFill>
            <a:srgbClr val="FFA726"/>
          </a:solidFill>
          <a:ln w="6555" cap="flat">
            <a:noFill/>
            <a:prstDash val="solid"/>
            <a:miter/>
          </a:ln>
        </p:spPr>
        <p:txBody>
          <a:bodyPr rtlCol="0" anchor="ctr"/>
          <a:lstStyle/>
          <a:p>
            <a:pPr algn="ctr"/>
            <a:endParaRPr lang="zh-CN" altLang="en-US"/>
          </a:p>
        </p:txBody>
      </p:sp>
      <p:sp>
        <p:nvSpPr>
          <p:cNvPr id="118" name="文本框 117"/>
          <p:cNvSpPr txBox="1"/>
          <p:nvPr/>
        </p:nvSpPr>
        <p:spPr>
          <a:xfrm>
            <a:off x="3068986" y="3687814"/>
            <a:ext cx="869149"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风向敏感性分析</a:t>
            </a:r>
          </a:p>
        </p:txBody>
      </p:sp>
      <p:sp>
        <p:nvSpPr>
          <p:cNvPr id="119" name="文本框 118"/>
          <p:cNvSpPr txBox="1"/>
          <p:nvPr/>
        </p:nvSpPr>
        <p:spPr>
          <a:xfrm>
            <a:off x="2707581" y="3855941"/>
            <a:ext cx="1598515"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四种风向：</a:t>
            </a:r>
            <a:r>
              <a:rPr lang="zh-CN" altLang="en-US" sz="600" spc="0" baseline="0">
                <a:solidFill>
                  <a:srgbClr val="333333"/>
                </a:solidFill>
                <a:latin typeface="Arial" panose="020B0604020202090204"/>
                <a:ea typeface="微软雅黑"/>
                <a:cs typeface="Arial" panose="020B0604020202090204"/>
                <a:sym typeface="Arial" panose="020B0604020202090204"/>
                <a:rtl val="0"/>
              </a:rPr>
              <a:t>SW(225°)</a:t>
            </a:r>
            <a:r>
              <a:rPr lang="zh-CN" altLang="en-US" sz="600" spc="0" baseline="0">
                <a:solidFill>
                  <a:srgbClr val="333333"/>
                </a:solidFill>
                <a:latin typeface="微软雅黑"/>
                <a:ea typeface="微软雅黑"/>
                <a:cs typeface="Arial" panose="020B0604020202090204"/>
                <a:sym typeface="微软雅黑"/>
                <a:rtl val="0"/>
              </a:rPr>
              <a:t>基准</a:t>
            </a:r>
            <a:r>
              <a:rPr lang="zh-CN" altLang="en-US" sz="600" spc="0" baseline="0">
                <a:solidFill>
                  <a:srgbClr val="333333"/>
                </a:solidFill>
                <a:latin typeface="Arial" panose="020B0604020202090204"/>
                <a:ea typeface="微软雅黑"/>
                <a:cs typeface="Arial" panose="020B0604020202090204"/>
                <a:sym typeface="Arial" panose="020B0604020202090204"/>
                <a:rtl val="0"/>
              </a:rPr>
              <a:t> · N(0°) · E(90°)</a:t>
            </a:r>
          </a:p>
        </p:txBody>
      </p:sp>
      <p:sp>
        <p:nvSpPr>
          <p:cNvPr id="120" name="文本框 119"/>
          <p:cNvSpPr txBox="1"/>
          <p:nvPr/>
        </p:nvSpPr>
        <p:spPr>
          <a:xfrm>
            <a:off x="2813379" y="3941071"/>
            <a:ext cx="1386919"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强</a:t>
            </a:r>
            <a:r>
              <a:rPr lang="zh-CN" altLang="en-US" sz="600" spc="0" baseline="0">
                <a:solidFill>
                  <a:srgbClr val="333333"/>
                </a:solidFill>
                <a:latin typeface="Arial" panose="020B0604020202090204"/>
                <a:ea typeface="微软雅黑"/>
                <a:cs typeface="Arial" panose="020B0604020202090204"/>
                <a:sym typeface="Arial" panose="020B0604020202090204"/>
                <a:rtl val="0"/>
              </a:rPr>
              <a:t>SW(225°, 8m/s) → </a:t>
            </a:r>
            <a:r>
              <a:rPr lang="zh-CN" altLang="en-US" sz="600" spc="0" baseline="0">
                <a:solidFill>
                  <a:srgbClr val="333333"/>
                </a:solidFill>
                <a:latin typeface="微软雅黑"/>
                <a:ea typeface="微软雅黑"/>
                <a:cs typeface="Arial" panose="020B0604020202090204"/>
                <a:sym typeface="微软雅黑"/>
                <a:rtl val="0"/>
              </a:rPr>
              <a:t>实时气象融合</a:t>
            </a:r>
          </a:p>
        </p:txBody>
      </p:sp>
      <p:sp>
        <p:nvSpPr>
          <p:cNvPr id="122" name="任意形状 121"/>
          <p:cNvSpPr/>
          <p:nvPr/>
        </p:nvSpPr>
        <p:spPr>
          <a:xfrm>
            <a:off x="2687483" y="4283007"/>
            <a:ext cx="1638709" cy="366716"/>
          </a:xfrm>
          <a:custGeom>
            <a:avLst/>
            <a:gdLst>
              <a:gd name="connsiteX0" fmla="*/ 1586271 w 1638709"/>
              <a:gd name="connsiteY0" fmla="*/ 0 h 366716"/>
              <a:gd name="connsiteX1" fmla="*/ 1638710 w 1638709"/>
              <a:gd name="connsiteY1" fmla="*/ 0 h 366716"/>
              <a:gd name="connsiteX2" fmla="*/ 1638710 w 1638709"/>
              <a:gd name="connsiteY2" fmla="*/ 366716 h 366716"/>
              <a:gd name="connsiteX3" fmla="*/ 1586271 w 1638709"/>
              <a:gd name="connsiteY3" fmla="*/ 366716 h 366716"/>
              <a:gd name="connsiteX4" fmla="*/ 52439 w 1638709"/>
              <a:gd name="connsiteY4" fmla="*/ 366716 h 366716"/>
              <a:gd name="connsiteX5" fmla="*/ 0 w 1638709"/>
              <a:gd name="connsiteY5" fmla="*/ 366716 h 366716"/>
              <a:gd name="connsiteX6" fmla="*/ 0 w 1638709"/>
              <a:gd name="connsiteY6" fmla="*/ 0 h 366716"/>
              <a:gd name="connsiteX7" fmla="*/ 52439 w 1638709"/>
              <a:gd name="connsiteY7" fmla="*/ 0 h 366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366716">
                <a:moveTo>
                  <a:pt x="1586271" y="0"/>
                </a:moveTo>
                <a:cubicBezTo>
                  <a:pt x="1615232" y="0"/>
                  <a:pt x="1638710" y="0"/>
                  <a:pt x="1638710" y="0"/>
                </a:cubicBezTo>
                <a:lnTo>
                  <a:pt x="1638710" y="366716"/>
                </a:lnTo>
                <a:cubicBezTo>
                  <a:pt x="1638710" y="366716"/>
                  <a:pt x="1615232" y="366716"/>
                  <a:pt x="1586271" y="366716"/>
                </a:cubicBezTo>
                <a:lnTo>
                  <a:pt x="52439" y="366716"/>
                </a:lnTo>
                <a:cubicBezTo>
                  <a:pt x="23478" y="366716"/>
                  <a:pt x="0" y="366716"/>
                  <a:pt x="0" y="366716"/>
                </a:cubicBezTo>
                <a:lnTo>
                  <a:pt x="0" y="0"/>
                </a:lnTo>
                <a:cubicBezTo>
                  <a:pt x="0" y="0"/>
                  <a:pt x="23478" y="0"/>
                  <a:pt x="52439" y="0"/>
                </a:cubicBezTo>
                <a:close/>
              </a:path>
            </a:pathLst>
          </a:custGeom>
          <a:solidFill>
            <a:srgbClr val="FFFFFF"/>
          </a:solidFill>
          <a:ln w="5244" cap="flat">
            <a:solidFill>
              <a:srgbClr val="FFA000"/>
            </a:solidFill>
            <a:prstDash val="solid"/>
            <a:miter/>
          </a:ln>
        </p:spPr>
        <p:txBody>
          <a:bodyPr rtlCol="0" anchor="ctr"/>
          <a:lstStyle/>
          <a:p>
            <a:pPr algn="ctr"/>
            <a:endParaRPr lang="zh-CN" altLang="en-US"/>
          </a:p>
        </p:txBody>
      </p:sp>
      <p:sp>
        <p:nvSpPr>
          <p:cNvPr id="123" name="任意形状 122"/>
          <p:cNvSpPr/>
          <p:nvPr/>
        </p:nvSpPr>
        <p:spPr>
          <a:xfrm>
            <a:off x="2687483" y="4283007"/>
            <a:ext cx="1638709" cy="144067"/>
          </a:xfrm>
          <a:custGeom>
            <a:avLst/>
            <a:gdLst>
              <a:gd name="connsiteX0" fmla="*/ 1586271 w 1638709"/>
              <a:gd name="connsiteY0" fmla="*/ 0 h 144067"/>
              <a:gd name="connsiteX1" fmla="*/ 1638710 w 1638709"/>
              <a:gd name="connsiteY1" fmla="*/ 0 h 144067"/>
              <a:gd name="connsiteX2" fmla="*/ 1638710 w 1638709"/>
              <a:gd name="connsiteY2" fmla="*/ 144067 h 144067"/>
              <a:gd name="connsiteX3" fmla="*/ 1586271 w 1638709"/>
              <a:gd name="connsiteY3" fmla="*/ 144067 h 144067"/>
              <a:gd name="connsiteX4" fmla="*/ 52439 w 1638709"/>
              <a:gd name="connsiteY4" fmla="*/ 144067 h 144067"/>
              <a:gd name="connsiteX5" fmla="*/ 0 w 1638709"/>
              <a:gd name="connsiteY5" fmla="*/ 144067 h 144067"/>
              <a:gd name="connsiteX6" fmla="*/ 0 w 1638709"/>
              <a:gd name="connsiteY6" fmla="*/ 0 h 144067"/>
              <a:gd name="connsiteX7" fmla="*/ 52439 w 1638709"/>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8709" h="144067">
                <a:moveTo>
                  <a:pt x="1586271" y="0"/>
                </a:moveTo>
                <a:cubicBezTo>
                  <a:pt x="1615232" y="0"/>
                  <a:pt x="1638710" y="0"/>
                  <a:pt x="1638710" y="0"/>
                </a:cubicBezTo>
                <a:lnTo>
                  <a:pt x="1638710" y="144067"/>
                </a:lnTo>
                <a:cubicBezTo>
                  <a:pt x="1638710" y="144067"/>
                  <a:pt x="1615232" y="144067"/>
                  <a:pt x="1586271" y="144067"/>
                </a:cubicBezTo>
                <a:lnTo>
                  <a:pt x="52439" y="144067"/>
                </a:lnTo>
                <a:cubicBezTo>
                  <a:pt x="23478" y="144067"/>
                  <a:pt x="0" y="144067"/>
                  <a:pt x="0" y="144067"/>
                </a:cubicBezTo>
                <a:lnTo>
                  <a:pt x="0" y="0"/>
                </a:lnTo>
                <a:cubicBezTo>
                  <a:pt x="0" y="0"/>
                  <a:pt x="23478" y="0"/>
                  <a:pt x="52439" y="0"/>
                </a:cubicBezTo>
                <a:close/>
              </a:path>
            </a:pathLst>
          </a:custGeom>
          <a:solidFill>
            <a:srgbClr val="FFB74D"/>
          </a:solidFill>
          <a:ln w="6555" cap="flat">
            <a:noFill/>
            <a:prstDash val="solid"/>
            <a:miter/>
          </a:ln>
        </p:spPr>
        <p:txBody>
          <a:bodyPr rtlCol="0" anchor="ctr"/>
          <a:lstStyle/>
          <a:p>
            <a:pPr algn="ctr"/>
            <a:endParaRPr lang="zh-CN" altLang="en-US"/>
          </a:p>
        </p:txBody>
      </p:sp>
      <p:sp>
        <p:nvSpPr>
          <p:cNvPr id="124" name="任意形状 123"/>
          <p:cNvSpPr/>
          <p:nvPr/>
        </p:nvSpPr>
        <p:spPr>
          <a:xfrm>
            <a:off x="2687483" y="4387783"/>
            <a:ext cx="1638709" cy="39291"/>
          </a:xfrm>
          <a:custGeom>
            <a:avLst/>
            <a:gdLst>
              <a:gd name="connsiteX0" fmla="*/ 0 w 1638709"/>
              <a:gd name="connsiteY0" fmla="*/ 0 h 39291"/>
              <a:gd name="connsiteX1" fmla="*/ 1638710 w 1638709"/>
              <a:gd name="connsiteY1" fmla="*/ 0 h 39291"/>
              <a:gd name="connsiteX2" fmla="*/ 1638710 w 1638709"/>
              <a:gd name="connsiteY2" fmla="*/ 39291 h 39291"/>
              <a:gd name="connsiteX3" fmla="*/ 0 w 1638709"/>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638709" h="39291">
                <a:moveTo>
                  <a:pt x="0" y="0"/>
                </a:moveTo>
                <a:lnTo>
                  <a:pt x="1638710" y="0"/>
                </a:lnTo>
                <a:lnTo>
                  <a:pt x="1638710" y="39291"/>
                </a:lnTo>
                <a:lnTo>
                  <a:pt x="0" y="39291"/>
                </a:lnTo>
                <a:close/>
              </a:path>
            </a:pathLst>
          </a:custGeom>
          <a:solidFill>
            <a:srgbClr val="FFB74D"/>
          </a:solidFill>
          <a:ln w="6555" cap="flat">
            <a:noFill/>
            <a:prstDash val="solid"/>
            <a:miter/>
          </a:ln>
        </p:spPr>
        <p:txBody>
          <a:bodyPr rtlCol="0" anchor="ctr"/>
          <a:lstStyle/>
          <a:p>
            <a:pPr algn="ctr"/>
            <a:endParaRPr lang="zh-CN" altLang="en-US"/>
          </a:p>
        </p:txBody>
      </p:sp>
      <p:sp>
        <p:nvSpPr>
          <p:cNvPr id="125" name="文本框 124"/>
          <p:cNvSpPr txBox="1"/>
          <p:nvPr/>
        </p:nvSpPr>
        <p:spPr>
          <a:xfrm>
            <a:off x="3068986" y="4248693"/>
            <a:ext cx="869149"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受影响人口分类</a:t>
            </a:r>
          </a:p>
        </p:txBody>
      </p:sp>
      <p:sp>
        <p:nvSpPr>
          <p:cNvPr id="126" name="文本框 125"/>
          <p:cNvSpPr txBox="1"/>
          <p:nvPr/>
        </p:nvSpPr>
        <p:spPr>
          <a:xfrm>
            <a:off x="2609869" y="4420645"/>
            <a:ext cx="1800494" cy="184666"/>
          </a:xfrm>
          <a:prstGeom prst="rect">
            <a:avLst/>
          </a:prstGeom>
          <a:noFill/>
        </p:spPr>
        <p:txBody>
          <a:bodyPr wrap="none" rtlCol="0">
            <a:spAutoFit/>
          </a:bodyPr>
          <a:lstStyle/>
          <a:p>
            <a:pPr algn="ctr"/>
            <a:r>
              <a:rPr lang="zh-CN" altLang="en-US" sz="600" spc="0" baseline="0">
                <a:solidFill>
                  <a:srgbClr val="333333"/>
                </a:solidFill>
                <a:latin typeface="Arial" panose="020B0604020202090204"/>
                <a:cs typeface="Arial" panose="020B0604020202090204"/>
                <a:sym typeface="Arial" panose="020B0604020202090204"/>
                <a:rtl val="0"/>
              </a:rPr>
              <a:t>k=1 </a:t>
            </a:r>
            <a:r>
              <a:rPr lang="zh-CN" altLang="en-US" sz="600" spc="0" baseline="0">
                <a:solidFill>
                  <a:srgbClr val="333333"/>
                </a:solidFill>
                <a:latin typeface="微软雅黑"/>
                <a:ea typeface="微软雅黑"/>
                <a:cs typeface="Arial" panose="020B0604020202090204"/>
                <a:sym typeface="微软雅黑"/>
                <a:rtl val="0"/>
              </a:rPr>
              <a:t>重伤</a:t>
            </a:r>
            <a:r>
              <a:rPr lang="zh-CN" altLang="en-US" sz="600" spc="0" baseline="0">
                <a:solidFill>
                  <a:srgbClr val="333333"/>
                </a:solidFill>
                <a:latin typeface="Arial" panose="020B0604020202090204"/>
                <a:ea typeface="微软雅黑"/>
                <a:cs typeface="Arial" panose="020B0604020202090204"/>
                <a:sym typeface="Arial" panose="020B0604020202090204"/>
                <a:rtl val="0"/>
              </a:rPr>
              <a:t>(2%) · k=2 </a:t>
            </a:r>
            <a:r>
              <a:rPr lang="zh-CN" altLang="en-US" sz="600" spc="0" baseline="0">
                <a:solidFill>
                  <a:srgbClr val="333333"/>
                </a:solidFill>
                <a:latin typeface="微软雅黑"/>
                <a:ea typeface="微软雅黑"/>
                <a:cs typeface="Arial" panose="020B0604020202090204"/>
                <a:sym typeface="微软雅黑"/>
                <a:rtl val="0"/>
              </a:rPr>
              <a:t>脆弱</a:t>
            </a:r>
            <a:r>
              <a:rPr lang="zh-CN" altLang="en-US" sz="600" spc="0" baseline="0">
                <a:solidFill>
                  <a:srgbClr val="333333"/>
                </a:solidFill>
                <a:latin typeface="Arial" panose="020B0604020202090204"/>
                <a:ea typeface="微软雅黑"/>
                <a:cs typeface="Arial" panose="020B0604020202090204"/>
                <a:sym typeface="Arial" panose="020B0604020202090204"/>
                <a:rtl val="0"/>
              </a:rPr>
              <a:t>(27%) · k=3 </a:t>
            </a:r>
            <a:r>
              <a:rPr lang="zh-CN" altLang="en-US" sz="600" spc="0" baseline="0">
                <a:solidFill>
                  <a:srgbClr val="333333"/>
                </a:solidFill>
                <a:latin typeface="微软雅黑"/>
                <a:ea typeface="微软雅黑"/>
                <a:cs typeface="Arial" panose="020B0604020202090204"/>
                <a:sym typeface="微软雅黑"/>
                <a:rtl val="0"/>
              </a:rPr>
              <a:t>一般</a:t>
            </a:r>
            <a:r>
              <a:rPr lang="zh-CN" altLang="en-US" sz="600" spc="0" baseline="0">
                <a:solidFill>
                  <a:srgbClr val="333333"/>
                </a:solidFill>
                <a:latin typeface="Arial" panose="020B0604020202090204"/>
                <a:ea typeface="微软雅黑"/>
                <a:cs typeface="Arial" panose="020B0604020202090204"/>
                <a:sym typeface="Arial" panose="020B0604020202090204"/>
                <a:rtl val="0"/>
              </a:rPr>
              <a:t>(71%)</a:t>
            </a:r>
          </a:p>
        </p:txBody>
      </p:sp>
      <p:sp>
        <p:nvSpPr>
          <p:cNvPr id="127" name="文本框 126"/>
          <p:cNvSpPr txBox="1"/>
          <p:nvPr/>
        </p:nvSpPr>
        <p:spPr>
          <a:xfrm>
            <a:off x="2916773" y="4505776"/>
            <a:ext cx="1180131" cy="184666"/>
          </a:xfrm>
          <a:prstGeom prst="rect">
            <a:avLst/>
          </a:prstGeom>
          <a:noFill/>
        </p:spPr>
        <p:txBody>
          <a:bodyPr wrap="none" rtlCol="0">
            <a:spAutoFit/>
          </a:bodyPr>
          <a:lstStyle/>
          <a:p>
            <a:pPr algn="ctr"/>
            <a:r>
              <a:rPr lang="zh-CN" altLang="en-US" sz="600" spc="0" baseline="0">
                <a:solidFill>
                  <a:srgbClr val="333333"/>
                </a:solidFill>
                <a:latin typeface="Arial" panose="020B0604020202090204"/>
                <a:cs typeface="Arial" panose="020B0604020202090204"/>
                <a:sym typeface="Arial" panose="020B0604020202090204"/>
                <a:rtl val="0"/>
              </a:rPr>
              <a:t>3km</a:t>
            </a:r>
            <a:r>
              <a:rPr lang="zh-CN" altLang="en-US" sz="600" spc="0" baseline="0">
                <a:solidFill>
                  <a:srgbClr val="333333"/>
                </a:solidFill>
                <a:latin typeface="微软雅黑"/>
                <a:ea typeface="微软雅黑"/>
                <a:cs typeface="Arial" panose="020B0604020202090204"/>
                <a:sym typeface="微软雅黑"/>
                <a:rtl val="0"/>
              </a:rPr>
              <a:t>区域总影响口</a:t>
            </a:r>
            <a:r>
              <a:rPr lang="zh-CN" altLang="en-US" sz="600" spc="0" baseline="0">
                <a:solidFill>
                  <a:srgbClr val="333333"/>
                </a:solidFill>
                <a:latin typeface="Arial" panose="020B0604020202090204"/>
                <a:ea typeface="微软雅黑"/>
                <a:cs typeface="Arial" panose="020B0604020202090204"/>
                <a:sym typeface="Arial" panose="020B0604020202090204"/>
                <a:rtl val="0"/>
              </a:rPr>
              <a:t> ≈ 23.5</a:t>
            </a:r>
            <a:r>
              <a:rPr lang="zh-CN" altLang="en-US" sz="600" spc="0" baseline="0">
                <a:solidFill>
                  <a:srgbClr val="333333"/>
                </a:solidFill>
                <a:latin typeface="微软雅黑"/>
                <a:ea typeface="微软雅黑"/>
                <a:cs typeface="Arial" panose="020B0604020202090204"/>
                <a:sym typeface="微软雅黑"/>
                <a:rtl val="0"/>
              </a:rPr>
              <a:t>万人</a:t>
            </a:r>
          </a:p>
        </p:txBody>
      </p:sp>
      <p:sp>
        <p:nvSpPr>
          <p:cNvPr id="129" name="任意形状 128"/>
          <p:cNvSpPr/>
          <p:nvPr/>
        </p:nvSpPr>
        <p:spPr>
          <a:xfrm>
            <a:off x="4588387" y="1660902"/>
            <a:ext cx="3736258" cy="1276958"/>
          </a:xfrm>
          <a:custGeom>
            <a:avLst/>
            <a:gdLst>
              <a:gd name="connsiteX0" fmla="*/ 3670710 w 3736258"/>
              <a:gd name="connsiteY0" fmla="*/ 0 h 1276958"/>
              <a:gd name="connsiteX1" fmla="*/ 3736258 w 3736258"/>
              <a:gd name="connsiteY1" fmla="*/ 0 h 1276958"/>
              <a:gd name="connsiteX2" fmla="*/ 3736258 w 3736258"/>
              <a:gd name="connsiteY2" fmla="*/ 1276958 h 1276958"/>
              <a:gd name="connsiteX3" fmla="*/ 3670710 w 3736258"/>
              <a:gd name="connsiteY3" fmla="*/ 1276958 h 1276958"/>
              <a:gd name="connsiteX4" fmla="*/ 65548 w 3736258"/>
              <a:gd name="connsiteY4" fmla="*/ 1276958 h 1276958"/>
              <a:gd name="connsiteX5" fmla="*/ 0 w 3736258"/>
              <a:gd name="connsiteY5" fmla="*/ 1276958 h 1276958"/>
              <a:gd name="connsiteX6" fmla="*/ 0 w 3736258"/>
              <a:gd name="connsiteY6" fmla="*/ 0 h 1276958"/>
              <a:gd name="connsiteX7" fmla="*/ 65548 w 3736258"/>
              <a:gd name="connsiteY7" fmla="*/ 0 h 127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276958">
                <a:moveTo>
                  <a:pt x="3670710" y="0"/>
                </a:moveTo>
                <a:cubicBezTo>
                  <a:pt x="3706911" y="0"/>
                  <a:pt x="3736258" y="0"/>
                  <a:pt x="3736258" y="0"/>
                </a:cubicBezTo>
                <a:lnTo>
                  <a:pt x="3736258" y="1276958"/>
                </a:lnTo>
                <a:cubicBezTo>
                  <a:pt x="3736258" y="1276958"/>
                  <a:pt x="3706911" y="1276958"/>
                  <a:pt x="3670710" y="1276958"/>
                </a:cubicBezTo>
                <a:lnTo>
                  <a:pt x="65548" y="1276958"/>
                </a:lnTo>
                <a:cubicBezTo>
                  <a:pt x="29347" y="1276958"/>
                  <a:pt x="0" y="1276958"/>
                  <a:pt x="0" y="1276958"/>
                </a:cubicBezTo>
                <a:lnTo>
                  <a:pt x="0" y="0"/>
                </a:lnTo>
                <a:cubicBezTo>
                  <a:pt x="0" y="0"/>
                  <a:pt x="29347" y="0"/>
                  <a:pt x="65548" y="0"/>
                </a:cubicBezTo>
                <a:close/>
              </a:path>
            </a:pathLst>
          </a:custGeom>
          <a:solidFill>
            <a:srgbClr val="FFFFFF"/>
          </a:solidFill>
          <a:ln w="7866" cap="flat">
            <a:solidFill>
              <a:srgbClr val="2E7D32"/>
            </a:solidFill>
            <a:prstDash val="solid"/>
            <a:miter/>
          </a:ln>
        </p:spPr>
        <p:txBody>
          <a:bodyPr rtlCol="0" anchor="ctr"/>
          <a:lstStyle/>
          <a:p>
            <a:pPr algn="ctr"/>
            <a:endParaRPr lang="zh-CN" altLang="en-US"/>
          </a:p>
        </p:txBody>
      </p:sp>
      <p:sp>
        <p:nvSpPr>
          <p:cNvPr id="130" name="任意形状 129"/>
          <p:cNvSpPr/>
          <p:nvPr/>
        </p:nvSpPr>
        <p:spPr>
          <a:xfrm>
            <a:off x="4588387" y="1660902"/>
            <a:ext cx="3736258" cy="170261"/>
          </a:xfrm>
          <a:custGeom>
            <a:avLst/>
            <a:gdLst>
              <a:gd name="connsiteX0" fmla="*/ 3670710 w 3736258"/>
              <a:gd name="connsiteY0" fmla="*/ 0 h 170261"/>
              <a:gd name="connsiteX1" fmla="*/ 3736258 w 3736258"/>
              <a:gd name="connsiteY1" fmla="*/ 0 h 170261"/>
              <a:gd name="connsiteX2" fmla="*/ 3736258 w 3736258"/>
              <a:gd name="connsiteY2" fmla="*/ 170261 h 170261"/>
              <a:gd name="connsiteX3" fmla="*/ 3670710 w 3736258"/>
              <a:gd name="connsiteY3" fmla="*/ 170261 h 170261"/>
              <a:gd name="connsiteX4" fmla="*/ 65548 w 3736258"/>
              <a:gd name="connsiteY4" fmla="*/ 170261 h 170261"/>
              <a:gd name="connsiteX5" fmla="*/ 0 w 3736258"/>
              <a:gd name="connsiteY5" fmla="*/ 170261 h 170261"/>
              <a:gd name="connsiteX6" fmla="*/ 0 w 3736258"/>
              <a:gd name="connsiteY6" fmla="*/ 0 h 170261"/>
              <a:gd name="connsiteX7" fmla="*/ 65548 w 3736258"/>
              <a:gd name="connsiteY7" fmla="*/ 0 h 17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70261">
                <a:moveTo>
                  <a:pt x="3670710" y="0"/>
                </a:moveTo>
                <a:cubicBezTo>
                  <a:pt x="3706911" y="0"/>
                  <a:pt x="3736258" y="0"/>
                  <a:pt x="3736258" y="0"/>
                </a:cubicBezTo>
                <a:lnTo>
                  <a:pt x="3736258" y="170261"/>
                </a:lnTo>
                <a:cubicBezTo>
                  <a:pt x="3736258" y="170261"/>
                  <a:pt x="3706911" y="170261"/>
                  <a:pt x="3670710" y="170261"/>
                </a:cubicBezTo>
                <a:lnTo>
                  <a:pt x="65548" y="170261"/>
                </a:lnTo>
                <a:cubicBezTo>
                  <a:pt x="29347" y="170261"/>
                  <a:pt x="0" y="170261"/>
                  <a:pt x="0" y="170261"/>
                </a:cubicBezTo>
                <a:lnTo>
                  <a:pt x="0" y="0"/>
                </a:lnTo>
                <a:cubicBezTo>
                  <a:pt x="0" y="0"/>
                  <a:pt x="29347" y="0"/>
                  <a:pt x="65548" y="0"/>
                </a:cubicBezTo>
                <a:close/>
              </a:path>
            </a:pathLst>
          </a:custGeom>
          <a:solidFill>
            <a:srgbClr val="2E7D32"/>
          </a:solidFill>
          <a:ln w="6555" cap="flat">
            <a:noFill/>
            <a:prstDash val="solid"/>
            <a:miter/>
          </a:ln>
        </p:spPr>
        <p:txBody>
          <a:bodyPr rtlCol="0" anchor="ctr"/>
          <a:lstStyle/>
          <a:p>
            <a:pPr algn="ctr"/>
            <a:endParaRPr lang="zh-CN" altLang="en-US"/>
          </a:p>
        </p:txBody>
      </p:sp>
      <p:sp>
        <p:nvSpPr>
          <p:cNvPr id="131" name="任意形状 130"/>
          <p:cNvSpPr/>
          <p:nvPr/>
        </p:nvSpPr>
        <p:spPr>
          <a:xfrm>
            <a:off x="4588387" y="1791872"/>
            <a:ext cx="3736258" cy="39291"/>
          </a:xfrm>
          <a:custGeom>
            <a:avLst/>
            <a:gdLst>
              <a:gd name="connsiteX0" fmla="*/ 0 w 3736258"/>
              <a:gd name="connsiteY0" fmla="*/ 0 h 39291"/>
              <a:gd name="connsiteX1" fmla="*/ 3736258 w 3736258"/>
              <a:gd name="connsiteY1" fmla="*/ 0 h 39291"/>
              <a:gd name="connsiteX2" fmla="*/ 3736258 w 3736258"/>
              <a:gd name="connsiteY2" fmla="*/ 39291 h 39291"/>
              <a:gd name="connsiteX3" fmla="*/ 0 w 3736258"/>
              <a:gd name="connsiteY3" fmla="*/ 39291 h 39291"/>
            </a:gdLst>
            <a:ahLst/>
            <a:cxnLst>
              <a:cxn ang="0">
                <a:pos x="connsiteX0" y="connsiteY0"/>
              </a:cxn>
              <a:cxn ang="0">
                <a:pos x="connsiteX1" y="connsiteY1"/>
              </a:cxn>
              <a:cxn ang="0">
                <a:pos x="connsiteX2" y="connsiteY2"/>
              </a:cxn>
              <a:cxn ang="0">
                <a:pos x="connsiteX3" y="connsiteY3"/>
              </a:cxn>
            </a:cxnLst>
            <a:rect l="l" t="t" r="r" b="b"/>
            <a:pathLst>
              <a:path w="3736258" h="39291">
                <a:moveTo>
                  <a:pt x="0" y="0"/>
                </a:moveTo>
                <a:lnTo>
                  <a:pt x="3736258" y="0"/>
                </a:lnTo>
                <a:lnTo>
                  <a:pt x="3736258" y="39291"/>
                </a:lnTo>
                <a:lnTo>
                  <a:pt x="0" y="39291"/>
                </a:lnTo>
                <a:close/>
              </a:path>
            </a:pathLst>
          </a:custGeom>
          <a:solidFill>
            <a:srgbClr val="2E7D32"/>
          </a:solidFill>
          <a:ln w="6555" cap="flat">
            <a:noFill/>
            <a:prstDash val="solid"/>
            <a:miter/>
          </a:ln>
        </p:spPr>
        <p:txBody>
          <a:bodyPr rtlCol="0" anchor="ctr"/>
          <a:lstStyle/>
          <a:p>
            <a:pPr algn="ctr"/>
            <a:endParaRPr lang="zh-CN" altLang="en-US"/>
          </a:p>
        </p:txBody>
      </p:sp>
      <p:sp>
        <p:nvSpPr>
          <p:cNvPr id="132" name="文本框 131"/>
          <p:cNvSpPr txBox="1"/>
          <p:nvPr/>
        </p:nvSpPr>
        <p:spPr>
          <a:xfrm>
            <a:off x="5690048" y="1644091"/>
            <a:ext cx="1526379" cy="219291"/>
          </a:xfrm>
          <a:prstGeom prst="rect">
            <a:avLst/>
          </a:prstGeom>
          <a:noFill/>
        </p:spPr>
        <p:txBody>
          <a:bodyPr wrap="none" rtlCol="0">
            <a:spAutoFit/>
          </a:bodyPr>
          <a:lstStyle/>
          <a:p>
            <a:pPr algn="ctr"/>
            <a:r>
              <a:rPr lang="zh-CN" altLang="en-US" sz="825" b="1" spc="0" baseline="0" dirty="0">
                <a:solidFill>
                  <a:srgbClr val="FFFFFF"/>
                </a:solidFill>
                <a:latin typeface="黑体" panose="02010600030101010101" charset="-122"/>
                <a:ea typeface="黑体" panose="02010600030101010101" charset="-122"/>
                <a:sym typeface="黑体" panose="02010600030101010101" charset="-122"/>
                <a:rtl val="0"/>
              </a:rPr>
              <a:t>应急物资配送优化— 向心流</a:t>
            </a:r>
          </a:p>
        </p:txBody>
      </p:sp>
      <p:sp>
        <p:nvSpPr>
          <p:cNvPr id="133" name="任意形状 132"/>
          <p:cNvSpPr/>
          <p:nvPr/>
        </p:nvSpPr>
        <p:spPr>
          <a:xfrm>
            <a:off x="4686709" y="1903197"/>
            <a:ext cx="1127432" cy="425652"/>
          </a:xfrm>
          <a:custGeom>
            <a:avLst/>
            <a:gdLst>
              <a:gd name="connsiteX0" fmla="*/ 1094658 w 1127432"/>
              <a:gd name="connsiteY0" fmla="*/ 0 h 425652"/>
              <a:gd name="connsiteX1" fmla="*/ 1127432 w 1127432"/>
              <a:gd name="connsiteY1" fmla="*/ 0 h 425652"/>
              <a:gd name="connsiteX2" fmla="*/ 1127432 w 1127432"/>
              <a:gd name="connsiteY2" fmla="*/ 425653 h 425652"/>
              <a:gd name="connsiteX3" fmla="*/ 1094658 w 1127432"/>
              <a:gd name="connsiteY3" fmla="*/ 425653 h 425652"/>
              <a:gd name="connsiteX4" fmla="*/ 32774 w 1127432"/>
              <a:gd name="connsiteY4" fmla="*/ 425653 h 425652"/>
              <a:gd name="connsiteX5" fmla="*/ 0 w 1127432"/>
              <a:gd name="connsiteY5" fmla="*/ 425653 h 425652"/>
              <a:gd name="connsiteX6" fmla="*/ 0 w 1127432"/>
              <a:gd name="connsiteY6" fmla="*/ 0 h 425652"/>
              <a:gd name="connsiteX7" fmla="*/ 32774 w 1127432"/>
              <a:gd name="connsiteY7" fmla="*/ 0 h 42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25652">
                <a:moveTo>
                  <a:pt x="1094658" y="0"/>
                </a:moveTo>
                <a:cubicBezTo>
                  <a:pt x="1112759" y="0"/>
                  <a:pt x="1127432" y="0"/>
                  <a:pt x="1127432" y="0"/>
                </a:cubicBezTo>
                <a:lnTo>
                  <a:pt x="1127432" y="425653"/>
                </a:lnTo>
                <a:cubicBezTo>
                  <a:pt x="1127432" y="425653"/>
                  <a:pt x="1112759" y="425653"/>
                  <a:pt x="1094658" y="425653"/>
                </a:cubicBezTo>
                <a:lnTo>
                  <a:pt x="32774" y="425653"/>
                </a:lnTo>
                <a:cubicBezTo>
                  <a:pt x="14674" y="425653"/>
                  <a:pt x="0" y="425653"/>
                  <a:pt x="0" y="425653"/>
                </a:cubicBezTo>
                <a:lnTo>
                  <a:pt x="0" y="0"/>
                </a:lnTo>
                <a:cubicBezTo>
                  <a:pt x="0" y="0"/>
                  <a:pt x="14674" y="0"/>
                  <a:pt x="32774" y="0"/>
                </a:cubicBezTo>
                <a:close/>
              </a:path>
            </a:pathLst>
          </a:custGeom>
          <a:solidFill>
            <a:srgbClr val="E8F5E9"/>
          </a:solidFill>
          <a:ln w="3277" cap="flat">
            <a:solidFill>
              <a:srgbClr val="43A047"/>
            </a:solidFill>
            <a:prstDash val="solid"/>
            <a:miter/>
          </a:ln>
        </p:spPr>
        <p:txBody>
          <a:bodyPr rtlCol="0" anchor="ctr"/>
          <a:lstStyle/>
          <a:p>
            <a:pPr algn="ctr"/>
            <a:endParaRPr lang="zh-CN" altLang="en-US"/>
          </a:p>
        </p:txBody>
      </p:sp>
      <p:sp>
        <p:nvSpPr>
          <p:cNvPr id="134" name="文本框 133"/>
          <p:cNvSpPr txBox="1"/>
          <p:nvPr/>
        </p:nvSpPr>
        <p:spPr>
          <a:xfrm>
            <a:off x="4890319" y="1873908"/>
            <a:ext cx="713658" cy="196208"/>
          </a:xfrm>
          <a:prstGeom prst="rect">
            <a:avLst/>
          </a:prstGeom>
          <a:noFill/>
        </p:spPr>
        <p:txBody>
          <a:bodyPr wrap="none" rtlCol="0">
            <a:spAutoFit/>
          </a:bodyPr>
          <a:lstStyle/>
          <a:p>
            <a:pPr algn="ctr"/>
            <a:r>
              <a:rPr lang="zh-CN" altLang="en-US" sz="675" b="1" spc="0" baseline="0" dirty="0">
                <a:solidFill>
                  <a:srgbClr val="1B5E20"/>
                </a:solidFill>
                <a:latin typeface="黑体" panose="02010600030101010101" charset="-122"/>
                <a:ea typeface="黑体" panose="02010600030101010101" charset="-122"/>
                <a:sym typeface="黑体" panose="02010600030101010101" charset="-122"/>
                <a:rtl val="0"/>
              </a:rPr>
              <a:t>三层物流网络</a:t>
            </a:r>
          </a:p>
        </p:txBody>
      </p:sp>
      <p:sp>
        <p:nvSpPr>
          <p:cNvPr id="135" name="文本框 134"/>
          <p:cNvSpPr txBox="1"/>
          <p:nvPr/>
        </p:nvSpPr>
        <p:spPr>
          <a:xfrm>
            <a:off x="4766157" y="1994995"/>
            <a:ext cx="968535"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供应点</a:t>
            </a:r>
            <a:r>
              <a:rPr lang="zh-CN" altLang="en-US" sz="525" spc="0" baseline="0">
                <a:solidFill>
                  <a:srgbClr val="333333"/>
                </a:solidFill>
                <a:latin typeface="Arial" panose="020B0604020202090204"/>
                <a:ea typeface="微软雅黑"/>
                <a:cs typeface="Arial" panose="020B0604020202090204"/>
                <a:sym typeface="Arial" panose="020B0604020202090204"/>
                <a:rtl val="0"/>
              </a:rPr>
              <a:t>(H): 8</a:t>
            </a:r>
            <a:r>
              <a:rPr lang="zh-CN" altLang="en-US" sz="525" spc="0" baseline="0">
                <a:solidFill>
                  <a:srgbClr val="333333"/>
                </a:solidFill>
                <a:latin typeface="微软雅黑"/>
                <a:ea typeface="微软雅黑"/>
                <a:cs typeface="Arial" panose="020B0604020202090204"/>
                <a:sym typeface="微软雅黑"/>
                <a:rtl val="0"/>
              </a:rPr>
              <a:t>消防站</a:t>
            </a:r>
            <a:r>
              <a:rPr lang="zh-CN" altLang="en-US" sz="525" spc="0" baseline="0">
                <a:solidFill>
                  <a:srgbClr val="333333"/>
                </a:solidFill>
                <a:latin typeface="Arial" panose="020B0604020202090204"/>
                <a:ea typeface="微软雅黑"/>
                <a:cs typeface="Arial" panose="020B0604020202090204"/>
                <a:sym typeface="Arial" panose="020B0604020202090204"/>
                <a:rtl val="0"/>
              </a:rPr>
              <a:t>+2</a:t>
            </a:r>
            <a:r>
              <a:rPr lang="zh-CN" altLang="en-US" sz="525" spc="0" baseline="0">
                <a:solidFill>
                  <a:srgbClr val="333333"/>
                </a:solidFill>
                <a:latin typeface="微软雅黑"/>
                <a:ea typeface="微软雅黑"/>
                <a:cs typeface="Arial" panose="020B0604020202090204"/>
                <a:sym typeface="微软雅黑"/>
                <a:rtl val="0"/>
              </a:rPr>
              <a:t>仓库</a:t>
            </a:r>
          </a:p>
        </p:txBody>
      </p:sp>
      <p:sp>
        <p:nvSpPr>
          <p:cNvPr id="136" name="文本框 135"/>
          <p:cNvSpPr txBox="1"/>
          <p:nvPr/>
        </p:nvSpPr>
        <p:spPr>
          <a:xfrm>
            <a:off x="4819057" y="2084370"/>
            <a:ext cx="862737"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中转站</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(I): 5</a:t>
            </a:r>
            <a:r>
              <a:rPr lang="zh-CN" altLang="en-US" sz="525" spc="0" baseline="0" dirty="0">
                <a:solidFill>
                  <a:srgbClr val="333333"/>
                </a:solidFill>
                <a:latin typeface="微软雅黑"/>
                <a:ea typeface="微软雅黑"/>
                <a:cs typeface="Arial" panose="020B0604020202090204"/>
                <a:sym typeface="微软雅黑"/>
                <a:rtl val="0"/>
              </a:rPr>
              <a:t>大容量设施</a:t>
            </a:r>
          </a:p>
        </p:txBody>
      </p:sp>
      <p:sp>
        <p:nvSpPr>
          <p:cNvPr id="137" name="文本框 136"/>
          <p:cNvSpPr txBox="1"/>
          <p:nvPr/>
        </p:nvSpPr>
        <p:spPr>
          <a:xfrm>
            <a:off x="4860735" y="2170447"/>
            <a:ext cx="779381"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需求点</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(J): 15</a:t>
            </a:r>
            <a:r>
              <a:rPr lang="zh-CN" altLang="en-US" sz="525" spc="0" baseline="0" dirty="0">
                <a:solidFill>
                  <a:srgbClr val="333333"/>
                </a:solidFill>
                <a:latin typeface="微软雅黑"/>
                <a:ea typeface="微软雅黑"/>
                <a:cs typeface="Arial" panose="020B0604020202090204"/>
                <a:sym typeface="微软雅黑"/>
                <a:rtl val="0"/>
              </a:rPr>
              <a:t>个位置</a:t>
            </a:r>
          </a:p>
        </p:txBody>
      </p:sp>
      <p:sp>
        <p:nvSpPr>
          <p:cNvPr id="138" name="任意形状 137"/>
          <p:cNvSpPr/>
          <p:nvPr/>
        </p:nvSpPr>
        <p:spPr>
          <a:xfrm>
            <a:off x="5879690" y="1903197"/>
            <a:ext cx="1127432" cy="425652"/>
          </a:xfrm>
          <a:custGeom>
            <a:avLst/>
            <a:gdLst>
              <a:gd name="connsiteX0" fmla="*/ 1094658 w 1127432"/>
              <a:gd name="connsiteY0" fmla="*/ 0 h 425652"/>
              <a:gd name="connsiteX1" fmla="*/ 1127432 w 1127432"/>
              <a:gd name="connsiteY1" fmla="*/ 0 h 425652"/>
              <a:gd name="connsiteX2" fmla="*/ 1127432 w 1127432"/>
              <a:gd name="connsiteY2" fmla="*/ 425653 h 425652"/>
              <a:gd name="connsiteX3" fmla="*/ 1094658 w 1127432"/>
              <a:gd name="connsiteY3" fmla="*/ 425653 h 425652"/>
              <a:gd name="connsiteX4" fmla="*/ 32774 w 1127432"/>
              <a:gd name="connsiteY4" fmla="*/ 425653 h 425652"/>
              <a:gd name="connsiteX5" fmla="*/ 0 w 1127432"/>
              <a:gd name="connsiteY5" fmla="*/ 425653 h 425652"/>
              <a:gd name="connsiteX6" fmla="*/ 0 w 1127432"/>
              <a:gd name="connsiteY6" fmla="*/ 0 h 425652"/>
              <a:gd name="connsiteX7" fmla="*/ 32774 w 1127432"/>
              <a:gd name="connsiteY7" fmla="*/ 0 h 42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25652">
                <a:moveTo>
                  <a:pt x="1094658" y="0"/>
                </a:moveTo>
                <a:cubicBezTo>
                  <a:pt x="1112759" y="0"/>
                  <a:pt x="1127432" y="0"/>
                  <a:pt x="1127432" y="0"/>
                </a:cubicBezTo>
                <a:lnTo>
                  <a:pt x="1127432" y="425653"/>
                </a:lnTo>
                <a:cubicBezTo>
                  <a:pt x="1127432" y="425653"/>
                  <a:pt x="1112759" y="425653"/>
                  <a:pt x="1094658" y="425653"/>
                </a:cubicBezTo>
                <a:lnTo>
                  <a:pt x="32774" y="425653"/>
                </a:lnTo>
                <a:cubicBezTo>
                  <a:pt x="14674" y="425653"/>
                  <a:pt x="0" y="425653"/>
                  <a:pt x="0" y="425653"/>
                </a:cubicBezTo>
                <a:lnTo>
                  <a:pt x="0" y="0"/>
                </a:lnTo>
                <a:cubicBezTo>
                  <a:pt x="0" y="0"/>
                  <a:pt x="14674" y="0"/>
                  <a:pt x="32774" y="0"/>
                </a:cubicBezTo>
                <a:close/>
              </a:path>
            </a:pathLst>
          </a:custGeom>
          <a:solidFill>
            <a:srgbClr val="E8F5E9"/>
          </a:solidFill>
          <a:ln w="3277" cap="flat">
            <a:solidFill>
              <a:srgbClr val="43A047"/>
            </a:solidFill>
            <a:prstDash val="solid"/>
            <a:miter/>
          </a:ln>
        </p:spPr>
        <p:txBody>
          <a:bodyPr rtlCol="0" anchor="ctr"/>
          <a:lstStyle/>
          <a:p>
            <a:pPr algn="ctr"/>
            <a:endParaRPr lang="zh-CN" altLang="en-US"/>
          </a:p>
        </p:txBody>
      </p:sp>
      <p:sp>
        <p:nvSpPr>
          <p:cNvPr id="139" name="文本框 138"/>
          <p:cNvSpPr txBox="1"/>
          <p:nvPr/>
        </p:nvSpPr>
        <p:spPr>
          <a:xfrm>
            <a:off x="5995134" y="1873908"/>
            <a:ext cx="889988" cy="196208"/>
          </a:xfrm>
          <a:prstGeom prst="rect">
            <a:avLst/>
          </a:prstGeom>
          <a:noFill/>
        </p:spPr>
        <p:txBody>
          <a:bodyPr wrap="none" rtlCol="0">
            <a:spAutoFit/>
          </a:bodyPr>
          <a:lstStyle/>
          <a:p>
            <a:pPr algn="ctr"/>
            <a:r>
              <a:rPr lang="zh-CN" altLang="en-US" sz="675" b="1" spc="0" baseline="0" dirty="0">
                <a:solidFill>
                  <a:srgbClr val="1B5E20"/>
                </a:solidFill>
                <a:latin typeface="黑体" panose="02010600030101010101" charset="-122"/>
                <a:ea typeface="黑体" panose="02010600030101010101" charset="-122"/>
                <a:sym typeface="黑体" panose="02010600030101010101" charset="-122"/>
                <a:rtl val="0"/>
              </a:rPr>
              <a:t>四级优先级时间窗</a:t>
            </a:r>
          </a:p>
        </p:txBody>
      </p:sp>
      <p:sp>
        <p:nvSpPr>
          <p:cNvPr id="140" name="任意形状 139"/>
          <p:cNvSpPr/>
          <p:nvPr/>
        </p:nvSpPr>
        <p:spPr>
          <a:xfrm>
            <a:off x="5964903" y="2034167"/>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B71C1C"/>
          </a:solidFill>
          <a:ln w="6555" cap="flat">
            <a:noFill/>
            <a:prstDash val="solid"/>
            <a:miter/>
          </a:ln>
        </p:spPr>
        <p:txBody>
          <a:bodyPr rtlCol="0" anchor="ctr"/>
          <a:lstStyle/>
          <a:p>
            <a:pPr algn="ctr"/>
            <a:endParaRPr lang="zh-CN" altLang="en-US"/>
          </a:p>
        </p:txBody>
      </p:sp>
      <p:sp>
        <p:nvSpPr>
          <p:cNvPr id="141" name="文本框 140"/>
          <p:cNvSpPr txBox="1"/>
          <p:nvPr/>
        </p:nvSpPr>
        <p:spPr>
          <a:xfrm>
            <a:off x="5937929" y="1974731"/>
            <a:ext cx="766557"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生命救援</a:t>
            </a:r>
            <a:r>
              <a:rPr lang="zh-CN" altLang="en-US" sz="525" spc="0" baseline="0">
                <a:solidFill>
                  <a:srgbClr val="333333"/>
                </a:solidFill>
                <a:latin typeface="Arial" panose="020B0604020202090204"/>
                <a:ea typeface="微软雅黑"/>
                <a:cs typeface="Arial" panose="020B0604020202090204"/>
                <a:sym typeface="Arial" panose="020B0604020202090204"/>
                <a:rtl val="0"/>
              </a:rPr>
              <a:t> 30min(</a:t>
            </a:r>
            <a:r>
              <a:rPr lang="zh-CN" altLang="en-US" sz="525" spc="0" baseline="0">
                <a:solidFill>
                  <a:srgbClr val="333333"/>
                </a:solidFill>
                <a:latin typeface="微软雅黑"/>
                <a:ea typeface="微软雅黑"/>
                <a:cs typeface="Arial" panose="020B0604020202090204"/>
                <a:sym typeface="微软雅黑"/>
                <a:rtl val="0"/>
              </a:rPr>
              <a:t>硬</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42" name="任意形状 141"/>
          <p:cNvSpPr/>
          <p:nvPr/>
        </p:nvSpPr>
        <p:spPr>
          <a:xfrm>
            <a:off x="5964903" y="2112749"/>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E53935"/>
          </a:solidFill>
          <a:ln w="6555" cap="flat">
            <a:noFill/>
            <a:prstDash val="solid"/>
            <a:miter/>
          </a:ln>
        </p:spPr>
        <p:txBody>
          <a:bodyPr rtlCol="0" anchor="ctr"/>
          <a:lstStyle/>
          <a:p>
            <a:pPr algn="ctr"/>
            <a:endParaRPr lang="zh-CN" altLang="en-US"/>
          </a:p>
        </p:txBody>
      </p:sp>
      <p:sp>
        <p:nvSpPr>
          <p:cNvPr id="143" name="文本框 142"/>
          <p:cNvSpPr txBox="1"/>
          <p:nvPr/>
        </p:nvSpPr>
        <p:spPr>
          <a:xfrm>
            <a:off x="5937929" y="2053313"/>
            <a:ext cx="766557"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医疗支援</a:t>
            </a:r>
            <a:r>
              <a:rPr lang="zh-CN" altLang="en-US" sz="525" spc="0" baseline="0">
                <a:solidFill>
                  <a:srgbClr val="333333"/>
                </a:solidFill>
                <a:latin typeface="Arial" panose="020B0604020202090204"/>
                <a:ea typeface="微软雅黑"/>
                <a:cs typeface="Arial" panose="020B0604020202090204"/>
                <a:sym typeface="Arial" panose="020B0604020202090204"/>
                <a:rtl val="0"/>
              </a:rPr>
              <a:t> 60min(</a:t>
            </a:r>
            <a:r>
              <a:rPr lang="zh-CN" altLang="en-US" sz="525" spc="0" baseline="0">
                <a:solidFill>
                  <a:srgbClr val="333333"/>
                </a:solidFill>
                <a:latin typeface="微软雅黑"/>
                <a:ea typeface="微软雅黑"/>
                <a:cs typeface="Arial" panose="020B0604020202090204"/>
                <a:sym typeface="微软雅黑"/>
                <a:rtl val="0"/>
              </a:rPr>
              <a:t>硬</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44" name="任意形状 143"/>
          <p:cNvSpPr/>
          <p:nvPr/>
        </p:nvSpPr>
        <p:spPr>
          <a:xfrm>
            <a:off x="5964903" y="2191331"/>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FF9800"/>
          </a:solidFill>
          <a:ln w="6555" cap="flat">
            <a:noFill/>
            <a:prstDash val="solid"/>
            <a:miter/>
          </a:ln>
        </p:spPr>
        <p:txBody>
          <a:bodyPr rtlCol="0" anchor="ctr"/>
          <a:lstStyle/>
          <a:p>
            <a:pPr algn="ctr"/>
            <a:endParaRPr lang="zh-CN" altLang="en-US"/>
          </a:p>
        </p:txBody>
      </p:sp>
      <p:sp>
        <p:nvSpPr>
          <p:cNvPr id="145" name="文本框 144"/>
          <p:cNvSpPr txBox="1"/>
          <p:nvPr/>
        </p:nvSpPr>
        <p:spPr>
          <a:xfrm>
            <a:off x="5932604" y="2131895"/>
            <a:ext cx="803426"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防护设备</a:t>
            </a:r>
            <a:r>
              <a:rPr lang="zh-CN" altLang="en-US" sz="525" spc="0" baseline="0">
                <a:solidFill>
                  <a:srgbClr val="333333"/>
                </a:solidFill>
                <a:latin typeface="Arial" panose="020B0604020202090204"/>
                <a:ea typeface="微软雅黑"/>
                <a:cs typeface="Arial" panose="020B0604020202090204"/>
                <a:sym typeface="Arial" panose="020B0604020202090204"/>
                <a:rtl val="0"/>
              </a:rPr>
              <a:t> 120min(</a:t>
            </a:r>
            <a:r>
              <a:rPr lang="zh-CN" altLang="en-US" sz="525" spc="0" baseline="0">
                <a:solidFill>
                  <a:srgbClr val="333333"/>
                </a:solidFill>
                <a:latin typeface="微软雅黑"/>
                <a:ea typeface="微软雅黑"/>
                <a:cs typeface="Arial" panose="020B0604020202090204"/>
                <a:sym typeface="微软雅黑"/>
                <a:rtl val="0"/>
              </a:rPr>
              <a:t>软</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46" name="任意形状 145"/>
          <p:cNvSpPr/>
          <p:nvPr/>
        </p:nvSpPr>
        <p:spPr>
          <a:xfrm>
            <a:off x="5964903" y="2269913"/>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FFC107"/>
          </a:solidFill>
          <a:ln w="6555" cap="flat">
            <a:noFill/>
            <a:prstDash val="solid"/>
            <a:miter/>
          </a:ln>
        </p:spPr>
        <p:txBody>
          <a:bodyPr rtlCol="0" anchor="ctr"/>
          <a:lstStyle/>
          <a:p>
            <a:pPr algn="ctr"/>
            <a:endParaRPr lang="zh-CN" altLang="en-US"/>
          </a:p>
        </p:txBody>
      </p:sp>
      <p:sp>
        <p:nvSpPr>
          <p:cNvPr id="147" name="文本框 146"/>
          <p:cNvSpPr txBox="1"/>
          <p:nvPr/>
        </p:nvSpPr>
        <p:spPr>
          <a:xfrm>
            <a:off x="5932604" y="2210477"/>
            <a:ext cx="803426"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基础保障</a:t>
            </a:r>
            <a:r>
              <a:rPr lang="zh-CN" altLang="en-US" sz="525" spc="0" baseline="0">
                <a:solidFill>
                  <a:srgbClr val="333333"/>
                </a:solidFill>
                <a:latin typeface="Arial" panose="020B0604020202090204"/>
                <a:ea typeface="微软雅黑"/>
                <a:cs typeface="Arial" panose="020B0604020202090204"/>
                <a:sym typeface="Arial" panose="020B0604020202090204"/>
                <a:rtl val="0"/>
              </a:rPr>
              <a:t> 240min(</a:t>
            </a:r>
            <a:r>
              <a:rPr lang="zh-CN" altLang="en-US" sz="525" spc="0" baseline="0">
                <a:solidFill>
                  <a:srgbClr val="333333"/>
                </a:solidFill>
                <a:latin typeface="微软雅黑"/>
                <a:ea typeface="微软雅黑"/>
                <a:cs typeface="Arial" panose="020B0604020202090204"/>
                <a:sym typeface="微软雅黑"/>
                <a:rtl val="0"/>
              </a:rPr>
              <a:t>软</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48" name="任意形状 147"/>
          <p:cNvSpPr/>
          <p:nvPr/>
        </p:nvSpPr>
        <p:spPr>
          <a:xfrm>
            <a:off x="7072670" y="1903197"/>
            <a:ext cx="1166761" cy="425652"/>
          </a:xfrm>
          <a:custGeom>
            <a:avLst/>
            <a:gdLst>
              <a:gd name="connsiteX0" fmla="*/ 1133987 w 1166761"/>
              <a:gd name="connsiteY0" fmla="*/ 0 h 425652"/>
              <a:gd name="connsiteX1" fmla="*/ 1166761 w 1166761"/>
              <a:gd name="connsiteY1" fmla="*/ 0 h 425652"/>
              <a:gd name="connsiteX2" fmla="*/ 1166761 w 1166761"/>
              <a:gd name="connsiteY2" fmla="*/ 425653 h 425652"/>
              <a:gd name="connsiteX3" fmla="*/ 1133987 w 1166761"/>
              <a:gd name="connsiteY3" fmla="*/ 425653 h 425652"/>
              <a:gd name="connsiteX4" fmla="*/ 32774 w 1166761"/>
              <a:gd name="connsiteY4" fmla="*/ 425653 h 425652"/>
              <a:gd name="connsiteX5" fmla="*/ 0 w 1166761"/>
              <a:gd name="connsiteY5" fmla="*/ 425653 h 425652"/>
              <a:gd name="connsiteX6" fmla="*/ 0 w 1166761"/>
              <a:gd name="connsiteY6" fmla="*/ 0 h 425652"/>
              <a:gd name="connsiteX7" fmla="*/ 32774 w 1166761"/>
              <a:gd name="connsiteY7" fmla="*/ 0 h 42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761" h="425652">
                <a:moveTo>
                  <a:pt x="1133987" y="0"/>
                </a:moveTo>
                <a:cubicBezTo>
                  <a:pt x="1152088" y="0"/>
                  <a:pt x="1166761" y="0"/>
                  <a:pt x="1166761" y="0"/>
                </a:cubicBezTo>
                <a:lnTo>
                  <a:pt x="1166761" y="425653"/>
                </a:lnTo>
                <a:cubicBezTo>
                  <a:pt x="1166761" y="425653"/>
                  <a:pt x="1152088" y="425653"/>
                  <a:pt x="1133987" y="425653"/>
                </a:cubicBezTo>
                <a:lnTo>
                  <a:pt x="32774" y="425653"/>
                </a:lnTo>
                <a:cubicBezTo>
                  <a:pt x="14673" y="425653"/>
                  <a:pt x="0" y="425653"/>
                  <a:pt x="0" y="425653"/>
                </a:cubicBezTo>
                <a:lnTo>
                  <a:pt x="0" y="0"/>
                </a:lnTo>
                <a:cubicBezTo>
                  <a:pt x="0" y="0"/>
                  <a:pt x="14673" y="0"/>
                  <a:pt x="32774" y="0"/>
                </a:cubicBezTo>
                <a:close/>
              </a:path>
            </a:pathLst>
          </a:custGeom>
          <a:solidFill>
            <a:srgbClr val="E8F5E9"/>
          </a:solidFill>
          <a:ln w="3277" cap="flat">
            <a:solidFill>
              <a:srgbClr val="43A047"/>
            </a:solidFill>
            <a:prstDash val="solid"/>
            <a:miter/>
          </a:ln>
        </p:spPr>
        <p:txBody>
          <a:bodyPr rtlCol="0" anchor="ctr"/>
          <a:lstStyle/>
          <a:p>
            <a:pPr algn="ctr"/>
            <a:endParaRPr lang="zh-CN" altLang="en-US"/>
          </a:p>
        </p:txBody>
      </p:sp>
      <p:sp>
        <p:nvSpPr>
          <p:cNvPr id="149" name="文本框 148"/>
          <p:cNvSpPr txBox="1"/>
          <p:nvPr/>
        </p:nvSpPr>
        <p:spPr>
          <a:xfrm>
            <a:off x="7207780" y="1873908"/>
            <a:ext cx="889988" cy="196208"/>
          </a:xfrm>
          <a:prstGeom prst="rect">
            <a:avLst/>
          </a:prstGeom>
          <a:noFill/>
        </p:spPr>
        <p:txBody>
          <a:bodyPr wrap="none" rtlCol="0">
            <a:spAutoFit/>
          </a:bodyPr>
          <a:lstStyle/>
          <a:p>
            <a:pPr algn="ctr"/>
            <a:r>
              <a:rPr lang="zh-CN" altLang="en-US" sz="675" b="1" spc="0" baseline="0">
                <a:solidFill>
                  <a:srgbClr val="1B5E20"/>
                </a:solidFill>
                <a:latin typeface="黑体" panose="02010600030101010101" charset="-122"/>
                <a:ea typeface="黑体" panose="02010600030101010101" charset="-122"/>
                <a:sym typeface="黑体" panose="02010600030101010101" charset="-122"/>
                <a:rtl val="0"/>
              </a:rPr>
              <a:t>货车—无人机协同</a:t>
            </a:r>
          </a:p>
        </p:txBody>
      </p:sp>
      <p:sp>
        <p:nvSpPr>
          <p:cNvPr id="150" name="文本框 149"/>
          <p:cNvSpPr txBox="1"/>
          <p:nvPr/>
        </p:nvSpPr>
        <p:spPr>
          <a:xfrm>
            <a:off x="7172585" y="1994995"/>
            <a:ext cx="966932"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直送</a:t>
            </a:r>
            <a:r>
              <a:rPr lang="zh-CN" altLang="en-US" sz="525" spc="0" baseline="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货车</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a:solidFill>
                  <a:srgbClr val="333333"/>
                </a:solidFill>
                <a:latin typeface="微软雅黑"/>
                <a:ea typeface="微软雅黑"/>
                <a:cs typeface="Arial" panose="020B0604020202090204"/>
                <a:sym typeface="微软雅黑"/>
                <a:rtl val="0"/>
              </a:rPr>
              <a:t>需求点</a:t>
            </a:r>
            <a:r>
              <a:rPr lang="zh-CN" altLang="en-US" sz="525" spc="0" baseline="0">
                <a:solidFill>
                  <a:srgbClr val="333333"/>
                </a:solidFill>
                <a:latin typeface="Arial" panose="020B0604020202090204"/>
                <a:ea typeface="微软雅黑"/>
                <a:cs typeface="Arial" panose="020B0604020202090204"/>
                <a:sym typeface="Arial" panose="020B0604020202090204"/>
                <a:rtl val="0"/>
              </a:rPr>
              <a:t> (20</a:t>
            </a:r>
            <a:r>
              <a:rPr lang="zh-CN" altLang="en-US" sz="525" spc="0" baseline="0">
                <a:solidFill>
                  <a:srgbClr val="333333"/>
                </a:solidFill>
                <a:latin typeface="微软雅黑"/>
                <a:ea typeface="微软雅黑"/>
                <a:cs typeface="Arial" panose="020B0604020202090204"/>
                <a:sym typeface="微软雅黑"/>
                <a:rtl val="0"/>
              </a:rPr>
              <a:t>辆</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51" name="文本框 150"/>
          <p:cNvSpPr txBox="1"/>
          <p:nvPr/>
        </p:nvSpPr>
        <p:spPr>
          <a:xfrm>
            <a:off x="7037932" y="2087293"/>
            <a:ext cx="1236237"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接力</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货车</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中转站</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无人机</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(10</a:t>
            </a:r>
            <a:r>
              <a:rPr lang="zh-CN" altLang="en-US" sz="525" spc="0" baseline="0" dirty="0">
                <a:solidFill>
                  <a:srgbClr val="333333"/>
                </a:solidFill>
                <a:latin typeface="微软雅黑"/>
                <a:ea typeface="微软雅黑"/>
                <a:cs typeface="Arial" panose="020B0604020202090204"/>
                <a:sym typeface="微软雅黑"/>
                <a:rtl val="0"/>
              </a:rPr>
              <a:t>架</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p>
        </p:txBody>
      </p:sp>
      <p:sp>
        <p:nvSpPr>
          <p:cNvPr id="152" name="文本框 151"/>
          <p:cNvSpPr txBox="1"/>
          <p:nvPr/>
        </p:nvSpPr>
        <p:spPr>
          <a:xfrm>
            <a:off x="7082016" y="2175019"/>
            <a:ext cx="1148071"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无人机</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60km/h · ≤25kg · ≤15km</a:t>
            </a:r>
          </a:p>
        </p:txBody>
      </p:sp>
      <p:sp>
        <p:nvSpPr>
          <p:cNvPr id="153" name="任意形状 152"/>
          <p:cNvSpPr/>
          <p:nvPr/>
        </p:nvSpPr>
        <p:spPr>
          <a:xfrm>
            <a:off x="4686709" y="2381238"/>
            <a:ext cx="1737032" cy="248843"/>
          </a:xfrm>
          <a:custGeom>
            <a:avLst/>
            <a:gdLst>
              <a:gd name="connsiteX0" fmla="*/ 1704258 w 1737032"/>
              <a:gd name="connsiteY0" fmla="*/ 0 h 248843"/>
              <a:gd name="connsiteX1" fmla="*/ 1737032 w 1737032"/>
              <a:gd name="connsiteY1" fmla="*/ 0 h 248843"/>
              <a:gd name="connsiteX2" fmla="*/ 1737032 w 1737032"/>
              <a:gd name="connsiteY2" fmla="*/ 248843 h 248843"/>
              <a:gd name="connsiteX3" fmla="*/ 1704258 w 1737032"/>
              <a:gd name="connsiteY3" fmla="*/ 248843 h 248843"/>
              <a:gd name="connsiteX4" fmla="*/ 32774 w 1737032"/>
              <a:gd name="connsiteY4" fmla="*/ 248843 h 248843"/>
              <a:gd name="connsiteX5" fmla="*/ 0 w 1737032"/>
              <a:gd name="connsiteY5" fmla="*/ 248843 h 248843"/>
              <a:gd name="connsiteX6" fmla="*/ 0 w 1737032"/>
              <a:gd name="connsiteY6" fmla="*/ 0 h 248843"/>
              <a:gd name="connsiteX7" fmla="*/ 32774 w 1737032"/>
              <a:gd name="connsiteY7" fmla="*/ 0 h 248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48843">
                <a:moveTo>
                  <a:pt x="1704258" y="0"/>
                </a:moveTo>
                <a:cubicBezTo>
                  <a:pt x="1722359" y="0"/>
                  <a:pt x="1737032" y="0"/>
                  <a:pt x="1737032" y="0"/>
                </a:cubicBezTo>
                <a:lnTo>
                  <a:pt x="1737032" y="248843"/>
                </a:lnTo>
                <a:cubicBezTo>
                  <a:pt x="1737032" y="248843"/>
                  <a:pt x="1722359" y="248843"/>
                  <a:pt x="1704258" y="248843"/>
                </a:cubicBezTo>
                <a:lnTo>
                  <a:pt x="32774" y="248843"/>
                </a:lnTo>
                <a:cubicBezTo>
                  <a:pt x="14674" y="248843"/>
                  <a:pt x="0" y="248843"/>
                  <a:pt x="0" y="248843"/>
                </a:cubicBezTo>
                <a:lnTo>
                  <a:pt x="0" y="0"/>
                </a:lnTo>
                <a:cubicBezTo>
                  <a:pt x="0" y="0"/>
                  <a:pt x="14674" y="0"/>
                  <a:pt x="32774" y="0"/>
                </a:cubicBezTo>
                <a:close/>
              </a:path>
            </a:pathLst>
          </a:custGeom>
          <a:solidFill>
            <a:srgbClr val="C8E6C9"/>
          </a:solidFill>
          <a:ln w="3277" cap="flat">
            <a:solidFill>
              <a:srgbClr val="388E3C"/>
            </a:solidFill>
            <a:prstDash val="solid"/>
            <a:miter/>
          </a:ln>
        </p:spPr>
        <p:txBody>
          <a:bodyPr rtlCol="0" anchor="ctr"/>
          <a:lstStyle/>
          <a:p>
            <a:pPr algn="ctr"/>
            <a:endParaRPr lang="zh-CN" altLang="en-US"/>
          </a:p>
        </p:txBody>
      </p:sp>
      <p:sp>
        <p:nvSpPr>
          <p:cNvPr id="154" name="文本框 153"/>
          <p:cNvSpPr txBox="1"/>
          <p:nvPr/>
        </p:nvSpPr>
        <p:spPr>
          <a:xfrm>
            <a:off x="5280006" y="2367641"/>
            <a:ext cx="537328" cy="196208"/>
          </a:xfrm>
          <a:prstGeom prst="rect">
            <a:avLst/>
          </a:prstGeom>
          <a:noFill/>
        </p:spPr>
        <p:txBody>
          <a:bodyPr wrap="none" rtlCol="0">
            <a:spAutoFit/>
          </a:bodyPr>
          <a:lstStyle/>
          <a:p>
            <a:pPr algn="ctr"/>
            <a:r>
              <a:rPr lang="zh-CN" altLang="en-US" sz="675" b="1" spc="0" baseline="0">
                <a:solidFill>
                  <a:srgbClr val="1B5E20"/>
                </a:solidFill>
                <a:latin typeface="黑体" panose="02010600030101010101" charset="-122"/>
                <a:ea typeface="黑体" panose="02010600030101010101" charset="-122"/>
                <a:sym typeface="黑体" panose="02010600030101010101" charset="-122"/>
                <a:rtl val="0"/>
              </a:rPr>
              <a:t>求解方法</a:t>
            </a:r>
          </a:p>
        </p:txBody>
      </p:sp>
      <p:sp>
        <p:nvSpPr>
          <p:cNvPr id="155" name="文本框 154"/>
          <p:cNvSpPr txBox="1"/>
          <p:nvPr/>
        </p:nvSpPr>
        <p:spPr>
          <a:xfrm>
            <a:off x="4630061" y="2479585"/>
            <a:ext cx="1843774"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优先级贪心构造</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+ 2-opt</a:t>
            </a:r>
            <a:r>
              <a:rPr lang="zh-CN" altLang="en-US" sz="525" spc="0" baseline="0">
                <a:solidFill>
                  <a:srgbClr val="333333"/>
                </a:solidFill>
                <a:latin typeface="微软雅黑"/>
                <a:ea typeface="微软雅黑"/>
                <a:cs typeface="Arial" panose="020B0604020202090204"/>
                <a:sym typeface="微软雅黑"/>
                <a:rtl val="0"/>
              </a:rPr>
              <a:t>局部搜索</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Dijkstra</a:t>
            </a:r>
            <a:r>
              <a:rPr lang="zh-CN" altLang="en-US" sz="525" spc="0" baseline="0">
                <a:solidFill>
                  <a:srgbClr val="333333"/>
                </a:solidFill>
                <a:latin typeface="微软雅黑"/>
                <a:ea typeface="微软雅黑"/>
                <a:cs typeface="Arial" panose="020B0604020202090204"/>
                <a:sym typeface="微软雅黑"/>
                <a:rtl val="0"/>
              </a:rPr>
              <a:t>路网行程时间</a:t>
            </a:r>
          </a:p>
        </p:txBody>
      </p:sp>
      <p:sp>
        <p:nvSpPr>
          <p:cNvPr id="156" name="任意形状 155"/>
          <p:cNvSpPr/>
          <p:nvPr/>
        </p:nvSpPr>
        <p:spPr>
          <a:xfrm>
            <a:off x="6489290" y="2381238"/>
            <a:ext cx="1737032" cy="248843"/>
          </a:xfrm>
          <a:custGeom>
            <a:avLst/>
            <a:gdLst>
              <a:gd name="connsiteX0" fmla="*/ 1704258 w 1737032"/>
              <a:gd name="connsiteY0" fmla="*/ 0 h 248843"/>
              <a:gd name="connsiteX1" fmla="*/ 1737032 w 1737032"/>
              <a:gd name="connsiteY1" fmla="*/ 0 h 248843"/>
              <a:gd name="connsiteX2" fmla="*/ 1737032 w 1737032"/>
              <a:gd name="connsiteY2" fmla="*/ 248843 h 248843"/>
              <a:gd name="connsiteX3" fmla="*/ 1704258 w 1737032"/>
              <a:gd name="connsiteY3" fmla="*/ 248843 h 248843"/>
              <a:gd name="connsiteX4" fmla="*/ 32774 w 1737032"/>
              <a:gd name="connsiteY4" fmla="*/ 248843 h 248843"/>
              <a:gd name="connsiteX5" fmla="*/ 0 w 1737032"/>
              <a:gd name="connsiteY5" fmla="*/ 248843 h 248843"/>
              <a:gd name="connsiteX6" fmla="*/ 0 w 1737032"/>
              <a:gd name="connsiteY6" fmla="*/ 0 h 248843"/>
              <a:gd name="connsiteX7" fmla="*/ 32774 w 1737032"/>
              <a:gd name="connsiteY7" fmla="*/ 0 h 248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48843">
                <a:moveTo>
                  <a:pt x="1704258" y="0"/>
                </a:moveTo>
                <a:cubicBezTo>
                  <a:pt x="1722359" y="0"/>
                  <a:pt x="1737032" y="0"/>
                  <a:pt x="1737032" y="0"/>
                </a:cubicBezTo>
                <a:lnTo>
                  <a:pt x="1737032" y="248843"/>
                </a:lnTo>
                <a:cubicBezTo>
                  <a:pt x="1737032" y="248843"/>
                  <a:pt x="1722359" y="248843"/>
                  <a:pt x="1704258" y="248843"/>
                </a:cubicBezTo>
                <a:lnTo>
                  <a:pt x="32774" y="248843"/>
                </a:lnTo>
                <a:cubicBezTo>
                  <a:pt x="14674" y="248843"/>
                  <a:pt x="0" y="248843"/>
                  <a:pt x="0" y="248843"/>
                </a:cubicBezTo>
                <a:lnTo>
                  <a:pt x="0" y="0"/>
                </a:lnTo>
                <a:cubicBezTo>
                  <a:pt x="0" y="0"/>
                  <a:pt x="14674" y="0"/>
                  <a:pt x="32774" y="0"/>
                </a:cubicBezTo>
                <a:close/>
              </a:path>
            </a:pathLst>
          </a:custGeom>
          <a:solidFill>
            <a:srgbClr val="C8E6C9"/>
          </a:solidFill>
          <a:ln w="3277" cap="flat">
            <a:solidFill>
              <a:srgbClr val="388E3C"/>
            </a:solidFill>
            <a:prstDash val="solid"/>
            <a:miter/>
          </a:ln>
        </p:spPr>
        <p:txBody>
          <a:bodyPr rtlCol="0" anchor="ctr"/>
          <a:lstStyle/>
          <a:p>
            <a:pPr algn="ctr"/>
            <a:endParaRPr lang="zh-CN" altLang="en-US"/>
          </a:p>
        </p:txBody>
      </p:sp>
      <p:sp>
        <p:nvSpPr>
          <p:cNvPr id="157" name="文本框 156"/>
          <p:cNvSpPr txBox="1"/>
          <p:nvPr/>
        </p:nvSpPr>
        <p:spPr>
          <a:xfrm>
            <a:off x="7082587" y="2367641"/>
            <a:ext cx="537328" cy="196208"/>
          </a:xfrm>
          <a:prstGeom prst="rect">
            <a:avLst/>
          </a:prstGeom>
          <a:noFill/>
        </p:spPr>
        <p:txBody>
          <a:bodyPr wrap="none" rtlCol="0">
            <a:spAutoFit/>
          </a:bodyPr>
          <a:lstStyle/>
          <a:p>
            <a:pPr algn="ctr"/>
            <a:r>
              <a:rPr lang="zh-CN" altLang="en-US" sz="675" b="1" spc="0" baseline="0">
                <a:solidFill>
                  <a:srgbClr val="1B5E20"/>
                </a:solidFill>
                <a:latin typeface="黑体" panose="02010600030101010101" charset="-122"/>
                <a:ea typeface="黑体" panose="02010600030101010101" charset="-122"/>
                <a:sym typeface="黑体" panose="02010600030101010101" charset="-122"/>
                <a:rtl val="0"/>
              </a:rPr>
              <a:t>目标函数</a:t>
            </a:r>
          </a:p>
        </p:txBody>
      </p:sp>
      <p:sp>
        <p:nvSpPr>
          <p:cNvPr id="158" name="文本框 157"/>
          <p:cNvSpPr txBox="1"/>
          <p:nvPr/>
        </p:nvSpPr>
        <p:spPr>
          <a:xfrm>
            <a:off x="6520878" y="2486133"/>
            <a:ext cx="1673856"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min Z = w</a:t>
            </a:r>
            <a:r>
              <a:rPr lang="zh-CN" altLang="en-US" sz="525" spc="0" baseline="0">
                <a:solidFill>
                  <a:srgbClr val="333333"/>
                </a:solidFill>
                <a:latin typeface="Cambria Math"/>
                <a:cs typeface="Arial" panose="020B0604020202090204"/>
                <a:sym typeface="Cambria Math"/>
                <a:rtl val="0"/>
              </a:rPr>
              <a:t>₁</a:t>
            </a:r>
            <a:r>
              <a:rPr lang="zh-CN" altLang="en-US" sz="525" spc="0" baseline="0">
                <a:solidFill>
                  <a:srgbClr val="333333"/>
                </a:solidFill>
                <a:latin typeface="Arial" panose="020B0604020202090204"/>
                <a:cs typeface="Arial" panose="020B0604020202090204"/>
                <a:sym typeface="Arial" panose="020B0604020202090204"/>
                <a:rtl val="0"/>
              </a:rPr>
              <a:t>·Makespan + w</a:t>
            </a:r>
            <a:r>
              <a:rPr lang="zh-CN" altLang="en-US" sz="525" spc="0" baseline="0">
                <a:solidFill>
                  <a:srgbClr val="333333"/>
                </a:solidFill>
                <a:latin typeface="Cambria Math"/>
                <a:cs typeface="Arial" panose="020B0604020202090204"/>
                <a:sym typeface="Cambria Math"/>
                <a:rtl val="0"/>
              </a:rPr>
              <a:t>₂</a:t>
            </a:r>
            <a:r>
              <a:rPr lang="zh-CN" altLang="en-US" sz="525" spc="0" baseline="0">
                <a:solidFill>
                  <a:srgbClr val="333333"/>
                </a:solidFill>
                <a:latin typeface="Arial" panose="020B0604020202090204"/>
                <a:cs typeface="Arial" panose="020B0604020202090204"/>
                <a:sym typeface="Arial" panose="020B0604020202090204"/>
                <a:rtl val="0"/>
              </a:rPr>
              <a:t>·Σpenalty + w</a:t>
            </a:r>
            <a:r>
              <a:rPr lang="zh-CN" altLang="en-US" sz="525" spc="0" baseline="0">
                <a:solidFill>
                  <a:srgbClr val="333333"/>
                </a:solidFill>
                <a:latin typeface="Cambria Math"/>
                <a:cs typeface="Arial" panose="020B0604020202090204"/>
                <a:sym typeface="Cambria Math"/>
                <a:rtl val="0"/>
              </a:rPr>
              <a:t>₃</a:t>
            </a:r>
            <a:r>
              <a:rPr lang="zh-CN" altLang="en-US" sz="525" spc="0" baseline="0">
                <a:solidFill>
                  <a:srgbClr val="333333"/>
                </a:solidFill>
                <a:latin typeface="Arial" panose="020B0604020202090204"/>
                <a:cs typeface="Arial" panose="020B0604020202090204"/>
                <a:sym typeface="Arial" panose="020B0604020202090204"/>
                <a:rtl val="0"/>
              </a:rPr>
              <a:t>·Σunmet</a:t>
            </a:r>
          </a:p>
        </p:txBody>
      </p:sp>
      <p:sp>
        <p:nvSpPr>
          <p:cNvPr id="159" name="任意形状 158"/>
          <p:cNvSpPr/>
          <p:nvPr/>
        </p:nvSpPr>
        <p:spPr>
          <a:xfrm>
            <a:off x="4686709" y="2689017"/>
            <a:ext cx="3539612" cy="183358"/>
          </a:xfrm>
          <a:custGeom>
            <a:avLst/>
            <a:gdLst>
              <a:gd name="connsiteX0" fmla="*/ 3506839 w 3539612"/>
              <a:gd name="connsiteY0" fmla="*/ 0 h 183358"/>
              <a:gd name="connsiteX1" fmla="*/ 3539613 w 3539612"/>
              <a:gd name="connsiteY1" fmla="*/ 0 h 183358"/>
              <a:gd name="connsiteX2" fmla="*/ 3539613 w 3539612"/>
              <a:gd name="connsiteY2" fmla="*/ 183358 h 183358"/>
              <a:gd name="connsiteX3" fmla="*/ 3506839 w 3539612"/>
              <a:gd name="connsiteY3" fmla="*/ 183358 h 183358"/>
              <a:gd name="connsiteX4" fmla="*/ 32774 w 3539612"/>
              <a:gd name="connsiteY4" fmla="*/ 183358 h 183358"/>
              <a:gd name="connsiteX5" fmla="*/ 0 w 3539612"/>
              <a:gd name="connsiteY5" fmla="*/ 183358 h 183358"/>
              <a:gd name="connsiteX6" fmla="*/ 0 w 3539612"/>
              <a:gd name="connsiteY6" fmla="*/ 0 h 183358"/>
              <a:gd name="connsiteX7" fmla="*/ 32774 w 3539612"/>
              <a:gd name="connsiteY7" fmla="*/ 0 h 18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9612" h="183358">
                <a:moveTo>
                  <a:pt x="3506839" y="0"/>
                </a:moveTo>
                <a:cubicBezTo>
                  <a:pt x="3524940" y="0"/>
                  <a:pt x="3539613" y="0"/>
                  <a:pt x="3539613" y="0"/>
                </a:cubicBezTo>
                <a:lnTo>
                  <a:pt x="3539613" y="183358"/>
                </a:lnTo>
                <a:cubicBezTo>
                  <a:pt x="3539613" y="183358"/>
                  <a:pt x="3524940" y="183358"/>
                  <a:pt x="3506839" y="183358"/>
                </a:cubicBezTo>
                <a:lnTo>
                  <a:pt x="32774" y="183358"/>
                </a:lnTo>
                <a:cubicBezTo>
                  <a:pt x="14674" y="183358"/>
                  <a:pt x="0" y="183358"/>
                  <a:pt x="0" y="183358"/>
                </a:cubicBezTo>
                <a:lnTo>
                  <a:pt x="0" y="0"/>
                </a:lnTo>
                <a:cubicBezTo>
                  <a:pt x="0" y="0"/>
                  <a:pt x="14674" y="0"/>
                  <a:pt x="32774" y="0"/>
                </a:cubicBezTo>
                <a:close/>
              </a:path>
            </a:pathLst>
          </a:custGeom>
          <a:solidFill>
            <a:srgbClr val="1B5E20">
              <a:alpha val="90000"/>
            </a:srgbClr>
          </a:solidFill>
          <a:ln w="6555" cap="flat">
            <a:noFill/>
            <a:prstDash val="solid"/>
            <a:miter/>
          </a:ln>
        </p:spPr>
        <p:txBody>
          <a:bodyPr rtlCol="0" anchor="ctr"/>
          <a:lstStyle/>
          <a:p>
            <a:pPr algn="ctr"/>
            <a:endParaRPr lang="zh-CN" altLang="en-US"/>
          </a:p>
        </p:txBody>
      </p:sp>
      <p:sp>
        <p:nvSpPr>
          <p:cNvPr id="160" name="文本框 159"/>
          <p:cNvSpPr txBox="1"/>
          <p:nvPr/>
        </p:nvSpPr>
        <p:spPr>
          <a:xfrm>
            <a:off x="4866412" y="2685922"/>
            <a:ext cx="3171061" cy="196208"/>
          </a:xfrm>
          <a:prstGeom prst="rect">
            <a:avLst/>
          </a:prstGeom>
          <a:noFill/>
        </p:spPr>
        <p:txBody>
          <a:bodyPr wrap="none" rtlCol="0">
            <a:spAutoFit/>
          </a:bodyPr>
          <a:lstStyle/>
          <a:p>
            <a:pPr algn="ctr"/>
            <a:r>
              <a:rPr lang="zh-CN" altLang="en-US" sz="675" spc="0" baseline="0" dirty="0">
                <a:solidFill>
                  <a:srgbClr val="FFFFFF"/>
                </a:solidFill>
                <a:latin typeface="黑体" panose="02010600030101010101" charset="-122"/>
                <a:ea typeface="黑体" panose="02010600030101010101" charset="-122"/>
                <a:sym typeface="黑体" panose="02010600030101010101" charset="-122"/>
                <a:rtl val="0"/>
              </a:rPr>
              <a:t>结果: Makespan 44.8→37.5 min (↓16.3%) · 零惩罚 · 生命救援100%准时</a:t>
            </a:r>
          </a:p>
        </p:txBody>
      </p:sp>
      <p:sp>
        <p:nvSpPr>
          <p:cNvPr id="162" name="任意形状 161"/>
          <p:cNvSpPr/>
          <p:nvPr/>
        </p:nvSpPr>
        <p:spPr>
          <a:xfrm>
            <a:off x="4588387" y="3036088"/>
            <a:ext cx="3736258" cy="1276958"/>
          </a:xfrm>
          <a:custGeom>
            <a:avLst/>
            <a:gdLst>
              <a:gd name="connsiteX0" fmla="*/ 3670710 w 3736258"/>
              <a:gd name="connsiteY0" fmla="*/ 0 h 1276958"/>
              <a:gd name="connsiteX1" fmla="*/ 3736258 w 3736258"/>
              <a:gd name="connsiteY1" fmla="*/ 0 h 1276958"/>
              <a:gd name="connsiteX2" fmla="*/ 3736258 w 3736258"/>
              <a:gd name="connsiteY2" fmla="*/ 1276958 h 1276958"/>
              <a:gd name="connsiteX3" fmla="*/ 3670710 w 3736258"/>
              <a:gd name="connsiteY3" fmla="*/ 1276958 h 1276958"/>
              <a:gd name="connsiteX4" fmla="*/ 65548 w 3736258"/>
              <a:gd name="connsiteY4" fmla="*/ 1276958 h 1276958"/>
              <a:gd name="connsiteX5" fmla="*/ 0 w 3736258"/>
              <a:gd name="connsiteY5" fmla="*/ 1276958 h 1276958"/>
              <a:gd name="connsiteX6" fmla="*/ 0 w 3736258"/>
              <a:gd name="connsiteY6" fmla="*/ 0 h 1276958"/>
              <a:gd name="connsiteX7" fmla="*/ 65548 w 3736258"/>
              <a:gd name="connsiteY7" fmla="*/ 0 h 127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276958">
                <a:moveTo>
                  <a:pt x="3670710" y="0"/>
                </a:moveTo>
                <a:cubicBezTo>
                  <a:pt x="3706911" y="0"/>
                  <a:pt x="3736258" y="0"/>
                  <a:pt x="3736258" y="0"/>
                </a:cubicBezTo>
                <a:lnTo>
                  <a:pt x="3736258" y="1276958"/>
                </a:lnTo>
                <a:cubicBezTo>
                  <a:pt x="3736258" y="1276958"/>
                  <a:pt x="3706911" y="1276958"/>
                  <a:pt x="3670710" y="1276958"/>
                </a:cubicBezTo>
                <a:lnTo>
                  <a:pt x="65548" y="1276958"/>
                </a:lnTo>
                <a:cubicBezTo>
                  <a:pt x="29347" y="1276958"/>
                  <a:pt x="0" y="1276958"/>
                  <a:pt x="0" y="1276958"/>
                </a:cubicBezTo>
                <a:lnTo>
                  <a:pt x="0" y="0"/>
                </a:lnTo>
                <a:cubicBezTo>
                  <a:pt x="0" y="0"/>
                  <a:pt x="29347" y="0"/>
                  <a:pt x="65548" y="0"/>
                </a:cubicBezTo>
                <a:close/>
              </a:path>
            </a:pathLst>
          </a:custGeom>
          <a:solidFill>
            <a:srgbClr val="FFFFFF"/>
          </a:solidFill>
          <a:ln w="7866" cap="flat">
            <a:solidFill>
              <a:srgbClr val="4527A0"/>
            </a:solidFill>
            <a:prstDash val="solid"/>
            <a:miter/>
          </a:ln>
        </p:spPr>
        <p:txBody>
          <a:bodyPr rtlCol="0" anchor="ctr"/>
          <a:lstStyle/>
          <a:p>
            <a:pPr algn="ctr"/>
            <a:endParaRPr lang="zh-CN" altLang="en-US"/>
          </a:p>
        </p:txBody>
      </p:sp>
      <p:sp>
        <p:nvSpPr>
          <p:cNvPr id="163" name="任意形状 162"/>
          <p:cNvSpPr/>
          <p:nvPr/>
        </p:nvSpPr>
        <p:spPr>
          <a:xfrm>
            <a:off x="4588387" y="3036088"/>
            <a:ext cx="3736258" cy="170261"/>
          </a:xfrm>
          <a:custGeom>
            <a:avLst/>
            <a:gdLst>
              <a:gd name="connsiteX0" fmla="*/ 3670710 w 3736258"/>
              <a:gd name="connsiteY0" fmla="*/ 0 h 170261"/>
              <a:gd name="connsiteX1" fmla="*/ 3736258 w 3736258"/>
              <a:gd name="connsiteY1" fmla="*/ 0 h 170261"/>
              <a:gd name="connsiteX2" fmla="*/ 3736258 w 3736258"/>
              <a:gd name="connsiteY2" fmla="*/ 170261 h 170261"/>
              <a:gd name="connsiteX3" fmla="*/ 3670710 w 3736258"/>
              <a:gd name="connsiteY3" fmla="*/ 170261 h 170261"/>
              <a:gd name="connsiteX4" fmla="*/ 65548 w 3736258"/>
              <a:gd name="connsiteY4" fmla="*/ 170261 h 170261"/>
              <a:gd name="connsiteX5" fmla="*/ 0 w 3736258"/>
              <a:gd name="connsiteY5" fmla="*/ 170261 h 170261"/>
              <a:gd name="connsiteX6" fmla="*/ 0 w 3736258"/>
              <a:gd name="connsiteY6" fmla="*/ 0 h 170261"/>
              <a:gd name="connsiteX7" fmla="*/ 65548 w 3736258"/>
              <a:gd name="connsiteY7" fmla="*/ 0 h 17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170261">
                <a:moveTo>
                  <a:pt x="3670710" y="0"/>
                </a:moveTo>
                <a:cubicBezTo>
                  <a:pt x="3706911" y="0"/>
                  <a:pt x="3736258" y="0"/>
                  <a:pt x="3736258" y="0"/>
                </a:cubicBezTo>
                <a:lnTo>
                  <a:pt x="3736258" y="170261"/>
                </a:lnTo>
                <a:cubicBezTo>
                  <a:pt x="3736258" y="170261"/>
                  <a:pt x="3706911" y="170261"/>
                  <a:pt x="3670710" y="170261"/>
                </a:cubicBezTo>
                <a:lnTo>
                  <a:pt x="65548" y="170261"/>
                </a:lnTo>
                <a:cubicBezTo>
                  <a:pt x="29347" y="170261"/>
                  <a:pt x="0" y="170261"/>
                  <a:pt x="0" y="170261"/>
                </a:cubicBezTo>
                <a:lnTo>
                  <a:pt x="0" y="0"/>
                </a:lnTo>
                <a:cubicBezTo>
                  <a:pt x="0" y="0"/>
                  <a:pt x="29347" y="0"/>
                  <a:pt x="65548" y="0"/>
                </a:cubicBezTo>
                <a:close/>
              </a:path>
            </a:pathLst>
          </a:custGeom>
          <a:solidFill>
            <a:srgbClr val="4527A0"/>
          </a:solidFill>
          <a:ln w="6555" cap="flat">
            <a:noFill/>
            <a:prstDash val="solid"/>
            <a:miter/>
          </a:ln>
        </p:spPr>
        <p:txBody>
          <a:bodyPr rtlCol="0" anchor="ctr"/>
          <a:lstStyle/>
          <a:p>
            <a:pPr algn="ctr"/>
            <a:endParaRPr lang="zh-CN" altLang="en-US"/>
          </a:p>
        </p:txBody>
      </p:sp>
      <p:sp>
        <p:nvSpPr>
          <p:cNvPr id="164" name="任意形状 163"/>
          <p:cNvSpPr/>
          <p:nvPr/>
        </p:nvSpPr>
        <p:spPr>
          <a:xfrm>
            <a:off x="4588387" y="3167058"/>
            <a:ext cx="3736258" cy="39291"/>
          </a:xfrm>
          <a:custGeom>
            <a:avLst/>
            <a:gdLst>
              <a:gd name="connsiteX0" fmla="*/ 0 w 3736258"/>
              <a:gd name="connsiteY0" fmla="*/ 0 h 39291"/>
              <a:gd name="connsiteX1" fmla="*/ 3736258 w 3736258"/>
              <a:gd name="connsiteY1" fmla="*/ 0 h 39291"/>
              <a:gd name="connsiteX2" fmla="*/ 3736258 w 3736258"/>
              <a:gd name="connsiteY2" fmla="*/ 39291 h 39291"/>
              <a:gd name="connsiteX3" fmla="*/ 0 w 3736258"/>
              <a:gd name="connsiteY3" fmla="*/ 39291 h 39291"/>
            </a:gdLst>
            <a:ahLst/>
            <a:cxnLst>
              <a:cxn ang="0">
                <a:pos x="connsiteX0" y="connsiteY0"/>
              </a:cxn>
              <a:cxn ang="0">
                <a:pos x="connsiteX1" y="connsiteY1"/>
              </a:cxn>
              <a:cxn ang="0">
                <a:pos x="connsiteX2" y="connsiteY2"/>
              </a:cxn>
              <a:cxn ang="0">
                <a:pos x="connsiteX3" y="connsiteY3"/>
              </a:cxn>
            </a:cxnLst>
            <a:rect l="l" t="t" r="r" b="b"/>
            <a:pathLst>
              <a:path w="3736258" h="39291">
                <a:moveTo>
                  <a:pt x="0" y="0"/>
                </a:moveTo>
                <a:lnTo>
                  <a:pt x="3736258" y="0"/>
                </a:lnTo>
                <a:lnTo>
                  <a:pt x="3736258" y="39291"/>
                </a:lnTo>
                <a:lnTo>
                  <a:pt x="0" y="39291"/>
                </a:lnTo>
                <a:close/>
              </a:path>
            </a:pathLst>
          </a:custGeom>
          <a:solidFill>
            <a:srgbClr val="4527A0"/>
          </a:solidFill>
          <a:ln w="6555" cap="flat">
            <a:noFill/>
            <a:prstDash val="solid"/>
            <a:miter/>
          </a:ln>
        </p:spPr>
        <p:txBody>
          <a:bodyPr rtlCol="0" anchor="ctr"/>
          <a:lstStyle/>
          <a:p>
            <a:pPr algn="ctr"/>
            <a:endParaRPr lang="zh-CN" altLang="en-US"/>
          </a:p>
        </p:txBody>
      </p:sp>
      <p:sp>
        <p:nvSpPr>
          <p:cNvPr id="165" name="文本框 164"/>
          <p:cNvSpPr txBox="1"/>
          <p:nvPr/>
        </p:nvSpPr>
        <p:spPr>
          <a:xfrm>
            <a:off x="5528946" y="3006866"/>
            <a:ext cx="1848583" cy="219291"/>
          </a:xfrm>
          <a:prstGeom prst="rect">
            <a:avLst/>
          </a:prstGeom>
          <a:noFill/>
        </p:spPr>
        <p:txBody>
          <a:bodyPr wrap="none" rtlCol="0">
            <a:spAutoFit/>
          </a:bodyPr>
          <a:lstStyle/>
          <a:p>
            <a:pPr algn="ctr"/>
            <a:r>
              <a:rPr lang="zh-CN" altLang="en-US" sz="825" b="1" spc="0" baseline="0" dirty="0">
                <a:solidFill>
                  <a:srgbClr val="FFFFFF"/>
                </a:solidFill>
                <a:latin typeface="黑体" panose="02010600030101010101" charset="-122"/>
                <a:ea typeface="黑体" panose="02010600030101010101" charset="-122"/>
                <a:sym typeface="黑体" panose="02010600030101010101" charset="-122"/>
                <a:rtl val="0"/>
              </a:rPr>
              <a:t>多类型人员救援疏散优化—离心流</a:t>
            </a:r>
          </a:p>
        </p:txBody>
      </p:sp>
      <p:sp>
        <p:nvSpPr>
          <p:cNvPr id="166" name="任意形状 165"/>
          <p:cNvSpPr/>
          <p:nvPr/>
        </p:nvSpPr>
        <p:spPr>
          <a:xfrm>
            <a:off x="4686709" y="3278382"/>
            <a:ext cx="1127432" cy="458395"/>
          </a:xfrm>
          <a:custGeom>
            <a:avLst/>
            <a:gdLst>
              <a:gd name="connsiteX0" fmla="*/ 1094658 w 1127432"/>
              <a:gd name="connsiteY0" fmla="*/ 0 h 458395"/>
              <a:gd name="connsiteX1" fmla="*/ 1127432 w 1127432"/>
              <a:gd name="connsiteY1" fmla="*/ 0 h 458395"/>
              <a:gd name="connsiteX2" fmla="*/ 1127432 w 1127432"/>
              <a:gd name="connsiteY2" fmla="*/ 458395 h 458395"/>
              <a:gd name="connsiteX3" fmla="*/ 1094658 w 1127432"/>
              <a:gd name="connsiteY3" fmla="*/ 458395 h 458395"/>
              <a:gd name="connsiteX4" fmla="*/ 32774 w 1127432"/>
              <a:gd name="connsiteY4" fmla="*/ 458395 h 458395"/>
              <a:gd name="connsiteX5" fmla="*/ 0 w 1127432"/>
              <a:gd name="connsiteY5" fmla="*/ 458395 h 458395"/>
              <a:gd name="connsiteX6" fmla="*/ 0 w 1127432"/>
              <a:gd name="connsiteY6" fmla="*/ 0 h 458395"/>
              <a:gd name="connsiteX7" fmla="*/ 32774 w 1127432"/>
              <a:gd name="connsiteY7" fmla="*/ 0 h 45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58395">
                <a:moveTo>
                  <a:pt x="1094658" y="0"/>
                </a:moveTo>
                <a:cubicBezTo>
                  <a:pt x="1112759" y="0"/>
                  <a:pt x="1127432" y="0"/>
                  <a:pt x="1127432" y="0"/>
                </a:cubicBezTo>
                <a:lnTo>
                  <a:pt x="1127432" y="458395"/>
                </a:lnTo>
                <a:cubicBezTo>
                  <a:pt x="1127432" y="458395"/>
                  <a:pt x="1112759" y="458395"/>
                  <a:pt x="1094658" y="458395"/>
                </a:cubicBezTo>
                <a:lnTo>
                  <a:pt x="32774" y="458395"/>
                </a:lnTo>
                <a:cubicBezTo>
                  <a:pt x="14674" y="458395"/>
                  <a:pt x="0" y="458395"/>
                  <a:pt x="0" y="458395"/>
                </a:cubicBezTo>
                <a:lnTo>
                  <a:pt x="0" y="0"/>
                </a:lnTo>
                <a:cubicBezTo>
                  <a:pt x="0" y="0"/>
                  <a:pt x="14674" y="0"/>
                  <a:pt x="32774" y="0"/>
                </a:cubicBezTo>
                <a:close/>
              </a:path>
            </a:pathLst>
          </a:custGeom>
          <a:solidFill>
            <a:srgbClr val="F3E5F5"/>
          </a:solidFill>
          <a:ln w="3277" cap="flat">
            <a:solidFill>
              <a:srgbClr val="7B1FA2"/>
            </a:solidFill>
            <a:prstDash val="solid"/>
            <a:miter/>
          </a:ln>
        </p:spPr>
        <p:txBody>
          <a:bodyPr rtlCol="0" anchor="ctr"/>
          <a:lstStyle/>
          <a:p>
            <a:pPr algn="ctr"/>
            <a:endParaRPr lang="zh-CN" altLang="en-US"/>
          </a:p>
        </p:txBody>
      </p:sp>
      <p:sp>
        <p:nvSpPr>
          <p:cNvPr id="167" name="文本框 166"/>
          <p:cNvSpPr txBox="1"/>
          <p:nvPr/>
        </p:nvSpPr>
        <p:spPr>
          <a:xfrm>
            <a:off x="4890319" y="3250181"/>
            <a:ext cx="713658" cy="196208"/>
          </a:xfrm>
          <a:prstGeom prst="rect">
            <a:avLst/>
          </a:prstGeom>
          <a:noFill/>
        </p:spPr>
        <p:txBody>
          <a:bodyPr wrap="none" rtlCol="0">
            <a:spAutoFit/>
          </a:bodyPr>
          <a:lstStyle/>
          <a:p>
            <a:pPr algn="ctr"/>
            <a:r>
              <a:rPr lang="zh-CN" altLang="en-US" sz="675" b="1" spc="0" baseline="0" dirty="0">
                <a:solidFill>
                  <a:srgbClr val="4A148C"/>
                </a:solidFill>
                <a:latin typeface="黑体" panose="02010600030101010101" charset="-122"/>
                <a:ea typeface="黑体" panose="02010600030101010101" charset="-122"/>
                <a:sym typeface="黑体" panose="02010600030101010101" charset="-122"/>
                <a:rtl val="0"/>
              </a:rPr>
              <a:t>五种交通方式</a:t>
            </a:r>
          </a:p>
        </p:txBody>
      </p:sp>
      <p:sp>
        <p:nvSpPr>
          <p:cNvPr id="168" name="文本框 167"/>
          <p:cNvSpPr txBox="1"/>
          <p:nvPr/>
        </p:nvSpPr>
        <p:spPr>
          <a:xfrm>
            <a:off x="4634712" y="3363632"/>
            <a:ext cx="1231427"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救护车</a:t>
            </a:r>
            <a:r>
              <a:rPr lang="zh-CN" altLang="en-US" sz="525" spc="0" baseline="0">
                <a:solidFill>
                  <a:srgbClr val="333333"/>
                </a:solidFill>
                <a:latin typeface="Arial" panose="020B0604020202090204"/>
                <a:ea typeface="微软雅黑"/>
                <a:cs typeface="Arial" panose="020B0604020202090204"/>
                <a:sym typeface="Arial" panose="020B0604020202090204"/>
                <a:rtl val="0"/>
              </a:rPr>
              <a:t> 15</a:t>
            </a:r>
            <a:r>
              <a:rPr lang="zh-CN" altLang="en-US" sz="525" spc="0" baseline="0">
                <a:solidFill>
                  <a:srgbClr val="333333"/>
                </a:solidFill>
                <a:latin typeface="微软雅黑"/>
                <a:ea typeface="微软雅黑"/>
                <a:cs typeface="Arial" panose="020B0604020202090204"/>
                <a:sym typeface="微软雅黑"/>
                <a:rtl val="0"/>
              </a:rPr>
              <a:t>辆</a:t>
            </a:r>
            <a:r>
              <a:rPr lang="zh-CN" altLang="en-US" sz="525" spc="0" baseline="0">
                <a:solidFill>
                  <a:srgbClr val="333333"/>
                </a:solidFill>
                <a:latin typeface="Arial" panose="020B0604020202090204"/>
                <a:ea typeface="微软雅黑"/>
                <a:cs typeface="Arial" panose="020B0604020202090204"/>
                <a:sym typeface="Arial" panose="020B0604020202090204"/>
                <a:rtl val="0"/>
              </a:rPr>
              <a:t>(3</a:t>
            </a:r>
            <a:r>
              <a:rPr lang="zh-CN" altLang="en-US" sz="525" spc="0" baseline="0">
                <a:solidFill>
                  <a:srgbClr val="333333"/>
                </a:solidFill>
                <a:latin typeface="微软雅黑"/>
                <a:ea typeface="微软雅黑"/>
                <a:cs typeface="Arial" panose="020B0604020202090204"/>
                <a:sym typeface="微软雅黑"/>
                <a:rtl val="0"/>
              </a:rPr>
              <a:t>人</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a:t>
            </a:r>
            <a:r>
              <a:rPr lang="zh-CN" altLang="en-US" sz="525" spc="0" baseline="0">
                <a:solidFill>
                  <a:srgbClr val="333333"/>
                </a:solidFill>
                <a:latin typeface="微软雅黑"/>
                <a:ea typeface="微软雅黑"/>
                <a:cs typeface="Arial" panose="020B0604020202090204"/>
                <a:sym typeface="微软雅黑"/>
                <a:rtl val="0"/>
              </a:rPr>
              <a:t>直升机</a:t>
            </a:r>
            <a:r>
              <a:rPr lang="zh-CN" altLang="en-US" sz="525" spc="0" baseline="0">
                <a:solidFill>
                  <a:srgbClr val="333333"/>
                </a:solidFill>
                <a:latin typeface="Arial" panose="020B0604020202090204"/>
                <a:ea typeface="微软雅黑"/>
                <a:cs typeface="Arial" panose="020B0604020202090204"/>
                <a:sym typeface="Arial" panose="020B0604020202090204"/>
                <a:rtl val="0"/>
              </a:rPr>
              <a:t> 3</a:t>
            </a:r>
            <a:r>
              <a:rPr lang="zh-CN" altLang="en-US" sz="525" spc="0" baseline="0">
                <a:solidFill>
                  <a:srgbClr val="333333"/>
                </a:solidFill>
                <a:latin typeface="微软雅黑"/>
                <a:ea typeface="微软雅黑"/>
                <a:cs typeface="Arial" panose="020B0604020202090204"/>
                <a:sym typeface="微软雅黑"/>
                <a:rtl val="0"/>
              </a:rPr>
              <a:t>架</a:t>
            </a:r>
            <a:r>
              <a:rPr lang="zh-CN" altLang="en-US" sz="525" spc="0" baseline="0">
                <a:solidFill>
                  <a:srgbClr val="333333"/>
                </a:solidFill>
                <a:latin typeface="Arial" panose="020B0604020202090204"/>
                <a:ea typeface="微软雅黑"/>
                <a:cs typeface="Arial" panose="020B0604020202090204"/>
                <a:sym typeface="Arial" panose="020B0604020202090204"/>
                <a:rtl val="0"/>
              </a:rPr>
              <a:t>(6</a:t>
            </a:r>
            <a:r>
              <a:rPr lang="zh-CN" altLang="en-US" sz="525" spc="0" baseline="0">
                <a:solidFill>
                  <a:srgbClr val="333333"/>
                </a:solidFill>
                <a:latin typeface="微软雅黑"/>
                <a:ea typeface="微软雅黑"/>
                <a:cs typeface="Arial" panose="020B0604020202090204"/>
                <a:sym typeface="微软雅黑"/>
                <a:rtl val="0"/>
              </a:rPr>
              <a:t>人</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69" name="文本框 168"/>
          <p:cNvSpPr txBox="1"/>
          <p:nvPr/>
        </p:nvSpPr>
        <p:spPr>
          <a:xfrm>
            <a:off x="4579408" y="3442215"/>
            <a:ext cx="1342035"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公交车</a:t>
            </a:r>
            <a:r>
              <a:rPr lang="zh-CN" altLang="en-US" sz="525" spc="0" baseline="0">
                <a:solidFill>
                  <a:srgbClr val="333333"/>
                </a:solidFill>
                <a:latin typeface="Arial" panose="020B0604020202090204"/>
                <a:ea typeface="微软雅黑"/>
                <a:cs typeface="Arial" panose="020B0604020202090204"/>
                <a:sym typeface="Arial" panose="020B0604020202090204"/>
                <a:rtl val="0"/>
              </a:rPr>
              <a:t> 20</a:t>
            </a:r>
            <a:r>
              <a:rPr lang="zh-CN" altLang="en-US" sz="525" spc="0" baseline="0">
                <a:solidFill>
                  <a:srgbClr val="333333"/>
                </a:solidFill>
                <a:latin typeface="微软雅黑"/>
                <a:ea typeface="微软雅黑"/>
                <a:cs typeface="Arial" panose="020B0604020202090204"/>
                <a:sym typeface="微软雅黑"/>
                <a:rtl val="0"/>
              </a:rPr>
              <a:t>辆</a:t>
            </a:r>
            <a:r>
              <a:rPr lang="zh-CN" altLang="en-US" sz="525" spc="0" baseline="0">
                <a:solidFill>
                  <a:srgbClr val="333333"/>
                </a:solidFill>
                <a:latin typeface="Arial" panose="020B0604020202090204"/>
                <a:ea typeface="微软雅黑"/>
                <a:cs typeface="Arial" panose="020B0604020202090204"/>
                <a:sym typeface="Arial" panose="020B0604020202090204"/>
                <a:rtl val="0"/>
              </a:rPr>
              <a:t>(50</a:t>
            </a:r>
            <a:r>
              <a:rPr lang="zh-CN" altLang="en-US" sz="525" spc="0" baseline="0">
                <a:solidFill>
                  <a:srgbClr val="333333"/>
                </a:solidFill>
                <a:latin typeface="微软雅黑"/>
                <a:ea typeface="微软雅黑"/>
                <a:cs typeface="Arial" panose="020B0604020202090204"/>
                <a:sym typeface="微软雅黑"/>
                <a:rtl val="0"/>
              </a:rPr>
              <a:t>人</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a:t>
            </a:r>
            <a:r>
              <a:rPr lang="zh-CN" altLang="en-US" sz="525" spc="0" baseline="0">
                <a:solidFill>
                  <a:srgbClr val="333333"/>
                </a:solidFill>
                <a:latin typeface="微软雅黑"/>
                <a:ea typeface="微软雅黑"/>
                <a:cs typeface="Arial" panose="020B0604020202090204"/>
                <a:sym typeface="微软雅黑"/>
                <a:rtl val="0"/>
              </a:rPr>
              <a:t>私家车</a:t>
            </a:r>
            <a:r>
              <a:rPr lang="zh-CN" altLang="en-US" sz="525" spc="0" baseline="0">
                <a:solidFill>
                  <a:srgbClr val="333333"/>
                </a:solidFill>
                <a:latin typeface="Arial" panose="020B0604020202090204"/>
                <a:ea typeface="微软雅黑"/>
                <a:cs typeface="Arial" panose="020B0604020202090204"/>
                <a:sym typeface="Arial" panose="020B0604020202090204"/>
                <a:rtl val="0"/>
              </a:rPr>
              <a:t> 100</a:t>
            </a:r>
            <a:r>
              <a:rPr lang="zh-CN" altLang="en-US" sz="525" spc="0" baseline="0">
                <a:solidFill>
                  <a:srgbClr val="333333"/>
                </a:solidFill>
                <a:latin typeface="微软雅黑"/>
                <a:ea typeface="微软雅黑"/>
                <a:cs typeface="Arial" panose="020B0604020202090204"/>
                <a:sym typeface="微软雅黑"/>
                <a:rtl val="0"/>
              </a:rPr>
              <a:t>辆</a:t>
            </a:r>
            <a:r>
              <a:rPr lang="zh-CN" altLang="en-US" sz="525" spc="0" baseline="0">
                <a:solidFill>
                  <a:srgbClr val="333333"/>
                </a:solidFill>
                <a:latin typeface="Arial" panose="020B0604020202090204"/>
                <a:ea typeface="微软雅黑"/>
                <a:cs typeface="Arial" panose="020B0604020202090204"/>
                <a:sym typeface="Arial" panose="020B0604020202090204"/>
                <a:rtl val="0"/>
              </a:rPr>
              <a:t>(4</a:t>
            </a:r>
            <a:r>
              <a:rPr lang="zh-CN" altLang="en-US" sz="525" spc="0" baseline="0">
                <a:solidFill>
                  <a:srgbClr val="333333"/>
                </a:solidFill>
                <a:latin typeface="微软雅黑"/>
                <a:ea typeface="微软雅黑"/>
                <a:cs typeface="Arial" panose="020B0604020202090204"/>
                <a:sym typeface="微软雅黑"/>
                <a:rtl val="0"/>
              </a:rPr>
              <a:t>人</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170" name="文本框 169"/>
          <p:cNvSpPr txBox="1"/>
          <p:nvPr/>
        </p:nvSpPr>
        <p:spPr>
          <a:xfrm>
            <a:off x="4686809" y="3520797"/>
            <a:ext cx="1127232"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地铁</a:t>
            </a:r>
            <a:r>
              <a:rPr lang="zh-CN" altLang="en-US" sz="525" spc="0" baseline="0">
                <a:solidFill>
                  <a:srgbClr val="333333"/>
                </a:solidFill>
                <a:latin typeface="Arial" panose="020B0604020202090204"/>
                <a:ea typeface="微软雅黑"/>
                <a:cs typeface="Arial" panose="020B0604020202090204"/>
                <a:sym typeface="Arial" panose="020B0604020202090204"/>
                <a:rtl val="0"/>
              </a:rPr>
              <a:t> 5</a:t>
            </a:r>
            <a:r>
              <a:rPr lang="zh-CN" altLang="en-US" sz="525" spc="0" baseline="0">
                <a:solidFill>
                  <a:srgbClr val="333333"/>
                </a:solidFill>
                <a:latin typeface="微软雅黑"/>
                <a:ea typeface="微软雅黑"/>
                <a:cs typeface="Arial" panose="020B0604020202090204"/>
                <a:sym typeface="微软雅黑"/>
                <a:rtl val="0"/>
              </a:rPr>
              <a:t>列</a:t>
            </a:r>
            <a:r>
              <a:rPr lang="zh-CN" altLang="en-US" sz="525" spc="0" baseline="0">
                <a:solidFill>
                  <a:srgbClr val="333333"/>
                </a:solidFill>
                <a:latin typeface="Arial" panose="020B0604020202090204"/>
                <a:ea typeface="微软雅黑"/>
                <a:cs typeface="Arial" panose="020B0604020202090204"/>
                <a:sym typeface="Arial" panose="020B0604020202090204"/>
                <a:rtl val="0"/>
              </a:rPr>
              <a:t>(500</a:t>
            </a:r>
            <a:r>
              <a:rPr lang="zh-CN" altLang="en-US" sz="525" spc="0" baseline="0">
                <a:solidFill>
                  <a:srgbClr val="333333"/>
                </a:solidFill>
                <a:latin typeface="微软雅黑"/>
                <a:ea typeface="微软雅黑"/>
                <a:cs typeface="Arial" panose="020B0604020202090204"/>
                <a:sym typeface="微软雅黑"/>
                <a:rtl val="0"/>
              </a:rPr>
              <a:t>人</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a:solidFill>
                  <a:srgbClr val="333333"/>
                </a:solidFill>
                <a:latin typeface="微软雅黑"/>
                <a:ea typeface="微软雅黑"/>
                <a:cs typeface="Arial" panose="020B0604020202090204"/>
                <a:sym typeface="微软雅黑"/>
                <a:rtl val="0"/>
              </a:rPr>
              <a:t>列</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a:t>
            </a:r>
            <a:r>
              <a:rPr lang="zh-CN" altLang="en-US" sz="525" spc="0" baseline="0">
                <a:solidFill>
                  <a:srgbClr val="333333"/>
                </a:solidFill>
                <a:latin typeface="微软雅黑"/>
                <a:ea typeface="微软雅黑"/>
                <a:cs typeface="Arial" panose="020B0604020202090204"/>
                <a:sym typeface="微软雅黑"/>
                <a:rtl val="0"/>
              </a:rPr>
              <a:t>疏散主力</a:t>
            </a:r>
          </a:p>
        </p:txBody>
      </p:sp>
      <p:sp>
        <p:nvSpPr>
          <p:cNvPr id="171" name="文本框 170"/>
          <p:cNvSpPr txBox="1"/>
          <p:nvPr/>
        </p:nvSpPr>
        <p:spPr>
          <a:xfrm>
            <a:off x="4889589" y="3599379"/>
            <a:ext cx="721672" cy="173124"/>
          </a:xfrm>
          <a:prstGeom prst="rect">
            <a:avLst/>
          </a:prstGeom>
          <a:noFill/>
        </p:spPr>
        <p:txBody>
          <a:bodyPr wrap="none" rtlCol="0">
            <a:spAutoFit/>
          </a:bodyPr>
          <a:lstStyle/>
          <a:p>
            <a:pPr algn="ctr"/>
            <a:r>
              <a:rPr lang="zh-CN" altLang="en-US" sz="525" spc="0" baseline="0">
                <a:solidFill>
                  <a:srgbClr val="888888"/>
                </a:solidFill>
                <a:latin typeface="微软雅黑"/>
                <a:ea typeface="微软雅黑"/>
                <a:sym typeface="微软雅黑"/>
                <a:rtl val="0"/>
              </a:rPr>
              <a:t>贡献</a:t>
            </a:r>
            <a:r>
              <a:rPr lang="zh-CN" altLang="en-US" sz="525" spc="0" baseline="0">
                <a:solidFill>
                  <a:srgbClr val="888888"/>
                </a:solidFill>
                <a:latin typeface="Arial" panose="020B0604020202090204"/>
                <a:ea typeface="微软雅黑"/>
                <a:cs typeface="Arial" panose="020B0604020202090204"/>
                <a:sym typeface="Arial" panose="020B0604020202090204"/>
                <a:rtl val="0"/>
              </a:rPr>
              <a:t>69%</a:t>
            </a:r>
            <a:r>
              <a:rPr lang="zh-CN" altLang="en-US" sz="525" spc="0" baseline="0">
                <a:solidFill>
                  <a:srgbClr val="888888"/>
                </a:solidFill>
                <a:latin typeface="微软雅黑"/>
                <a:ea typeface="微软雅黑"/>
                <a:cs typeface="Arial" panose="020B0604020202090204"/>
                <a:sym typeface="微软雅黑"/>
                <a:rtl val="0"/>
              </a:rPr>
              <a:t>疏散运力</a:t>
            </a:r>
          </a:p>
        </p:txBody>
      </p:sp>
      <p:sp>
        <p:nvSpPr>
          <p:cNvPr id="172" name="任意形状 171"/>
          <p:cNvSpPr/>
          <p:nvPr/>
        </p:nvSpPr>
        <p:spPr>
          <a:xfrm>
            <a:off x="5879690" y="3278382"/>
            <a:ext cx="1127432" cy="458395"/>
          </a:xfrm>
          <a:custGeom>
            <a:avLst/>
            <a:gdLst>
              <a:gd name="connsiteX0" fmla="*/ 1094658 w 1127432"/>
              <a:gd name="connsiteY0" fmla="*/ 0 h 458395"/>
              <a:gd name="connsiteX1" fmla="*/ 1127432 w 1127432"/>
              <a:gd name="connsiteY1" fmla="*/ 0 h 458395"/>
              <a:gd name="connsiteX2" fmla="*/ 1127432 w 1127432"/>
              <a:gd name="connsiteY2" fmla="*/ 458395 h 458395"/>
              <a:gd name="connsiteX3" fmla="*/ 1094658 w 1127432"/>
              <a:gd name="connsiteY3" fmla="*/ 458395 h 458395"/>
              <a:gd name="connsiteX4" fmla="*/ 32774 w 1127432"/>
              <a:gd name="connsiteY4" fmla="*/ 458395 h 458395"/>
              <a:gd name="connsiteX5" fmla="*/ 0 w 1127432"/>
              <a:gd name="connsiteY5" fmla="*/ 458395 h 458395"/>
              <a:gd name="connsiteX6" fmla="*/ 0 w 1127432"/>
              <a:gd name="connsiteY6" fmla="*/ 0 h 458395"/>
              <a:gd name="connsiteX7" fmla="*/ 32774 w 1127432"/>
              <a:gd name="connsiteY7" fmla="*/ 0 h 45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432" h="458395">
                <a:moveTo>
                  <a:pt x="1094658" y="0"/>
                </a:moveTo>
                <a:cubicBezTo>
                  <a:pt x="1112759" y="0"/>
                  <a:pt x="1127432" y="0"/>
                  <a:pt x="1127432" y="0"/>
                </a:cubicBezTo>
                <a:lnTo>
                  <a:pt x="1127432" y="458395"/>
                </a:lnTo>
                <a:cubicBezTo>
                  <a:pt x="1127432" y="458395"/>
                  <a:pt x="1112759" y="458395"/>
                  <a:pt x="1094658" y="458395"/>
                </a:cubicBezTo>
                <a:lnTo>
                  <a:pt x="32774" y="458395"/>
                </a:lnTo>
                <a:cubicBezTo>
                  <a:pt x="14674" y="458395"/>
                  <a:pt x="0" y="458395"/>
                  <a:pt x="0" y="458395"/>
                </a:cubicBezTo>
                <a:lnTo>
                  <a:pt x="0" y="0"/>
                </a:lnTo>
                <a:cubicBezTo>
                  <a:pt x="0" y="0"/>
                  <a:pt x="14674" y="0"/>
                  <a:pt x="32774" y="0"/>
                </a:cubicBezTo>
                <a:close/>
              </a:path>
            </a:pathLst>
          </a:custGeom>
          <a:solidFill>
            <a:srgbClr val="F3E5F5"/>
          </a:solidFill>
          <a:ln w="3277" cap="flat">
            <a:solidFill>
              <a:srgbClr val="7B1FA2"/>
            </a:solidFill>
            <a:prstDash val="solid"/>
            <a:miter/>
          </a:ln>
        </p:spPr>
        <p:txBody>
          <a:bodyPr rtlCol="0" anchor="ctr"/>
          <a:lstStyle/>
          <a:p>
            <a:pPr algn="ctr"/>
            <a:endParaRPr lang="zh-CN" altLang="en-US"/>
          </a:p>
        </p:txBody>
      </p:sp>
      <p:sp>
        <p:nvSpPr>
          <p:cNvPr id="173" name="文本框 172"/>
          <p:cNvSpPr txBox="1"/>
          <p:nvPr/>
        </p:nvSpPr>
        <p:spPr>
          <a:xfrm>
            <a:off x="6039217" y="3250181"/>
            <a:ext cx="801823" cy="196208"/>
          </a:xfrm>
          <a:prstGeom prst="rect">
            <a:avLst/>
          </a:prstGeom>
          <a:noFill/>
        </p:spPr>
        <p:txBody>
          <a:bodyPr wrap="none" rtlCol="0">
            <a:spAutoFit/>
          </a:bodyPr>
          <a:lstStyle/>
          <a:p>
            <a:pPr algn="ctr"/>
            <a:r>
              <a:rPr lang="zh-CN" altLang="en-US" sz="675" b="1" spc="0" baseline="0" dirty="0">
                <a:solidFill>
                  <a:srgbClr val="4A148C"/>
                </a:solidFill>
                <a:latin typeface="黑体" panose="02010600030101010101" charset="-122"/>
                <a:ea typeface="黑体" panose="02010600030101010101" charset="-122"/>
                <a:sym typeface="黑体" panose="02010600030101010101" charset="-122"/>
                <a:rtl val="0"/>
              </a:rPr>
              <a:t>三类脆弱性分级</a:t>
            </a:r>
          </a:p>
        </p:txBody>
      </p:sp>
      <p:sp>
        <p:nvSpPr>
          <p:cNvPr id="174" name="任意形状 173"/>
          <p:cNvSpPr/>
          <p:nvPr/>
        </p:nvSpPr>
        <p:spPr>
          <a:xfrm>
            <a:off x="5964903" y="3422449"/>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B71C1C"/>
          </a:solidFill>
          <a:ln w="6555" cap="flat">
            <a:noFill/>
            <a:prstDash val="solid"/>
            <a:miter/>
          </a:ln>
        </p:spPr>
        <p:txBody>
          <a:bodyPr rtlCol="0" anchor="ctr"/>
          <a:lstStyle/>
          <a:p>
            <a:pPr algn="ctr"/>
            <a:endParaRPr lang="zh-CN" altLang="en-US"/>
          </a:p>
        </p:txBody>
      </p:sp>
      <p:sp>
        <p:nvSpPr>
          <p:cNvPr id="175" name="文本框 174"/>
          <p:cNvSpPr txBox="1"/>
          <p:nvPr/>
        </p:nvSpPr>
        <p:spPr>
          <a:xfrm>
            <a:off x="5936853" y="3360400"/>
            <a:ext cx="1016625" cy="173124"/>
          </a:xfrm>
          <a:prstGeom prst="rect">
            <a:avLst/>
          </a:prstGeom>
          <a:noFill/>
        </p:spPr>
        <p:txBody>
          <a:bodyPr wrap="none" rtlCol="0">
            <a:spAutoFit/>
          </a:bodyPr>
          <a:lstStyle/>
          <a:p>
            <a:r>
              <a:rPr lang="zh-CN" altLang="en-US" sz="525" spc="0" baseline="0" dirty="0">
                <a:solidFill>
                  <a:srgbClr val="333333"/>
                </a:solidFill>
                <a:latin typeface="Arial" panose="020B0604020202090204"/>
                <a:cs typeface="Arial" panose="020B0604020202090204"/>
                <a:sym typeface="Arial" panose="020B0604020202090204"/>
                <a:rtl val="0"/>
              </a:rPr>
              <a:t>k=1</a:t>
            </a:r>
            <a:r>
              <a:rPr lang="zh-CN" altLang="en-US" sz="525" spc="0" baseline="0" dirty="0">
                <a:solidFill>
                  <a:srgbClr val="333333"/>
                </a:solidFill>
                <a:latin typeface="微软雅黑"/>
                <a:ea typeface="微软雅黑"/>
                <a:cs typeface="Arial" panose="020B0604020202090204"/>
                <a:sym typeface="微软雅黑"/>
                <a:rtl val="0"/>
              </a:rPr>
              <a:t>重伤中毒</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(ω=10) →</a:t>
            </a:r>
            <a:r>
              <a:rPr lang="zh-CN" altLang="en-US" sz="525" spc="0" baseline="0" dirty="0">
                <a:solidFill>
                  <a:srgbClr val="333333"/>
                </a:solidFill>
                <a:latin typeface="微软雅黑"/>
                <a:ea typeface="微软雅黑"/>
                <a:cs typeface="Arial" panose="020B0604020202090204"/>
                <a:sym typeface="微软雅黑"/>
                <a:rtl val="0"/>
              </a:rPr>
              <a:t>医院</a:t>
            </a:r>
          </a:p>
        </p:txBody>
      </p:sp>
      <p:sp>
        <p:nvSpPr>
          <p:cNvPr id="176" name="任意形状 175"/>
          <p:cNvSpPr/>
          <p:nvPr/>
        </p:nvSpPr>
        <p:spPr>
          <a:xfrm>
            <a:off x="5964903" y="3501032"/>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FF6F00"/>
          </a:solidFill>
          <a:ln w="6555" cap="flat">
            <a:noFill/>
            <a:prstDash val="solid"/>
            <a:miter/>
          </a:ln>
        </p:spPr>
        <p:txBody>
          <a:bodyPr rtlCol="0" anchor="ctr"/>
          <a:lstStyle/>
          <a:p>
            <a:pPr algn="ctr"/>
            <a:endParaRPr lang="zh-CN" altLang="en-US"/>
          </a:p>
        </p:txBody>
      </p:sp>
      <p:sp>
        <p:nvSpPr>
          <p:cNvPr id="177" name="文本框 176"/>
          <p:cNvSpPr txBox="1"/>
          <p:nvPr/>
        </p:nvSpPr>
        <p:spPr>
          <a:xfrm>
            <a:off x="5937866" y="3444426"/>
            <a:ext cx="1200970" cy="173124"/>
          </a:xfrm>
          <a:prstGeom prst="rect">
            <a:avLst/>
          </a:prstGeom>
          <a:noFill/>
        </p:spPr>
        <p:txBody>
          <a:bodyPr wrap="none" rtlCol="0">
            <a:spAutoFit/>
          </a:bodyPr>
          <a:lstStyle/>
          <a:p>
            <a:r>
              <a:rPr lang="zh-CN" altLang="en-US" sz="525" spc="0" baseline="0" dirty="0">
                <a:solidFill>
                  <a:srgbClr val="333333"/>
                </a:solidFill>
                <a:latin typeface="Arial" panose="020B0604020202090204"/>
                <a:cs typeface="Arial" panose="020B0604020202090204"/>
                <a:sym typeface="Arial" panose="020B0604020202090204"/>
                <a:rtl val="0"/>
              </a:rPr>
              <a:t>k=2</a:t>
            </a:r>
            <a:r>
              <a:rPr lang="zh-CN" altLang="en-US" sz="525" spc="0" baseline="0" dirty="0">
                <a:solidFill>
                  <a:srgbClr val="333333"/>
                </a:solidFill>
                <a:latin typeface="微软雅黑"/>
                <a:ea typeface="微软雅黑"/>
                <a:cs typeface="Arial" panose="020B0604020202090204"/>
                <a:sym typeface="微软雅黑"/>
                <a:rtl val="0"/>
              </a:rPr>
              <a:t>老人儿童</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(ω=5)→</a:t>
            </a:r>
            <a:r>
              <a:rPr lang="zh-CN" altLang="en-US" sz="525" spc="0" baseline="0" dirty="0">
                <a:solidFill>
                  <a:srgbClr val="333333"/>
                </a:solidFill>
                <a:latin typeface="微软雅黑"/>
                <a:ea typeface="微软雅黑"/>
                <a:cs typeface="Arial" panose="020B0604020202090204"/>
                <a:sym typeface="微软雅黑"/>
                <a:rtl val="0"/>
              </a:rPr>
              <a:t>医院</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庇护所</a:t>
            </a:r>
          </a:p>
        </p:txBody>
      </p:sp>
      <p:sp>
        <p:nvSpPr>
          <p:cNvPr id="178" name="任意形状 177"/>
          <p:cNvSpPr/>
          <p:nvPr/>
        </p:nvSpPr>
        <p:spPr>
          <a:xfrm>
            <a:off x="5964903" y="3579614"/>
            <a:ext cx="52438" cy="52388"/>
          </a:xfrm>
          <a:custGeom>
            <a:avLst/>
            <a:gdLst>
              <a:gd name="connsiteX0" fmla="*/ 45884 w 52438"/>
              <a:gd name="connsiteY0" fmla="*/ 0 h 52388"/>
              <a:gd name="connsiteX1" fmla="*/ 52439 w 52438"/>
              <a:gd name="connsiteY1" fmla="*/ 0 h 52388"/>
              <a:gd name="connsiteX2" fmla="*/ 52439 w 52438"/>
              <a:gd name="connsiteY2" fmla="*/ 52388 h 52388"/>
              <a:gd name="connsiteX3" fmla="*/ 45884 w 52438"/>
              <a:gd name="connsiteY3" fmla="*/ 52388 h 52388"/>
              <a:gd name="connsiteX4" fmla="*/ 6555 w 52438"/>
              <a:gd name="connsiteY4" fmla="*/ 52388 h 52388"/>
              <a:gd name="connsiteX5" fmla="*/ 0 w 52438"/>
              <a:gd name="connsiteY5" fmla="*/ 52388 h 52388"/>
              <a:gd name="connsiteX6" fmla="*/ 0 w 52438"/>
              <a:gd name="connsiteY6" fmla="*/ 0 h 52388"/>
              <a:gd name="connsiteX7" fmla="*/ 6555 w 52438"/>
              <a:gd name="connsiteY7" fmla="*/ 0 h 52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38" h="52388">
                <a:moveTo>
                  <a:pt x="45884" y="0"/>
                </a:moveTo>
                <a:cubicBezTo>
                  <a:pt x="49504" y="0"/>
                  <a:pt x="52439" y="0"/>
                  <a:pt x="52439" y="0"/>
                </a:cubicBezTo>
                <a:lnTo>
                  <a:pt x="52439" y="52388"/>
                </a:lnTo>
                <a:cubicBezTo>
                  <a:pt x="52439" y="52388"/>
                  <a:pt x="49504" y="52388"/>
                  <a:pt x="45884" y="52388"/>
                </a:cubicBezTo>
                <a:lnTo>
                  <a:pt x="6555" y="52388"/>
                </a:lnTo>
                <a:cubicBezTo>
                  <a:pt x="2935" y="52388"/>
                  <a:pt x="0" y="52388"/>
                  <a:pt x="0" y="52388"/>
                </a:cubicBezTo>
                <a:lnTo>
                  <a:pt x="0" y="0"/>
                </a:lnTo>
                <a:cubicBezTo>
                  <a:pt x="0" y="0"/>
                  <a:pt x="2935" y="0"/>
                  <a:pt x="6555" y="0"/>
                </a:cubicBezTo>
                <a:close/>
              </a:path>
            </a:pathLst>
          </a:custGeom>
          <a:solidFill>
            <a:srgbClr val="1976D2"/>
          </a:solidFill>
          <a:ln w="6555" cap="flat">
            <a:noFill/>
            <a:prstDash val="solid"/>
            <a:miter/>
          </a:ln>
        </p:spPr>
        <p:txBody>
          <a:bodyPr rtlCol="0" anchor="ctr"/>
          <a:lstStyle/>
          <a:p>
            <a:pPr algn="ctr"/>
            <a:endParaRPr lang="zh-CN" altLang="en-US"/>
          </a:p>
        </p:txBody>
      </p:sp>
      <p:sp>
        <p:nvSpPr>
          <p:cNvPr id="179" name="文本框 178"/>
          <p:cNvSpPr txBox="1"/>
          <p:nvPr/>
        </p:nvSpPr>
        <p:spPr>
          <a:xfrm>
            <a:off x="5941144" y="3520178"/>
            <a:ext cx="1181734" cy="173124"/>
          </a:xfrm>
          <a:prstGeom prst="rect">
            <a:avLst/>
          </a:prstGeom>
          <a:noFill/>
        </p:spPr>
        <p:txBody>
          <a:bodyPr wrap="none" rtlCol="0">
            <a:spAutoFit/>
          </a:bodyPr>
          <a:lstStyle/>
          <a:p>
            <a:r>
              <a:rPr lang="zh-CN" altLang="en-US" sz="525" spc="0" baseline="0" dirty="0">
                <a:solidFill>
                  <a:srgbClr val="333333"/>
                </a:solidFill>
                <a:latin typeface="Arial" panose="020B0604020202090204"/>
                <a:cs typeface="Arial" panose="020B0604020202090204"/>
                <a:sym typeface="Arial" panose="020B0604020202090204"/>
                <a:rtl val="0"/>
              </a:rPr>
              <a:t>k=3</a:t>
            </a:r>
            <a:r>
              <a:rPr lang="zh-CN" altLang="en-US" sz="525" spc="0" baseline="0" dirty="0">
                <a:solidFill>
                  <a:srgbClr val="333333"/>
                </a:solidFill>
                <a:latin typeface="微软雅黑"/>
                <a:ea typeface="微软雅黑"/>
                <a:cs typeface="Arial" panose="020B0604020202090204"/>
                <a:sym typeface="微软雅黑"/>
                <a:rtl val="0"/>
              </a:rPr>
              <a:t>一般人员</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(ω=1)→</a:t>
            </a:r>
            <a:r>
              <a:rPr lang="zh-CN" altLang="en-US" sz="525" spc="0" baseline="0" dirty="0">
                <a:solidFill>
                  <a:srgbClr val="333333"/>
                </a:solidFill>
                <a:latin typeface="微软雅黑"/>
                <a:ea typeface="微软雅黑"/>
                <a:cs typeface="Arial" panose="020B0604020202090204"/>
                <a:sym typeface="微软雅黑"/>
                <a:rtl val="0"/>
              </a:rPr>
              <a:t>任意庇护所</a:t>
            </a:r>
          </a:p>
        </p:txBody>
      </p:sp>
      <p:sp>
        <p:nvSpPr>
          <p:cNvPr id="180" name="文本框 179"/>
          <p:cNvSpPr txBox="1"/>
          <p:nvPr/>
        </p:nvSpPr>
        <p:spPr>
          <a:xfrm>
            <a:off x="5980780" y="3602713"/>
            <a:ext cx="925253" cy="173124"/>
          </a:xfrm>
          <a:prstGeom prst="rect">
            <a:avLst/>
          </a:prstGeom>
          <a:noFill/>
        </p:spPr>
        <p:txBody>
          <a:bodyPr wrap="none" rtlCol="0">
            <a:spAutoFit/>
          </a:bodyPr>
          <a:lstStyle/>
          <a:p>
            <a:pPr algn="ctr"/>
            <a:r>
              <a:rPr lang="zh-CN" altLang="en-US" sz="525" spc="0" baseline="0" dirty="0">
                <a:solidFill>
                  <a:srgbClr val="888888"/>
                </a:solidFill>
                <a:latin typeface="微软雅黑"/>
                <a:ea typeface="微软雅黑"/>
                <a:sym typeface="微软雅黑"/>
                <a:rtl val="0"/>
              </a:rPr>
              <a:t>加权优先级保护脆弱群体</a:t>
            </a:r>
          </a:p>
        </p:txBody>
      </p:sp>
      <p:sp>
        <p:nvSpPr>
          <p:cNvPr id="181" name="任意形状 180"/>
          <p:cNvSpPr/>
          <p:nvPr/>
        </p:nvSpPr>
        <p:spPr>
          <a:xfrm>
            <a:off x="7072670" y="3278382"/>
            <a:ext cx="1166761" cy="458395"/>
          </a:xfrm>
          <a:custGeom>
            <a:avLst/>
            <a:gdLst>
              <a:gd name="connsiteX0" fmla="*/ 1133987 w 1166761"/>
              <a:gd name="connsiteY0" fmla="*/ 0 h 458395"/>
              <a:gd name="connsiteX1" fmla="*/ 1166761 w 1166761"/>
              <a:gd name="connsiteY1" fmla="*/ 0 h 458395"/>
              <a:gd name="connsiteX2" fmla="*/ 1166761 w 1166761"/>
              <a:gd name="connsiteY2" fmla="*/ 458395 h 458395"/>
              <a:gd name="connsiteX3" fmla="*/ 1133987 w 1166761"/>
              <a:gd name="connsiteY3" fmla="*/ 458395 h 458395"/>
              <a:gd name="connsiteX4" fmla="*/ 32774 w 1166761"/>
              <a:gd name="connsiteY4" fmla="*/ 458395 h 458395"/>
              <a:gd name="connsiteX5" fmla="*/ 0 w 1166761"/>
              <a:gd name="connsiteY5" fmla="*/ 458395 h 458395"/>
              <a:gd name="connsiteX6" fmla="*/ 0 w 1166761"/>
              <a:gd name="connsiteY6" fmla="*/ 0 h 458395"/>
              <a:gd name="connsiteX7" fmla="*/ 32774 w 1166761"/>
              <a:gd name="connsiteY7" fmla="*/ 0 h 45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6761" h="458395">
                <a:moveTo>
                  <a:pt x="1133987" y="0"/>
                </a:moveTo>
                <a:cubicBezTo>
                  <a:pt x="1152088" y="0"/>
                  <a:pt x="1166761" y="0"/>
                  <a:pt x="1166761" y="0"/>
                </a:cubicBezTo>
                <a:lnTo>
                  <a:pt x="1166761" y="458395"/>
                </a:lnTo>
                <a:cubicBezTo>
                  <a:pt x="1166761" y="458395"/>
                  <a:pt x="1152088" y="458395"/>
                  <a:pt x="1133987" y="458395"/>
                </a:cubicBezTo>
                <a:lnTo>
                  <a:pt x="32774" y="458395"/>
                </a:lnTo>
                <a:cubicBezTo>
                  <a:pt x="14673" y="458395"/>
                  <a:pt x="0" y="458395"/>
                  <a:pt x="0" y="458395"/>
                </a:cubicBezTo>
                <a:lnTo>
                  <a:pt x="0" y="0"/>
                </a:lnTo>
                <a:cubicBezTo>
                  <a:pt x="0" y="0"/>
                  <a:pt x="14673" y="0"/>
                  <a:pt x="32774" y="0"/>
                </a:cubicBezTo>
                <a:close/>
              </a:path>
            </a:pathLst>
          </a:custGeom>
          <a:solidFill>
            <a:srgbClr val="F3E5F5"/>
          </a:solidFill>
          <a:ln w="3277" cap="flat">
            <a:solidFill>
              <a:srgbClr val="7B1FA2"/>
            </a:solidFill>
            <a:prstDash val="solid"/>
            <a:miter/>
          </a:ln>
        </p:spPr>
        <p:txBody>
          <a:bodyPr rtlCol="0" anchor="ctr"/>
          <a:lstStyle/>
          <a:p>
            <a:pPr algn="ctr"/>
            <a:endParaRPr lang="zh-CN" altLang="en-US"/>
          </a:p>
        </p:txBody>
      </p:sp>
      <p:sp>
        <p:nvSpPr>
          <p:cNvPr id="182" name="文本框 181"/>
          <p:cNvSpPr txBox="1"/>
          <p:nvPr/>
        </p:nvSpPr>
        <p:spPr>
          <a:xfrm>
            <a:off x="7207780" y="3250181"/>
            <a:ext cx="889988" cy="196208"/>
          </a:xfrm>
          <a:prstGeom prst="rect">
            <a:avLst/>
          </a:prstGeom>
          <a:noFill/>
        </p:spPr>
        <p:txBody>
          <a:bodyPr wrap="none" rtlCol="0">
            <a:spAutoFit/>
          </a:bodyPr>
          <a:lstStyle/>
          <a:p>
            <a:pPr algn="ctr"/>
            <a:r>
              <a:rPr lang="zh-CN" altLang="en-US" sz="675" b="1" spc="0" baseline="0">
                <a:solidFill>
                  <a:srgbClr val="4A148C"/>
                </a:solidFill>
                <a:latin typeface="黑体" panose="02010600030101010101" charset="-122"/>
                <a:ea typeface="黑体" panose="02010600030101010101" charset="-122"/>
                <a:sym typeface="黑体" panose="02010600030101010101" charset="-122"/>
                <a:rtl val="0"/>
              </a:rPr>
              <a:t>风险感知调度模型</a:t>
            </a:r>
          </a:p>
        </p:txBody>
      </p:sp>
      <p:sp>
        <p:nvSpPr>
          <p:cNvPr id="183" name="文本框 182"/>
          <p:cNvSpPr txBox="1"/>
          <p:nvPr/>
        </p:nvSpPr>
        <p:spPr>
          <a:xfrm>
            <a:off x="7066715" y="3363632"/>
            <a:ext cx="1172117"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时间步进式</a:t>
            </a:r>
            <a:r>
              <a:rPr lang="zh-CN" altLang="en-US" sz="525" spc="0" baseline="0">
                <a:solidFill>
                  <a:srgbClr val="333333"/>
                </a:solidFill>
                <a:latin typeface="Arial" panose="020B0604020202090204"/>
                <a:ea typeface="微软雅黑"/>
                <a:cs typeface="Arial" panose="020B0604020202090204"/>
                <a:sym typeface="Arial" panose="020B0604020202090204"/>
                <a:rtl val="0"/>
              </a:rPr>
              <a:t> (Δt=5min, T=180min)</a:t>
            </a:r>
          </a:p>
        </p:txBody>
      </p:sp>
      <p:sp>
        <p:nvSpPr>
          <p:cNvPr id="184" name="文本框 183"/>
          <p:cNvSpPr txBox="1"/>
          <p:nvPr/>
        </p:nvSpPr>
        <p:spPr>
          <a:xfrm>
            <a:off x="7193425" y="3442215"/>
            <a:ext cx="925253"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高斯浓度场动态风险暴露</a:t>
            </a:r>
          </a:p>
        </p:txBody>
      </p:sp>
      <p:sp>
        <p:nvSpPr>
          <p:cNvPr id="185" name="文本框 184"/>
          <p:cNvSpPr txBox="1"/>
          <p:nvPr/>
        </p:nvSpPr>
        <p:spPr>
          <a:xfrm>
            <a:off x="7183005" y="3520797"/>
            <a:ext cx="946093"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Dijkstra</a:t>
            </a:r>
            <a:r>
              <a:rPr lang="zh-CN" altLang="en-US" sz="525" spc="0" baseline="0">
                <a:solidFill>
                  <a:srgbClr val="333333"/>
                </a:solidFill>
                <a:latin typeface="微软雅黑"/>
                <a:ea typeface="微软雅黑"/>
                <a:cs typeface="Arial" panose="020B0604020202090204"/>
                <a:sym typeface="微软雅黑"/>
                <a:rtl val="0"/>
              </a:rPr>
              <a:t>受损路网最短路径</a:t>
            </a:r>
          </a:p>
        </p:txBody>
      </p:sp>
      <p:sp>
        <p:nvSpPr>
          <p:cNvPr id="186" name="文本框 185"/>
          <p:cNvSpPr txBox="1"/>
          <p:nvPr/>
        </p:nvSpPr>
        <p:spPr>
          <a:xfrm>
            <a:off x="7126098" y="3599379"/>
            <a:ext cx="1059907"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车辆循环调度（含返回时间）</a:t>
            </a:r>
          </a:p>
        </p:txBody>
      </p:sp>
      <p:sp>
        <p:nvSpPr>
          <p:cNvPr id="187" name="任意形状 186"/>
          <p:cNvSpPr/>
          <p:nvPr/>
        </p:nvSpPr>
        <p:spPr>
          <a:xfrm>
            <a:off x="4686709" y="3789166"/>
            <a:ext cx="1737032" cy="222649"/>
          </a:xfrm>
          <a:custGeom>
            <a:avLst/>
            <a:gdLst>
              <a:gd name="connsiteX0" fmla="*/ 1704258 w 1737032"/>
              <a:gd name="connsiteY0" fmla="*/ 0 h 222649"/>
              <a:gd name="connsiteX1" fmla="*/ 1737032 w 1737032"/>
              <a:gd name="connsiteY1" fmla="*/ 0 h 222649"/>
              <a:gd name="connsiteX2" fmla="*/ 1737032 w 1737032"/>
              <a:gd name="connsiteY2" fmla="*/ 222649 h 222649"/>
              <a:gd name="connsiteX3" fmla="*/ 1704258 w 1737032"/>
              <a:gd name="connsiteY3" fmla="*/ 222649 h 222649"/>
              <a:gd name="connsiteX4" fmla="*/ 32774 w 1737032"/>
              <a:gd name="connsiteY4" fmla="*/ 222649 h 222649"/>
              <a:gd name="connsiteX5" fmla="*/ 0 w 1737032"/>
              <a:gd name="connsiteY5" fmla="*/ 222649 h 222649"/>
              <a:gd name="connsiteX6" fmla="*/ 0 w 1737032"/>
              <a:gd name="connsiteY6" fmla="*/ 0 h 222649"/>
              <a:gd name="connsiteX7" fmla="*/ 32774 w 1737032"/>
              <a:gd name="connsiteY7" fmla="*/ 0 h 2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22649">
                <a:moveTo>
                  <a:pt x="1704258" y="0"/>
                </a:moveTo>
                <a:cubicBezTo>
                  <a:pt x="1722359" y="0"/>
                  <a:pt x="1737032" y="0"/>
                  <a:pt x="1737032" y="0"/>
                </a:cubicBezTo>
                <a:lnTo>
                  <a:pt x="1737032" y="222649"/>
                </a:lnTo>
                <a:cubicBezTo>
                  <a:pt x="1737032" y="222649"/>
                  <a:pt x="1722359" y="222649"/>
                  <a:pt x="1704258" y="222649"/>
                </a:cubicBezTo>
                <a:lnTo>
                  <a:pt x="32774" y="222649"/>
                </a:lnTo>
                <a:cubicBezTo>
                  <a:pt x="14674" y="222649"/>
                  <a:pt x="0" y="222649"/>
                  <a:pt x="0" y="222649"/>
                </a:cubicBezTo>
                <a:lnTo>
                  <a:pt x="0" y="0"/>
                </a:lnTo>
                <a:cubicBezTo>
                  <a:pt x="0" y="0"/>
                  <a:pt x="14674" y="0"/>
                  <a:pt x="32774" y="0"/>
                </a:cubicBezTo>
                <a:close/>
              </a:path>
            </a:pathLst>
          </a:custGeom>
          <a:solidFill>
            <a:srgbClr val="E1BEE7"/>
          </a:solidFill>
          <a:ln w="3277" cap="flat">
            <a:solidFill>
              <a:srgbClr val="6A1B9A"/>
            </a:solidFill>
            <a:prstDash val="solid"/>
            <a:miter/>
          </a:ln>
        </p:spPr>
        <p:txBody>
          <a:bodyPr rtlCol="0" anchor="ctr"/>
          <a:lstStyle/>
          <a:p>
            <a:pPr algn="ctr"/>
            <a:endParaRPr lang="zh-CN" altLang="en-US"/>
          </a:p>
        </p:txBody>
      </p:sp>
      <p:sp>
        <p:nvSpPr>
          <p:cNvPr id="188" name="文本框 187"/>
          <p:cNvSpPr txBox="1"/>
          <p:nvPr/>
        </p:nvSpPr>
        <p:spPr>
          <a:xfrm>
            <a:off x="5280006" y="3755522"/>
            <a:ext cx="537328" cy="196208"/>
          </a:xfrm>
          <a:prstGeom prst="rect">
            <a:avLst/>
          </a:prstGeom>
          <a:noFill/>
        </p:spPr>
        <p:txBody>
          <a:bodyPr wrap="none" rtlCol="0">
            <a:spAutoFit/>
          </a:bodyPr>
          <a:lstStyle/>
          <a:p>
            <a:pPr algn="ctr"/>
            <a:r>
              <a:rPr lang="zh-CN" altLang="en-US" sz="675" b="1" spc="0" baseline="0">
                <a:solidFill>
                  <a:srgbClr val="4A148C"/>
                </a:solidFill>
                <a:latin typeface="黑体" panose="02010600030101010101" charset="-122"/>
                <a:ea typeface="黑体" panose="02010600030101010101" charset="-122"/>
                <a:sym typeface="黑体" panose="02010600030101010101" charset="-122"/>
                <a:rtl val="0"/>
              </a:rPr>
              <a:t>目标函数</a:t>
            </a:r>
          </a:p>
        </p:txBody>
      </p:sp>
      <p:sp>
        <p:nvSpPr>
          <p:cNvPr id="189" name="文本框 188"/>
          <p:cNvSpPr txBox="1"/>
          <p:nvPr/>
        </p:nvSpPr>
        <p:spPr>
          <a:xfrm>
            <a:off x="4653741" y="3874416"/>
            <a:ext cx="1796415" cy="172720"/>
          </a:xfrm>
          <a:prstGeom prst="rect">
            <a:avLst/>
          </a:prstGeom>
          <a:noFill/>
        </p:spPr>
        <p:txBody>
          <a:bodyPr wrap="none" rtlCol="0">
            <a:spAutoFit/>
          </a:bodyPr>
          <a:lstStyle/>
          <a:p>
            <a:pPr algn="ctr"/>
            <a:r>
              <a:rPr lang="zh-CN" altLang="en-US" sz="525" spc="0" baseline="0" dirty="0">
                <a:solidFill>
                  <a:srgbClr val="333333"/>
                </a:solidFill>
                <a:latin typeface="Arial" panose="020B0604020202090204"/>
                <a:cs typeface="Arial" panose="020B0604020202090204"/>
                <a:sym typeface="Arial" panose="020B0604020202090204"/>
                <a:rtl val="0"/>
              </a:rPr>
              <a:t>min Z</a:t>
            </a:r>
            <a:r>
              <a:rPr lang="zh-CN" altLang="en-US" sz="525" spc="0" baseline="0" dirty="0">
                <a:solidFill>
                  <a:srgbClr val="333333"/>
                </a:solidFill>
                <a:latin typeface="Cambria Math"/>
                <a:cs typeface="Arial" panose="020B0604020202090204"/>
                <a:sym typeface="Cambria Math"/>
                <a:rtl val="0"/>
              </a:rPr>
              <a:t>₁</a:t>
            </a:r>
            <a:r>
              <a:rPr lang="zh-CN" altLang="en-US" sz="525" spc="0" baseline="0" dirty="0">
                <a:solidFill>
                  <a:srgbClr val="333333"/>
                </a:solidFill>
                <a:latin typeface="Arial" panose="020B0604020202090204"/>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加权疏散</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 Z</a:t>
            </a:r>
            <a:r>
              <a:rPr lang="zh-CN" altLang="en-US" sz="525" spc="0" baseline="0" dirty="0">
                <a:solidFill>
                  <a:srgbClr val="333333"/>
                </a:solidFill>
                <a:latin typeface="Cambria Math"/>
                <a:ea typeface="微软雅黑"/>
                <a:cs typeface="Arial" panose="020B0604020202090204"/>
                <a:sym typeface="Cambria Math"/>
                <a:rtl val="0"/>
              </a:rPr>
              <a:t>₂</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动态风险</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 Z</a:t>
            </a:r>
            <a:r>
              <a:rPr lang="zh-CN" altLang="en-US" sz="525" spc="0" baseline="0" dirty="0">
                <a:solidFill>
                  <a:srgbClr val="333333"/>
                </a:solidFill>
                <a:latin typeface="Cambria Math"/>
                <a:ea typeface="微软雅黑"/>
                <a:cs typeface="Arial" panose="020B0604020202090204"/>
                <a:sym typeface="Cambria Math"/>
                <a:rtl val="0"/>
              </a:rPr>
              <a:t>₃</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未服务惩罚</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p>
        </p:txBody>
      </p:sp>
      <p:sp>
        <p:nvSpPr>
          <p:cNvPr id="190" name="任意形状 189"/>
          <p:cNvSpPr/>
          <p:nvPr/>
        </p:nvSpPr>
        <p:spPr>
          <a:xfrm>
            <a:off x="6489290" y="3789166"/>
            <a:ext cx="1737032" cy="222649"/>
          </a:xfrm>
          <a:custGeom>
            <a:avLst/>
            <a:gdLst>
              <a:gd name="connsiteX0" fmla="*/ 1704258 w 1737032"/>
              <a:gd name="connsiteY0" fmla="*/ 0 h 222649"/>
              <a:gd name="connsiteX1" fmla="*/ 1737032 w 1737032"/>
              <a:gd name="connsiteY1" fmla="*/ 0 h 222649"/>
              <a:gd name="connsiteX2" fmla="*/ 1737032 w 1737032"/>
              <a:gd name="connsiteY2" fmla="*/ 222649 h 222649"/>
              <a:gd name="connsiteX3" fmla="*/ 1704258 w 1737032"/>
              <a:gd name="connsiteY3" fmla="*/ 222649 h 222649"/>
              <a:gd name="connsiteX4" fmla="*/ 32774 w 1737032"/>
              <a:gd name="connsiteY4" fmla="*/ 222649 h 222649"/>
              <a:gd name="connsiteX5" fmla="*/ 0 w 1737032"/>
              <a:gd name="connsiteY5" fmla="*/ 222649 h 222649"/>
              <a:gd name="connsiteX6" fmla="*/ 0 w 1737032"/>
              <a:gd name="connsiteY6" fmla="*/ 0 h 222649"/>
              <a:gd name="connsiteX7" fmla="*/ 32774 w 1737032"/>
              <a:gd name="connsiteY7" fmla="*/ 0 h 2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032" h="222649">
                <a:moveTo>
                  <a:pt x="1704258" y="0"/>
                </a:moveTo>
                <a:cubicBezTo>
                  <a:pt x="1722359" y="0"/>
                  <a:pt x="1737032" y="0"/>
                  <a:pt x="1737032" y="0"/>
                </a:cubicBezTo>
                <a:lnTo>
                  <a:pt x="1737032" y="222649"/>
                </a:lnTo>
                <a:cubicBezTo>
                  <a:pt x="1737032" y="222649"/>
                  <a:pt x="1722359" y="222649"/>
                  <a:pt x="1704258" y="222649"/>
                </a:cubicBezTo>
                <a:lnTo>
                  <a:pt x="32774" y="222649"/>
                </a:lnTo>
                <a:cubicBezTo>
                  <a:pt x="14674" y="222649"/>
                  <a:pt x="0" y="222649"/>
                  <a:pt x="0" y="222649"/>
                </a:cubicBezTo>
                <a:lnTo>
                  <a:pt x="0" y="0"/>
                </a:lnTo>
                <a:cubicBezTo>
                  <a:pt x="0" y="0"/>
                  <a:pt x="14674" y="0"/>
                  <a:pt x="32774" y="0"/>
                </a:cubicBezTo>
                <a:close/>
              </a:path>
            </a:pathLst>
          </a:custGeom>
          <a:solidFill>
            <a:srgbClr val="311B92">
              <a:alpha val="90000"/>
            </a:srgbClr>
          </a:solidFill>
          <a:ln w="6555" cap="flat">
            <a:noFill/>
            <a:prstDash val="solid"/>
            <a:miter/>
          </a:ln>
        </p:spPr>
        <p:txBody>
          <a:bodyPr rtlCol="0" anchor="ctr"/>
          <a:lstStyle/>
          <a:p>
            <a:pPr algn="ctr"/>
            <a:endParaRPr lang="zh-CN" altLang="en-US"/>
          </a:p>
        </p:txBody>
      </p:sp>
      <p:sp>
        <p:nvSpPr>
          <p:cNvPr id="191" name="文本框 190"/>
          <p:cNvSpPr txBox="1"/>
          <p:nvPr/>
        </p:nvSpPr>
        <p:spPr>
          <a:xfrm>
            <a:off x="6569698" y="3767513"/>
            <a:ext cx="1569661" cy="184666"/>
          </a:xfrm>
          <a:prstGeom prst="rect">
            <a:avLst/>
          </a:prstGeom>
          <a:noFill/>
        </p:spPr>
        <p:txBody>
          <a:bodyPr wrap="none" rtlCol="0">
            <a:spAutoFit/>
          </a:bodyPr>
          <a:lstStyle/>
          <a:p>
            <a:pPr algn="ctr"/>
            <a:r>
              <a:rPr lang="zh-CN" altLang="en-US" sz="600" spc="0" baseline="0">
                <a:solidFill>
                  <a:srgbClr val="FFFFFF"/>
                </a:solidFill>
                <a:latin typeface="黑体" panose="02010600030101010101" charset="-122"/>
                <a:ea typeface="黑体" panose="02010600030101010101" charset="-122"/>
                <a:sym typeface="黑体" panose="02010600030101010101" charset="-122"/>
                <a:rtl val="0"/>
              </a:rPr>
              <a:t>结果: 疏散率 9.1% (21,312/234,502人)</a:t>
            </a:r>
          </a:p>
        </p:txBody>
      </p:sp>
      <p:sp>
        <p:nvSpPr>
          <p:cNvPr id="192" name="文本框 191"/>
          <p:cNvSpPr txBox="1"/>
          <p:nvPr/>
        </p:nvSpPr>
        <p:spPr>
          <a:xfrm>
            <a:off x="6552065" y="3858087"/>
            <a:ext cx="1604927" cy="173124"/>
          </a:xfrm>
          <a:prstGeom prst="rect">
            <a:avLst/>
          </a:prstGeom>
          <a:noFill/>
        </p:spPr>
        <p:txBody>
          <a:bodyPr wrap="none" rtlCol="0">
            <a:spAutoFit/>
          </a:bodyPr>
          <a:lstStyle/>
          <a:p>
            <a:pPr algn="ctr"/>
            <a:r>
              <a:rPr lang="zh-CN" altLang="en-US" sz="525" spc="0" baseline="0" dirty="0">
                <a:solidFill>
                  <a:srgbClr val="E0E0E0"/>
                </a:solidFill>
                <a:latin typeface="微软雅黑"/>
                <a:ea typeface="微软雅黑"/>
                <a:sym typeface="微软雅黑"/>
                <a:rtl val="0"/>
              </a:rPr>
              <a:t>无地铁</a:t>
            </a:r>
            <a:r>
              <a:rPr lang="zh-CN" altLang="en-US" sz="525" spc="0" baseline="0" dirty="0">
                <a:solidFill>
                  <a:srgbClr val="E0E0E0"/>
                </a:solidFill>
                <a:latin typeface="Arial" panose="020B0604020202090204"/>
                <a:ea typeface="微软雅黑"/>
                <a:cs typeface="Arial" panose="020B0604020202090204"/>
                <a:sym typeface="Arial" panose="020B0604020202090204"/>
                <a:rtl val="0"/>
              </a:rPr>
              <a:t>→2.8% · </a:t>
            </a:r>
            <a:r>
              <a:rPr lang="zh-CN" altLang="en-US" sz="525" spc="0" baseline="0" dirty="0">
                <a:solidFill>
                  <a:srgbClr val="E0E0E0"/>
                </a:solidFill>
                <a:latin typeface="微软雅黑"/>
                <a:ea typeface="微软雅黑"/>
                <a:cs typeface="Arial" panose="020B0604020202090204"/>
                <a:sym typeface="微软雅黑"/>
                <a:rtl val="0"/>
              </a:rPr>
              <a:t>加倍救护车</a:t>
            </a:r>
            <a:r>
              <a:rPr lang="zh-CN" altLang="en-US" sz="525" spc="0" baseline="0" dirty="0">
                <a:solidFill>
                  <a:srgbClr val="E0E0E0"/>
                </a:solidFill>
                <a:latin typeface="Arial" panose="020B0604020202090204"/>
                <a:ea typeface="微软雅黑"/>
                <a:cs typeface="Arial" panose="020B0604020202090204"/>
                <a:sym typeface="Arial" panose="020B0604020202090204"/>
                <a:rtl val="0"/>
              </a:rPr>
              <a:t>→9.2% · </a:t>
            </a:r>
            <a:r>
              <a:rPr lang="zh-CN" altLang="en-US" sz="525" spc="0" baseline="0" dirty="0">
                <a:solidFill>
                  <a:srgbClr val="E0E0E0"/>
                </a:solidFill>
                <a:latin typeface="微软雅黑"/>
                <a:ea typeface="微软雅黑"/>
                <a:cs typeface="Arial" panose="020B0604020202090204"/>
                <a:sym typeface="微软雅黑"/>
                <a:rtl val="0"/>
              </a:rPr>
              <a:t>风险</a:t>
            </a:r>
            <a:r>
              <a:rPr lang="zh-CN" altLang="en-US" sz="525" spc="0" baseline="0" dirty="0">
                <a:solidFill>
                  <a:srgbClr val="E0E0E0"/>
                </a:solidFill>
                <a:latin typeface="Arial" panose="020B0604020202090204"/>
                <a:ea typeface="微软雅黑"/>
                <a:cs typeface="Arial" panose="020B0604020202090204"/>
                <a:sym typeface="Arial" panose="020B0604020202090204"/>
                <a:rtl val="0"/>
              </a:rPr>
              <a:t>↓4.8%</a:t>
            </a:r>
          </a:p>
        </p:txBody>
      </p:sp>
      <p:sp>
        <p:nvSpPr>
          <p:cNvPr id="193" name="任意形状 192"/>
          <p:cNvSpPr/>
          <p:nvPr/>
        </p:nvSpPr>
        <p:spPr>
          <a:xfrm>
            <a:off x="4686709" y="4064203"/>
            <a:ext cx="3539612" cy="183358"/>
          </a:xfrm>
          <a:custGeom>
            <a:avLst/>
            <a:gdLst>
              <a:gd name="connsiteX0" fmla="*/ 3506839 w 3539612"/>
              <a:gd name="connsiteY0" fmla="*/ 0 h 183358"/>
              <a:gd name="connsiteX1" fmla="*/ 3539613 w 3539612"/>
              <a:gd name="connsiteY1" fmla="*/ 0 h 183358"/>
              <a:gd name="connsiteX2" fmla="*/ 3539613 w 3539612"/>
              <a:gd name="connsiteY2" fmla="*/ 183358 h 183358"/>
              <a:gd name="connsiteX3" fmla="*/ 3506839 w 3539612"/>
              <a:gd name="connsiteY3" fmla="*/ 183358 h 183358"/>
              <a:gd name="connsiteX4" fmla="*/ 32774 w 3539612"/>
              <a:gd name="connsiteY4" fmla="*/ 183358 h 183358"/>
              <a:gd name="connsiteX5" fmla="*/ 0 w 3539612"/>
              <a:gd name="connsiteY5" fmla="*/ 183358 h 183358"/>
              <a:gd name="connsiteX6" fmla="*/ 0 w 3539612"/>
              <a:gd name="connsiteY6" fmla="*/ 0 h 183358"/>
              <a:gd name="connsiteX7" fmla="*/ 32774 w 3539612"/>
              <a:gd name="connsiteY7" fmla="*/ 0 h 18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9612" h="183358">
                <a:moveTo>
                  <a:pt x="3506839" y="0"/>
                </a:moveTo>
                <a:cubicBezTo>
                  <a:pt x="3524940" y="0"/>
                  <a:pt x="3539613" y="0"/>
                  <a:pt x="3539613" y="0"/>
                </a:cubicBezTo>
                <a:lnTo>
                  <a:pt x="3539613" y="183358"/>
                </a:lnTo>
                <a:cubicBezTo>
                  <a:pt x="3539613" y="183358"/>
                  <a:pt x="3524940" y="183358"/>
                  <a:pt x="3506839" y="183358"/>
                </a:cubicBezTo>
                <a:lnTo>
                  <a:pt x="32774" y="183358"/>
                </a:lnTo>
                <a:cubicBezTo>
                  <a:pt x="14674" y="183358"/>
                  <a:pt x="0" y="183358"/>
                  <a:pt x="0" y="183358"/>
                </a:cubicBezTo>
                <a:lnTo>
                  <a:pt x="0" y="0"/>
                </a:lnTo>
                <a:cubicBezTo>
                  <a:pt x="0" y="0"/>
                  <a:pt x="14674" y="0"/>
                  <a:pt x="32774" y="0"/>
                </a:cubicBezTo>
                <a:close/>
              </a:path>
            </a:pathLst>
          </a:custGeom>
          <a:solidFill>
            <a:srgbClr val="4A148C">
              <a:alpha val="85000"/>
            </a:srgbClr>
          </a:solidFill>
          <a:ln w="6555" cap="flat">
            <a:noFill/>
            <a:prstDash val="solid"/>
            <a:miter/>
          </a:ln>
        </p:spPr>
        <p:txBody>
          <a:bodyPr rtlCol="0" anchor="ctr"/>
          <a:lstStyle/>
          <a:p>
            <a:pPr algn="ctr"/>
            <a:endParaRPr lang="zh-CN" altLang="en-US"/>
          </a:p>
        </p:txBody>
      </p:sp>
      <p:sp>
        <p:nvSpPr>
          <p:cNvPr id="194" name="文本框 193"/>
          <p:cNvSpPr txBox="1"/>
          <p:nvPr/>
        </p:nvSpPr>
        <p:spPr>
          <a:xfrm>
            <a:off x="4589658" y="4083968"/>
            <a:ext cx="3733715" cy="196208"/>
          </a:xfrm>
          <a:prstGeom prst="rect">
            <a:avLst/>
          </a:prstGeom>
          <a:noFill/>
        </p:spPr>
        <p:txBody>
          <a:bodyPr wrap="none" rtlCol="0">
            <a:spAutoFit/>
          </a:bodyPr>
          <a:lstStyle/>
          <a:p>
            <a:pPr algn="ctr"/>
            <a:r>
              <a:rPr lang="zh-CN" altLang="en-US" sz="675" spc="0" baseline="0" dirty="0">
                <a:solidFill>
                  <a:srgbClr val="FFFFFF"/>
                </a:solidFill>
                <a:latin typeface="黑体" panose="02010600030101010101" charset="-122"/>
                <a:ea typeface="黑体" panose="02010600030101010101" charset="-122"/>
                <a:sym typeface="黑体" panose="02010600030101010101" charset="-122"/>
                <a:rtl val="0"/>
              </a:rPr>
              <a:t>发现: 地铁贡献69%运力(关键) · 运力严重不足 · 建议分层疏散(1km强制+1-3km就地避难)</a:t>
            </a:r>
          </a:p>
        </p:txBody>
      </p:sp>
      <p:sp>
        <p:nvSpPr>
          <p:cNvPr id="196" name="任意形状 195"/>
          <p:cNvSpPr/>
          <p:nvPr/>
        </p:nvSpPr>
        <p:spPr>
          <a:xfrm>
            <a:off x="4588387" y="4345788"/>
            <a:ext cx="3736258" cy="360167"/>
          </a:xfrm>
          <a:custGeom>
            <a:avLst/>
            <a:gdLst>
              <a:gd name="connsiteX0" fmla="*/ 3683819 w 3736258"/>
              <a:gd name="connsiteY0" fmla="*/ 0 h 360167"/>
              <a:gd name="connsiteX1" fmla="*/ 3736258 w 3736258"/>
              <a:gd name="connsiteY1" fmla="*/ 0 h 360167"/>
              <a:gd name="connsiteX2" fmla="*/ 3736258 w 3736258"/>
              <a:gd name="connsiteY2" fmla="*/ 360168 h 360167"/>
              <a:gd name="connsiteX3" fmla="*/ 3683819 w 3736258"/>
              <a:gd name="connsiteY3" fmla="*/ 360168 h 360167"/>
              <a:gd name="connsiteX4" fmla="*/ 52439 w 3736258"/>
              <a:gd name="connsiteY4" fmla="*/ 360168 h 360167"/>
              <a:gd name="connsiteX5" fmla="*/ 0 w 3736258"/>
              <a:gd name="connsiteY5" fmla="*/ 360168 h 360167"/>
              <a:gd name="connsiteX6" fmla="*/ 0 w 3736258"/>
              <a:gd name="connsiteY6" fmla="*/ 0 h 360167"/>
              <a:gd name="connsiteX7" fmla="*/ 52439 w 3736258"/>
              <a:gd name="connsiteY7" fmla="*/ 0 h 360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6258" h="360167">
                <a:moveTo>
                  <a:pt x="3683819" y="0"/>
                </a:moveTo>
                <a:cubicBezTo>
                  <a:pt x="3712781" y="0"/>
                  <a:pt x="3736258" y="0"/>
                  <a:pt x="3736258" y="0"/>
                </a:cubicBezTo>
                <a:lnTo>
                  <a:pt x="3736258" y="360168"/>
                </a:lnTo>
                <a:cubicBezTo>
                  <a:pt x="3736258" y="360168"/>
                  <a:pt x="3712781" y="360168"/>
                  <a:pt x="3683819" y="360168"/>
                </a:cubicBezTo>
                <a:lnTo>
                  <a:pt x="52439" y="360168"/>
                </a:lnTo>
                <a:cubicBezTo>
                  <a:pt x="23478" y="360168"/>
                  <a:pt x="0" y="360168"/>
                  <a:pt x="0" y="360168"/>
                </a:cubicBezTo>
                <a:lnTo>
                  <a:pt x="0" y="0"/>
                </a:lnTo>
                <a:cubicBezTo>
                  <a:pt x="0" y="0"/>
                  <a:pt x="23478" y="0"/>
                  <a:pt x="52439" y="0"/>
                </a:cubicBezTo>
                <a:close/>
              </a:path>
            </a:pathLst>
          </a:custGeom>
          <a:solidFill>
            <a:srgbClr val="FAFAFA"/>
          </a:solidFill>
          <a:ln w="6555" cap="flat">
            <a:solidFill>
              <a:srgbClr val="455A64"/>
            </a:solidFill>
            <a:custDash>
              <a:ds d="375000" sp="225000"/>
            </a:custDash>
            <a:miter/>
          </a:ln>
        </p:spPr>
        <p:txBody>
          <a:bodyPr rtlCol="0" anchor="ctr"/>
          <a:lstStyle/>
          <a:p>
            <a:pPr algn="ctr"/>
            <a:endParaRPr lang="zh-CN" altLang="en-US"/>
          </a:p>
        </p:txBody>
      </p:sp>
      <p:sp>
        <p:nvSpPr>
          <p:cNvPr id="197" name="文本框 196"/>
          <p:cNvSpPr txBox="1"/>
          <p:nvPr/>
        </p:nvSpPr>
        <p:spPr>
          <a:xfrm>
            <a:off x="5603486" y="4328558"/>
            <a:ext cx="1699504" cy="207749"/>
          </a:xfrm>
          <a:prstGeom prst="rect">
            <a:avLst/>
          </a:prstGeom>
          <a:noFill/>
        </p:spPr>
        <p:txBody>
          <a:bodyPr wrap="none" rtlCol="0">
            <a:spAutoFit/>
          </a:bodyPr>
          <a:lstStyle/>
          <a:p>
            <a:pPr algn="ctr"/>
            <a:r>
              <a:rPr lang="zh-CN" altLang="en-US" sz="750" b="1" spc="0" baseline="0" dirty="0">
                <a:solidFill>
                  <a:srgbClr val="37474F"/>
                </a:solidFill>
                <a:latin typeface="黑体" panose="02010600030101010101" charset="-122"/>
                <a:ea typeface="黑体" panose="02010600030101010101" charset="-122"/>
                <a:sym typeface="黑体" panose="02010600030101010101" charset="-122"/>
                <a:rtl val="0"/>
              </a:rPr>
              <a:t>物资配送—人员疏散 三重耦合关系</a:t>
            </a:r>
          </a:p>
        </p:txBody>
      </p:sp>
      <p:sp>
        <p:nvSpPr>
          <p:cNvPr id="198" name="文本框 197"/>
          <p:cNvSpPr txBox="1"/>
          <p:nvPr/>
        </p:nvSpPr>
        <p:spPr>
          <a:xfrm>
            <a:off x="4972776" y="4462760"/>
            <a:ext cx="2967479" cy="276999"/>
          </a:xfrm>
          <a:prstGeom prst="rect">
            <a:avLst/>
          </a:prstGeom>
          <a:noFill/>
        </p:spPr>
        <p:txBody>
          <a:bodyPr wrap="none" rtlCol="0">
            <a:spAutoFit/>
          </a:bodyPr>
          <a:lstStyle/>
          <a:p>
            <a:pPr algn="ctr"/>
            <a:r>
              <a:rPr lang="zh-CN" altLang="en-US" sz="600" spc="0" baseline="0" dirty="0">
                <a:solidFill>
                  <a:srgbClr val="555555"/>
                </a:solidFill>
                <a:latin typeface="Cambria Math"/>
                <a:sym typeface="Cambria Math"/>
                <a:rtl val="0"/>
              </a:rPr>
              <a:t>①</a:t>
            </a:r>
            <a:r>
              <a:rPr lang="zh-CN" altLang="en-US" sz="600" spc="0" baseline="0" dirty="0">
                <a:solidFill>
                  <a:srgbClr val="555555"/>
                </a:solidFill>
                <a:latin typeface="Arial" panose="020B0604020202090204"/>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资源竞争</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共享受损路网与交通走廊</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Cambria Math"/>
                <a:ea typeface="微软雅黑"/>
                <a:cs typeface="Arial" panose="020B0604020202090204"/>
                <a:sym typeface="Cambria Math"/>
                <a:rtl val="0"/>
              </a:rPr>
              <a:t>②</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时间耦合</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物资先行保障</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a:t>
            </a:r>
            <a:r>
              <a:rPr lang="zh-CN" altLang="en-US" sz="600" spc="0" baseline="0" dirty="0">
                <a:solidFill>
                  <a:srgbClr val="555555"/>
                </a:solidFill>
                <a:latin typeface="微软雅黑"/>
                <a:ea typeface="微软雅黑"/>
                <a:cs typeface="Arial" panose="020B0604020202090204"/>
                <a:sym typeface="微软雅黑"/>
                <a:rtl val="0"/>
              </a:rPr>
              <a:t>疏散同步展开</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endParaRPr lang="en-US" altLang="zh-CN" sz="600" spc="0" baseline="0" dirty="0">
              <a:solidFill>
                <a:srgbClr val="555555"/>
              </a:solidFill>
              <a:latin typeface="Arial" panose="020B0604020202090204"/>
              <a:ea typeface="微软雅黑"/>
              <a:cs typeface="Arial" panose="020B0604020202090204"/>
              <a:sym typeface="Arial" panose="020B0604020202090204"/>
              <a:rtl val="0"/>
            </a:endParaRPr>
          </a:p>
          <a:p>
            <a:pPr algn="ctr"/>
            <a:r>
              <a:rPr lang="zh-CN" altLang="en-US" sz="600" spc="0" baseline="0" dirty="0">
                <a:solidFill>
                  <a:srgbClr val="555555"/>
                </a:solidFill>
                <a:latin typeface="Cambria Math"/>
                <a:ea typeface="微软雅黑"/>
                <a:cs typeface="Arial" panose="020B0604020202090204"/>
                <a:sym typeface="Cambria Math"/>
                <a:rtl val="0"/>
              </a:rPr>
              <a:t>③</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空间交互</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 </a:t>
            </a:r>
            <a:r>
              <a:rPr lang="zh-CN" altLang="en-US" sz="600" spc="0" baseline="0" dirty="0">
                <a:solidFill>
                  <a:srgbClr val="555555"/>
                </a:solidFill>
                <a:latin typeface="微软雅黑"/>
                <a:ea typeface="微软雅黑"/>
                <a:cs typeface="Arial" panose="020B0604020202090204"/>
                <a:sym typeface="微软雅黑"/>
                <a:rtl val="0"/>
              </a:rPr>
              <a:t>向心</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a:t>
            </a:r>
            <a:r>
              <a:rPr lang="zh-CN" altLang="en-US" sz="600" spc="0" baseline="0" dirty="0">
                <a:solidFill>
                  <a:srgbClr val="555555"/>
                </a:solidFill>
                <a:latin typeface="微软雅黑"/>
                <a:ea typeface="微软雅黑"/>
                <a:cs typeface="Arial" panose="020B0604020202090204"/>
                <a:sym typeface="微软雅黑"/>
                <a:rtl val="0"/>
              </a:rPr>
              <a:t>配送</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a:t>
            </a:r>
            <a:r>
              <a:rPr lang="zh-CN" altLang="en-US" sz="600" spc="0" baseline="0" dirty="0">
                <a:solidFill>
                  <a:srgbClr val="555555"/>
                </a:solidFill>
                <a:latin typeface="微软雅黑"/>
                <a:ea typeface="微软雅黑"/>
                <a:cs typeface="Arial" panose="020B0604020202090204"/>
                <a:sym typeface="微软雅黑"/>
                <a:rtl val="0"/>
              </a:rPr>
              <a:t>与离心</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a:t>
            </a:r>
            <a:r>
              <a:rPr lang="zh-CN" altLang="en-US" sz="600" spc="0" baseline="0" dirty="0">
                <a:solidFill>
                  <a:srgbClr val="555555"/>
                </a:solidFill>
                <a:latin typeface="微软雅黑"/>
                <a:ea typeface="微软雅黑"/>
                <a:cs typeface="Arial" panose="020B0604020202090204"/>
                <a:sym typeface="微软雅黑"/>
                <a:rtl val="0"/>
              </a:rPr>
              <a:t>疏散</a:t>
            </a:r>
            <a:r>
              <a:rPr lang="zh-CN" altLang="en-US" sz="600" spc="0" baseline="0" dirty="0">
                <a:solidFill>
                  <a:srgbClr val="555555"/>
                </a:solidFill>
                <a:latin typeface="Arial" panose="020B0604020202090204"/>
                <a:ea typeface="微软雅黑"/>
                <a:cs typeface="Arial" panose="020B0604020202090204"/>
                <a:sym typeface="Arial" panose="020B0604020202090204"/>
                <a:rtl val="0"/>
              </a:rPr>
              <a:t>)</a:t>
            </a:r>
            <a:r>
              <a:rPr lang="zh-CN" altLang="en-US" sz="600" spc="0" baseline="0" dirty="0">
                <a:solidFill>
                  <a:srgbClr val="555555"/>
                </a:solidFill>
                <a:latin typeface="微软雅黑"/>
                <a:ea typeface="微软雅黑"/>
                <a:cs typeface="Arial" panose="020B0604020202090204"/>
                <a:sym typeface="微软雅黑"/>
                <a:rtl val="0"/>
              </a:rPr>
              <a:t>流向互锁</a:t>
            </a:r>
          </a:p>
        </p:txBody>
      </p:sp>
      <p:sp>
        <p:nvSpPr>
          <p:cNvPr id="200" name="任意形状 199"/>
          <p:cNvSpPr/>
          <p:nvPr/>
        </p:nvSpPr>
        <p:spPr>
          <a:xfrm>
            <a:off x="8586838" y="1660902"/>
            <a:ext cx="1573161" cy="523880"/>
          </a:xfrm>
          <a:custGeom>
            <a:avLst/>
            <a:gdLst>
              <a:gd name="connsiteX0" fmla="*/ 1520723 w 1573161"/>
              <a:gd name="connsiteY0" fmla="*/ 0 h 523880"/>
              <a:gd name="connsiteX1" fmla="*/ 1573161 w 1573161"/>
              <a:gd name="connsiteY1" fmla="*/ 0 h 523880"/>
              <a:gd name="connsiteX2" fmla="*/ 1573161 w 1573161"/>
              <a:gd name="connsiteY2" fmla="*/ 523880 h 523880"/>
              <a:gd name="connsiteX3" fmla="*/ 1520723 w 1573161"/>
              <a:gd name="connsiteY3" fmla="*/ 523880 h 523880"/>
              <a:gd name="connsiteX4" fmla="*/ 52439 w 1573161"/>
              <a:gd name="connsiteY4" fmla="*/ 523880 h 523880"/>
              <a:gd name="connsiteX5" fmla="*/ 0 w 1573161"/>
              <a:gd name="connsiteY5" fmla="*/ 523880 h 523880"/>
              <a:gd name="connsiteX6" fmla="*/ 0 w 1573161"/>
              <a:gd name="connsiteY6" fmla="*/ 0 h 523880"/>
              <a:gd name="connsiteX7" fmla="*/ 52439 w 1573161"/>
              <a:gd name="connsiteY7" fmla="*/ 0 h 523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523880">
                <a:moveTo>
                  <a:pt x="1520723" y="0"/>
                </a:moveTo>
                <a:cubicBezTo>
                  <a:pt x="1549684" y="0"/>
                  <a:pt x="1573161" y="0"/>
                  <a:pt x="1573161" y="0"/>
                </a:cubicBezTo>
                <a:lnTo>
                  <a:pt x="1573161" y="523880"/>
                </a:lnTo>
                <a:cubicBezTo>
                  <a:pt x="1573161" y="523880"/>
                  <a:pt x="1549684" y="523880"/>
                  <a:pt x="1520723" y="523880"/>
                </a:cubicBezTo>
                <a:lnTo>
                  <a:pt x="52439" y="523880"/>
                </a:lnTo>
                <a:cubicBezTo>
                  <a:pt x="23477" y="523880"/>
                  <a:pt x="0" y="523880"/>
                  <a:pt x="0" y="523880"/>
                </a:cubicBezTo>
                <a:lnTo>
                  <a:pt x="0" y="0"/>
                </a:lnTo>
                <a:cubicBezTo>
                  <a:pt x="0" y="0"/>
                  <a:pt x="23477" y="0"/>
                  <a:pt x="52439" y="0"/>
                </a:cubicBezTo>
                <a:close/>
              </a:path>
            </a:pathLst>
          </a:custGeom>
          <a:solidFill>
            <a:srgbClr val="FFFFFF"/>
          </a:solidFill>
          <a:ln w="6555" cap="flat">
            <a:solidFill>
              <a:srgbClr val="C62828"/>
            </a:solidFill>
            <a:prstDash val="solid"/>
            <a:miter/>
          </a:ln>
        </p:spPr>
        <p:txBody>
          <a:bodyPr rtlCol="0" anchor="ctr"/>
          <a:lstStyle/>
          <a:p>
            <a:pPr algn="ctr"/>
            <a:endParaRPr lang="zh-CN" altLang="en-US"/>
          </a:p>
        </p:txBody>
      </p:sp>
      <p:sp>
        <p:nvSpPr>
          <p:cNvPr id="201" name="任意形状 200"/>
          <p:cNvSpPr/>
          <p:nvPr/>
        </p:nvSpPr>
        <p:spPr>
          <a:xfrm>
            <a:off x="8586838" y="1660902"/>
            <a:ext cx="1573161" cy="144067"/>
          </a:xfrm>
          <a:custGeom>
            <a:avLst/>
            <a:gdLst>
              <a:gd name="connsiteX0" fmla="*/ 1520723 w 1573161"/>
              <a:gd name="connsiteY0" fmla="*/ 0 h 144067"/>
              <a:gd name="connsiteX1" fmla="*/ 1573161 w 1573161"/>
              <a:gd name="connsiteY1" fmla="*/ 0 h 144067"/>
              <a:gd name="connsiteX2" fmla="*/ 1573161 w 1573161"/>
              <a:gd name="connsiteY2" fmla="*/ 144067 h 144067"/>
              <a:gd name="connsiteX3" fmla="*/ 1520723 w 1573161"/>
              <a:gd name="connsiteY3" fmla="*/ 144067 h 144067"/>
              <a:gd name="connsiteX4" fmla="*/ 52439 w 1573161"/>
              <a:gd name="connsiteY4" fmla="*/ 144067 h 144067"/>
              <a:gd name="connsiteX5" fmla="*/ 0 w 1573161"/>
              <a:gd name="connsiteY5" fmla="*/ 144067 h 144067"/>
              <a:gd name="connsiteX6" fmla="*/ 0 w 1573161"/>
              <a:gd name="connsiteY6" fmla="*/ 0 h 144067"/>
              <a:gd name="connsiteX7" fmla="*/ 52439 w 1573161"/>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067">
                <a:moveTo>
                  <a:pt x="1520723" y="0"/>
                </a:moveTo>
                <a:cubicBezTo>
                  <a:pt x="1549684" y="0"/>
                  <a:pt x="1573161" y="0"/>
                  <a:pt x="1573161" y="0"/>
                </a:cubicBezTo>
                <a:lnTo>
                  <a:pt x="1573161" y="144067"/>
                </a:lnTo>
                <a:cubicBezTo>
                  <a:pt x="1573161" y="144067"/>
                  <a:pt x="1549684" y="144067"/>
                  <a:pt x="1520723" y="144067"/>
                </a:cubicBezTo>
                <a:lnTo>
                  <a:pt x="52439" y="144067"/>
                </a:lnTo>
                <a:cubicBezTo>
                  <a:pt x="23477" y="144067"/>
                  <a:pt x="0" y="144067"/>
                  <a:pt x="0" y="144067"/>
                </a:cubicBezTo>
                <a:lnTo>
                  <a:pt x="0" y="0"/>
                </a:lnTo>
                <a:cubicBezTo>
                  <a:pt x="0" y="0"/>
                  <a:pt x="23477" y="0"/>
                  <a:pt x="52439" y="0"/>
                </a:cubicBezTo>
                <a:close/>
              </a:path>
            </a:pathLst>
          </a:custGeom>
          <a:solidFill>
            <a:srgbClr val="C62828"/>
          </a:solidFill>
          <a:ln w="6555" cap="flat">
            <a:noFill/>
            <a:prstDash val="solid"/>
            <a:miter/>
          </a:ln>
        </p:spPr>
        <p:txBody>
          <a:bodyPr rtlCol="0" anchor="ctr"/>
          <a:lstStyle/>
          <a:p>
            <a:pPr algn="ctr"/>
            <a:endParaRPr lang="zh-CN" altLang="en-US"/>
          </a:p>
        </p:txBody>
      </p:sp>
      <p:sp>
        <p:nvSpPr>
          <p:cNvPr id="202" name="任意形状 201"/>
          <p:cNvSpPr/>
          <p:nvPr/>
        </p:nvSpPr>
        <p:spPr>
          <a:xfrm>
            <a:off x="8586838" y="1765678"/>
            <a:ext cx="1573161" cy="39291"/>
          </a:xfrm>
          <a:custGeom>
            <a:avLst/>
            <a:gdLst>
              <a:gd name="connsiteX0" fmla="*/ 0 w 1573161"/>
              <a:gd name="connsiteY0" fmla="*/ 0 h 39291"/>
              <a:gd name="connsiteX1" fmla="*/ 1573161 w 1573161"/>
              <a:gd name="connsiteY1" fmla="*/ 0 h 39291"/>
              <a:gd name="connsiteX2" fmla="*/ 1573161 w 1573161"/>
              <a:gd name="connsiteY2" fmla="*/ 39291 h 39291"/>
              <a:gd name="connsiteX3" fmla="*/ 0 w 1573161"/>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573161" h="39291">
                <a:moveTo>
                  <a:pt x="0" y="0"/>
                </a:moveTo>
                <a:lnTo>
                  <a:pt x="1573161" y="0"/>
                </a:lnTo>
                <a:lnTo>
                  <a:pt x="1573161" y="39291"/>
                </a:lnTo>
                <a:lnTo>
                  <a:pt x="0" y="39291"/>
                </a:lnTo>
                <a:close/>
              </a:path>
            </a:pathLst>
          </a:custGeom>
          <a:solidFill>
            <a:srgbClr val="C62828"/>
          </a:solidFill>
          <a:ln w="6555" cap="flat">
            <a:noFill/>
            <a:prstDash val="solid"/>
            <a:miter/>
          </a:ln>
        </p:spPr>
        <p:txBody>
          <a:bodyPr rtlCol="0" anchor="ctr"/>
          <a:lstStyle/>
          <a:p>
            <a:pPr algn="ctr"/>
            <a:endParaRPr lang="zh-CN" altLang="en-US"/>
          </a:p>
        </p:txBody>
      </p:sp>
      <p:sp>
        <p:nvSpPr>
          <p:cNvPr id="203" name="文本框 202"/>
          <p:cNvSpPr txBox="1"/>
          <p:nvPr/>
        </p:nvSpPr>
        <p:spPr>
          <a:xfrm>
            <a:off x="9082241" y="1631042"/>
            <a:ext cx="575800"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结构韧性</a:t>
            </a:r>
          </a:p>
        </p:txBody>
      </p:sp>
      <p:sp>
        <p:nvSpPr>
          <p:cNvPr id="204" name="文本框 203"/>
          <p:cNvSpPr txBox="1"/>
          <p:nvPr/>
        </p:nvSpPr>
        <p:spPr>
          <a:xfrm>
            <a:off x="8691252" y="1824734"/>
            <a:ext cx="1370888"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道路封闭率</a:t>
            </a:r>
            <a:r>
              <a:rPr lang="zh-CN" altLang="en-US" sz="600" spc="0" baseline="0">
                <a:solidFill>
                  <a:srgbClr val="333333"/>
                </a:solidFill>
                <a:latin typeface="Arial" panose="020B0604020202090204"/>
                <a:ea typeface="微软雅黑"/>
                <a:cs typeface="Arial" panose="020B0604020202090204"/>
                <a:sym typeface="Arial" panose="020B0604020202090204"/>
                <a:rtl val="0"/>
              </a:rPr>
              <a:t> 19.1% (96.7/505.3 km)</a:t>
            </a:r>
          </a:p>
        </p:txBody>
      </p:sp>
      <p:sp>
        <p:nvSpPr>
          <p:cNvPr id="205" name="文本框 204"/>
          <p:cNvSpPr txBox="1"/>
          <p:nvPr/>
        </p:nvSpPr>
        <p:spPr>
          <a:xfrm>
            <a:off x="8934837" y="1922962"/>
            <a:ext cx="877164" cy="184666"/>
          </a:xfrm>
          <a:prstGeom prst="rect">
            <a:avLst/>
          </a:prstGeom>
          <a:noFill/>
        </p:spPr>
        <p:txBody>
          <a:bodyPr wrap="none" rtlCol="0">
            <a:spAutoFit/>
          </a:bodyPr>
          <a:lstStyle/>
          <a:p>
            <a:pPr algn="ctr"/>
            <a:r>
              <a:rPr lang="zh-CN" altLang="en-US" sz="600" spc="0" baseline="0">
                <a:solidFill>
                  <a:srgbClr val="666666"/>
                </a:solidFill>
                <a:latin typeface="微软雅黑"/>
                <a:ea typeface="微软雅黑"/>
                <a:sym typeface="微软雅黑"/>
                <a:rtl val="0"/>
              </a:rPr>
              <a:t>路网整体连通性保留</a:t>
            </a:r>
          </a:p>
        </p:txBody>
      </p:sp>
      <p:sp>
        <p:nvSpPr>
          <p:cNvPr id="206" name="文本框 205"/>
          <p:cNvSpPr txBox="1"/>
          <p:nvPr/>
        </p:nvSpPr>
        <p:spPr>
          <a:xfrm>
            <a:off x="9011781" y="2008092"/>
            <a:ext cx="723275" cy="184666"/>
          </a:xfrm>
          <a:prstGeom prst="rect">
            <a:avLst/>
          </a:prstGeom>
          <a:noFill/>
        </p:spPr>
        <p:txBody>
          <a:bodyPr wrap="none" rtlCol="0">
            <a:spAutoFit/>
          </a:bodyPr>
          <a:lstStyle/>
          <a:p>
            <a:pPr algn="ctr"/>
            <a:r>
              <a:rPr lang="zh-CN" altLang="en-US" sz="600" spc="0" baseline="0">
                <a:solidFill>
                  <a:srgbClr val="666666"/>
                </a:solidFill>
                <a:latin typeface="微软雅黑"/>
                <a:ea typeface="微软雅黑"/>
                <a:sym typeface="微软雅黑"/>
                <a:rtl val="0"/>
              </a:rPr>
              <a:t>地面配送仍可行</a:t>
            </a:r>
          </a:p>
        </p:txBody>
      </p:sp>
      <p:sp>
        <p:nvSpPr>
          <p:cNvPr id="208" name="任意形状 207"/>
          <p:cNvSpPr/>
          <p:nvPr/>
        </p:nvSpPr>
        <p:spPr>
          <a:xfrm>
            <a:off x="8586838" y="2367315"/>
            <a:ext cx="1573161" cy="622107"/>
          </a:xfrm>
          <a:custGeom>
            <a:avLst/>
            <a:gdLst>
              <a:gd name="connsiteX0" fmla="*/ 1520723 w 1573161"/>
              <a:gd name="connsiteY0" fmla="*/ 0 h 622107"/>
              <a:gd name="connsiteX1" fmla="*/ 1573161 w 1573161"/>
              <a:gd name="connsiteY1" fmla="*/ 0 h 622107"/>
              <a:gd name="connsiteX2" fmla="*/ 1573161 w 1573161"/>
              <a:gd name="connsiteY2" fmla="*/ 622108 h 622107"/>
              <a:gd name="connsiteX3" fmla="*/ 1520723 w 1573161"/>
              <a:gd name="connsiteY3" fmla="*/ 622108 h 622107"/>
              <a:gd name="connsiteX4" fmla="*/ 52439 w 1573161"/>
              <a:gd name="connsiteY4" fmla="*/ 622108 h 622107"/>
              <a:gd name="connsiteX5" fmla="*/ 0 w 1573161"/>
              <a:gd name="connsiteY5" fmla="*/ 622108 h 622107"/>
              <a:gd name="connsiteX6" fmla="*/ 0 w 1573161"/>
              <a:gd name="connsiteY6" fmla="*/ 0 h 622107"/>
              <a:gd name="connsiteX7" fmla="*/ 52439 w 1573161"/>
              <a:gd name="connsiteY7" fmla="*/ 0 h 62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622107">
                <a:moveTo>
                  <a:pt x="1520723" y="0"/>
                </a:moveTo>
                <a:cubicBezTo>
                  <a:pt x="1549684" y="0"/>
                  <a:pt x="1573161" y="0"/>
                  <a:pt x="1573161" y="0"/>
                </a:cubicBezTo>
                <a:lnTo>
                  <a:pt x="1573161" y="622108"/>
                </a:lnTo>
                <a:cubicBezTo>
                  <a:pt x="1573161" y="622108"/>
                  <a:pt x="1549684" y="622108"/>
                  <a:pt x="1520723" y="622108"/>
                </a:cubicBezTo>
                <a:lnTo>
                  <a:pt x="52439" y="622108"/>
                </a:lnTo>
                <a:cubicBezTo>
                  <a:pt x="23477" y="622108"/>
                  <a:pt x="0" y="622108"/>
                  <a:pt x="0" y="622108"/>
                </a:cubicBezTo>
                <a:lnTo>
                  <a:pt x="0" y="0"/>
                </a:lnTo>
                <a:cubicBezTo>
                  <a:pt x="0" y="0"/>
                  <a:pt x="23477" y="0"/>
                  <a:pt x="52439" y="0"/>
                </a:cubicBezTo>
                <a:close/>
              </a:path>
            </a:pathLst>
          </a:custGeom>
          <a:solidFill>
            <a:srgbClr val="FFFFFF"/>
          </a:solidFill>
          <a:ln w="6555" cap="flat">
            <a:solidFill>
              <a:srgbClr val="D32F2F"/>
            </a:solidFill>
            <a:prstDash val="solid"/>
            <a:miter/>
          </a:ln>
        </p:spPr>
        <p:txBody>
          <a:bodyPr rtlCol="0" anchor="ctr"/>
          <a:lstStyle/>
          <a:p>
            <a:pPr algn="ctr"/>
            <a:endParaRPr lang="zh-CN" altLang="en-US"/>
          </a:p>
        </p:txBody>
      </p:sp>
      <p:sp>
        <p:nvSpPr>
          <p:cNvPr id="209" name="任意形状 208"/>
          <p:cNvSpPr/>
          <p:nvPr/>
        </p:nvSpPr>
        <p:spPr>
          <a:xfrm>
            <a:off x="8586838" y="2367315"/>
            <a:ext cx="1573161" cy="144067"/>
          </a:xfrm>
          <a:custGeom>
            <a:avLst/>
            <a:gdLst>
              <a:gd name="connsiteX0" fmla="*/ 1520723 w 1573161"/>
              <a:gd name="connsiteY0" fmla="*/ 0 h 144067"/>
              <a:gd name="connsiteX1" fmla="*/ 1573161 w 1573161"/>
              <a:gd name="connsiteY1" fmla="*/ 0 h 144067"/>
              <a:gd name="connsiteX2" fmla="*/ 1573161 w 1573161"/>
              <a:gd name="connsiteY2" fmla="*/ 144067 h 144067"/>
              <a:gd name="connsiteX3" fmla="*/ 1520723 w 1573161"/>
              <a:gd name="connsiteY3" fmla="*/ 144067 h 144067"/>
              <a:gd name="connsiteX4" fmla="*/ 52439 w 1573161"/>
              <a:gd name="connsiteY4" fmla="*/ 144067 h 144067"/>
              <a:gd name="connsiteX5" fmla="*/ 0 w 1573161"/>
              <a:gd name="connsiteY5" fmla="*/ 144067 h 144067"/>
              <a:gd name="connsiteX6" fmla="*/ 0 w 1573161"/>
              <a:gd name="connsiteY6" fmla="*/ 0 h 144067"/>
              <a:gd name="connsiteX7" fmla="*/ 52439 w 1573161"/>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067">
                <a:moveTo>
                  <a:pt x="1520723" y="0"/>
                </a:moveTo>
                <a:cubicBezTo>
                  <a:pt x="1549684" y="0"/>
                  <a:pt x="1573161" y="0"/>
                  <a:pt x="1573161" y="0"/>
                </a:cubicBezTo>
                <a:lnTo>
                  <a:pt x="1573161" y="144067"/>
                </a:lnTo>
                <a:cubicBezTo>
                  <a:pt x="1573161" y="144067"/>
                  <a:pt x="1549684" y="144067"/>
                  <a:pt x="1520723" y="144067"/>
                </a:cubicBezTo>
                <a:lnTo>
                  <a:pt x="52439" y="144067"/>
                </a:lnTo>
                <a:cubicBezTo>
                  <a:pt x="23477" y="144067"/>
                  <a:pt x="0" y="144067"/>
                  <a:pt x="0" y="144067"/>
                </a:cubicBezTo>
                <a:lnTo>
                  <a:pt x="0" y="0"/>
                </a:lnTo>
                <a:cubicBezTo>
                  <a:pt x="0" y="0"/>
                  <a:pt x="23477" y="0"/>
                  <a:pt x="52439" y="0"/>
                </a:cubicBezTo>
                <a:close/>
              </a:path>
            </a:pathLst>
          </a:custGeom>
          <a:solidFill>
            <a:srgbClr val="D32F2F"/>
          </a:solidFill>
          <a:ln w="6555" cap="flat">
            <a:noFill/>
            <a:prstDash val="solid"/>
            <a:miter/>
          </a:ln>
        </p:spPr>
        <p:txBody>
          <a:bodyPr rtlCol="0" anchor="ctr"/>
          <a:lstStyle/>
          <a:p>
            <a:pPr algn="ctr"/>
            <a:endParaRPr lang="zh-CN" altLang="en-US"/>
          </a:p>
        </p:txBody>
      </p:sp>
      <p:sp>
        <p:nvSpPr>
          <p:cNvPr id="210" name="任意形状 209"/>
          <p:cNvSpPr/>
          <p:nvPr/>
        </p:nvSpPr>
        <p:spPr>
          <a:xfrm>
            <a:off x="8586838" y="2472091"/>
            <a:ext cx="1573161" cy="39291"/>
          </a:xfrm>
          <a:custGeom>
            <a:avLst/>
            <a:gdLst>
              <a:gd name="connsiteX0" fmla="*/ 0 w 1573161"/>
              <a:gd name="connsiteY0" fmla="*/ 0 h 39291"/>
              <a:gd name="connsiteX1" fmla="*/ 1573161 w 1573161"/>
              <a:gd name="connsiteY1" fmla="*/ 0 h 39291"/>
              <a:gd name="connsiteX2" fmla="*/ 1573161 w 1573161"/>
              <a:gd name="connsiteY2" fmla="*/ 39291 h 39291"/>
              <a:gd name="connsiteX3" fmla="*/ 0 w 1573161"/>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573161" h="39291">
                <a:moveTo>
                  <a:pt x="0" y="0"/>
                </a:moveTo>
                <a:lnTo>
                  <a:pt x="1573161" y="0"/>
                </a:lnTo>
                <a:lnTo>
                  <a:pt x="1573161" y="39291"/>
                </a:lnTo>
                <a:lnTo>
                  <a:pt x="0" y="39291"/>
                </a:lnTo>
                <a:close/>
              </a:path>
            </a:pathLst>
          </a:custGeom>
          <a:solidFill>
            <a:srgbClr val="D32F2F"/>
          </a:solidFill>
          <a:ln w="6555" cap="flat">
            <a:noFill/>
            <a:prstDash val="solid"/>
            <a:miter/>
          </a:ln>
        </p:spPr>
        <p:txBody>
          <a:bodyPr rtlCol="0" anchor="ctr"/>
          <a:lstStyle/>
          <a:p>
            <a:pPr algn="ctr"/>
            <a:endParaRPr lang="zh-CN" altLang="en-US"/>
          </a:p>
        </p:txBody>
      </p:sp>
      <p:sp>
        <p:nvSpPr>
          <p:cNvPr id="211" name="文本框 210"/>
          <p:cNvSpPr txBox="1"/>
          <p:nvPr/>
        </p:nvSpPr>
        <p:spPr>
          <a:xfrm>
            <a:off x="9082241" y="2337455"/>
            <a:ext cx="575800"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功能韧性</a:t>
            </a:r>
          </a:p>
        </p:txBody>
      </p:sp>
      <p:sp>
        <p:nvSpPr>
          <p:cNvPr id="212" name="文本框 211"/>
          <p:cNvSpPr txBox="1"/>
          <p:nvPr/>
        </p:nvSpPr>
        <p:spPr>
          <a:xfrm>
            <a:off x="8891556" y="2511502"/>
            <a:ext cx="963725"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物资配送完成率</a:t>
            </a:r>
            <a:r>
              <a:rPr lang="zh-CN" altLang="en-US" sz="600" spc="0" baseline="0">
                <a:solidFill>
                  <a:srgbClr val="333333"/>
                </a:solidFill>
                <a:latin typeface="Arial" panose="020B0604020202090204"/>
                <a:ea typeface="微软雅黑"/>
                <a:cs typeface="Arial" panose="020B0604020202090204"/>
                <a:sym typeface="Arial" panose="020B0604020202090204"/>
                <a:rtl val="0"/>
              </a:rPr>
              <a:t>: 100%</a:t>
            </a:r>
          </a:p>
        </p:txBody>
      </p:sp>
      <p:sp>
        <p:nvSpPr>
          <p:cNvPr id="213" name="文本框 212"/>
          <p:cNvSpPr txBox="1"/>
          <p:nvPr/>
        </p:nvSpPr>
        <p:spPr>
          <a:xfrm>
            <a:off x="8891556" y="2603181"/>
            <a:ext cx="963725"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生命救援准时率</a:t>
            </a:r>
            <a:r>
              <a:rPr lang="zh-CN" altLang="en-US" sz="600" spc="0" baseline="0">
                <a:solidFill>
                  <a:srgbClr val="333333"/>
                </a:solidFill>
                <a:latin typeface="Arial" panose="020B0604020202090204"/>
                <a:ea typeface="微软雅黑"/>
                <a:cs typeface="Arial" panose="020B0604020202090204"/>
                <a:sym typeface="Arial" panose="020B0604020202090204"/>
                <a:rtl val="0"/>
              </a:rPr>
              <a:t>: 100%</a:t>
            </a:r>
          </a:p>
        </p:txBody>
      </p:sp>
      <p:sp>
        <p:nvSpPr>
          <p:cNvPr id="214" name="文本框 213"/>
          <p:cNvSpPr txBox="1"/>
          <p:nvPr/>
        </p:nvSpPr>
        <p:spPr>
          <a:xfrm>
            <a:off x="8941249" y="2694860"/>
            <a:ext cx="864340"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人员疏散完率</a:t>
            </a:r>
            <a:r>
              <a:rPr lang="zh-CN" altLang="en-US" sz="600" spc="0" baseline="0">
                <a:solidFill>
                  <a:srgbClr val="333333"/>
                </a:solidFill>
                <a:latin typeface="Arial" panose="020B0604020202090204"/>
                <a:ea typeface="微软雅黑"/>
                <a:cs typeface="Arial" panose="020B0604020202090204"/>
                <a:sym typeface="Arial" panose="020B0604020202090204"/>
                <a:rtl val="0"/>
              </a:rPr>
              <a:t>: 9.1%</a:t>
            </a:r>
          </a:p>
        </p:txBody>
      </p:sp>
      <p:sp>
        <p:nvSpPr>
          <p:cNvPr id="215" name="文本框 214"/>
          <p:cNvSpPr txBox="1"/>
          <p:nvPr/>
        </p:nvSpPr>
        <p:spPr>
          <a:xfrm>
            <a:off x="8566947" y="2806184"/>
            <a:ext cx="1612942" cy="184666"/>
          </a:xfrm>
          <a:prstGeom prst="rect">
            <a:avLst/>
          </a:prstGeom>
          <a:noFill/>
        </p:spPr>
        <p:txBody>
          <a:bodyPr wrap="none" rtlCol="0">
            <a:spAutoFit/>
          </a:bodyPr>
          <a:lstStyle/>
          <a:p>
            <a:pPr algn="ctr"/>
            <a:r>
              <a:rPr lang="zh-CN" altLang="en-US" sz="600" b="1" spc="0" baseline="0">
                <a:solidFill>
                  <a:srgbClr val="C62828"/>
                </a:solidFill>
                <a:latin typeface="Apple Color Emoji"/>
                <a:ea typeface="Apple Color Emoji"/>
                <a:sym typeface="Apple Color Emoji"/>
                <a:rtl val="0"/>
              </a:rPr>
              <a:t>⚠</a:t>
            </a:r>
            <a:r>
              <a:rPr lang="zh-CN" altLang="en-US" sz="600" b="1" spc="0" baseline="0">
                <a:solidFill>
                  <a:srgbClr val="C62828"/>
                </a:solidFill>
                <a:latin typeface="Arial" panose="020B0604020202090204"/>
                <a:ea typeface="Apple Color Emoji"/>
                <a:cs typeface="Arial" panose="020B0604020202090204"/>
                <a:sym typeface="Arial" panose="020B0604020202090204"/>
                <a:rtl val="0"/>
              </a:rPr>
              <a:t> </a:t>
            </a:r>
            <a:r>
              <a:rPr lang="zh-CN" altLang="en-US" sz="600" b="1" spc="0" baseline="0">
                <a:solidFill>
                  <a:srgbClr val="C62828"/>
                </a:solidFill>
                <a:latin typeface="微软雅黑"/>
                <a:ea typeface="微软雅黑"/>
                <a:cs typeface="Arial" panose="020B0604020202090204"/>
                <a:sym typeface="微软雅黑"/>
                <a:rtl val="0"/>
              </a:rPr>
              <a:t>不对称特征</a:t>
            </a:r>
            <a:r>
              <a:rPr lang="zh-CN" altLang="en-US" sz="600" b="1" spc="0" baseline="0">
                <a:solidFill>
                  <a:srgbClr val="C62828"/>
                </a:solidFill>
                <a:latin typeface="Arial" panose="020B0604020202090204"/>
                <a:ea typeface="微软雅黑"/>
                <a:cs typeface="Arial" panose="020B0604020202090204"/>
                <a:sym typeface="Arial" panose="020B0604020202090204"/>
                <a:rtl val="0"/>
              </a:rPr>
              <a:t>: </a:t>
            </a:r>
            <a:r>
              <a:rPr lang="zh-CN" altLang="en-US" sz="600" b="1" spc="0" baseline="0">
                <a:solidFill>
                  <a:srgbClr val="C62828"/>
                </a:solidFill>
                <a:latin typeface="微软雅黑"/>
                <a:ea typeface="微软雅黑"/>
                <a:cs typeface="Arial" panose="020B0604020202090204"/>
                <a:sym typeface="微软雅黑"/>
                <a:rtl val="0"/>
              </a:rPr>
              <a:t>物资高韧性</a:t>
            </a:r>
            <a:r>
              <a:rPr lang="zh-CN" altLang="en-US" sz="600" b="1" spc="0" baseline="0">
                <a:solidFill>
                  <a:srgbClr val="C62828"/>
                </a:solidFill>
                <a:latin typeface="Arial" panose="020B0604020202090204"/>
                <a:ea typeface="微软雅黑"/>
                <a:cs typeface="Arial" panose="020B0604020202090204"/>
                <a:sym typeface="Arial" panose="020B0604020202090204"/>
                <a:rtl val="0"/>
              </a:rPr>
              <a:t> vs </a:t>
            </a:r>
            <a:r>
              <a:rPr lang="zh-CN" altLang="en-US" sz="600" b="1" spc="0" baseline="0">
                <a:solidFill>
                  <a:srgbClr val="C62828"/>
                </a:solidFill>
                <a:latin typeface="微软雅黑"/>
                <a:ea typeface="微软雅黑"/>
                <a:cs typeface="Arial" panose="020B0604020202090204"/>
                <a:sym typeface="微软雅黑"/>
                <a:rtl val="0"/>
              </a:rPr>
              <a:t>疏散低韧性</a:t>
            </a:r>
          </a:p>
        </p:txBody>
      </p:sp>
      <p:sp>
        <p:nvSpPr>
          <p:cNvPr id="217" name="任意形状 216"/>
          <p:cNvSpPr/>
          <p:nvPr/>
        </p:nvSpPr>
        <p:spPr>
          <a:xfrm>
            <a:off x="8586838" y="3191409"/>
            <a:ext cx="1573161" cy="505974"/>
          </a:xfrm>
          <a:custGeom>
            <a:avLst/>
            <a:gdLst>
              <a:gd name="connsiteX0" fmla="*/ 1520723 w 1573161"/>
              <a:gd name="connsiteY0" fmla="*/ 0 h 471492"/>
              <a:gd name="connsiteX1" fmla="*/ 1573161 w 1573161"/>
              <a:gd name="connsiteY1" fmla="*/ 0 h 471492"/>
              <a:gd name="connsiteX2" fmla="*/ 1573161 w 1573161"/>
              <a:gd name="connsiteY2" fmla="*/ 471492 h 471492"/>
              <a:gd name="connsiteX3" fmla="*/ 1520723 w 1573161"/>
              <a:gd name="connsiteY3" fmla="*/ 471492 h 471492"/>
              <a:gd name="connsiteX4" fmla="*/ 52439 w 1573161"/>
              <a:gd name="connsiteY4" fmla="*/ 471492 h 471492"/>
              <a:gd name="connsiteX5" fmla="*/ 0 w 1573161"/>
              <a:gd name="connsiteY5" fmla="*/ 471492 h 471492"/>
              <a:gd name="connsiteX6" fmla="*/ 0 w 1573161"/>
              <a:gd name="connsiteY6" fmla="*/ 0 h 471492"/>
              <a:gd name="connsiteX7" fmla="*/ 52439 w 1573161"/>
              <a:gd name="connsiteY7" fmla="*/ 0 h 47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471492">
                <a:moveTo>
                  <a:pt x="1520723" y="0"/>
                </a:moveTo>
                <a:cubicBezTo>
                  <a:pt x="1549684" y="0"/>
                  <a:pt x="1573161" y="0"/>
                  <a:pt x="1573161" y="0"/>
                </a:cubicBezTo>
                <a:lnTo>
                  <a:pt x="1573161" y="471492"/>
                </a:lnTo>
                <a:cubicBezTo>
                  <a:pt x="1573161" y="471492"/>
                  <a:pt x="1549684" y="471492"/>
                  <a:pt x="1520723" y="471492"/>
                </a:cubicBezTo>
                <a:lnTo>
                  <a:pt x="52439" y="471492"/>
                </a:lnTo>
                <a:cubicBezTo>
                  <a:pt x="23477" y="471492"/>
                  <a:pt x="0" y="471492"/>
                  <a:pt x="0" y="471492"/>
                </a:cubicBezTo>
                <a:lnTo>
                  <a:pt x="0" y="0"/>
                </a:lnTo>
                <a:cubicBezTo>
                  <a:pt x="0" y="0"/>
                  <a:pt x="23477" y="0"/>
                  <a:pt x="52439" y="0"/>
                </a:cubicBezTo>
                <a:close/>
              </a:path>
            </a:pathLst>
          </a:custGeom>
          <a:solidFill>
            <a:srgbClr val="FFFFFF"/>
          </a:solidFill>
          <a:ln w="6555" cap="flat">
            <a:solidFill>
              <a:srgbClr val="E53935"/>
            </a:solidFill>
            <a:prstDash val="solid"/>
            <a:miter/>
          </a:ln>
        </p:spPr>
        <p:txBody>
          <a:bodyPr rtlCol="0" anchor="ctr"/>
          <a:lstStyle/>
          <a:p>
            <a:pPr algn="ctr"/>
            <a:endParaRPr lang="zh-CN" altLang="en-US"/>
          </a:p>
        </p:txBody>
      </p:sp>
      <p:sp>
        <p:nvSpPr>
          <p:cNvPr id="218" name="任意形状 217"/>
          <p:cNvSpPr/>
          <p:nvPr/>
        </p:nvSpPr>
        <p:spPr>
          <a:xfrm>
            <a:off x="8586838" y="3191410"/>
            <a:ext cx="1573161" cy="144067"/>
          </a:xfrm>
          <a:custGeom>
            <a:avLst/>
            <a:gdLst>
              <a:gd name="connsiteX0" fmla="*/ 1520723 w 1573161"/>
              <a:gd name="connsiteY0" fmla="*/ 0 h 144067"/>
              <a:gd name="connsiteX1" fmla="*/ 1573161 w 1573161"/>
              <a:gd name="connsiteY1" fmla="*/ 0 h 144067"/>
              <a:gd name="connsiteX2" fmla="*/ 1573161 w 1573161"/>
              <a:gd name="connsiteY2" fmla="*/ 144067 h 144067"/>
              <a:gd name="connsiteX3" fmla="*/ 1520723 w 1573161"/>
              <a:gd name="connsiteY3" fmla="*/ 144067 h 144067"/>
              <a:gd name="connsiteX4" fmla="*/ 52439 w 1573161"/>
              <a:gd name="connsiteY4" fmla="*/ 144067 h 144067"/>
              <a:gd name="connsiteX5" fmla="*/ 0 w 1573161"/>
              <a:gd name="connsiteY5" fmla="*/ 144067 h 144067"/>
              <a:gd name="connsiteX6" fmla="*/ 0 w 1573161"/>
              <a:gd name="connsiteY6" fmla="*/ 0 h 144067"/>
              <a:gd name="connsiteX7" fmla="*/ 52439 w 1573161"/>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067">
                <a:moveTo>
                  <a:pt x="1520723" y="0"/>
                </a:moveTo>
                <a:cubicBezTo>
                  <a:pt x="1549684" y="0"/>
                  <a:pt x="1573161" y="0"/>
                  <a:pt x="1573161" y="0"/>
                </a:cubicBezTo>
                <a:lnTo>
                  <a:pt x="1573161" y="144067"/>
                </a:lnTo>
                <a:cubicBezTo>
                  <a:pt x="1573161" y="144067"/>
                  <a:pt x="1549684" y="144067"/>
                  <a:pt x="1520723" y="144067"/>
                </a:cubicBezTo>
                <a:lnTo>
                  <a:pt x="52439" y="144067"/>
                </a:lnTo>
                <a:cubicBezTo>
                  <a:pt x="23477" y="144067"/>
                  <a:pt x="0" y="144067"/>
                  <a:pt x="0" y="144067"/>
                </a:cubicBezTo>
                <a:lnTo>
                  <a:pt x="0" y="0"/>
                </a:lnTo>
                <a:cubicBezTo>
                  <a:pt x="0" y="0"/>
                  <a:pt x="23477" y="0"/>
                  <a:pt x="52439" y="0"/>
                </a:cubicBezTo>
                <a:close/>
              </a:path>
            </a:pathLst>
          </a:custGeom>
          <a:solidFill>
            <a:srgbClr val="E53935"/>
          </a:solidFill>
          <a:ln w="6555" cap="flat">
            <a:noFill/>
            <a:prstDash val="solid"/>
            <a:miter/>
          </a:ln>
        </p:spPr>
        <p:txBody>
          <a:bodyPr rtlCol="0" anchor="ctr"/>
          <a:lstStyle/>
          <a:p>
            <a:pPr algn="ctr"/>
            <a:endParaRPr lang="zh-CN" altLang="en-US"/>
          </a:p>
        </p:txBody>
      </p:sp>
      <p:sp>
        <p:nvSpPr>
          <p:cNvPr id="219" name="任意形状 218"/>
          <p:cNvSpPr/>
          <p:nvPr/>
        </p:nvSpPr>
        <p:spPr>
          <a:xfrm>
            <a:off x="8586838" y="3296186"/>
            <a:ext cx="1573161" cy="39291"/>
          </a:xfrm>
          <a:custGeom>
            <a:avLst/>
            <a:gdLst>
              <a:gd name="connsiteX0" fmla="*/ 0 w 1573161"/>
              <a:gd name="connsiteY0" fmla="*/ 0 h 39291"/>
              <a:gd name="connsiteX1" fmla="*/ 1573161 w 1573161"/>
              <a:gd name="connsiteY1" fmla="*/ 0 h 39291"/>
              <a:gd name="connsiteX2" fmla="*/ 1573161 w 1573161"/>
              <a:gd name="connsiteY2" fmla="*/ 39291 h 39291"/>
              <a:gd name="connsiteX3" fmla="*/ 0 w 1573161"/>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573161" h="39291">
                <a:moveTo>
                  <a:pt x="0" y="0"/>
                </a:moveTo>
                <a:lnTo>
                  <a:pt x="1573161" y="0"/>
                </a:lnTo>
                <a:lnTo>
                  <a:pt x="1573161" y="39291"/>
                </a:lnTo>
                <a:lnTo>
                  <a:pt x="0" y="39291"/>
                </a:lnTo>
                <a:close/>
              </a:path>
            </a:pathLst>
          </a:custGeom>
          <a:solidFill>
            <a:srgbClr val="E53935"/>
          </a:solidFill>
          <a:ln w="6555" cap="flat">
            <a:noFill/>
            <a:prstDash val="solid"/>
            <a:miter/>
          </a:ln>
        </p:spPr>
        <p:txBody>
          <a:bodyPr rtlCol="0" anchor="ctr"/>
          <a:lstStyle/>
          <a:p>
            <a:pPr algn="ctr"/>
            <a:endParaRPr lang="zh-CN" altLang="en-US"/>
          </a:p>
        </p:txBody>
      </p:sp>
      <p:sp>
        <p:nvSpPr>
          <p:cNvPr id="220" name="文本框 219"/>
          <p:cNvSpPr txBox="1"/>
          <p:nvPr/>
        </p:nvSpPr>
        <p:spPr>
          <a:xfrm>
            <a:off x="9082241" y="3161550"/>
            <a:ext cx="575800"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适应韧性</a:t>
            </a:r>
          </a:p>
        </p:txBody>
      </p:sp>
      <p:sp>
        <p:nvSpPr>
          <p:cNvPr id="221" name="文本框 220"/>
          <p:cNvSpPr txBox="1"/>
          <p:nvPr/>
        </p:nvSpPr>
        <p:spPr>
          <a:xfrm>
            <a:off x="8760110" y="3342145"/>
            <a:ext cx="1226618"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无人机协同</a:t>
            </a:r>
            <a:r>
              <a:rPr lang="zh-CN" altLang="en-US" sz="600" spc="0" baseline="0">
                <a:solidFill>
                  <a:srgbClr val="333333"/>
                </a:solidFill>
                <a:latin typeface="Arial" panose="020B0604020202090204"/>
                <a:ea typeface="微软雅黑"/>
                <a:cs typeface="Arial" panose="020B0604020202090204"/>
                <a:sym typeface="Arial" panose="020B0604020202090204"/>
                <a:rtl val="0"/>
              </a:rPr>
              <a:t> Makespan ↓16.3%</a:t>
            </a:r>
          </a:p>
        </p:txBody>
      </p:sp>
      <p:sp>
        <p:nvSpPr>
          <p:cNvPr id="222" name="文本框 221"/>
          <p:cNvSpPr txBox="1"/>
          <p:nvPr/>
        </p:nvSpPr>
        <p:spPr>
          <a:xfrm>
            <a:off x="8789694" y="3433824"/>
            <a:ext cx="1160895"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地铁应急运营</a:t>
            </a:r>
            <a:r>
              <a:rPr lang="zh-CN" altLang="en-US" sz="600" spc="0" baseline="0">
                <a:solidFill>
                  <a:srgbClr val="333333"/>
                </a:solidFill>
                <a:latin typeface="Arial" panose="020B0604020202090204"/>
                <a:ea typeface="微软雅黑"/>
                <a:cs typeface="Arial" panose="020B0604020202090204"/>
                <a:sym typeface="Arial" panose="020B0604020202090204"/>
                <a:rtl val="0"/>
              </a:rPr>
              <a:t> → </a:t>
            </a:r>
            <a:r>
              <a:rPr lang="zh-CN" altLang="en-US" sz="600" spc="0" baseline="0">
                <a:solidFill>
                  <a:srgbClr val="333333"/>
                </a:solidFill>
                <a:latin typeface="微软雅黑"/>
                <a:ea typeface="微软雅黑"/>
                <a:cs typeface="Arial" panose="020B0604020202090204"/>
                <a:sym typeface="微软雅黑"/>
                <a:rtl val="0"/>
              </a:rPr>
              <a:t>疏散率</a:t>
            </a:r>
            <a:r>
              <a:rPr lang="zh-CN" altLang="en-US" sz="600" spc="0" baseline="0">
                <a:solidFill>
                  <a:srgbClr val="333333"/>
                </a:solidFill>
                <a:latin typeface="Arial" panose="020B0604020202090204"/>
                <a:ea typeface="微软雅黑"/>
                <a:cs typeface="Arial" panose="020B0604020202090204"/>
                <a:sym typeface="Arial" panose="020B0604020202090204"/>
                <a:rtl val="0"/>
              </a:rPr>
              <a:t>×3.3</a:t>
            </a:r>
          </a:p>
        </p:txBody>
      </p:sp>
      <p:sp>
        <p:nvSpPr>
          <p:cNvPr id="223" name="文本框 222"/>
          <p:cNvSpPr txBox="1"/>
          <p:nvPr/>
        </p:nvSpPr>
        <p:spPr>
          <a:xfrm>
            <a:off x="8896365" y="3525503"/>
            <a:ext cx="954108" cy="184666"/>
          </a:xfrm>
          <a:prstGeom prst="rect">
            <a:avLst/>
          </a:prstGeom>
          <a:noFill/>
        </p:spPr>
        <p:txBody>
          <a:bodyPr wrap="none" rtlCol="0">
            <a:spAutoFit/>
          </a:bodyPr>
          <a:lstStyle/>
          <a:p>
            <a:pPr algn="ctr"/>
            <a:r>
              <a:rPr lang="zh-CN" altLang="en-US" sz="600" spc="0" baseline="0">
                <a:solidFill>
                  <a:srgbClr val="333333"/>
                </a:solidFill>
                <a:latin typeface="微软雅黑"/>
                <a:ea typeface="微软雅黑"/>
                <a:sym typeface="微软雅黑"/>
                <a:rtl val="0"/>
              </a:rPr>
              <a:t>多模式协同效益已验证</a:t>
            </a:r>
          </a:p>
        </p:txBody>
      </p:sp>
      <p:sp>
        <p:nvSpPr>
          <p:cNvPr id="225" name="任意形状 224"/>
          <p:cNvSpPr/>
          <p:nvPr/>
        </p:nvSpPr>
        <p:spPr>
          <a:xfrm>
            <a:off x="8586838" y="3871374"/>
            <a:ext cx="1573161" cy="690761"/>
          </a:xfrm>
          <a:custGeom>
            <a:avLst/>
            <a:gdLst>
              <a:gd name="connsiteX0" fmla="*/ 1520723 w 1573161"/>
              <a:gd name="connsiteY0" fmla="*/ 0 h 654850"/>
              <a:gd name="connsiteX1" fmla="*/ 1573161 w 1573161"/>
              <a:gd name="connsiteY1" fmla="*/ 0 h 654850"/>
              <a:gd name="connsiteX2" fmla="*/ 1573161 w 1573161"/>
              <a:gd name="connsiteY2" fmla="*/ 654850 h 654850"/>
              <a:gd name="connsiteX3" fmla="*/ 1520723 w 1573161"/>
              <a:gd name="connsiteY3" fmla="*/ 654850 h 654850"/>
              <a:gd name="connsiteX4" fmla="*/ 52439 w 1573161"/>
              <a:gd name="connsiteY4" fmla="*/ 654850 h 654850"/>
              <a:gd name="connsiteX5" fmla="*/ 0 w 1573161"/>
              <a:gd name="connsiteY5" fmla="*/ 654850 h 654850"/>
              <a:gd name="connsiteX6" fmla="*/ 0 w 1573161"/>
              <a:gd name="connsiteY6" fmla="*/ 0 h 654850"/>
              <a:gd name="connsiteX7" fmla="*/ 52439 w 1573161"/>
              <a:gd name="connsiteY7" fmla="*/ 0 h 65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654850">
                <a:moveTo>
                  <a:pt x="1520723" y="0"/>
                </a:moveTo>
                <a:cubicBezTo>
                  <a:pt x="1549684" y="0"/>
                  <a:pt x="1573161" y="0"/>
                  <a:pt x="1573161" y="0"/>
                </a:cubicBezTo>
                <a:lnTo>
                  <a:pt x="1573161" y="654850"/>
                </a:lnTo>
                <a:cubicBezTo>
                  <a:pt x="1573161" y="654850"/>
                  <a:pt x="1549684" y="654850"/>
                  <a:pt x="1520723" y="654850"/>
                </a:cubicBezTo>
                <a:lnTo>
                  <a:pt x="52439" y="654850"/>
                </a:lnTo>
                <a:cubicBezTo>
                  <a:pt x="23477" y="654850"/>
                  <a:pt x="0" y="654850"/>
                  <a:pt x="0" y="654850"/>
                </a:cubicBezTo>
                <a:lnTo>
                  <a:pt x="0" y="0"/>
                </a:lnTo>
                <a:cubicBezTo>
                  <a:pt x="0" y="0"/>
                  <a:pt x="23477" y="0"/>
                  <a:pt x="52439" y="0"/>
                </a:cubicBezTo>
                <a:close/>
              </a:path>
            </a:pathLst>
          </a:custGeom>
          <a:solidFill>
            <a:srgbClr val="FFFFFF"/>
          </a:solidFill>
          <a:ln w="5244" cap="flat">
            <a:solidFill>
              <a:srgbClr val="EF5350"/>
            </a:solidFill>
            <a:prstDash val="solid"/>
            <a:miter/>
          </a:ln>
        </p:spPr>
        <p:txBody>
          <a:bodyPr rtlCol="0" anchor="ctr"/>
          <a:lstStyle/>
          <a:p>
            <a:pPr algn="ctr"/>
            <a:endParaRPr lang="zh-CN" altLang="en-US"/>
          </a:p>
        </p:txBody>
      </p:sp>
      <p:sp>
        <p:nvSpPr>
          <p:cNvPr id="226" name="任意形状 225"/>
          <p:cNvSpPr/>
          <p:nvPr/>
        </p:nvSpPr>
        <p:spPr>
          <a:xfrm>
            <a:off x="8586838" y="3871375"/>
            <a:ext cx="1573161" cy="144067"/>
          </a:xfrm>
          <a:custGeom>
            <a:avLst/>
            <a:gdLst>
              <a:gd name="connsiteX0" fmla="*/ 1520723 w 1573161"/>
              <a:gd name="connsiteY0" fmla="*/ 0 h 144067"/>
              <a:gd name="connsiteX1" fmla="*/ 1573161 w 1573161"/>
              <a:gd name="connsiteY1" fmla="*/ 0 h 144067"/>
              <a:gd name="connsiteX2" fmla="*/ 1573161 w 1573161"/>
              <a:gd name="connsiteY2" fmla="*/ 144067 h 144067"/>
              <a:gd name="connsiteX3" fmla="*/ 1520723 w 1573161"/>
              <a:gd name="connsiteY3" fmla="*/ 144067 h 144067"/>
              <a:gd name="connsiteX4" fmla="*/ 52439 w 1573161"/>
              <a:gd name="connsiteY4" fmla="*/ 144067 h 144067"/>
              <a:gd name="connsiteX5" fmla="*/ 0 w 1573161"/>
              <a:gd name="connsiteY5" fmla="*/ 144067 h 144067"/>
              <a:gd name="connsiteX6" fmla="*/ 0 w 1573161"/>
              <a:gd name="connsiteY6" fmla="*/ 0 h 144067"/>
              <a:gd name="connsiteX7" fmla="*/ 52439 w 1573161"/>
              <a:gd name="connsiteY7" fmla="*/ 0 h 14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44067">
                <a:moveTo>
                  <a:pt x="1520723" y="0"/>
                </a:moveTo>
                <a:cubicBezTo>
                  <a:pt x="1549684" y="0"/>
                  <a:pt x="1573161" y="0"/>
                  <a:pt x="1573161" y="0"/>
                </a:cubicBezTo>
                <a:lnTo>
                  <a:pt x="1573161" y="144067"/>
                </a:lnTo>
                <a:cubicBezTo>
                  <a:pt x="1573161" y="144067"/>
                  <a:pt x="1549684" y="144067"/>
                  <a:pt x="1520723" y="144067"/>
                </a:cubicBezTo>
                <a:lnTo>
                  <a:pt x="52439" y="144067"/>
                </a:lnTo>
                <a:cubicBezTo>
                  <a:pt x="23477" y="144067"/>
                  <a:pt x="0" y="144067"/>
                  <a:pt x="0" y="144067"/>
                </a:cubicBezTo>
                <a:lnTo>
                  <a:pt x="0" y="0"/>
                </a:lnTo>
                <a:cubicBezTo>
                  <a:pt x="0" y="0"/>
                  <a:pt x="23477" y="0"/>
                  <a:pt x="52439" y="0"/>
                </a:cubicBezTo>
                <a:close/>
              </a:path>
            </a:pathLst>
          </a:custGeom>
          <a:solidFill>
            <a:srgbClr val="EF5350"/>
          </a:solidFill>
          <a:ln w="6555" cap="flat">
            <a:noFill/>
            <a:prstDash val="solid"/>
            <a:miter/>
          </a:ln>
        </p:spPr>
        <p:txBody>
          <a:bodyPr rtlCol="0" anchor="ctr"/>
          <a:lstStyle/>
          <a:p>
            <a:pPr algn="ctr"/>
            <a:endParaRPr lang="zh-CN" altLang="en-US"/>
          </a:p>
        </p:txBody>
      </p:sp>
      <p:sp>
        <p:nvSpPr>
          <p:cNvPr id="227" name="任意形状 226"/>
          <p:cNvSpPr/>
          <p:nvPr/>
        </p:nvSpPr>
        <p:spPr>
          <a:xfrm>
            <a:off x="8586838" y="3976151"/>
            <a:ext cx="1573161" cy="39291"/>
          </a:xfrm>
          <a:custGeom>
            <a:avLst/>
            <a:gdLst>
              <a:gd name="connsiteX0" fmla="*/ 0 w 1573161"/>
              <a:gd name="connsiteY0" fmla="*/ 0 h 39291"/>
              <a:gd name="connsiteX1" fmla="*/ 1573161 w 1573161"/>
              <a:gd name="connsiteY1" fmla="*/ 0 h 39291"/>
              <a:gd name="connsiteX2" fmla="*/ 1573161 w 1573161"/>
              <a:gd name="connsiteY2" fmla="*/ 39291 h 39291"/>
              <a:gd name="connsiteX3" fmla="*/ 0 w 1573161"/>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573161" h="39291">
                <a:moveTo>
                  <a:pt x="0" y="0"/>
                </a:moveTo>
                <a:lnTo>
                  <a:pt x="1573161" y="0"/>
                </a:lnTo>
                <a:lnTo>
                  <a:pt x="1573161" y="39291"/>
                </a:lnTo>
                <a:lnTo>
                  <a:pt x="0" y="39291"/>
                </a:lnTo>
                <a:close/>
              </a:path>
            </a:pathLst>
          </a:custGeom>
          <a:solidFill>
            <a:srgbClr val="EF5350"/>
          </a:solidFill>
          <a:ln w="6555" cap="flat">
            <a:noFill/>
            <a:prstDash val="solid"/>
            <a:miter/>
          </a:ln>
        </p:spPr>
        <p:txBody>
          <a:bodyPr rtlCol="0" anchor="ctr"/>
          <a:lstStyle/>
          <a:p>
            <a:pPr algn="ctr"/>
            <a:endParaRPr lang="zh-CN" altLang="en-US"/>
          </a:p>
        </p:txBody>
      </p:sp>
      <p:sp>
        <p:nvSpPr>
          <p:cNvPr id="228" name="文本框 227"/>
          <p:cNvSpPr txBox="1"/>
          <p:nvPr/>
        </p:nvSpPr>
        <p:spPr>
          <a:xfrm>
            <a:off x="8984458" y="3841515"/>
            <a:ext cx="771366" cy="207749"/>
          </a:xfrm>
          <a:prstGeom prst="rect">
            <a:avLst/>
          </a:prstGeom>
          <a:noFill/>
        </p:spPr>
        <p:txBody>
          <a:bodyPr wrap="none" rtlCol="0">
            <a:spAutoFit/>
          </a:bodyPr>
          <a:lstStyle/>
          <a:p>
            <a:pPr algn="ctr"/>
            <a:r>
              <a:rPr lang="zh-CN" altLang="en-US" sz="750" b="1" spc="0" baseline="0" dirty="0">
                <a:solidFill>
                  <a:srgbClr val="FFFFFF"/>
                </a:solidFill>
                <a:latin typeface="黑体" panose="02010600030101010101" charset="-122"/>
                <a:ea typeface="黑体" panose="02010600030101010101" charset="-122"/>
                <a:sym typeface="黑体" panose="02010600030101010101" charset="-122"/>
                <a:rtl val="0"/>
              </a:rPr>
              <a:t>方案对比分析</a:t>
            </a:r>
          </a:p>
        </p:txBody>
      </p:sp>
      <p:sp>
        <p:nvSpPr>
          <p:cNvPr id="229" name="文本框 228"/>
          <p:cNvSpPr txBox="1"/>
          <p:nvPr/>
        </p:nvSpPr>
        <p:spPr>
          <a:xfrm>
            <a:off x="8706708" y="4012062"/>
            <a:ext cx="1313180"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配送</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纯货车</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44.8min → </a:t>
            </a:r>
            <a:r>
              <a:rPr lang="zh-CN" altLang="en-US" sz="525" spc="0" baseline="0" dirty="0">
                <a:solidFill>
                  <a:srgbClr val="333333"/>
                </a:solidFill>
                <a:latin typeface="微软雅黑"/>
                <a:ea typeface="微软雅黑"/>
                <a:cs typeface="Arial" panose="020B0604020202090204"/>
                <a:sym typeface="微软雅黑"/>
                <a:rtl val="0"/>
              </a:rPr>
              <a:t>协同</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37.5min</a:t>
            </a:r>
          </a:p>
        </p:txBody>
      </p:sp>
      <p:sp>
        <p:nvSpPr>
          <p:cNvPr id="230" name="文本框 229"/>
          <p:cNvSpPr txBox="1"/>
          <p:nvPr/>
        </p:nvSpPr>
        <p:spPr>
          <a:xfrm>
            <a:off x="8707911" y="4103741"/>
            <a:ext cx="1165705" cy="173124"/>
          </a:xfrm>
          <a:prstGeom prst="rect">
            <a:avLst/>
          </a:prstGeom>
          <a:noFill/>
        </p:spPr>
        <p:txBody>
          <a:bodyPr wrap="none" rtlCol="0">
            <a:spAutoFit/>
          </a:bodyPr>
          <a:lstStyle/>
          <a:p>
            <a:pPr algn="ctr"/>
            <a:r>
              <a:rPr lang="zh-CN" altLang="en-US" sz="525" spc="0" baseline="0">
                <a:solidFill>
                  <a:srgbClr val="333333"/>
                </a:solidFill>
                <a:latin typeface="微软雅黑"/>
                <a:ea typeface="微软雅黑"/>
                <a:sym typeface="微软雅黑"/>
                <a:rtl val="0"/>
              </a:rPr>
              <a:t>疏散</a:t>
            </a:r>
            <a:r>
              <a:rPr lang="zh-CN" altLang="en-US" sz="525" spc="0" baseline="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全资源</a:t>
            </a:r>
            <a:r>
              <a:rPr lang="zh-CN" altLang="en-US" sz="525" spc="0" baseline="0">
                <a:solidFill>
                  <a:srgbClr val="333333"/>
                </a:solidFill>
                <a:latin typeface="Arial" panose="020B0604020202090204"/>
                <a:ea typeface="微软雅黑"/>
                <a:cs typeface="Arial" panose="020B0604020202090204"/>
                <a:sym typeface="Arial" panose="020B0604020202090204"/>
                <a:rtl val="0"/>
              </a:rPr>
              <a:t> 9.1% · </a:t>
            </a:r>
            <a:r>
              <a:rPr lang="zh-CN" altLang="en-US" sz="525" spc="0" baseline="0">
                <a:solidFill>
                  <a:srgbClr val="333333"/>
                </a:solidFill>
                <a:latin typeface="微软雅黑"/>
                <a:ea typeface="微软雅黑"/>
                <a:cs typeface="Arial" panose="020B0604020202090204"/>
                <a:sym typeface="微软雅黑"/>
                <a:rtl val="0"/>
              </a:rPr>
              <a:t>无地铁</a:t>
            </a:r>
            <a:r>
              <a:rPr lang="zh-CN" altLang="en-US" sz="525" spc="0" baseline="0">
                <a:solidFill>
                  <a:srgbClr val="333333"/>
                </a:solidFill>
                <a:latin typeface="Arial" panose="020B0604020202090204"/>
                <a:ea typeface="微软雅黑"/>
                <a:cs typeface="Arial" panose="020B0604020202090204"/>
                <a:sym typeface="Arial" panose="020B0604020202090204"/>
                <a:rtl val="0"/>
              </a:rPr>
              <a:t> 2.8%</a:t>
            </a:r>
          </a:p>
        </p:txBody>
      </p:sp>
      <p:sp>
        <p:nvSpPr>
          <p:cNvPr id="231" name="文本框 230"/>
          <p:cNvSpPr txBox="1"/>
          <p:nvPr/>
        </p:nvSpPr>
        <p:spPr>
          <a:xfrm>
            <a:off x="8700867" y="4195420"/>
            <a:ext cx="1367683"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疏散</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无直升机</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9.0% · </a:t>
            </a:r>
            <a:r>
              <a:rPr lang="zh-CN" altLang="en-US" sz="525" spc="0" baseline="0" dirty="0">
                <a:solidFill>
                  <a:srgbClr val="333333"/>
                </a:solidFill>
                <a:latin typeface="微软雅黑"/>
                <a:ea typeface="微软雅黑"/>
                <a:cs typeface="Arial" panose="020B0604020202090204"/>
                <a:sym typeface="微软雅黑"/>
                <a:rtl val="0"/>
              </a:rPr>
              <a:t>加倍救护车</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9.2%</a:t>
            </a:r>
          </a:p>
        </p:txBody>
      </p:sp>
      <p:sp>
        <p:nvSpPr>
          <p:cNvPr id="232" name="文本框 231"/>
          <p:cNvSpPr txBox="1"/>
          <p:nvPr/>
        </p:nvSpPr>
        <p:spPr>
          <a:xfrm>
            <a:off x="8698579" y="4287099"/>
            <a:ext cx="1210589"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无人机</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纯无人机不可行</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载重限制</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p>
        </p:txBody>
      </p:sp>
      <p:sp>
        <p:nvSpPr>
          <p:cNvPr id="233" name="文本框 232"/>
          <p:cNvSpPr txBox="1"/>
          <p:nvPr/>
        </p:nvSpPr>
        <p:spPr>
          <a:xfrm>
            <a:off x="8697906" y="4378778"/>
            <a:ext cx="1277914" cy="173124"/>
          </a:xfrm>
          <a:prstGeom prst="rect">
            <a:avLst/>
          </a:prstGeom>
          <a:noFill/>
        </p:spPr>
        <p:txBody>
          <a:bodyPr wrap="none" rtlCol="0">
            <a:spAutoFit/>
          </a:bodyPr>
          <a:lstStyle/>
          <a:p>
            <a:pPr algn="ctr"/>
            <a:r>
              <a:rPr lang="zh-CN" altLang="en-US" sz="525" spc="0" baseline="0" dirty="0">
                <a:solidFill>
                  <a:srgbClr val="333333"/>
                </a:solidFill>
                <a:latin typeface="微软雅黑"/>
                <a:ea typeface="微软雅黑"/>
                <a:sym typeface="微软雅黑"/>
                <a:rtl val="0"/>
              </a:rPr>
              <a:t>加倍无人机</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无额外改善</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dirty="0">
                <a:solidFill>
                  <a:srgbClr val="333333"/>
                </a:solidFill>
                <a:latin typeface="微软雅黑"/>
                <a:ea typeface="微软雅黑"/>
                <a:cs typeface="Arial" panose="020B0604020202090204"/>
                <a:sym typeface="微软雅黑"/>
                <a:rtl val="0"/>
              </a:rPr>
              <a:t>瓶颈非数量</a:t>
            </a:r>
            <a:r>
              <a:rPr lang="zh-CN" altLang="en-US" sz="525" spc="0" baseline="0" dirty="0">
                <a:solidFill>
                  <a:srgbClr val="333333"/>
                </a:solidFill>
                <a:latin typeface="Arial" panose="020B0604020202090204"/>
                <a:ea typeface="微软雅黑"/>
                <a:cs typeface="Arial" panose="020B0604020202090204"/>
                <a:sym typeface="Arial" panose="020B0604020202090204"/>
                <a:rtl val="0"/>
              </a:rPr>
              <a:t>)</a:t>
            </a:r>
          </a:p>
        </p:txBody>
      </p:sp>
      <p:sp>
        <p:nvSpPr>
          <p:cNvPr id="235" name="任意形状 234"/>
          <p:cNvSpPr/>
          <p:nvPr/>
        </p:nvSpPr>
        <p:spPr>
          <a:xfrm>
            <a:off x="10422193" y="1660902"/>
            <a:ext cx="1573161" cy="2901233"/>
          </a:xfrm>
          <a:custGeom>
            <a:avLst/>
            <a:gdLst>
              <a:gd name="connsiteX0" fmla="*/ 1507613 w 1573161"/>
              <a:gd name="connsiteY0" fmla="*/ 0 h 2567013"/>
              <a:gd name="connsiteX1" fmla="*/ 1573161 w 1573161"/>
              <a:gd name="connsiteY1" fmla="*/ 0 h 2567013"/>
              <a:gd name="connsiteX2" fmla="*/ 1573161 w 1573161"/>
              <a:gd name="connsiteY2" fmla="*/ 2567013 h 2567013"/>
              <a:gd name="connsiteX3" fmla="*/ 1507613 w 1573161"/>
              <a:gd name="connsiteY3" fmla="*/ 2567013 h 2567013"/>
              <a:gd name="connsiteX4" fmla="*/ 65548 w 1573161"/>
              <a:gd name="connsiteY4" fmla="*/ 2567013 h 2567013"/>
              <a:gd name="connsiteX5" fmla="*/ 0 w 1573161"/>
              <a:gd name="connsiteY5" fmla="*/ 2567013 h 2567013"/>
              <a:gd name="connsiteX6" fmla="*/ 0 w 1573161"/>
              <a:gd name="connsiteY6" fmla="*/ 0 h 2567013"/>
              <a:gd name="connsiteX7" fmla="*/ 65548 w 1573161"/>
              <a:gd name="connsiteY7" fmla="*/ 0 h 2567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2567013">
                <a:moveTo>
                  <a:pt x="1507613" y="0"/>
                </a:moveTo>
                <a:cubicBezTo>
                  <a:pt x="1543814" y="0"/>
                  <a:pt x="1573161" y="0"/>
                  <a:pt x="1573161" y="0"/>
                </a:cubicBezTo>
                <a:lnTo>
                  <a:pt x="1573161" y="2567013"/>
                </a:lnTo>
                <a:cubicBezTo>
                  <a:pt x="1573161" y="2567013"/>
                  <a:pt x="1543814" y="2567013"/>
                  <a:pt x="1507613" y="2567013"/>
                </a:cubicBezTo>
                <a:lnTo>
                  <a:pt x="65548" y="2567013"/>
                </a:lnTo>
                <a:cubicBezTo>
                  <a:pt x="29347" y="2567013"/>
                  <a:pt x="0" y="2567013"/>
                  <a:pt x="0" y="2567013"/>
                </a:cubicBezTo>
                <a:lnTo>
                  <a:pt x="0" y="0"/>
                </a:lnTo>
                <a:cubicBezTo>
                  <a:pt x="0" y="0"/>
                  <a:pt x="29347" y="0"/>
                  <a:pt x="65548" y="0"/>
                </a:cubicBezTo>
                <a:close/>
              </a:path>
            </a:pathLst>
          </a:custGeom>
          <a:solidFill>
            <a:srgbClr val="FFFFFF"/>
          </a:solidFill>
          <a:ln w="7866" cap="flat">
            <a:solidFill>
              <a:srgbClr val="4527A0"/>
            </a:solidFill>
            <a:prstDash val="solid"/>
            <a:miter/>
          </a:ln>
        </p:spPr>
        <p:txBody>
          <a:bodyPr rtlCol="0" anchor="ctr"/>
          <a:lstStyle/>
          <a:p>
            <a:pPr algn="ctr"/>
            <a:endParaRPr lang="zh-CN" altLang="en-US"/>
          </a:p>
        </p:txBody>
      </p:sp>
      <p:sp>
        <p:nvSpPr>
          <p:cNvPr id="236" name="任意形状 235"/>
          <p:cNvSpPr/>
          <p:nvPr/>
        </p:nvSpPr>
        <p:spPr>
          <a:xfrm>
            <a:off x="10422193" y="1660902"/>
            <a:ext cx="1573161" cy="170261"/>
          </a:xfrm>
          <a:custGeom>
            <a:avLst/>
            <a:gdLst>
              <a:gd name="connsiteX0" fmla="*/ 1507613 w 1573161"/>
              <a:gd name="connsiteY0" fmla="*/ 0 h 170261"/>
              <a:gd name="connsiteX1" fmla="*/ 1573161 w 1573161"/>
              <a:gd name="connsiteY1" fmla="*/ 0 h 170261"/>
              <a:gd name="connsiteX2" fmla="*/ 1573161 w 1573161"/>
              <a:gd name="connsiteY2" fmla="*/ 170261 h 170261"/>
              <a:gd name="connsiteX3" fmla="*/ 1507613 w 1573161"/>
              <a:gd name="connsiteY3" fmla="*/ 170261 h 170261"/>
              <a:gd name="connsiteX4" fmla="*/ 65548 w 1573161"/>
              <a:gd name="connsiteY4" fmla="*/ 170261 h 170261"/>
              <a:gd name="connsiteX5" fmla="*/ 0 w 1573161"/>
              <a:gd name="connsiteY5" fmla="*/ 170261 h 170261"/>
              <a:gd name="connsiteX6" fmla="*/ 0 w 1573161"/>
              <a:gd name="connsiteY6" fmla="*/ 0 h 170261"/>
              <a:gd name="connsiteX7" fmla="*/ 65548 w 1573161"/>
              <a:gd name="connsiteY7" fmla="*/ 0 h 170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3161" h="170261">
                <a:moveTo>
                  <a:pt x="1507613" y="0"/>
                </a:moveTo>
                <a:cubicBezTo>
                  <a:pt x="1543814" y="0"/>
                  <a:pt x="1573161" y="0"/>
                  <a:pt x="1573161" y="0"/>
                </a:cubicBezTo>
                <a:lnTo>
                  <a:pt x="1573161" y="170261"/>
                </a:lnTo>
                <a:cubicBezTo>
                  <a:pt x="1573161" y="170261"/>
                  <a:pt x="1543814" y="170261"/>
                  <a:pt x="1507613" y="170261"/>
                </a:cubicBezTo>
                <a:lnTo>
                  <a:pt x="65548" y="170261"/>
                </a:lnTo>
                <a:cubicBezTo>
                  <a:pt x="29347" y="170261"/>
                  <a:pt x="0" y="170261"/>
                  <a:pt x="0" y="170261"/>
                </a:cubicBezTo>
                <a:lnTo>
                  <a:pt x="0" y="0"/>
                </a:lnTo>
                <a:cubicBezTo>
                  <a:pt x="0" y="0"/>
                  <a:pt x="29347" y="0"/>
                  <a:pt x="65548" y="0"/>
                </a:cubicBezTo>
                <a:close/>
              </a:path>
            </a:pathLst>
          </a:custGeom>
          <a:solidFill>
            <a:srgbClr val="4527A0"/>
          </a:solidFill>
          <a:ln w="6555" cap="flat">
            <a:noFill/>
            <a:prstDash val="solid"/>
            <a:miter/>
          </a:ln>
        </p:spPr>
        <p:txBody>
          <a:bodyPr rtlCol="0" anchor="ctr"/>
          <a:lstStyle/>
          <a:p>
            <a:pPr algn="ctr"/>
            <a:endParaRPr lang="zh-CN" altLang="en-US"/>
          </a:p>
        </p:txBody>
      </p:sp>
      <p:sp>
        <p:nvSpPr>
          <p:cNvPr id="237" name="任意形状 236"/>
          <p:cNvSpPr/>
          <p:nvPr/>
        </p:nvSpPr>
        <p:spPr>
          <a:xfrm>
            <a:off x="10422193" y="1791872"/>
            <a:ext cx="1573161" cy="39291"/>
          </a:xfrm>
          <a:custGeom>
            <a:avLst/>
            <a:gdLst>
              <a:gd name="connsiteX0" fmla="*/ 0 w 1573161"/>
              <a:gd name="connsiteY0" fmla="*/ 0 h 39291"/>
              <a:gd name="connsiteX1" fmla="*/ 1573161 w 1573161"/>
              <a:gd name="connsiteY1" fmla="*/ 0 h 39291"/>
              <a:gd name="connsiteX2" fmla="*/ 1573161 w 1573161"/>
              <a:gd name="connsiteY2" fmla="*/ 39291 h 39291"/>
              <a:gd name="connsiteX3" fmla="*/ 0 w 1573161"/>
              <a:gd name="connsiteY3" fmla="*/ 39291 h 39291"/>
            </a:gdLst>
            <a:ahLst/>
            <a:cxnLst>
              <a:cxn ang="0">
                <a:pos x="connsiteX0" y="connsiteY0"/>
              </a:cxn>
              <a:cxn ang="0">
                <a:pos x="connsiteX1" y="connsiteY1"/>
              </a:cxn>
              <a:cxn ang="0">
                <a:pos x="connsiteX2" y="connsiteY2"/>
              </a:cxn>
              <a:cxn ang="0">
                <a:pos x="connsiteX3" y="connsiteY3"/>
              </a:cxn>
            </a:cxnLst>
            <a:rect l="l" t="t" r="r" b="b"/>
            <a:pathLst>
              <a:path w="1573161" h="39291">
                <a:moveTo>
                  <a:pt x="0" y="0"/>
                </a:moveTo>
                <a:lnTo>
                  <a:pt x="1573161" y="0"/>
                </a:lnTo>
                <a:lnTo>
                  <a:pt x="1573161" y="39291"/>
                </a:lnTo>
                <a:lnTo>
                  <a:pt x="0" y="39291"/>
                </a:lnTo>
                <a:close/>
              </a:path>
            </a:pathLst>
          </a:custGeom>
          <a:solidFill>
            <a:srgbClr val="4527A0"/>
          </a:solidFill>
          <a:ln w="6555" cap="flat">
            <a:noFill/>
            <a:prstDash val="solid"/>
            <a:miter/>
          </a:ln>
        </p:spPr>
        <p:txBody>
          <a:bodyPr rtlCol="0" anchor="ctr"/>
          <a:lstStyle/>
          <a:p>
            <a:pPr algn="ctr"/>
            <a:endParaRPr lang="zh-CN" altLang="en-US"/>
          </a:p>
        </p:txBody>
      </p:sp>
      <p:sp>
        <p:nvSpPr>
          <p:cNvPr id="238" name="文本框 237"/>
          <p:cNvSpPr txBox="1"/>
          <p:nvPr/>
        </p:nvSpPr>
        <p:spPr>
          <a:xfrm>
            <a:off x="10737258" y="1636525"/>
            <a:ext cx="936475" cy="219291"/>
          </a:xfrm>
          <a:prstGeom prst="rect">
            <a:avLst/>
          </a:prstGeom>
          <a:noFill/>
        </p:spPr>
        <p:txBody>
          <a:bodyPr wrap="none" rtlCol="0">
            <a:spAutoFit/>
          </a:bodyPr>
          <a:lstStyle/>
          <a:p>
            <a:pPr algn="ctr"/>
            <a:r>
              <a:rPr lang="zh-CN" altLang="en-US" sz="825" b="1" spc="0" baseline="0" dirty="0">
                <a:solidFill>
                  <a:srgbClr val="FFFFFF"/>
                </a:solidFill>
                <a:latin typeface="黑体" panose="02010600030101010101" charset="-122"/>
                <a:ea typeface="黑体" panose="02010600030101010101" charset="-122"/>
                <a:sym typeface="黑体" panose="02010600030101010101" charset="-122"/>
                <a:rtl val="0"/>
              </a:rPr>
              <a:t>政策建议与展望</a:t>
            </a:r>
          </a:p>
        </p:txBody>
      </p:sp>
      <p:sp>
        <p:nvSpPr>
          <p:cNvPr id="239" name="文本框 238"/>
          <p:cNvSpPr txBox="1"/>
          <p:nvPr/>
        </p:nvSpPr>
        <p:spPr>
          <a:xfrm>
            <a:off x="10379671" y="1857477"/>
            <a:ext cx="537328" cy="196208"/>
          </a:xfrm>
          <a:prstGeom prst="rect">
            <a:avLst/>
          </a:prstGeom>
          <a:noFill/>
        </p:spPr>
        <p:txBody>
          <a:bodyPr wrap="none" rtlCol="0">
            <a:spAutoFit/>
          </a:bodyPr>
          <a:lstStyle/>
          <a:p>
            <a:pPr algn="ctr"/>
            <a:r>
              <a:rPr lang="zh-CN" altLang="en-US" sz="675" b="1" spc="0" baseline="0">
                <a:solidFill>
                  <a:srgbClr val="4527A0"/>
                </a:solidFill>
                <a:latin typeface="黑体" panose="02010600030101010101" charset="-122"/>
                <a:ea typeface="黑体" panose="02010600030101010101" charset="-122"/>
                <a:sym typeface="黑体" panose="02010600030101010101" charset="-122"/>
                <a:rtl val="0"/>
              </a:rPr>
              <a:t>政策建议</a:t>
            </a:r>
          </a:p>
        </p:txBody>
      </p:sp>
      <p:sp>
        <p:nvSpPr>
          <p:cNvPr id="240" name="文本框 239"/>
          <p:cNvSpPr txBox="1"/>
          <p:nvPr/>
        </p:nvSpPr>
        <p:spPr>
          <a:xfrm>
            <a:off x="10372387" y="1968801"/>
            <a:ext cx="957313" cy="173124"/>
          </a:xfrm>
          <a:prstGeom prst="rect">
            <a:avLst/>
          </a:prstGeom>
          <a:noFill/>
        </p:spPr>
        <p:txBody>
          <a:bodyPr wrap="none" rtlCol="0">
            <a:spAutoFit/>
          </a:bodyPr>
          <a:lstStyle/>
          <a:p>
            <a:pPr algn="ctr"/>
            <a:r>
              <a:rPr lang="zh-CN" altLang="en-US" sz="525" spc="0" baseline="0">
                <a:solidFill>
                  <a:srgbClr val="333333"/>
                </a:solidFill>
                <a:latin typeface="Cambria Math"/>
                <a:sym typeface="Cambria Math"/>
                <a:rtl val="0"/>
              </a:rPr>
              <a:t>❶</a:t>
            </a: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建立地铁应急运营预案</a:t>
            </a:r>
          </a:p>
        </p:txBody>
      </p:sp>
      <p:sp>
        <p:nvSpPr>
          <p:cNvPr id="241" name="文本框 240"/>
          <p:cNvSpPr txBox="1"/>
          <p:nvPr/>
        </p:nvSpPr>
        <p:spPr>
          <a:xfrm>
            <a:off x="10419096" y="2047383"/>
            <a:ext cx="766557" cy="173124"/>
          </a:xfrm>
          <a:prstGeom prst="rect">
            <a:avLst/>
          </a:prstGeom>
          <a:noFill/>
        </p:spPr>
        <p:txBody>
          <a:bodyPr wrap="none" rtlCol="0">
            <a:spAutoFit/>
          </a:bodyPr>
          <a:lstStyle/>
          <a:p>
            <a:pPr algn="ctr"/>
            <a:r>
              <a:rPr lang="zh-CN" altLang="en-US" sz="525" spc="0" baseline="0">
                <a:solidFill>
                  <a:srgbClr val="666666"/>
                </a:solidFill>
                <a:latin typeface="Arial" panose="020B0604020202090204"/>
                <a:cs typeface="Arial" panose="020B0604020202090204"/>
                <a:sym typeface="Arial" panose="020B0604020202090204"/>
                <a:rtl val="0"/>
              </a:rPr>
              <a:t>(</a:t>
            </a:r>
            <a:r>
              <a:rPr lang="zh-CN" altLang="en-US" sz="525" spc="0" baseline="0">
                <a:solidFill>
                  <a:srgbClr val="666666"/>
                </a:solidFill>
                <a:latin typeface="微软雅黑"/>
                <a:ea typeface="微软雅黑"/>
                <a:cs typeface="Arial" panose="020B0604020202090204"/>
                <a:sym typeface="微软雅黑"/>
                <a:rtl val="0"/>
              </a:rPr>
              <a:t>贡献</a:t>
            </a:r>
            <a:r>
              <a:rPr lang="zh-CN" altLang="en-US" sz="525" spc="0" baseline="0">
                <a:solidFill>
                  <a:srgbClr val="666666"/>
                </a:solidFill>
                <a:latin typeface="Arial" panose="020B0604020202090204"/>
                <a:ea typeface="微软雅黑"/>
                <a:cs typeface="Arial" panose="020B0604020202090204"/>
                <a:sym typeface="Arial" panose="020B0604020202090204"/>
                <a:rtl val="0"/>
              </a:rPr>
              <a:t>69%</a:t>
            </a:r>
            <a:r>
              <a:rPr lang="zh-CN" altLang="en-US" sz="525" spc="0" baseline="0">
                <a:solidFill>
                  <a:srgbClr val="666666"/>
                </a:solidFill>
                <a:latin typeface="微软雅黑"/>
                <a:ea typeface="微软雅黑"/>
                <a:cs typeface="Arial" panose="020B0604020202090204"/>
                <a:sym typeface="微软雅黑"/>
                <a:rtl val="0"/>
              </a:rPr>
              <a:t>疏散能力</a:t>
            </a:r>
            <a:r>
              <a:rPr lang="zh-CN" altLang="en-US" sz="525" spc="0" baseline="0">
                <a:solidFill>
                  <a:srgbClr val="666666"/>
                </a:solidFill>
                <a:latin typeface="Arial" panose="020B0604020202090204"/>
                <a:ea typeface="微软雅黑"/>
                <a:cs typeface="Arial" panose="020B0604020202090204"/>
                <a:sym typeface="Arial" panose="020B0604020202090204"/>
                <a:rtl val="0"/>
              </a:rPr>
              <a:t>)</a:t>
            </a:r>
          </a:p>
        </p:txBody>
      </p:sp>
      <p:sp>
        <p:nvSpPr>
          <p:cNvPr id="242" name="文本框 241"/>
          <p:cNvSpPr txBox="1"/>
          <p:nvPr/>
        </p:nvSpPr>
        <p:spPr>
          <a:xfrm>
            <a:off x="10379711" y="2152159"/>
            <a:ext cx="688009" cy="173124"/>
          </a:xfrm>
          <a:prstGeom prst="rect">
            <a:avLst/>
          </a:prstGeom>
          <a:noFill/>
        </p:spPr>
        <p:txBody>
          <a:bodyPr wrap="none" rtlCol="0">
            <a:spAutoFit/>
          </a:bodyPr>
          <a:lstStyle/>
          <a:p>
            <a:pPr algn="ctr"/>
            <a:r>
              <a:rPr lang="zh-CN" altLang="en-US" sz="525" spc="0" baseline="0" dirty="0">
                <a:solidFill>
                  <a:srgbClr val="333333"/>
                </a:solidFill>
                <a:latin typeface="Cambria Math"/>
                <a:sym typeface="Cambria Math"/>
                <a:rtl val="0"/>
              </a:rPr>
              <a:t>❷</a:t>
            </a:r>
            <a:r>
              <a:rPr lang="zh-CN" altLang="en-US" sz="525" spc="0" baseline="0" dirty="0">
                <a:solidFill>
                  <a:srgbClr val="333333"/>
                </a:solidFill>
                <a:latin typeface="Arial" panose="020B0604020202090204"/>
                <a:cs typeface="Arial" panose="020B0604020202090204"/>
                <a:sym typeface="Arial" panose="020B0604020202090204"/>
                <a:rtl val="0"/>
              </a:rPr>
              <a:t> </a:t>
            </a:r>
            <a:r>
              <a:rPr lang="zh-CN" altLang="en-US" sz="525" spc="0" baseline="0" dirty="0">
                <a:solidFill>
                  <a:srgbClr val="333333"/>
                </a:solidFill>
                <a:latin typeface="微软雅黑"/>
                <a:ea typeface="微软雅黑"/>
                <a:cs typeface="Arial" panose="020B0604020202090204"/>
                <a:sym typeface="微软雅黑"/>
                <a:rtl val="0"/>
              </a:rPr>
              <a:t>分层疏散策略</a:t>
            </a:r>
          </a:p>
        </p:txBody>
      </p:sp>
      <p:sp>
        <p:nvSpPr>
          <p:cNvPr id="243" name="文本框 242"/>
          <p:cNvSpPr txBox="1"/>
          <p:nvPr/>
        </p:nvSpPr>
        <p:spPr>
          <a:xfrm>
            <a:off x="10410442" y="2230741"/>
            <a:ext cx="1159293" cy="173124"/>
          </a:xfrm>
          <a:prstGeom prst="rect">
            <a:avLst/>
          </a:prstGeom>
          <a:noFill/>
        </p:spPr>
        <p:txBody>
          <a:bodyPr wrap="none" rtlCol="0">
            <a:spAutoFit/>
          </a:bodyPr>
          <a:lstStyle/>
          <a:p>
            <a:pPr algn="ctr"/>
            <a:r>
              <a:rPr lang="zh-CN" altLang="en-US" sz="525" spc="0" baseline="0">
                <a:solidFill>
                  <a:srgbClr val="666666"/>
                </a:solidFill>
                <a:latin typeface="Arial" panose="020B0604020202090204"/>
                <a:cs typeface="Arial" panose="020B0604020202090204"/>
                <a:sym typeface="Arial" panose="020B0604020202090204"/>
                <a:rtl val="0"/>
              </a:rPr>
              <a:t>(1km</a:t>
            </a:r>
            <a:r>
              <a:rPr lang="zh-CN" altLang="en-US" sz="525" spc="0" baseline="0">
                <a:solidFill>
                  <a:srgbClr val="666666"/>
                </a:solidFill>
                <a:latin typeface="微软雅黑"/>
                <a:ea typeface="微软雅黑"/>
                <a:cs typeface="Arial" panose="020B0604020202090204"/>
                <a:sym typeface="微软雅黑"/>
                <a:rtl val="0"/>
              </a:rPr>
              <a:t>强制疏散</a:t>
            </a:r>
            <a:r>
              <a:rPr lang="zh-CN" altLang="en-US" sz="525" spc="0" baseline="0">
                <a:solidFill>
                  <a:srgbClr val="666666"/>
                </a:solidFill>
                <a:latin typeface="Arial" panose="020B0604020202090204"/>
                <a:ea typeface="微软雅黑"/>
                <a:cs typeface="Arial" panose="020B0604020202090204"/>
                <a:sym typeface="Arial" panose="020B0604020202090204"/>
                <a:rtl val="0"/>
              </a:rPr>
              <a:t> + 1-3km</a:t>
            </a:r>
            <a:r>
              <a:rPr lang="zh-CN" altLang="en-US" sz="525" spc="0" baseline="0">
                <a:solidFill>
                  <a:srgbClr val="666666"/>
                </a:solidFill>
                <a:latin typeface="微软雅黑"/>
                <a:ea typeface="微软雅黑"/>
                <a:cs typeface="Arial" panose="020B0604020202090204"/>
                <a:sym typeface="微软雅黑"/>
                <a:rtl val="0"/>
              </a:rPr>
              <a:t>就地避难</a:t>
            </a:r>
            <a:r>
              <a:rPr lang="zh-CN" altLang="en-US" sz="525" spc="0" baseline="0">
                <a:solidFill>
                  <a:srgbClr val="666666"/>
                </a:solidFill>
                <a:latin typeface="Arial" panose="020B0604020202090204"/>
                <a:ea typeface="微软雅黑"/>
                <a:cs typeface="Arial" panose="020B0604020202090204"/>
                <a:sym typeface="Arial" panose="020B0604020202090204"/>
                <a:rtl val="0"/>
              </a:rPr>
              <a:t>)</a:t>
            </a:r>
          </a:p>
        </p:txBody>
      </p:sp>
      <p:sp>
        <p:nvSpPr>
          <p:cNvPr id="244" name="文本框 243"/>
          <p:cNvSpPr txBox="1"/>
          <p:nvPr/>
        </p:nvSpPr>
        <p:spPr>
          <a:xfrm>
            <a:off x="10378102" y="2335518"/>
            <a:ext cx="957313" cy="173124"/>
          </a:xfrm>
          <a:prstGeom prst="rect">
            <a:avLst/>
          </a:prstGeom>
          <a:noFill/>
        </p:spPr>
        <p:txBody>
          <a:bodyPr wrap="none" rtlCol="0">
            <a:spAutoFit/>
          </a:bodyPr>
          <a:lstStyle/>
          <a:p>
            <a:pPr algn="ctr"/>
            <a:r>
              <a:rPr lang="zh-CN" altLang="en-US" sz="525" spc="0" baseline="0">
                <a:solidFill>
                  <a:srgbClr val="333333"/>
                </a:solidFill>
                <a:latin typeface="Cambria Math"/>
                <a:sym typeface="Cambria Math"/>
                <a:rtl val="0"/>
              </a:rPr>
              <a:t>❸</a:t>
            </a: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高风险走廊预置直升机</a:t>
            </a:r>
          </a:p>
        </p:txBody>
      </p:sp>
      <p:sp>
        <p:nvSpPr>
          <p:cNvPr id="245" name="文本框 244"/>
          <p:cNvSpPr txBox="1"/>
          <p:nvPr/>
        </p:nvSpPr>
        <p:spPr>
          <a:xfrm>
            <a:off x="10418295" y="2414100"/>
            <a:ext cx="768159" cy="173124"/>
          </a:xfrm>
          <a:prstGeom prst="rect">
            <a:avLst/>
          </a:prstGeom>
          <a:noFill/>
        </p:spPr>
        <p:txBody>
          <a:bodyPr wrap="none" rtlCol="0">
            <a:spAutoFit/>
          </a:bodyPr>
          <a:lstStyle/>
          <a:p>
            <a:pPr algn="ctr"/>
            <a:r>
              <a:rPr lang="zh-CN" altLang="en-US" sz="525" spc="0" baseline="0">
                <a:solidFill>
                  <a:srgbClr val="666666"/>
                </a:solidFill>
                <a:latin typeface="Arial" panose="020B0604020202090204"/>
                <a:cs typeface="Arial" panose="020B0604020202090204"/>
                <a:sym typeface="Arial" panose="020B0604020202090204"/>
                <a:rtl val="0"/>
              </a:rPr>
              <a:t>(</a:t>
            </a:r>
            <a:r>
              <a:rPr lang="zh-CN" altLang="en-US" sz="525" spc="0" baseline="0">
                <a:solidFill>
                  <a:srgbClr val="666666"/>
                </a:solidFill>
                <a:latin typeface="微软雅黑"/>
                <a:ea typeface="微软雅黑"/>
                <a:cs typeface="Arial" panose="020B0604020202090204"/>
                <a:sym typeface="微软雅黑"/>
                <a:rtl val="0"/>
              </a:rPr>
              <a:t>重伤人员快速转运</a:t>
            </a:r>
            <a:r>
              <a:rPr lang="zh-CN" altLang="en-US" sz="525" spc="0" baseline="0">
                <a:solidFill>
                  <a:srgbClr val="666666"/>
                </a:solidFill>
                <a:latin typeface="Arial" panose="020B0604020202090204"/>
                <a:ea typeface="微软雅黑"/>
                <a:cs typeface="Arial" panose="020B0604020202090204"/>
                <a:sym typeface="Arial" panose="020B0604020202090204"/>
                <a:rtl val="0"/>
              </a:rPr>
              <a:t>)</a:t>
            </a:r>
          </a:p>
        </p:txBody>
      </p:sp>
      <p:sp>
        <p:nvSpPr>
          <p:cNvPr id="246" name="文本框 245"/>
          <p:cNvSpPr txBox="1"/>
          <p:nvPr/>
        </p:nvSpPr>
        <p:spPr>
          <a:xfrm>
            <a:off x="10375321" y="2518876"/>
            <a:ext cx="891591" cy="173124"/>
          </a:xfrm>
          <a:prstGeom prst="rect">
            <a:avLst/>
          </a:prstGeom>
          <a:noFill/>
        </p:spPr>
        <p:txBody>
          <a:bodyPr wrap="none" rtlCol="0">
            <a:spAutoFit/>
          </a:bodyPr>
          <a:lstStyle/>
          <a:p>
            <a:pPr algn="ctr"/>
            <a:r>
              <a:rPr lang="zh-CN" altLang="en-US" sz="525" spc="0" baseline="0">
                <a:solidFill>
                  <a:srgbClr val="333333"/>
                </a:solidFill>
                <a:latin typeface="Cambria Math"/>
                <a:sym typeface="Cambria Math"/>
                <a:rtl val="0"/>
              </a:rPr>
              <a:t>❹</a:t>
            </a: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投资无人机基础设施</a:t>
            </a:r>
          </a:p>
        </p:txBody>
      </p:sp>
      <p:sp>
        <p:nvSpPr>
          <p:cNvPr id="247" name="文本框 246"/>
          <p:cNvSpPr txBox="1"/>
          <p:nvPr/>
        </p:nvSpPr>
        <p:spPr>
          <a:xfrm>
            <a:off x="10409552" y="2597458"/>
            <a:ext cx="902812" cy="173124"/>
          </a:xfrm>
          <a:prstGeom prst="rect">
            <a:avLst/>
          </a:prstGeom>
          <a:noFill/>
        </p:spPr>
        <p:txBody>
          <a:bodyPr wrap="none" rtlCol="0">
            <a:spAutoFit/>
          </a:bodyPr>
          <a:lstStyle/>
          <a:p>
            <a:pPr algn="ctr"/>
            <a:r>
              <a:rPr lang="zh-CN" altLang="en-US" sz="525" spc="0" baseline="0">
                <a:solidFill>
                  <a:srgbClr val="666666"/>
                </a:solidFill>
                <a:latin typeface="Arial" panose="020B0604020202090204"/>
                <a:cs typeface="Arial" panose="020B0604020202090204"/>
                <a:sym typeface="Arial" panose="020B0604020202090204"/>
                <a:rtl val="0"/>
              </a:rPr>
              <a:t>(</a:t>
            </a:r>
            <a:r>
              <a:rPr lang="zh-CN" altLang="en-US" sz="525" spc="0" baseline="0">
                <a:solidFill>
                  <a:srgbClr val="666666"/>
                </a:solidFill>
                <a:latin typeface="微软雅黑"/>
                <a:ea typeface="微软雅黑"/>
                <a:cs typeface="Arial" panose="020B0604020202090204"/>
                <a:sym typeface="微软雅黑"/>
                <a:rtl val="0"/>
              </a:rPr>
              <a:t>大范围破坏时优势凸显</a:t>
            </a:r>
            <a:r>
              <a:rPr lang="zh-CN" altLang="en-US" sz="525" spc="0" baseline="0">
                <a:solidFill>
                  <a:srgbClr val="666666"/>
                </a:solidFill>
                <a:latin typeface="Arial" panose="020B0604020202090204"/>
                <a:ea typeface="微软雅黑"/>
                <a:cs typeface="Arial" panose="020B0604020202090204"/>
                <a:sym typeface="Arial" panose="020B0604020202090204"/>
                <a:rtl val="0"/>
              </a:rPr>
              <a:t>)</a:t>
            </a:r>
          </a:p>
        </p:txBody>
      </p:sp>
      <p:sp>
        <p:nvSpPr>
          <p:cNvPr id="248" name="文本框 247"/>
          <p:cNvSpPr txBox="1"/>
          <p:nvPr/>
        </p:nvSpPr>
        <p:spPr>
          <a:xfrm>
            <a:off x="10377319" y="2702234"/>
            <a:ext cx="822662" cy="173124"/>
          </a:xfrm>
          <a:prstGeom prst="rect">
            <a:avLst/>
          </a:prstGeom>
          <a:noFill/>
        </p:spPr>
        <p:txBody>
          <a:bodyPr wrap="none" rtlCol="0">
            <a:spAutoFit/>
          </a:bodyPr>
          <a:lstStyle/>
          <a:p>
            <a:pPr algn="ctr"/>
            <a:r>
              <a:rPr lang="zh-CN" altLang="en-US" sz="525" spc="0" baseline="0">
                <a:solidFill>
                  <a:srgbClr val="333333"/>
                </a:solidFill>
                <a:latin typeface="Cambria Math"/>
                <a:sym typeface="Cambria Math"/>
                <a:rtl val="0"/>
              </a:rPr>
              <a:t>❺</a:t>
            </a: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实时风向监测整合</a:t>
            </a:r>
          </a:p>
        </p:txBody>
      </p:sp>
      <p:sp>
        <p:nvSpPr>
          <p:cNvPr id="249" name="文本框 248"/>
          <p:cNvSpPr txBox="1"/>
          <p:nvPr/>
        </p:nvSpPr>
        <p:spPr>
          <a:xfrm>
            <a:off x="10418295" y="2780816"/>
            <a:ext cx="768159" cy="173124"/>
          </a:xfrm>
          <a:prstGeom prst="rect">
            <a:avLst/>
          </a:prstGeom>
          <a:noFill/>
        </p:spPr>
        <p:txBody>
          <a:bodyPr wrap="none" rtlCol="0">
            <a:spAutoFit/>
          </a:bodyPr>
          <a:lstStyle/>
          <a:p>
            <a:pPr algn="ctr"/>
            <a:r>
              <a:rPr lang="zh-CN" altLang="en-US" sz="525" spc="0" baseline="0">
                <a:solidFill>
                  <a:srgbClr val="666666"/>
                </a:solidFill>
                <a:latin typeface="Arial" panose="020B0604020202090204"/>
                <a:cs typeface="Arial" panose="020B0604020202090204"/>
                <a:sym typeface="Arial" panose="020B0604020202090204"/>
                <a:rtl val="0"/>
              </a:rPr>
              <a:t>(</a:t>
            </a:r>
            <a:r>
              <a:rPr lang="zh-CN" altLang="en-US" sz="525" spc="0" baseline="0">
                <a:solidFill>
                  <a:srgbClr val="666666"/>
                </a:solidFill>
                <a:latin typeface="微软雅黑"/>
                <a:ea typeface="微软雅黑"/>
                <a:cs typeface="Arial" panose="020B0604020202090204"/>
                <a:sym typeface="微软雅黑"/>
                <a:rtl val="0"/>
              </a:rPr>
              <a:t>动态更新危险区域</a:t>
            </a:r>
            <a:r>
              <a:rPr lang="zh-CN" altLang="en-US" sz="525" spc="0" baseline="0">
                <a:solidFill>
                  <a:srgbClr val="666666"/>
                </a:solidFill>
                <a:latin typeface="Arial" panose="020B0604020202090204"/>
                <a:ea typeface="微软雅黑"/>
                <a:cs typeface="Arial" panose="020B0604020202090204"/>
                <a:sym typeface="Arial" panose="020B0604020202090204"/>
                <a:rtl val="0"/>
              </a:rPr>
              <a:t>)</a:t>
            </a:r>
          </a:p>
        </p:txBody>
      </p:sp>
      <p:sp>
        <p:nvSpPr>
          <p:cNvPr id="250" name="任意形状 249"/>
          <p:cNvSpPr/>
          <p:nvPr/>
        </p:nvSpPr>
        <p:spPr>
          <a:xfrm>
            <a:off x="10553290" y="3022483"/>
            <a:ext cx="1310967" cy="6548"/>
          </a:xfrm>
          <a:custGeom>
            <a:avLst/>
            <a:gdLst>
              <a:gd name="connsiteX0" fmla="*/ 0 w 1310967"/>
              <a:gd name="connsiteY0" fmla="*/ 0 h 6548"/>
              <a:gd name="connsiteX1" fmla="*/ 1310968 w 1310967"/>
              <a:gd name="connsiteY1" fmla="*/ 0 h 6548"/>
            </a:gdLst>
            <a:ahLst/>
            <a:cxnLst>
              <a:cxn ang="0">
                <a:pos x="connsiteX0" y="connsiteY0"/>
              </a:cxn>
              <a:cxn ang="0">
                <a:pos x="connsiteX1" y="connsiteY1"/>
              </a:cxn>
            </a:cxnLst>
            <a:rect l="l" t="t" r="r" b="b"/>
            <a:pathLst>
              <a:path w="1310967" h="6548">
                <a:moveTo>
                  <a:pt x="0" y="0"/>
                </a:moveTo>
                <a:lnTo>
                  <a:pt x="1310968" y="0"/>
                </a:lnTo>
              </a:path>
            </a:pathLst>
          </a:custGeom>
          <a:ln w="3277" cap="flat">
            <a:solidFill>
              <a:srgbClr val="D1C4E9"/>
            </a:solidFill>
            <a:prstDash val="solid"/>
            <a:miter/>
          </a:ln>
        </p:spPr>
        <p:txBody>
          <a:bodyPr rtlCol="0" anchor="ctr"/>
          <a:lstStyle/>
          <a:p>
            <a:pPr algn="ctr"/>
            <a:endParaRPr lang="zh-CN" altLang="en-US"/>
          </a:p>
        </p:txBody>
      </p:sp>
      <p:sp>
        <p:nvSpPr>
          <p:cNvPr id="251" name="文本框 250"/>
          <p:cNvSpPr txBox="1"/>
          <p:nvPr/>
        </p:nvSpPr>
        <p:spPr>
          <a:xfrm>
            <a:off x="10390966" y="3087755"/>
            <a:ext cx="541655" cy="195580"/>
          </a:xfrm>
          <a:prstGeom prst="rect">
            <a:avLst/>
          </a:prstGeom>
          <a:noFill/>
        </p:spPr>
        <p:txBody>
          <a:bodyPr wrap="square" rtlCol="0">
            <a:spAutoFit/>
          </a:bodyPr>
          <a:lstStyle/>
          <a:p>
            <a:pPr algn="ctr"/>
            <a:r>
              <a:rPr lang="zh-CN" altLang="en-US" sz="675" b="1" spc="0" baseline="0">
                <a:solidFill>
                  <a:srgbClr val="4527A0"/>
                </a:solidFill>
                <a:latin typeface="黑体" panose="02010600030101010101" charset="-122"/>
                <a:ea typeface="黑体" panose="02010600030101010101" charset="-122"/>
                <a:sym typeface="黑体" panose="02010600030101010101" charset="-122"/>
                <a:rtl val="0"/>
              </a:rPr>
              <a:t>研究局限</a:t>
            </a:r>
          </a:p>
        </p:txBody>
      </p:sp>
      <p:sp>
        <p:nvSpPr>
          <p:cNvPr id="252" name="文本框 251"/>
          <p:cNvSpPr txBox="1"/>
          <p:nvPr/>
        </p:nvSpPr>
        <p:spPr>
          <a:xfrm>
            <a:off x="10387272" y="3198904"/>
            <a:ext cx="1035861"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贪心启发式不保证全局最优</a:t>
            </a:r>
          </a:p>
        </p:txBody>
      </p:sp>
      <p:sp>
        <p:nvSpPr>
          <p:cNvPr id="253" name="文本框 252"/>
          <p:cNvSpPr txBox="1"/>
          <p:nvPr/>
        </p:nvSpPr>
        <p:spPr>
          <a:xfrm>
            <a:off x="10386076" y="3290583"/>
            <a:ext cx="1103187"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人口年龄结构区县级均匀假设</a:t>
            </a:r>
          </a:p>
        </p:txBody>
      </p:sp>
      <p:sp>
        <p:nvSpPr>
          <p:cNvPr id="254" name="文本框 253"/>
          <p:cNvSpPr txBox="1"/>
          <p:nvPr/>
        </p:nvSpPr>
        <p:spPr>
          <a:xfrm>
            <a:off x="10386275" y="3382262"/>
            <a:ext cx="881973"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静态高斯烟羽</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a:solidFill>
                  <a:srgbClr val="333333"/>
                </a:solidFill>
                <a:latin typeface="微软雅黑"/>
                <a:ea typeface="微软雅黑"/>
                <a:cs typeface="Arial" panose="020B0604020202090204"/>
                <a:sym typeface="微软雅黑"/>
                <a:rtl val="0"/>
              </a:rPr>
              <a:t>非</a:t>
            </a:r>
            <a:r>
              <a:rPr lang="zh-CN" altLang="en-US" sz="525" spc="0" baseline="0">
                <a:solidFill>
                  <a:srgbClr val="333333"/>
                </a:solidFill>
                <a:latin typeface="Arial" panose="020B0604020202090204"/>
                <a:ea typeface="微软雅黑"/>
                <a:cs typeface="Arial" panose="020B0604020202090204"/>
                <a:sym typeface="Arial" panose="020B0604020202090204"/>
                <a:rtl val="0"/>
              </a:rPr>
              <a:t>CFD)</a:t>
            </a:r>
          </a:p>
        </p:txBody>
      </p:sp>
      <p:sp>
        <p:nvSpPr>
          <p:cNvPr id="255" name="文本框 254"/>
          <p:cNvSpPr txBox="1"/>
          <p:nvPr/>
        </p:nvSpPr>
        <p:spPr>
          <a:xfrm>
            <a:off x="10385965" y="3473941"/>
            <a:ext cx="1083951"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BPR</a:t>
            </a:r>
            <a:r>
              <a:rPr lang="zh-CN" altLang="en-US" sz="525" spc="0" baseline="0">
                <a:solidFill>
                  <a:srgbClr val="333333"/>
                </a:solidFill>
                <a:latin typeface="微软雅黑"/>
                <a:ea typeface="微软雅黑"/>
                <a:cs typeface="Arial" panose="020B0604020202090204"/>
                <a:sym typeface="微软雅黑"/>
                <a:rtl val="0"/>
              </a:rPr>
              <a:t>静态拥堵</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r>
              <a:rPr lang="zh-CN" altLang="en-US" sz="525" spc="0" baseline="0">
                <a:solidFill>
                  <a:srgbClr val="333333"/>
                </a:solidFill>
                <a:latin typeface="微软雅黑"/>
                <a:ea typeface="微软雅黑"/>
                <a:cs typeface="Arial" panose="020B0604020202090204"/>
                <a:sym typeface="微软雅黑"/>
                <a:rtl val="0"/>
              </a:rPr>
              <a:t>非动态交通流</a:t>
            </a:r>
            <a:r>
              <a:rPr lang="zh-CN" altLang="en-US" sz="525" spc="0" baseline="0">
                <a:solidFill>
                  <a:srgbClr val="333333"/>
                </a:solidFill>
                <a:latin typeface="Arial" panose="020B0604020202090204"/>
                <a:ea typeface="微软雅黑"/>
                <a:cs typeface="Arial" panose="020B0604020202090204"/>
                <a:sym typeface="Arial" panose="020B0604020202090204"/>
                <a:rtl val="0"/>
              </a:rPr>
              <a:t>)</a:t>
            </a:r>
          </a:p>
        </p:txBody>
      </p:sp>
      <p:sp>
        <p:nvSpPr>
          <p:cNvPr id="256" name="任意形状 255"/>
          <p:cNvSpPr/>
          <p:nvPr/>
        </p:nvSpPr>
        <p:spPr>
          <a:xfrm>
            <a:off x="10553290" y="3695963"/>
            <a:ext cx="1310967" cy="6548"/>
          </a:xfrm>
          <a:custGeom>
            <a:avLst/>
            <a:gdLst>
              <a:gd name="connsiteX0" fmla="*/ 0 w 1310967"/>
              <a:gd name="connsiteY0" fmla="*/ 0 h 6548"/>
              <a:gd name="connsiteX1" fmla="*/ 1310968 w 1310967"/>
              <a:gd name="connsiteY1" fmla="*/ 0 h 6548"/>
            </a:gdLst>
            <a:ahLst/>
            <a:cxnLst>
              <a:cxn ang="0">
                <a:pos x="connsiteX0" y="connsiteY0"/>
              </a:cxn>
              <a:cxn ang="0">
                <a:pos x="connsiteX1" y="connsiteY1"/>
              </a:cxn>
            </a:cxnLst>
            <a:rect l="l" t="t" r="r" b="b"/>
            <a:pathLst>
              <a:path w="1310967" h="6548">
                <a:moveTo>
                  <a:pt x="0" y="0"/>
                </a:moveTo>
                <a:lnTo>
                  <a:pt x="1310968" y="0"/>
                </a:lnTo>
              </a:path>
            </a:pathLst>
          </a:custGeom>
          <a:ln w="3277" cap="flat">
            <a:solidFill>
              <a:srgbClr val="D1C4E9"/>
            </a:solidFill>
            <a:prstDash val="solid"/>
            <a:miter/>
          </a:ln>
        </p:spPr>
        <p:txBody>
          <a:bodyPr rtlCol="0" anchor="ctr"/>
          <a:lstStyle/>
          <a:p>
            <a:pPr algn="ctr"/>
            <a:endParaRPr lang="zh-CN" altLang="en-US"/>
          </a:p>
        </p:txBody>
      </p:sp>
      <p:sp>
        <p:nvSpPr>
          <p:cNvPr id="257" name="文本框 256"/>
          <p:cNvSpPr txBox="1"/>
          <p:nvPr/>
        </p:nvSpPr>
        <p:spPr>
          <a:xfrm>
            <a:off x="10389196" y="3754511"/>
            <a:ext cx="537328" cy="196208"/>
          </a:xfrm>
          <a:prstGeom prst="rect">
            <a:avLst/>
          </a:prstGeom>
          <a:noFill/>
        </p:spPr>
        <p:txBody>
          <a:bodyPr wrap="none" rtlCol="0">
            <a:spAutoFit/>
          </a:bodyPr>
          <a:lstStyle/>
          <a:p>
            <a:pPr algn="ctr"/>
            <a:r>
              <a:rPr lang="zh-CN" altLang="en-US" sz="675" b="1" spc="0" baseline="0">
                <a:solidFill>
                  <a:srgbClr val="4527A0"/>
                </a:solidFill>
                <a:latin typeface="黑体" panose="02010600030101010101" charset="-122"/>
                <a:ea typeface="黑体" panose="02010600030101010101" charset="-122"/>
                <a:sym typeface="黑体" panose="02010600030101010101" charset="-122"/>
                <a:rtl val="0"/>
              </a:rPr>
              <a:t>未来方向</a:t>
            </a:r>
          </a:p>
        </p:txBody>
      </p:sp>
      <p:sp>
        <p:nvSpPr>
          <p:cNvPr id="258" name="文本框 257"/>
          <p:cNvSpPr txBox="1"/>
          <p:nvPr/>
        </p:nvSpPr>
        <p:spPr>
          <a:xfrm>
            <a:off x="10375091" y="3865835"/>
            <a:ext cx="1119217"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MIP</a:t>
            </a:r>
            <a:r>
              <a:rPr lang="zh-CN" altLang="en-US" sz="525" spc="0" baseline="0">
                <a:solidFill>
                  <a:srgbClr val="333333"/>
                </a:solidFill>
                <a:latin typeface="微软雅黑"/>
                <a:ea typeface="微软雅黑"/>
                <a:cs typeface="Arial" panose="020B0604020202090204"/>
                <a:sym typeface="微软雅黑"/>
                <a:rtl val="0"/>
              </a:rPr>
              <a:t>精确方法</a:t>
            </a:r>
            <a:r>
              <a:rPr lang="zh-CN" altLang="en-US" sz="525" spc="0" baseline="0">
                <a:solidFill>
                  <a:srgbClr val="333333"/>
                </a:solidFill>
                <a:latin typeface="Arial" panose="020B0604020202090204"/>
                <a:ea typeface="微软雅黑"/>
                <a:cs typeface="Arial" panose="020B0604020202090204"/>
                <a:sym typeface="Arial" panose="020B0604020202090204"/>
                <a:rtl val="0"/>
              </a:rPr>
              <a:t> / ALNS</a:t>
            </a:r>
            <a:r>
              <a:rPr lang="zh-CN" altLang="en-US" sz="525" spc="0" baseline="0">
                <a:solidFill>
                  <a:srgbClr val="333333"/>
                </a:solidFill>
                <a:latin typeface="微软雅黑"/>
                <a:ea typeface="微软雅黑"/>
                <a:cs typeface="Arial" panose="020B0604020202090204"/>
                <a:sym typeface="微软雅黑"/>
                <a:rtl val="0"/>
              </a:rPr>
              <a:t>元启发式</a:t>
            </a:r>
          </a:p>
        </p:txBody>
      </p:sp>
      <p:sp>
        <p:nvSpPr>
          <p:cNvPr id="259" name="文本框 258"/>
          <p:cNvSpPr txBox="1"/>
          <p:nvPr/>
        </p:nvSpPr>
        <p:spPr>
          <a:xfrm>
            <a:off x="10374681" y="3957514"/>
            <a:ext cx="769763"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CFD</a:t>
            </a:r>
            <a:r>
              <a:rPr lang="zh-CN" altLang="en-US" sz="525" spc="0" baseline="0">
                <a:solidFill>
                  <a:srgbClr val="333333"/>
                </a:solidFill>
                <a:latin typeface="微软雅黑"/>
                <a:ea typeface="微软雅黑"/>
                <a:cs typeface="Arial" panose="020B0604020202090204"/>
                <a:sym typeface="微软雅黑"/>
                <a:rtl val="0"/>
              </a:rPr>
              <a:t>耦合扩散模拟</a:t>
            </a:r>
          </a:p>
        </p:txBody>
      </p:sp>
      <p:sp>
        <p:nvSpPr>
          <p:cNvPr id="260" name="文本框 259"/>
          <p:cNvSpPr txBox="1"/>
          <p:nvPr/>
        </p:nvSpPr>
        <p:spPr>
          <a:xfrm>
            <a:off x="10371811" y="4049193"/>
            <a:ext cx="833883"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中微观交通仿真耦合</a:t>
            </a:r>
          </a:p>
        </p:txBody>
      </p:sp>
      <p:sp>
        <p:nvSpPr>
          <p:cNvPr id="261" name="文本框 260"/>
          <p:cNvSpPr txBox="1"/>
          <p:nvPr/>
        </p:nvSpPr>
        <p:spPr>
          <a:xfrm>
            <a:off x="10374203" y="4140872"/>
            <a:ext cx="699230"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建筑级人口模型</a:t>
            </a:r>
          </a:p>
        </p:txBody>
      </p:sp>
      <p:sp>
        <p:nvSpPr>
          <p:cNvPr id="262" name="文本框 261"/>
          <p:cNvSpPr txBox="1"/>
          <p:nvPr/>
        </p:nvSpPr>
        <p:spPr>
          <a:xfrm>
            <a:off x="10373790" y="4232551"/>
            <a:ext cx="901209" cy="173124"/>
          </a:xfrm>
          <a:prstGeom prst="rect">
            <a:avLst/>
          </a:prstGeom>
          <a:noFill/>
        </p:spPr>
        <p:txBody>
          <a:bodyPr wrap="none" rtlCol="0">
            <a:spAutoFit/>
          </a:bodyPr>
          <a:lstStyle/>
          <a:p>
            <a:pPr algn="ctr"/>
            <a:r>
              <a:rPr lang="zh-CN" altLang="en-US" sz="525" spc="0" baseline="0">
                <a:solidFill>
                  <a:srgbClr val="333333"/>
                </a:solidFill>
                <a:latin typeface="Arial" panose="020B0604020202090204"/>
                <a:cs typeface="Arial" panose="020B0604020202090204"/>
                <a:sym typeface="Arial" panose="020B0604020202090204"/>
                <a:rtl val="0"/>
              </a:rPr>
              <a:t>• </a:t>
            </a:r>
            <a:r>
              <a:rPr lang="zh-CN" altLang="en-US" sz="525" spc="0" baseline="0">
                <a:solidFill>
                  <a:srgbClr val="333333"/>
                </a:solidFill>
                <a:latin typeface="微软雅黑"/>
                <a:ea typeface="微软雅黑"/>
                <a:cs typeface="Arial" panose="020B0604020202090204"/>
                <a:sym typeface="微软雅黑"/>
                <a:rtl val="0"/>
              </a:rPr>
              <a:t>实际应急预案数据标定</a:t>
            </a:r>
          </a:p>
        </p:txBody>
      </p:sp>
      <p:sp>
        <p:nvSpPr>
          <p:cNvPr id="263" name="任意形状 262"/>
          <p:cNvSpPr/>
          <p:nvPr/>
        </p:nvSpPr>
        <p:spPr>
          <a:xfrm>
            <a:off x="2523612" y="3330770"/>
            <a:ext cx="150761" cy="6548"/>
          </a:xfrm>
          <a:custGeom>
            <a:avLst/>
            <a:gdLst>
              <a:gd name="connsiteX0" fmla="*/ 0 w 150761"/>
              <a:gd name="connsiteY0" fmla="*/ 0 h 6548"/>
              <a:gd name="connsiteX1" fmla="*/ 150761 w 150761"/>
              <a:gd name="connsiteY1" fmla="*/ 0 h 6548"/>
            </a:gdLst>
            <a:ahLst/>
            <a:cxnLst>
              <a:cxn ang="0">
                <a:pos x="connsiteX0" y="connsiteY0"/>
              </a:cxn>
              <a:cxn ang="0">
                <a:pos x="connsiteX1" y="connsiteY1"/>
              </a:cxn>
            </a:cxnLst>
            <a:rect l="l" t="t" r="r" b="b"/>
            <a:pathLst>
              <a:path w="150761" h="6548">
                <a:moveTo>
                  <a:pt x="0" y="0"/>
                </a:moveTo>
                <a:lnTo>
                  <a:pt x="150761" y="0"/>
                </a:lnTo>
              </a:path>
            </a:pathLst>
          </a:custGeom>
          <a:ln w="9832" cap="flat">
            <a:solidFill>
              <a:srgbClr val="455A64"/>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64" name="任意形状 263"/>
          <p:cNvSpPr/>
          <p:nvPr/>
        </p:nvSpPr>
        <p:spPr>
          <a:xfrm>
            <a:off x="4326193" y="2348495"/>
            <a:ext cx="249083" cy="130970"/>
          </a:xfrm>
          <a:custGeom>
            <a:avLst/>
            <a:gdLst>
              <a:gd name="connsiteX0" fmla="*/ 0 w 249083"/>
              <a:gd name="connsiteY0" fmla="*/ 130970 h 130970"/>
              <a:gd name="connsiteX1" fmla="*/ 163871 w 249083"/>
              <a:gd name="connsiteY1" fmla="*/ 130970 h 130970"/>
              <a:gd name="connsiteX2" fmla="*/ 163871 w 249083"/>
              <a:gd name="connsiteY2" fmla="*/ 0 h 130970"/>
              <a:gd name="connsiteX3" fmla="*/ 249084 w 249083"/>
              <a:gd name="connsiteY3" fmla="*/ 0 h 130970"/>
            </a:gdLst>
            <a:ahLst/>
            <a:cxnLst>
              <a:cxn ang="0">
                <a:pos x="connsiteX0" y="connsiteY0"/>
              </a:cxn>
              <a:cxn ang="0">
                <a:pos x="connsiteX1" y="connsiteY1"/>
              </a:cxn>
              <a:cxn ang="0">
                <a:pos x="connsiteX2" y="connsiteY2"/>
              </a:cxn>
              <a:cxn ang="0">
                <a:pos x="connsiteX3" y="connsiteY3"/>
              </a:cxn>
            </a:cxnLst>
            <a:rect l="l" t="t" r="r" b="b"/>
            <a:pathLst>
              <a:path w="249083" h="130970">
                <a:moveTo>
                  <a:pt x="0" y="130970"/>
                </a:moveTo>
                <a:lnTo>
                  <a:pt x="163871" y="130970"/>
                </a:lnTo>
                <a:lnTo>
                  <a:pt x="163871" y="0"/>
                </a:lnTo>
                <a:lnTo>
                  <a:pt x="249084" y="0"/>
                </a:lnTo>
              </a:path>
            </a:pathLst>
          </a:custGeom>
          <a:noFill/>
          <a:ln w="9832" cap="flat">
            <a:solidFill>
              <a:srgbClr val="2E7D32"/>
            </a:solidFill>
            <a:prstDash val="solid"/>
            <a:miter/>
          </a:ln>
        </p:spPr>
        <p:txBody>
          <a:bodyPr rtlCol="0" anchor="ctr"/>
          <a:lstStyle/>
          <a:p>
            <a:pPr algn="ctr"/>
            <a:endParaRPr lang="zh-CN" altLang="en-US"/>
          </a:p>
        </p:txBody>
      </p:sp>
      <p:sp>
        <p:nvSpPr>
          <p:cNvPr id="265" name="任意形状 264"/>
          <p:cNvSpPr/>
          <p:nvPr/>
        </p:nvSpPr>
        <p:spPr>
          <a:xfrm>
            <a:off x="4326193" y="3723681"/>
            <a:ext cx="249083" cy="65485"/>
          </a:xfrm>
          <a:custGeom>
            <a:avLst/>
            <a:gdLst>
              <a:gd name="connsiteX0" fmla="*/ 0 w 249083"/>
              <a:gd name="connsiteY0" fmla="*/ 65485 h 65485"/>
              <a:gd name="connsiteX1" fmla="*/ 163871 w 249083"/>
              <a:gd name="connsiteY1" fmla="*/ 65485 h 65485"/>
              <a:gd name="connsiteX2" fmla="*/ 163871 w 249083"/>
              <a:gd name="connsiteY2" fmla="*/ 0 h 65485"/>
              <a:gd name="connsiteX3" fmla="*/ 249084 w 249083"/>
              <a:gd name="connsiteY3" fmla="*/ 0 h 65485"/>
            </a:gdLst>
            <a:ahLst/>
            <a:cxnLst>
              <a:cxn ang="0">
                <a:pos x="connsiteX0" y="connsiteY0"/>
              </a:cxn>
              <a:cxn ang="0">
                <a:pos x="connsiteX1" y="connsiteY1"/>
              </a:cxn>
              <a:cxn ang="0">
                <a:pos x="connsiteX2" y="connsiteY2"/>
              </a:cxn>
              <a:cxn ang="0">
                <a:pos x="connsiteX3" y="connsiteY3"/>
              </a:cxn>
            </a:cxnLst>
            <a:rect l="l" t="t" r="r" b="b"/>
            <a:pathLst>
              <a:path w="249083" h="65485">
                <a:moveTo>
                  <a:pt x="0" y="65485"/>
                </a:moveTo>
                <a:lnTo>
                  <a:pt x="163871" y="65485"/>
                </a:lnTo>
                <a:lnTo>
                  <a:pt x="163871" y="0"/>
                </a:lnTo>
                <a:lnTo>
                  <a:pt x="249084" y="0"/>
                </a:lnTo>
              </a:path>
            </a:pathLst>
          </a:custGeom>
          <a:noFill/>
          <a:ln w="9832" cap="flat">
            <a:solidFill>
              <a:srgbClr val="4527A0"/>
            </a:solidFill>
            <a:prstDash val="solid"/>
            <a:miter/>
          </a:ln>
        </p:spPr>
        <p:txBody>
          <a:bodyPr rtlCol="0" anchor="ctr"/>
          <a:lstStyle/>
          <a:p>
            <a:pPr algn="ctr"/>
            <a:endParaRPr lang="zh-CN" altLang="en-US"/>
          </a:p>
        </p:txBody>
      </p:sp>
      <p:sp>
        <p:nvSpPr>
          <p:cNvPr id="266" name="任意形状 265"/>
          <p:cNvSpPr/>
          <p:nvPr/>
        </p:nvSpPr>
        <p:spPr>
          <a:xfrm>
            <a:off x="8337754" y="2479465"/>
            <a:ext cx="235974" cy="6548"/>
          </a:xfrm>
          <a:custGeom>
            <a:avLst/>
            <a:gdLst>
              <a:gd name="connsiteX0" fmla="*/ 0 w 235974"/>
              <a:gd name="connsiteY0" fmla="*/ 0 h 6548"/>
              <a:gd name="connsiteX1" fmla="*/ 235974 w 235974"/>
              <a:gd name="connsiteY1" fmla="*/ 0 h 6548"/>
            </a:gdLst>
            <a:ahLst/>
            <a:cxnLst>
              <a:cxn ang="0">
                <a:pos x="connsiteX0" y="connsiteY0"/>
              </a:cxn>
              <a:cxn ang="0">
                <a:pos x="connsiteX1" y="connsiteY1"/>
              </a:cxn>
            </a:cxnLst>
            <a:rect l="l" t="t" r="r" b="b"/>
            <a:pathLst>
              <a:path w="235974" h="6548">
                <a:moveTo>
                  <a:pt x="0" y="0"/>
                </a:moveTo>
                <a:lnTo>
                  <a:pt x="235974" y="0"/>
                </a:lnTo>
              </a:path>
            </a:pathLst>
          </a:custGeom>
          <a:ln w="9832" cap="flat">
            <a:solidFill>
              <a:srgbClr val="C62828"/>
            </a:solidFill>
            <a:prstDash val="solid"/>
            <a:miter/>
          </a:ln>
        </p:spPr>
        <p:txBody>
          <a:bodyPr rtlCol="0" anchor="ctr"/>
          <a:lstStyle/>
          <a:p>
            <a:pPr algn="ctr"/>
            <a:endParaRPr lang="zh-CN" altLang="en-US"/>
          </a:p>
        </p:txBody>
      </p:sp>
      <p:sp>
        <p:nvSpPr>
          <p:cNvPr id="267" name="任意形状 266"/>
          <p:cNvSpPr/>
          <p:nvPr/>
        </p:nvSpPr>
        <p:spPr>
          <a:xfrm>
            <a:off x="8337754" y="3461741"/>
            <a:ext cx="235974" cy="327425"/>
          </a:xfrm>
          <a:custGeom>
            <a:avLst/>
            <a:gdLst>
              <a:gd name="connsiteX0" fmla="*/ 0 w 235974"/>
              <a:gd name="connsiteY0" fmla="*/ 327425 h 327425"/>
              <a:gd name="connsiteX1" fmla="*/ 117987 w 235974"/>
              <a:gd name="connsiteY1" fmla="*/ 327425 h 327425"/>
              <a:gd name="connsiteX2" fmla="*/ 117987 w 235974"/>
              <a:gd name="connsiteY2" fmla="*/ 0 h 327425"/>
              <a:gd name="connsiteX3" fmla="*/ 235974 w 235974"/>
              <a:gd name="connsiteY3" fmla="*/ 0 h 327425"/>
            </a:gdLst>
            <a:ahLst/>
            <a:cxnLst>
              <a:cxn ang="0">
                <a:pos x="connsiteX0" y="connsiteY0"/>
              </a:cxn>
              <a:cxn ang="0">
                <a:pos x="connsiteX1" y="connsiteY1"/>
              </a:cxn>
              <a:cxn ang="0">
                <a:pos x="connsiteX2" y="connsiteY2"/>
              </a:cxn>
              <a:cxn ang="0">
                <a:pos x="connsiteX3" y="connsiteY3"/>
              </a:cxn>
            </a:cxnLst>
            <a:rect l="l" t="t" r="r" b="b"/>
            <a:pathLst>
              <a:path w="235974" h="327425">
                <a:moveTo>
                  <a:pt x="0" y="327425"/>
                </a:moveTo>
                <a:lnTo>
                  <a:pt x="117987" y="327425"/>
                </a:lnTo>
                <a:lnTo>
                  <a:pt x="117987" y="0"/>
                </a:lnTo>
                <a:lnTo>
                  <a:pt x="235974" y="0"/>
                </a:lnTo>
              </a:path>
            </a:pathLst>
          </a:custGeom>
          <a:noFill/>
          <a:ln w="9832" cap="flat">
            <a:solidFill>
              <a:srgbClr val="C62828"/>
            </a:solidFill>
            <a:prstDash val="solid"/>
            <a:miter/>
          </a:ln>
        </p:spPr>
        <p:txBody>
          <a:bodyPr rtlCol="0" anchor="ctr"/>
          <a:lstStyle/>
          <a:p>
            <a:pPr algn="ctr"/>
            <a:endParaRPr lang="zh-CN" altLang="en-US"/>
          </a:p>
        </p:txBody>
      </p:sp>
      <p:sp>
        <p:nvSpPr>
          <p:cNvPr id="269" name="任意形状 268"/>
          <p:cNvSpPr/>
          <p:nvPr/>
        </p:nvSpPr>
        <p:spPr>
          <a:xfrm>
            <a:off x="721032" y="2027618"/>
            <a:ext cx="6554" cy="78582"/>
          </a:xfrm>
          <a:custGeom>
            <a:avLst/>
            <a:gdLst>
              <a:gd name="connsiteX0" fmla="*/ 0 w 6554"/>
              <a:gd name="connsiteY0" fmla="*/ 0 h 78582"/>
              <a:gd name="connsiteX1" fmla="*/ 0 w 6554"/>
              <a:gd name="connsiteY1" fmla="*/ 78582 h 78582"/>
            </a:gdLst>
            <a:ahLst/>
            <a:cxnLst>
              <a:cxn ang="0">
                <a:pos x="connsiteX0" y="connsiteY0"/>
              </a:cxn>
              <a:cxn ang="0">
                <a:pos x="connsiteX1" y="connsiteY1"/>
              </a:cxn>
            </a:cxnLst>
            <a:rect l="l" t="t" r="r" b="b"/>
            <a:pathLst>
              <a:path w="6554" h="78582">
                <a:moveTo>
                  <a:pt x="0" y="0"/>
                </a:moveTo>
                <a:lnTo>
                  <a:pt x="0" y="78582"/>
                </a:lnTo>
              </a:path>
            </a:pathLst>
          </a:custGeom>
          <a:ln w="3933" cap="flat">
            <a:solidFill>
              <a:srgbClr val="90CAF9"/>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70" name="任意形状 269"/>
          <p:cNvSpPr/>
          <p:nvPr/>
        </p:nvSpPr>
        <p:spPr>
          <a:xfrm>
            <a:off x="1900903" y="2027618"/>
            <a:ext cx="6554" cy="78582"/>
          </a:xfrm>
          <a:custGeom>
            <a:avLst/>
            <a:gdLst>
              <a:gd name="connsiteX0" fmla="*/ 0 w 6554"/>
              <a:gd name="connsiteY0" fmla="*/ 0 h 78582"/>
              <a:gd name="connsiteX1" fmla="*/ 0 w 6554"/>
              <a:gd name="connsiteY1" fmla="*/ 78582 h 78582"/>
            </a:gdLst>
            <a:ahLst/>
            <a:cxnLst>
              <a:cxn ang="0">
                <a:pos x="connsiteX0" y="connsiteY0"/>
              </a:cxn>
              <a:cxn ang="0">
                <a:pos x="connsiteX1" y="connsiteY1"/>
              </a:cxn>
            </a:cxnLst>
            <a:rect l="l" t="t" r="r" b="b"/>
            <a:pathLst>
              <a:path w="6554" h="78582">
                <a:moveTo>
                  <a:pt x="0" y="0"/>
                </a:moveTo>
                <a:lnTo>
                  <a:pt x="0" y="78582"/>
                </a:lnTo>
              </a:path>
            </a:pathLst>
          </a:custGeom>
          <a:ln w="3933" cap="flat">
            <a:solidFill>
              <a:srgbClr val="90CAF9"/>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71" name="任意形状 270"/>
          <p:cNvSpPr/>
          <p:nvPr/>
        </p:nvSpPr>
        <p:spPr>
          <a:xfrm>
            <a:off x="721032" y="2517542"/>
            <a:ext cx="6554" cy="78582"/>
          </a:xfrm>
          <a:custGeom>
            <a:avLst/>
            <a:gdLst>
              <a:gd name="connsiteX0" fmla="*/ 0 w 6554"/>
              <a:gd name="connsiteY0" fmla="*/ 0 h 78582"/>
              <a:gd name="connsiteX1" fmla="*/ 0 w 6554"/>
              <a:gd name="connsiteY1" fmla="*/ 78582 h 78582"/>
            </a:gdLst>
            <a:ahLst/>
            <a:cxnLst>
              <a:cxn ang="0">
                <a:pos x="connsiteX0" y="connsiteY0"/>
              </a:cxn>
              <a:cxn ang="0">
                <a:pos x="connsiteX1" y="connsiteY1"/>
              </a:cxn>
            </a:cxnLst>
            <a:rect l="l" t="t" r="r" b="b"/>
            <a:pathLst>
              <a:path w="6554" h="78582">
                <a:moveTo>
                  <a:pt x="0" y="0"/>
                </a:moveTo>
                <a:lnTo>
                  <a:pt x="0" y="78582"/>
                </a:lnTo>
              </a:path>
            </a:pathLst>
          </a:custGeom>
          <a:ln w="3933" cap="flat">
            <a:solidFill>
              <a:srgbClr val="90CAF9"/>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72" name="任意形状 271"/>
          <p:cNvSpPr/>
          <p:nvPr/>
        </p:nvSpPr>
        <p:spPr>
          <a:xfrm>
            <a:off x="1900903" y="2517542"/>
            <a:ext cx="6554" cy="78582"/>
          </a:xfrm>
          <a:custGeom>
            <a:avLst/>
            <a:gdLst>
              <a:gd name="connsiteX0" fmla="*/ 0 w 6554"/>
              <a:gd name="connsiteY0" fmla="*/ 0 h 78582"/>
              <a:gd name="connsiteX1" fmla="*/ 0 w 6554"/>
              <a:gd name="connsiteY1" fmla="*/ 78582 h 78582"/>
            </a:gdLst>
            <a:ahLst/>
            <a:cxnLst>
              <a:cxn ang="0">
                <a:pos x="connsiteX0" y="connsiteY0"/>
              </a:cxn>
              <a:cxn ang="0">
                <a:pos x="connsiteX1" y="connsiteY1"/>
              </a:cxn>
            </a:cxnLst>
            <a:rect l="l" t="t" r="r" b="b"/>
            <a:pathLst>
              <a:path w="6554" h="78582">
                <a:moveTo>
                  <a:pt x="0" y="0"/>
                </a:moveTo>
                <a:lnTo>
                  <a:pt x="0" y="78582"/>
                </a:lnTo>
              </a:path>
            </a:pathLst>
          </a:custGeom>
          <a:ln w="3933" cap="flat">
            <a:solidFill>
              <a:srgbClr val="90CAF9"/>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73" name="任意形状 272"/>
          <p:cNvSpPr/>
          <p:nvPr/>
        </p:nvSpPr>
        <p:spPr>
          <a:xfrm>
            <a:off x="1310966" y="3022616"/>
            <a:ext cx="45719" cy="305772"/>
          </a:xfrm>
          <a:custGeom>
            <a:avLst/>
            <a:gdLst>
              <a:gd name="connsiteX0" fmla="*/ 0 w 6554"/>
              <a:gd name="connsiteY0" fmla="*/ 0 h 111324"/>
              <a:gd name="connsiteX1" fmla="*/ 0 w 6554"/>
              <a:gd name="connsiteY1" fmla="*/ 111325 h 111324"/>
            </a:gdLst>
            <a:ahLst/>
            <a:cxnLst>
              <a:cxn ang="0">
                <a:pos x="connsiteX0" y="connsiteY0"/>
              </a:cxn>
              <a:cxn ang="0">
                <a:pos x="connsiteX1" y="connsiteY1"/>
              </a:cxn>
            </a:cxnLst>
            <a:rect l="l" t="t" r="r" b="b"/>
            <a:pathLst>
              <a:path w="6554" h="111324">
                <a:moveTo>
                  <a:pt x="0" y="0"/>
                </a:moveTo>
                <a:lnTo>
                  <a:pt x="0" y="111325"/>
                </a:lnTo>
              </a:path>
            </a:pathLst>
          </a:custGeom>
          <a:ln w="6555" cap="flat">
            <a:solidFill>
              <a:srgbClr val="1565C0"/>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74" name="任意形状 273"/>
          <p:cNvSpPr/>
          <p:nvPr/>
        </p:nvSpPr>
        <p:spPr>
          <a:xfrm>
            <a:off x="1343740" y="3978115"/>
            <a:ext cx="45719" cy="254435"/>
          </a:xfrm>
          <a:custGeom>
            <a:avLst/>
            <a:gdLst>
              <a:gd name="connsiteX0" fmla="*/ 0 w 6554"/>
              <a:gd name="connsiteY0" fmla="*/ 0 h 85130"/>
              <a:gd name="connsiteX1" fmla="*/ 0 w 6554"/>
              <a:gd name="connsiteY1" fmla="*/ 85131 h 85130"/>
            </a:gdLst>
            <a:ahLst/>
            <a:cxnLst>
              <a:cxn ang="0">
                <a:pos x="connsiteX0" y="connsiteY0"/>
              </a:cxn>
              <a:cxn ang="0">
                <a:pos x="connsiteX1" y="connsiteY1"/>
              </a:cxn>
            </a:cxnLst>
            <a:rect l="l" t="t" r="r" b="b"/>
            <a:pathLst>
              <a:path w="6554" h="85130">
                <a:moveTo>
                  <a:pt x="0" y="0"/>
                </a:moveTo>
                <a:lnTo>
                  <a:pt x="0" y="85131"/>
                </a:lnTo>
              </a:path>
            </a:pathLst>
          </a:custGeom>
          <a:ln w="6555" cap="flat">
            <a:solidFill>
              <a:srgbClr val="0D47A1"/>
            </a:solidFill>
            <a:prstDash val="solid"/>
            <a:miter/>
          </a:ln>
        </p:spPr>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形状 4">
            <a:extLst>
              <a:ext uri="{FF2B5EF4-FFF2-40B4-BE49-F238E27FC236}">
                <a16:creationId xmlns:a16="http://schemas.microsoft.com/office/drawing/2014/main" id="{9FD5E8BA-B178-16D1-3EAE-7F9E8F039C40}"/>
              </a:ext>
            </a:extLst>
          </p:cNvPr>
          <p:cNvSpPr/>
          <p:nvPr/>
        </p:nvSpPr>
        <p:spPr>
          <a:xfrm>
            <a:off x="62680" y="971345"/>
            <a:ext cx="1546122" cy="3050458"/>
          </a:xfrm>
          <a:custGeom>
            <a:avLst/>
            <a:gdLst>
              <a:gd name="connsiteX0" fmla="*/ 1495978 w 1546122"/>
              <a:gd name="connsiteY0" fmla="*/ 0 h 3050458"/>
              <a:gd name="connsiteX1" fmla="*/ 1546123 w 1546122"/>
              <a:gd name="connsiteY1" fmla="*/ 0 h 3050458"/>
              <a:gd name="connsiteX2" fmla="*/ 1546123 w 1546122"/>
              <a:gd name="connsiteY2" fmla="*/ 3050458 h 3050458"/>
              <a:gd name="connsiteX3" fmla="*/ 1495978 w 1546122"/>
              <a:gd name="connsiteY3" fmla="*/ 3050458 h 3050458"/>
              <a:gd name="connsiteX4" fmla="*/ 50145 w 1546122"/>
              <a:gd name="connsiteY4" fmla="*/ 3050458 h 3050458"/>
              <a:gd name="connsiteX5" fmla="*/ 0 w 1546122"/>
              <a:gd name="connsiteY5" fmla="*/ 3050458 h 3050458"/>
              <a:gd name="connsiteX6" fmla="*/ 0 w 1546122"/>
              <a:gd name="connsiteY6" fmla="*/ 0 h 3050458"/>
              <a:gd name="connsiteX7" fmla="*/ 50145 w 1546122"/>
              <a:gd name="connsiteY7" fmla="*/ 0 h 305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6122" h="3050458">
                <a:moveTo>
                  <a:pt x="1495978" y="0"/>
                </a:moveTo>
                <a:cubicBezTo>
                  <a:pt x="1523672" y="0"/>
                  <a:pt x="1546123" y="0"/>
                  <a:pt x="1546123" y="0"/>
                </a:cubicBezTo>
                <a:lnTo>
                  <a:pt x="1546123" y="3050458"/>
                </a:lnTo>
                <a:cubicBezTo>
                  <a:pt x="1546123" y="3050458"/>
                  <a:pt x="1523672" y="3050458"/>
                  <a:pt x="1495978" y="3050458"/>
                </a:cubicBezTo>
                <a:lnTo>
                  <a:pt x="50145" y="3050458"/>
                </a:lnTo>
                <a:cubicBezTo>
                  <a:pt x="22450" y="3050458"/>
                  <a:pt x="0" y="3050458"/>
                  <a:pt x="0" y="3050458"/>
                </a:cubicBezTo>
                <a:lnTo>
                  <a:pt x="0" y="0"/>
                </a:lnTo>
                <a:cubicBezTo>
                  <a:pt x="0" y="0"/>
                  <a:pt x="22450" y="0"/>
                  <a:pt x="50145" y="0"/>
                </a:cubicBezTo>
                <a:close/>
              </a:path>
            </a:pathLst>
          </a:custGeom>
          <a:solidFill>
            <a:srgbClr val="F5F9FF"/>
          </a:solidFill>
          <a:ln w="2089" cap="flat">
            <a:solidFill>
              <a:srgbClr val="BBDEFB"/>
            </a:solidFill>
            <a:prstDash val="solid"/>
            <a:miter/>
          </a:ln>
        </p:spPr>
        <p:txBody>
          <a:bodyPr rtlCol="0" anchor="ctr"/>
          <a:lstStyle/>
          <a:p>
            <a:endParaRPr lang="zh-CN" altLang="en-US"/>
          </a:p>
        </p:txBody>
      </p:sp>
      <p:sp>
        <p:nvSpPr>
          <p:cNvPr id="6" name="任意形状 5">
            <a:extLst>
              <a:ext uri="{FF2B5EF4-FFF2-40B4-BE49-F238E27FC236}">
                <a16:creationId xmlns:a16="http://schemas.microsoft.com/office/drawing/2014/main" id="{E48AEC77-D4FF-6CBD-1A32-8259568FACDA}"/>
              </a:ext>
            </a:extLst>
          </p:cNvPr>
          <p:cNvSpPr/>
          <p:nvPr/>
        </p:nvSpPr>
        <p:spPr>
          <a:xfrm>
            <a:off x="1650590" y="971345"/>
            <a:ext cx="1170038" cy="3050458"/>
          </a:xfrm>
          <a:custGeom>
            <a:avLst/>
            <a:gdLst>
              <a:gd name="connsiteX0" fmla="*/ 1119894 w 1170038"/>
              <a:gd name="connsiteY0" fmla="*/ 0 h 3050458"/>
              <a:gd name="connsiteX1" fmla="*/ 1170039 w 1170038"/>
              <a:gd name="connsiteY1" fmla="*/ 0 h 3050458"/>
              <a:gd name="connsiteX2" fmla="*/ 1170039 w 1170038"/>
              <a:gd name="connsiteY2" fmla="*/ 3050458 h 3050458"/>
              <a:gd name="connsiteX3" fmla="*/ 1119894 w 1170038"/>
              <a:gd name="connsiteY3" fmla="*/ 3050458 h 3050458"/>
              <a:gd name="connsiteX4" fmla="*/ 50145 w 1170038"/>
              <a:gd name="connsiteY4" fmla="*/ 3050458 h 3050458"/>
              <a:gd name="connsiteX5" fmla="*/ 0 w 1170038"/>
              <a:gd name="connsiteY5" fmla="*/ 3050458 h 3050458"/>
              <a:gd name="connsiteX6" fmla="*/ 0 w 1170038"/>
              <a:gd name="connsiteY6" fmla="*/ 0 h 3050458"/>
              <a:gd name="connsiteX7" fmla="*/ 50145 w 1170038"/>
              <a:gd name="connsiteY7" fmla="*/ 0 h 305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038" h="3050458">
                <a:moveTo>
                  <a:pt x="1119894" y="0"/>
                </a:moveTo>
                <a:cubicBezTo>
                  <a:pt x="1147588" y="0"/>
                  <a:pt x="1170039" y="0"/>
                  <a:pt x="1170039" y="0"/>
                </a:cubicBezTo>
                <a:lnTo>
                  <a:pt x="1170039" y="3050458"/>
                </a:lnTo>
                <a:cubicBezTo>
                  <a:pt x="1170039" y="3050458"/>
                  <a:pt x="1147588" y="3050458"/>
                  <a:pt x="1119894" y="3050458"/>
                </a:cubicBezTo>
                <a:lnTo>
                  <a:pt x="50145" y="3050458"/>
                </a:lnTo>
                <a:cubicBezTo>
                  <a:pt x="22450" y="3050458"/>
                  <a:pt x="0" y="3050458"/>
                  <a:pt x="0" y="3050458"/>
                </a:cubicBezTo>
                <a:lnTo>
                  <a:pt x="0" y="0"/>
                </a:lnTo>
                <a:cubicBezTo>
                  <a:pt x="0" y="0"/>
                  <a:pt x="22450" y="0"/>
                  <a:pt x="50145" y="0"/>
                </a:cubicBezTo>
                <a:close/>
              </a:path>
            </a:pathLst>
          </a:custGeom>
          <a:solidFill>
            <a:srgbClr val="FFF8F0"/>
          </a:solidFill>
          <a:ln w="2089" cap="flat">
            <a:solidFill>
              <a:srgbClr val="FFE0B2"/>
            </a:solidFill>
            <a:prstDash val="solid"/>
            <a:miter/>
          </a:ln>
        </p:spPr>
        <p:txBody>
          <a:bodyPr rtlCol="0" anchor="ctr"/>
          <a:lstStyle/>
          <a:p>
            <a:endParaRPr lang="zh-CN" altLang="en-US"/>
          </a:p>
        </p:txBody>
      </p:sp>
      <p:sp>
        <p:nvSpPr>
          <p:cNvPr id="7" name="任意形状 6">
            <a:extLst>
              <a:ext uri="{FF2B5EF4-FFF2-40B4-BE49-F238E27FC236}">
                <a16:creationId xmlns:a16="http://schemas.microsoft.com/office/drawing/2014/main" id="{F9E1E08D-78E9-17C8-EB8E-75B21EB2E2DE}"/>
              </a:ext>
            </a:extLst>
          </p:cNvPr>
          <p:cNvSpPr/>
          <p:nvPr/>
        </p:nvSpPr>
        <p:spPr>
          <a:xfrm>
            <a:off x="2862416" y="971345"/>
            <a:ext cx="2507225" cy="3050458"/>
          </a:xfrm>
          <a:custGeom>
            <a:avLst/>
            <a:gdLst>
              <a:gd name="connsiteX0" fmla="*/ 2457081 w 2507225"/>
              <a:gd name="connsiteY0" fmla="*/ 0 h 3050458"/>
              <a:gd name="connsiteX1" fmla="*/ 2507226 w 2507225"/>
              <a:gd name="connsiteY1" fmla="*/ 0 h 3050458"/>
              <a:gd name="connsiteX2" fmla="*/ 2507226 w 2507225"/>
              <a:gd name="connsiteY2" fmla="*/ 3050458 h 3050458"/>
              <a:gd name="connsiteX3" fmla="*/ 2457081 w 2507225"/>
              <a:gd name="connsiteY3" fmla="*/ 3050458 h 3050458"/>
              <a:gd name="connsiteX4" fmla="*/ 50145 w 2507225"/>
              <a:gd name="connsiteY4" fmla="*/ 3050458 h 3050458"/>
              <a:gd name="connsiteX5" fmla="*/ 0 w 2507225"/>
              <a:gd name="connsiteY5" fmla="*/ 3050458 h 3050458"/>
              <a:gd name="connsiteX6" fmla="*/ 0 w 2507225"/>
              <a:gd name="connsiteY6" fmla="*/ 0 h 3050458"/>
              <a:gd name="connsiteX7" fmla="*/ 50145 w 2507225"/>
              <a:gd name="connsiteY7" fmla="*/ 0 h 305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7225" h="3050458">
                <a:moveTo>
                  <a:pt x="2457081" y="0"/>
                </a:moveTo>
                <a:cubicBezTo>
                  <a:pt x="2484776" y="0"/>
                  <a:pt x="2507226" y="0"/>
                  <a:pt x="2507226" y="0"/>
                </a:cubicBezTo>
                <a:lnTo>
                  <a:pt x="2507226" y="3050458"/>
                </a:lnTo>
                <a:cubicBezTo>
                  <a:pt x="2507226" y="3050458"/>
                  <a:pt x="2484776" y="3050458"/>
                  <a:pt x="2457081" y="3050458"/>
                </a:cubicBezTo>
                <a:lnTo>
                  <a:pt x="50145" y="3050458"/>
                </a:lnTo>
                <a:cubicBezTo>
                  <a:pt x="22450" y="3050458"/>
                  <a:pt x="0" y="3050458"/>
                  <a:pt x="0" y="3050458"/>
                </a:cubicBezTo>
                <a:lnTo>
                  <a:pt x="0" y="0"/>
                </a:lnTo>
                <a:cubicBezTo>
                  <a:pt x="0" y="0"/>
                  <a:pt x="22450" y="0"/>
                  <a:pt x="50145" y="0"/>
                </a:cubicBezTo>
                <a:close/>
              </a:path>
            </a:pathLst>
          </a:custGeom>
          <a:solidFill>
            <a:srgbClr val="F0FFF4"/>
          </a:solidFill>
          <a:ln w="2089" cap="flat">
            <a:solidFill>
              <a:srgbClr val="C8E6C9"/>
            </a:solidFill>
            <a:prstDash val="solid"/>
            <a:miter/>
          </a:ln>
        </p:spPr>
        <p:txBody>
          <a:bodyPr rtlCol="0" anchor="ctr"/>
          <a:lstStyle/>
          <a:p>
            <a:endParaRPr lang="zh-CN" altLang="en-US"/>
          </a:p>
        </p:txBody>
      </p:sp>
      <p:sp>
        <p:nvSpPr>
          <p:cNvPr id="8" name="任意形状 7">
            <a:extLst>
              <a:ext uri="{FF2B5EF4-FFF2-40B4-BE49-F238E27FC236}">
                <a16:creationId xmlns:a16="http://schemas.microsoft.com/office/drawing/2014/main" id="{D6CAA1B8-9472-A383-5D46-8FB4FB121BE4}"/>
              </a:ext>
            </a:extLst>
          </p:cNvPr>
          <p:cNvSpPr/>
          <p:nvPr/>
        </p:nvSpPr>
        <p:spPr>
          <a:xfrm>
            <a:off x="5411429" y="971345"/>
            <a:ext cx="1128251" cy="3050458"/>
          </a:xfrm>
          <a:custGeom>
            <a:avLst/>
            <a:gdLst>
              <a:gd name="connsiteX0" fmla="*/ 1078107 w 1128251"/>
              <a:gd name="connsiteY0" fmla="*/ 0 h 3050458"/>
              <a:gd name="connsiteX1" fmla="*/ 1128252 w 1128251"/>
              <a:gd name="connsiteY1" fmla="*/ 0 h 3050458"/>
              <a:gd name="connsiteX2" fmla="*/ 1128252 w 1128251"/>
              <a:gd name="connsiteY2" fmla="*/ 3050458 h 3050458"/>
              <a:gd name="connsiteX3" fmla="*/ 1078107 w 1128251"/>
              <a:gd name="connsiteY3" fmla="*/ 3050458 h 3050458"/>
              <a:gd name="connsiteX4" fmla="*/ 50145 w 1128251"/>
              <a:gd name="connsiteY4" fmla="*/ 3050458 h 3050458"/>
              <a:gd name="connsiteX5" fmla="*/ 0 w 1128251"/>
              <a:gd name="connsiteY5" fmla="*/ 3050458 h 3050458"/>
              <a:gd name="connsiteX6" fmla="*/ 0 w 1128251"/>
              <a:gd name="connsiteY6" fmla="*/ 0 h 3050458"/>
              <a:gd name="connsiteX7" fmla="*/ 50145 w 1128251"/>
              <a:gd name="connsiteY7" fmla="*/ 0 h 305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8251" h="3050458">
                <a:moveTo>
                  <a:pt x="1078107" y="0"/>
                </a:moveTo>
                <a:cubicBezTo>
                  <a:pt x="1105801" y="0"/>
                  <a:pt x="1128252" y="0"/>
                  <a:pt x="1128252" y="0"/>
                </a:cubicBezTo>
                <a:lnTo>
                  <a:pt x="1128252" y="3050458"/>
                </a:lnTo>
                <a:cubicBezTo>
                  <a:pt x="1128252" y="3050458"/>
                  <a:pt x="1105801" y="3050458"/>
                  <a:pt x="1078107" y="3050458"/>
                </a:cubicBezTo>
                <a:lnTo>
                  <a:pt x="50145" y="3050458"/>
                </a:lnTo>
                <a:cubicBezTo>
                  <a:pt x="22450" y="3050458"/>
                  <a:pt x="0" y="3050458"/>
                  <a:pt x="0" y="3050458"/>
                </a:cubicBezTo>
                <a:lnTo>
                  <a:pt x="0" y="0"/>
                </a:lnTo>
                <a:cubicBezTo>
                  <a:pt x="0" y="0"/>
                  <a:pt x="22450" y="0"/>
                  <a:pt x="50145" y="0"/>
                </a:cubicBezTo>
                <a:close/>
              </a:path>
            </a:pathLst>
          </a:custGeom>
          <a:solidFill>
            <a:srgbClr val="FFF3F0"/>
          </a:solidFill>
          <a:ln w="2089" cap="flat">
            <a:solidFill>
              <a:srgbClr val="FFCDD2"/>
            </a:solid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C208C23-E552-32E4-F81F-68A7381755A5}"/>
              </a:ext>
            </a:extLst>
          </p:cNvPr>
          <p:cNvSpPr/>
          <p:nvPr/>
        </p:nvSpPr>
        <p:spPr>
          <a:xfrm>
            <a:off x="6581467" y="971345"/>
            <a:ext cx="1128251" cy="3050458"/>
          </a:xfrm>
          <a:custGeom>
            <a:avLst/>
            <a:gdLst>
              <a:gd name="connsiteX0" fmla="*/ 1078107 w 1128251"/>
              <a:gd name="connsiteY0" fmla="*/ 0 h 3050458"/>
              <a:gd name="connsiteX1" fmla="*/ 1128252 w 1128251"/>
              <a:gd name="connsiteY1" fmla="*/ 0 h 3050458"/>
              <a:gd name="connsiteX2" fmla="*/ 1128252 w 1128251"/>
              <a:gd name="connsiteY2" fmla="*/ 3050458 h 3050458"/>
              <a:gd name="connsiteX3" fmla="*/ 1078107 w 1128251"/>
              <a:gd name="connsiteY3" fmla="*/ 3050458 h 3050458"/>
              <a:gd name="connsiteX4" fmla="*/ 50145 w 1128251"/>
              <a:gd name="connsiteY4" fmla="*/ 3050458 h 3050458"/>
              <a:gd name="connsiteX5" fmla="*/ 0 w 1128251"/>
              <a:gd name="connsiteY5" fmla="*/ 3050458 h 3050458"/>
              <a:gd name="connsiteX6" fmla="*/ 0 w 1128251"/>
              <a:gd name="connsiteY6" fmla="*/ 0 h 3050458"/>
              <a:gd name="connsiteX7" fmla="*/ 50145 w 1128251"/>
              <a:gd name="connsiteY7" fmla="*/ 0 h 305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8251" h="3050458">
                <a:moveTo>
                  <a:pt x="1078107" y="0"/>
                </a:moveTo>
                <a:cubicBezTo>
                  <a:pt x="1105801" y="0"/>
                  <a:pt x="1128252" y="0"/>
                  <a:pt x="1128252" y="0"/>
                </a:cubicBezTo>
                <a:lnTo>
                  <a:pt x="1128252" y="3050458"/>
                </a:lnTo>
                <a:cubicBezTo>
                  <a:pt x="1128252" y="3050458"/>
                  <a:pt x="1105801" y="3050458"/>
                  <a:pt x="1078107" y="3050458"/>
                </a:cubicBezTo>
                <a:lnTo>
                  <a:pt x="50145" y="3050458"/>
                </a:lnTo>
                <a:cubicBezTo>
                  <a:pt x="22450" y="3050458"/>
                  <a:pt x="0" y="3050458"/>
                  <a:pt x="0" y="3050458"/>
                </a:cubicBezTo>
                <a:lnTo>
                  <a:pt x="0" y="0"/>
                </a:lnTo>
                <a:cubicBezTo>
                  <a:pt x="0" y="0"/>
                  <a:pt x="22450" y="0"/>
                  <a:pt x="50145" y="0"/>
                </a:cubicBezTo>
                <a:close/>
              </a:path>
            </a:pathLst>
          </a:custGeom>
          <a:solidFill>
            <a:srgbClr val="F5F0FF"/>
          </a:solidFill>
          <a:ln w="2089" cap="flat">
            <a:solidFill>
              <a:srgbClr val="D1C4E9"/>
            </a:solidFill>
            <a:prstDash val="solid"/>
            <a:miter/>
          </a:ln>
        </p:spPr>
        <p:txBody>
          <a:bodyPr rtlCol="0" anchor="ctr"/>
          <a:lstStyle/>
          <a:p>
            <a:endParaRPr lang="zh-CN" altLang="en-US"/>
          </a:p>
        </p:txBody>
      </p:sp>
      <p:sp>
        <p:nvSpPr>
          <p:cNvPr id="10" name="文本框 9">
            <a:extLst>
              <a:ext uri="{FF2B5EF4-FFF2-40B4-BE49-F238E27FC236}">
                <a16:creationId xmlns:a16="http://schemas.microsoft.com/office/drawing/2014/main" id="{A09CB14D-5225-C6EE-CEAE-B5E50793A034}"/>
              </a:ext>
            </a:extLst>
          </p:cNvPr>
          <p:cNvSpPr txBox="1"/>
          <p:nvPr/>
        </p:nvSpPr>
        <p:spPr>
          <a:xfrm>
            <a:off x="654459" y="762655"/>
            <a:ext cx="362564" cy="162478"/>
          </a:xfrm>
          <a:prstGeom prst="rect">
            <a:avLst/>
          </a:prstGeom>
          <a:noFill/>
        </p:spPr>
        <p:txBody>
          <a:bodyPr wrap="none" rtlCol="0">
            <a:spAutoFit/>
          </a:bodyPr>
          <a:lstStyle/>
          <a:p>
            <a:pPr algn="l"/>
            <a:r>
              <a:rPr lang="zh-CN" altLang="en-US" sz="975" b="1" spc="0" baseline="0">
                <a:ln/>
                <a:solidFill>
                  <a:srgbClr val="1565C0"/>
                </a:solidFill>
                <a:latin typeface="Segoe UI"/>
                <a:cs typeface="Segoe UI"/>
                <a:sym typeface="Segoe UI"/>
                <a:rtl val="0"/>
              </a:rPr>
              <a:t>Phase I</a:t>
            </a:r>
          </a:p>
        </p:txBody>
      </p:sp>
      <p:sp>
        <p:nvSpPr>
          <p:cNvPr id="11" name="文本框 10">
            <a:extLst>
              <a:ext uri="{FF2B5EF4-FFF2-40B4-BE49-F238E27FC236}">
                <a16:creationId xmlns:a16="http://schemas.microsoft.com/office/drawing/2014/main" id="{140E1009-D53F-B751-91EB-AC745763AE2A}"/>
              </a:ext>
            </a:extLst>
          </p:cNvPr>
          <p:cNvSpPr txBox="1"/>
          <p:nvPr/>
        </p:nvSpPr>
        <p:spPr>
          <a:xfrm>
            <a:off x="441345" y="846229"/>
            <a:ext cx="788792" cy="154120"/>
          </a:xfrm>
          <a:prstGeom prst="rect">
            <a:avLst/>
          </a:prstGeom>
          <a:noFill/>
        </p:spPr>
        <p:txBody>
          <a:bodyPr wrap="none" rtlCol="0">
            <a:spAutoFit/>
          </a:bodyPr>
          <a:lstStyle/>
          <a:p>
            <a:pPr algn="l"/>
            <a:r>
              <a:rPr lang="zh-CN" altLang="en-US" sz="825" spc="0" baseline="0">
                <a:ln/>
                <a:solidFill>
                  <a:srgbClr val="42A5F5"/>
                </a:solidFill>
                <a:latin typeface="Segoe UI"/>
                <a:cs typeface="Segoe UI"/>
                <a:sym typeface="Segoe UI"/>
                <a:rtl val="0"/>
              </a:rPr>
              <a:t>Multi-Source Data Integration</a:t>
            </a:r>
          </a:p>
        </p:txBody>
      </p:sp>
      <p:sp>
        <p:nvSpPr>
          <p:cNvPr id="12" name="文本框 11">
            <a:extLst>
              <a:ext uri="{FF2B5EF4-FFF2-40B4-BE49-F238E27FC236}">
                <a16:creationId xmlns:a16="http://schemas.microsoft.com/office/drawing/2014/main" id="{95BEB89E-CA8B-6CF1-3F61-40D4FF4C6CE1}"/>
              </a:ext>
            </a:extLst>
          </p:cNvPr>
          <p:cNvSpPr txBox="1"/>
          <p:nvPr/>
        </p:nvSpPr>
        <p:spPr>
          <a:xfrm>
            <a:off x="2045970" y="762655"/>
            <a:ext cx="379279" cy="162478"/>
          </a:xfrm>
          <a:prstGeom prst="rect">
            <a:avLst/>
          </a:prstGeom>
          <a:noFill/>
        </p:spPr>
        <p:txBody>
          <a:bodyPr wrap="none" rtlCol="0">
            <a:spAutoFit/>
          </a:bodyPr>
          <a:lstStyle/>
          <a:p>
            <a:pPr algn="l"/>
            <a:r>
              <a:rPr lang="zh-CN" altLang="en-US" sz="975" b="1" spc="0" baseline="0">
                <a:ln/>
                <a:solidFill>
                  <a:srgbClr val="E65100"/>
                </a:solidFill>
                <a:latin typeface="Segoe UI"/>
                <a:cs typeface="Segoe UI"/>
                <a:sym typeface="Segoe UI"/>
                <a:rtl val="0"/>
              </a:rPr>
              <a:t>Phase II</a:t>
            </a:r>
          </a:p>
        </p:txBody>
      </p:sp>
      <p:sp>
        <p:nvSpPr>
          <p:cNvPr id="13" name="文本框 12">
            <a:extLst>
              <a:ext uri="{FF2B5EF4-FFF2-40B4-BE49-F238E27FC236}">
                <a16:creationId xmlns:a16="http://schemas.microsoft.com/office/drawing/2014/main" id="{644621C2-D279-6CC8-952E-A883323CCFBD}"/>
              </a:ext>
            </a:extLst>
          </p:cNvPr>
          <p:cNvSpPr txBox="1"/>
          <p:nvPr/>
        </p:nvSpPr>
        <p:spPr>
          <a:xfrm>
            <a:off x="1832855" y="846229"/>
            <a:ext cx="801329" cy="154120"/>
          </a:xfrm>
          <a:prstGeom prst="rect">
            <a:avLst/>
          </a:prstGeom>
          <a:noFill/>
        </p:spPr>
        <p:txBody>
          <a:bodyPr wrap="none" rtlCol="0">
            <a:spAutoFit/>
          </a:bodyPr>
          <a:lstStyle/>
          <a:p>
            <a:pPr algn="l"/>
            <a:r>
              <a:rPr lang="zh-CN" altLang="en-US" sz="825" spc="0" baseline="0">
                <a:ln/>
                <a:solidFill>
                  <a:srgbClr val="FF9800"/>
                </a:solidFill>
                <a:latin typeface="Segoe UI"/>
                <a:cs typeface="Segoe UI"/>
                <a:sym typeface="Segoe UI"/>
                <a:rtl val="0"/>
              </a:rPr>
              <a:t>Incident Scenario Construction</a:t>
            </a:r>
          </a:p>
        </p:txBody>
      </p:sp>
      <p:sp>
        <p:nvSpPr>
          <p:cNvPr id="14" name="文本框 13">
            <a:extLst>
              <a:ext uri="{FF2B5EF4-FFF2-40B4-BE49-F238E27FC236}">
                <a16:creationId xmlns:a16="http://schemas.microsoft.com/office/drawing/2014/main" id="{7908CAE8-1CF3-700E-6833-6E9CC6E38125}"/>
              </a:ext>
            </a:extLst>
          </p:cNvPr>
          <p:cNvSpPr txBox="1"/>
          <p:nvPr/>
        </p:nvSpPr>
        <p:spPr>
          <a:xfrm>
            <a:off x="3915942" y="762655"/>
            <a:ext cx="395994" cy="162478"/>
          </a:xfrm>
          <a:prstGeom prst="rect">
            <a:avLst/>
          </a:prstGeom>
          <a:noFill/>
        </p:spPr>
        <p:txBody>
          <a:bodyPr wrap="none" rtlCol="0">
            <a:spAutoFit/>
          </a:bodyPr>
          <a:lstStyle/>
          <a:p>
            <a:pPr algn="l"/>
            <a:r>
              <a:rPr lang="zh-CN" altLang="en-US" sz="975" b="1" spc="0" baseline="0">
                <a:ln/>
                <a:solidFill>
                  <a:srgbClr val="2E7D32"/>
                </a:solidFill>
                <a:latin typeface="Segoe UI"/>
                <a:cs typeface="Segoe UI"/>
                <a:sym typeface="Segoe UI"/>
                <a:rtl val="0"/>
              </a:rPr>
              <a:t>Phase III</a:t>
            </a:r>
          </a:p>
        </p:txBody>
      </p:sp>
      <p:sp>
        <p:nvSpPr>
          <p:cNvPr id="15" name="文本框 14">
            <a:extLst>
              <a:ext uri="{FF2B5EF4-FFF2-40B4-BE49-F238E27FC236}">
                <a16:creationId xmlns:a16="http://schemas.microsoft.com/office/drawing/2014/main" id="{ECD6873B-CF87-8100-0473-80DA043F1BF4}"/>
              </a:ext>
            </a:extLst>
          </p:cNvPr>
          <p:cNvSpPr txBox="1"/>
          <p:nvPr/>
        </p:nvSpPr>
        <p:spPr>
          <a:xfrm>
            <a:off x="3761330" y="846229"/>
            <a:ext cx="709397" cy="154120"/>
          </a:xfrm>
          <a:prstGeom prst="rect">
            <a:avLst/>
          </a:prstGeom>
          <a:noFill/>
        </p:spPr>
        <p:txBody>
          <a:bodyPr wrap="none" rtlCol="0">
            <a:spAutoFit/>
          </a:bodyPr>
          <a:lstStyle/>
          <a:p>
            <a:pPr algn="l"/>
            <a:r>
              <a:rPr lang="zh-CN" altLang="en-US" sz="825" spc="0" baseline="0">
                <a:ln/>
                <a:solidFill>
                  <a:srgbClr val="4CAF50"/>
                </a:solidFill>
                <a:latin typeface="Segoe UI"/>
                <a:cs typeface="Segoe UI"/>
                <a:sym typeface="Segoe UI"/>
                <a:rtl val="0"/>
              </a:rPr>
              <a:t>Coordinated Optimization</a:t>
            </a:r>
          </a:p>
        </p:txBody>
      </p:sp>
      <p:sp>
        <p:nvSpPr>
          <p:cNvPr id="16" name="文本框 15">
            <a:extLst>
              <a:ext uri="{FF2B5EF4-FFF2-40B4-BE49-F238E27FC236}">
                <a16:creationId xmlns:a16="http://schemas.microsoft.com/office/drawing/2014/main" id="{6E609101-4EBC-5D46-0281-2C803E7BAA92}"/>
              </a:ext>
            </a:extLst>
          </p:cNvPr>
          <p:cNvSpPr txBox="1"/>
          <p:nvPr/>
        </p:nvSpPr>
        <p:spPr>
          <a:xfrm>
            <a:off x="5775468" y="762655"/>
            <a:ext cx="400172" cy="162478"/>
          </a:xfrm>
          <a:prstGeom prst="rect">
            <a:avLst/>
          </a:prstGeom>
          <a:noFill/>
        </p:spPr>
        <p:txBody>
          <a:bodyPr wrap="none" rtlCol="0">
            <a:spAutoFit/>
          </a:bodyPr>
          <a:lstStyle/>
          <a:p>
            <a:pPr algn="l"/>
            <a:r>
              <a:rPr lang="zh-CN" altLang="en-US" sz="975" b="1" spc="0" baseline="0">
                <a:ln/>
                <a:solidFill>
                  <a:srgbClr val="C62828"/>
                </a:solidFill>
                <a:latin typeface="Segoe UI"/>
                <a:cs typeface="Segoe UI"/>
                <a:sym typeface="Segoe UI"/>
                <a:rtl val="0"/>
              </a:rPr>
              <a:t>Phase IV</a:t>
            </a:r>
          </a:p>
        </p:txBody>
      </p:sp>
      <p:sp>
        <p:nvSpPr>
          <p:cNvPr id="17" name="文本框 16">
            <a:extLst>
              <a:ext uri="{FF2B5EF4-FFF2-40B4-BE49-F238E27FC236}">
                <a16:creationId xmlns:a16="http://schemas.microsoft.com/office/drawing/2014/main" id="{4B6ABFA1-F8A9-829C-C2A5-3A9F8E151214}"/>
              </a:ext>
            </a:extLst>
          </p:cNvPr>
          <p:cNvSpPr txBox="1"/>
          <p:nvPr/>
        </p:nvSpPr>
        <p:spPr>
          <a:xfrm>
            <a:off x="5660553" y="846229"/>
            <a:ext cx="630001" cy="154120"/>
          </a:xfrm>
          <a:prstGeom prst="rect">
            <a:avLst/>
          </a:prstGeom>
          <a:noFill/>
        </p:spPr>
        <p:txBody>
          <a:bodyPr wrap="none" rtlCol="0">
            <a:spAutoFit/>
          </a:bodyPr>
          <a:lstStyle/>
          <a:p>
            <a:pPr algn="l"/>
            <a:r>
              <a:rPr lang="zh-CN" altLang="en-US" sz="825" spc="0" baseline="0">
                <a:ln/>
                <a:solidFill>
                  <a:srgbClr val="EF5350"/>
                </a:solidFill>
                <a:latin typeface="Segoe UI"/>
                <a:cs typeface="Segoe UI"/>
                <a:sym typeface="Segoe UI"/>
                <a:rtl val="0"/>
              </a:rPr>
              <a:t>Resilience Assessment</a:t>
            </a:r>
          </a:p>
        </p:txBody>
      </p:sp>
      <p:sp>
        <p:nvSpPr>
          <p:cNvPr id="18" name="文本框 17">
            <a:extLst>
              <a:ext uri="{FF2B5EF4-FFF2-40B4-BE49-F238E27FC236}">
                <a16:creationId xmlns:a16="http://schemas.microsoft.com/office/drawing/2014/main" id="{A894EFE7-14C6-7B02-73AD-A7C162DD7A42}"/>
              </a:ext>
            </a:extLst>
          </p:cNvPr>
          <p:cNvSpPr txBox="1"/>
          <p:nvPr/>
        </p:nvSpPr>
        <p:spPr>
          <a:xfrm>
            <a:off x="6953864" y="762655"/>
            <a:ext cx="383458" cy="162478"/>
          </a:xfrm>
          <a:prstGeom prst="rect">
            <a:avLst/>
          </a:prstGeom>
          <a:noFill/>
        </p:spPr>
        <p:txBody>
          <a:bodyPr wrap="none" rtlCol="0">
            <a:spAutoFit/>
          </a:bodyPr>
          <a:lstStyle/>
          <a:p>
            <a:pPr algn="l"/>
            <a:r>
              <a:rPr lang="zh-CN" altLang="en-US" sz="975" b="1" spc="0" baseline="0">
                <a:ln/>
                <a:solidFill>
                  <a:srgbClr val="4527A0"/>
                </a:solidFill>
                <a:latin typeface="Segoe UI"/>
                <a:cs typeface="Segoe UI"/>
                <a:sym typeface="Segoe UI"/>
                <a:rtl val="0"/>
              </a:rPr>
              <a:t>Phase V</a:t>
            </a:r>
          </a:p>
        </p:txBody>
      </p:sp>
      <p:sp>
        <p:nvSpPr>
          <p:cNvPr id="19" name="文本框 18">
            <a:extLst>
              <a:ext uri="{FF2B5EF4-FFF2-40B4-BE49-F238E27FC236}">
                <a16:creationId xmlns:a16="http://schemas.microsoft.com/office/drawing/2014/main" id="{304F1EBF-E5D3-DE0C-0F4F-91D077B12FAD}"/>
              </a:ext>
            </a:extLst>
          </p:cNvPr>
          <p:cNvSpPr txBox="1"/>
          <p:nvPr/>
        </p:nvSpPr>
        <p:spPr>
          <a:xfrm>
            <a:off x="6778358" y="846229"/>
            <a:ext cx="734469" cy="154120"/>
          </a:xfrm>
          <a:prstGeom prst="rect">
            <a:avLst/>
          </a:prstGeom>
          <a:noFill/>
        </p:spPr>
        <p:txBody>
          <a:bodyPr wrap="none" rtlCol="0">
            <a:spAutoFit/>
          </a:bodyPr>
          <a:lstStyle/>
          <a:p>
            <a:pPr algn="l"/>
            <a:r>
              <a:rPr lang="zh-CN" altLang="en-US" sz="825" spc="0" baseline="0">
                <a:ln/>
                <a:solidFill>
                  <a:srgbClr val="7E57C2"/>
                </a:solidFill>
                <a:latin typeface="Segoe UI"/>
                <a:cs typeface="Segoe UI"/>
                <a:sym typeface="Segoe UI"/>
                <a:rtl val="0"/>
              </a:rPr>
              <a:t>Conclusions &amp; Implications</a:t>
            </a:r>
          </a:p>
        </p:txBody>
      </p:sp>
      <p:grpSp>
        <p:nvGrpSpPr>
          <p:cNvPr id="20" name="图形 2">
            <a:extLst>
              <a:ext uri="{FF2B5EF4-FFF2-40B4-BE49-F238E27FC236}">
                <a16:creationId xmlns:a16="http://schemas.microsoft.com/office/drawing/2014/main" id="{9058B685-B4A9-99FF-602A-983B1AE37F49}"/>
              </a:ext>
            </a:extLst>
          </p:cNvPr>
          <p:cNvGrpSpPr/>
          <p:nvPr/>
        </p:nvGrpSpPr>
        <p:grpSpPr>
          <a:xfrm>
            <a:off x="125361" y="1054919"/>
            <a:ext cx="668593" cy="234007"/>
            <a:chOff x="125361" y="1054919"/>
            <a:chExt cx="668593" cy="234007"/>
          </a:xfrm>
        </p:grpSpPr>
        <p:sp>
          <p:nvSpPr>
            <p:cNvPr id="21" name="任意形状 20">
              <a:extLst>
                <a:ext uri="{FF2B5EF4-FFF2-40B4-BE49-F238E27FC236}">
                  <a16:creationId xmlns:a16="http://schemas.microsoft.com/office/drawing/2014/main" id="{C803F8A1-5ED9-5671-2F96-E78B0982351D}"/>
                </a:ext>
              </a:extLst>
            </p:cNvPr>
            <p:cNvSpPr/>
            <p:nvPr/>
          </p:nvSpPr>
          <p:spPr>
            <a:xfrm>
              <a:off x="125361" y="1054919"/>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22" name="任意形状 21">
              <a:extLst>
                <a:ext uri="{FF2B5EF4-FFF2-40B4-BE49-F238E27FC236}">
                  <a16:creationId xmlns:a16="http://schemas.microsoft.com/office/drawing/2014/main" id="{30D8131C-3870-83AB-EC9B-B8BE6A86E1F7}"/>
                </a:ext>
              </a:extLst>
            </p:cNvPr>
            <p:cNvSpPr/>
            <p:nvPr/>
          </p:nvSpPr>
          <p:spPr>
            <a:xfrm>
              <a:off x="125361" y="1054919"/>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1565C0"/>
            </a:solidFill>
            <a:ln w="4179" cap="flat">
              <a:noFill/>
              <a:prstDash val="solid"/>
              <a:miter/>
            </a:ln>
          </p:spPr>
          <p:txBody>
            <a:bodyPr rtlCol="0" anchor="ctr"/>
            <a:lstStyle/>
            <a:p>
              <a:endParaRPr lang="zh-CN" altLang="en-US"/>
            </a:p>
          </p:txBody>
        </p:sp>
        <p:sp>
          <p:nvSpPr>
            <p:cNvPr id="23" name="任意形状 22">
              <a:extLst>
                <a:ext uri="{FF2B5EF4-FFF2-40B4-BE49-F238E27FC236}">
                  <a16:creationId xmlns:a16="http://schemas.microsoft.com/office/drawing/2014/main" id="{E2D2C583-893F-7BA3-A0BD-A1D2327E1863}"/>
                </a:ext>
              </a:extLst>
            </p:cNvPr>
            <p:cNvSpPr/>
            <p:nvPr/>
          </p:nvSpPr>
          <p:spPr>
            <a:xfrm>
              <a:off x="125361" y="110506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1565C0"/>
            </a:solidFill>
            <a:ln w="4179" cap="flat">
              <a:noFill/>
              <a:prstDash val="solid"/>
              <a:miter/>
            </a:ln>
          </p:spPr>
          <p:txBody>
            <a:bodyPr rtlCol="0" anchor="ctr"/>
            <a:lstStyle/>
            <a:p>
              <a:endParaRPr lang="zh-CN" altLang="en-US"/>
            </a:p>
          </p:txBody>
        </p:sp>
        <p:sp>
          <p:nvSpPr>
            <p:cNvPr id="24" name="文本框 23">
              <a:extLst>
                <a:ext uri="{FF2B5EF4-FFF2-40B4-BE49-F238E27FC236}">
                  <a16:creationId xmlns:a16="http://schemas.microsoft.com/office/drawing/2014/main" id="{838ADBC1-7CA4-7255-A783-D973DC78DD93}"/>
                </a:ext>
              </a:extLst>
            </p:cNvPr>
            <p:cNvSpPr txBox="1"/>
            <p:nvPr/>
          </p:nvSpPr>
          <p:spPr>
            <a:xfrm>
              <a:off x="192712" y="1021735"/>
              <a:ext cx="533891"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OSM Road Network</a:t>
              </a:r>
            </a:p>
          </p:txBody>
        </p:sp>
        <p:sp>
          <p:nvSpPr>
            <p:cNvPr id="25" name="文本框 24">
              <a:extLst>
                <a:ext uri="{FF2B5EF4-FFF2-40B4-BE49-F238E27FC236}">
                  <a16:creationId xmlns:a16="http://schemas.microsoft.com/office/drawing/2014/main" id="{67CB5B5F-8702-AFED-E31F-385C9B835474}"/>
                </a:ext>
              </a:extLst>
            </p:cNvPr>
            <p:cNvSpPr txBox="1"/>
            <p:nvPr/>
          </p:nvSpPr>
          <p:spPr>
            <a:xfrm>
              <a:off x="107048" y="1113666"/>
              <a:ext cx="701040"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Road class · Speed limit · Direction</a:t>
              </a:r>
            </a:p>
          </p:txBody>
        </p:sp>
        <p:sp>
          <p:nvSpPr>
            <p:cNvPr id="26" name="文本框 25">
              <a:extLst>
                <a:ext uri="{FF2B5EF4-FFF2-40B4-BE49-F238E27FC236}">
                  <a16:creationId xmlns:a16="http://schemas.microsoft.com/office/drawing/2014/main" id="{14585AC8-72EE-28BA-5A1C-8B0B8FEAFEC1}"/>
                </a:ext>
              </a:extLst>
            </p:cNvPr>
            <p:cNvSpPr txBox="1"/>
            <p:nvPr/>
          </p:nvSpPr>
          <p:spPr>
            <a:xfrm>
              <a:off x="175997" y="1176347"/>
              <a:ext cx="567321"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26,699 segments / 11,232 km</a:t>
              </a:r>
            </a:p>
          </p:txBody>
        </p:sp>
      </p:grpSp>
      <p:grpSp>
        <p:nvGrpSpPr>
          <p:cNvPr id="27" name="图形 2">
            <a:extLst>
              <a:ext uri="{FF2B5EF4-FFF2-40B4-BE49-F238E27FC236}">
                <a16:creationId xmlns:a16="http://schemas.microsoft.com/office/drawing/2014/main" id="{755BDD18-2FB3-1E01-8E8C-ECA5250318BC}"/>
              </a:ext>
            </a:extLst>
          </p:cNvPr>
          <p:cNvGrpSpPr/>
          <p:nvPr/>
        </p:nvGrpSpPr>
        <p:grpSpPr>
          <a:xfrm>
            <a:off x="877529" y="1054919"/>
            <a:ext cx="668593" cy="234007"/>
            <a:chOff x="877529" y="1054919"/>
            <a:chExt cx="668593" cy="234007"/>
          </a:xfrm>
        </p:grpSpPr>
        <p:sp>
          <p:nvSpPr>
            <p:cNvPr id="28" name="任意形状 27">
              <a:extLst>
                <a:ext uri="{FF2B5EF4-FFF2-40B4-BE49-F238E27FC236}">
                  <a16:creationId xmlns:a16="http://schemas.microsoft.com/office/drawing/2014/main" id="{017FA581-FEC0-8AA4-DEBC-B3652C97DB7F}"/>
                </a:ext>
              </a:extLst>
            </p:cNvPr>
            <p:cNvSpPr/>
            <p:nvPr/>
          </p:nvSpPr>
          <p:spPr>
            <a:xfrm>
              <a:off x="877529" y="1054919"/>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29" name="任意形状 28">
              <a:extLst>
                <a:ext uri="{FF2B5EF4-FFF2-40B4-BE49-F238E27FC236}">
                  <a16:creationId xmlns:a16="http://schemas.microsoft.com/office/drawing/2014/main" id="{010AE212-C6A3-E7B4-C2FF-011795B35584}"/>
                </a:ext>
              </a:extLst>
            </p:cNvPr>
            <p:cNvSpPr/>
            <p:nvPr/>
          </p:nvSpPr>
          <p:spPr>
            <a:xfrm>
              <a:off x="877529" y="1054919"/>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1976D2"/>
            </a:solidFill>
            <a:ln w="4179" cap="flat">
              <a:noFill/>
              <a:prstDash val="solid"/>
              <a:miter/>
            </a:ln>
          </p:spPr>
          <p:txBody>
            <a:bodyPr rtlCol="0" anchor="ctr"/>
            <a:lstStyle/>
            <a:p>
              <a:endParaRPr lang="zh-CN" altLang="en-US"/>
            </a:p>
          </p:txBody>
        </p:sp>
        <p:sp>
          <p:nvSpPr>
            <p:cNvPr id="30" name="任意形状 29">
              <a:extLst>
                <a:ext uri="{FF2B5EF4-FFF2-40B4-BE49-F238E27FC236}">
                  <a16:creationId xmlns:a16="http://schemas.microsoft.com/office/drawing/2014/main" id="{25A9E0BF-35FF-A9A3-BF74-FAE3BC04B4A3}"/>
                </a:ext>
              </a:extLst>
            </p:cNvPr>
            <p:cNvSpPr/>
            <p:nvPr/>
          </p:nvSpPr>
          <p:spPr>
            <a:xfrm>
              <a:off x="877529" y="110506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1976D2"/>
            </a:solidFill>
            <a:ln w="4179" cap="flat">
              <a:noFill/>
              <a:prstDash val="solid"/>
              <a:miter/>
            </a:ln>
          </p:spPr>
          <p:txBody>
            <a:bodyPr rtlCol="0" anchor="ctr"/>
            <a:lstStyle/>
            <a:p>
              <a:endParaRPr lang="zh-CN" altLang="en-US"/>
            </a:p>
          </p:txBody>
        </p:sp>
        <p:sp>
          <p:nvSpPr>
            <p:cNvPr id="31" name="文本框 30">
              <a:extLst>
                <a:ext uri="{FF2B5EF4-FFF2-40B4-BE49-F238E27FC236}">
                  <a16:creationId xmlns:a16="http://schemas.microsoft.com/office/drawing/2014/main" id="{FC292906-84A0-4565-E7AC-5E88DB2EDE97}"/>
                </a:ext>
              </a:extLst>
            </p:cNvPr>
            <p:cNvSpPr txBox="1"/>
            <p:nvPr/>
          </p:nvSpPr>
          <p:spPr>
            <a:xfrm>
              <a:off x="946969" y="1021735"/>
              <a:ext cx="529712"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Baidu POI Database</a:t>
              </a:r>
            </a:p>
          </p:txBody>
        </p:sp>
        <p:sp>
          <p:nvSpPr>
            <p:cNvPr id="32" name="文本框 31">
              <a:extLst>
                <a:ext uri="{FF2B5EF4-FFF2-40B4-BE49-F238E27FC236}">
                  <a16:creationId xmlns:a16="http://schemas.microsoft.com/office/drawing/2014/main" id="{F5BB9021-3F24-BCA3-BBE6-38969D02D8B5}"/>
                </a:ext>
              </a:extLst>
            </p:cNvPr>
            <p:cNvSpPr txBox="1"/>
            <p:nvPr/>
          </p:nvSpPr>
          <p:spPr>
            <a:xfrm>
              <a:off x="792357" y="1113666"/>
              <a:ext cx="838937"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Hospitals · Fire Stations · Shelters · Subway</a:t>
              </a:r>
            </a:p>
          </p:txBody>
        </p:sp>
        <p:sp>
          <p:nvSpPr>
            <p:cNvPr id="33" name="文本框 32">
              <a:extLst>
                <a:ext uri="{FF2B5EF4-FFF2-40B4-BE49-F238E27FC236}">
                  <a16:creationId xmlns:a16="http://schemas.microsoft.com/office/drawing/2014/main" id="{8DF2F841-4ECF-9D21-94DE-1793415933F5}"/>
                </a:ext>
              </a:extLst>
            </p:cNvPr>
            <p:cNvSpPr txBox="1"/>
            <p:nvPr/>
          </p:nvSpPr>
          <p:spPr>
            <a:xfrm>
              <a:off x="961594" y="1176347"/>
              <a:ext cx="500461"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25,276 Points of Interest</a:t>
              </a:r>
            </a:p>
          </p:txBody>
        </p:sp>
      </p:grpSp>
      <p:grpSp>
        <p:nvGrpSpPr>
          <p:cNvPr id="34" name="图形 2">
            <a:extLst>
              <a:ext uri="{FF2B5EF4-FFF2-40B4-BE49-F238E27FC236}">
                <a16:creationId xmlns:a16="http://schemas.microsoft.com/office/drawing/2014/main" id="{E86D22CE-6468-2E29-52FD-7A12D0BB60E1}"/>
              </a:ext>
            </a:extLst>
          </p:cNvPr>
          <p:cNvGrpSpPr/>
          <p:nvPr/>
        </p:nvGrpSpPr>
        <p:grpSpPr>
          <a:xfrm>
            <a:off x="125361" y="1347428"/>
            <a:ext cx="668593" cy="234007"/>
            <a:chOff x="125361" y="1347428"/>
            <a:chExt cx="668593" cy="234007"/>
          </a:xfrm>
        </p:grpSpPr>
        <p:sp>
          <p:nvSpPr>
            <p:cNvPr id="35" name="任意形状 34">
              <a:extLst>
                <a:ext uri="{FF2B5EF4-FFF2-40B4-BE49-F238E27FC236}">
                  <a16:creationId xmlns:a16="http://schemas.microsoft.com/office/drawing/2014/main" id="{51E6499E-8063-E60B-A7CE-0F01C6FA47B8}"/>
                </a:ext>
              </a:extLst>
            </p:cNvPr>
            <p:cNvSpPr/>
            <p:nvPr/>
          </p:nvSpPr>
          <p:spPr>
            <a:xfrm>
              <a:off x="125361" y="1347428"/>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36" name="任意形状 35">
              <a:extLst>
                <a:ext uri="{FF2B5EF4-FFF2-40B4-BE49-F238E27FC236}">
                  <a16:creationId xmlns:a16="http://schemas.microsoft.com/office/drawing/2014/main" id="{9B1D44F7-80C5-74F4-8C89-02B585D8CF90}"/>
                </a:ext>
              </a:extLst>
            </p:cNvPr>
            <p:cNvSpPr/>
            <p:nvPr/>
          </p:nvSpPr>
          <p:spPr>
            <a:xfrm>
              <a:off x="125361" y="1347428"/>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1E88E5"/>
            </a:solidFill>
            <a:ln w="4179" cap="flat">
              <a:noFill/>
              <a:prstDash val="solid"/>
              <a:miter/>
            </a:ln>
          </p:spPr>
          <p:txBody>
            <a:bodyPr rtlCol="0" anchor="ctr"/>
            <a:lstStyle/>
            <a:p>
              <a:endParaRPr lang="zh-CN" altLang="en-US"/>
            </a:p>
          </p:txBody>
        </p:sp>
        <p:sp>
          <p:nvSpPr>
            <p:cNvPr id="37" name="任意形状 36">
              <a:extLst>
                <a:ext uri="{FF2B5EF4-FFF2-40B4-BE49-F238E27FC236}">
                  <a16:creationId xmlns:a16="http://schemas.microsoft.com/office/drawing/2014/main" id="{B8FE599B-3A30-42D1-9EAE-5210B03B1868}"/>
                </a:ext>
              </a:extLst>
            </p:cNvPr>
            <p:cNvSpPr/>
            <p:nvPr/>
          </p:nvSpPr>
          <p:spPr>
            <a:xfrm>
              <a:off x="125361" y="139757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1E88E5"/>
            </a:solidFill>
            <a:ln w="4179" cap="flat">
              <a:noFill/>
              <a:prstDash val="solid"/>
              <a:miter/>
            </a:ln>
          </p:spPr>
          <p:txBody>
            <a:bodyPr rtlCol="0" anchor="ctr"/>
            <a:lstStyle/>
            <a:p>
              <a:endParaRPr lang="zh-CN" altLang="en-US"/>
            </a:p>
          </p:txBody>
        </p:sp>
        <p:sp>
          <p:nvSpPr>
            <p:cNvPr id="38" name="文本框 37">
              <a:extLst>
                <a:ext uri="{FF2B5EF4-FFF2-40B4-BE49-F238E27FC236}">
                  <a16:creationId xmlns:a16="http://schemas.microsoft.com/office/drawing/2014/main" id="{ED3B803E-72A7-9655-F666-55A0F78013FE}"/>
                </a:ext>
              </a:extLst>
            </p:cNvPr>
            <p:cNvSpPr txBox="1"/>
            <p:nvPr/>
          </p:nvSpPr>
          <p:spPr>
            <a:xfrm>
              <a:off x="163461" y="1314245"/>
              <a:ext cx="592393"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National Census (2020)</a:t>
              </a:r>
            </a:p>
          </p:txBody>
        </p:sp>
        <p:sp>
          <p:nvSpPr>
            <p:cNvPr id="39" name="文本框 38">
              <a:extLst>
                <a:ext uri="{FF2B5EF4-FFF2-40B4-BE49-F238E27FC236}">
                  <a16:creationId xmlns:a16="http://schemas.microsoft.com/office/drawing/2014/main" id="{135D3720-C8CB-AE54-D6FD-9806C77FFA4A}"/>
                </a:ext>
              </a:extLst>
            </p:cNvPr>
            <p:cNvSpPr txBox="1"/>
            <p:nvPr/>
          </p:nvSpPr>
          <p:spPr>
            <a:xfrm>
              <a:off x="117495" y="1406176"/>
              <a:ext cx="684325"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Age-sex distribution (district level)</a:t>
              </a:r>
            </a:p>
          </p:txBody>
        </p:sp>
        <p:sp>
          <p:nvSpPr>
            <p:cNvPr id="40" name="文本框 39">
              <a:extLst>
                <a:ext uri="{FF2B5EF4-FFF2-40B4-BE49-F238E27FC236}">
                  <a16:creationId xmlns:a16="http://schemas.microsoft.com/office/drawing/2014/main" id="{37199158-BDC2-85C5-62E3-19D1110991D7}"/>
                </a:ext>
              </a:extLst>
            </p:cNvPr>
            <p:cNvSpPr txBox="1"/>
            <p:nvPr/>
          </p:nvSpPr>
          <p:spPr>
            <a:xfrm>
              <a:off x="188533" y="1468857"/>
              <a:ext cx="538070"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Elderly 15% · Children 12%</a:t>
              </a:r>
            </a:p>
          </p:txBody>
        </p:sp>
      </p:grpSp>
      <p:grpSp>
        <p:nvGrpSpPr>
          <p:cNvPr id="41" name="图形 2">
            <a:extLst>
              <a:ext uri="{FF2B5EF4-FFF2-40B4-BE49-F238E27FC236}">
                <a16:creationId xmlns:a16="http://schemas.microsoft.com/office/drawing/2014/main" id="{C3F7D511-43AC-8763-B299-34B07EE94EB8}"/>
              </a:ext>
            </a:extLst>
          </p:cNvPr>
          <p:cNvGrpSpPr/>
          <p:nvPr/>
        </p:nvGrpSpPr>
        <p:grpSpPr>
          <a:xfrm>
            <a:off x="877529" y="1347428"/>
            <a:ext cx="668593" cy="234007"/>
            <a:chOff x="877529" y="1347428"/>
            <a:chExt cx="668593" cy="234007"/>
          </a:xfrm>
        </p:grpSpPr>
        <p:sp>
          <p:nvSpPr>
            <p:cNvPr id="42" name="任意形状 41">
              <a:extLst>
                <a:ext uri="{FF2B5EF4-FFF2-40B4-BE49-F238E27FC236}">
                  <a16:creationId xmlns:a16="http://schemas.microsoft.com/office/drawing/2014/main" id="{AB3454A9-11A0-A301-F309-6768453CD295}"/>
                </a:ext>
              </a:extLst>
            </p:cNvPr>
            <p:cNvSpPr/>
            <p:nvPr/>
          </p:nvSpPr>
          <p:spPr>
            <a:xfrm>
              <a:off x="877529" y="1347428"/>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43" name="任意形状 42">
              <a:extLst>
                <a:ext uri="{FF2B5EF4-FFF2-40B4-BE49-F238E27FC236}">
                  <a16:creationId xmlns:a16="http://schemas.microsoft.com/office/drawing/2014/main" id="{1B2F4E4C-EEB7-707E-75C7-C2ADADB50B2A}"/>
                </a:ext>
              </a:extLst>
            </p:cNvPr>
            <p:cNvSpPr/>
            <p:nvPr/>
          </p:nvSpPr>
          <p:spPr>
            <a:xfrm>
              <a:off x="877529" y="1347428"/>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2196F3"/>
            </a:solidFill>
            <a:ln w="4179" cap="flat">
              <a:noFill/>
              <a:prstDash val="solid"/>
              <a:miter/>
            </a:ln>
          </p:spPr>
          <p:txBody>
            <a:bodyPr rtlCol="0" anchor="ctr"/>
            <a:lstStyle/>
            <a:p>
              <a:endParaRPr lang="zh-CN" altLang="en-US"/>
            </a:p>
          </p:txBody>
        </p:sp>
        <p:sp>
          <p:nvSpPr>
            <p:cNvPr id="44" name="任意形状 43">
              <a:extLst>
                <a:ext uri="{FF2B5EF4-FFF2-40B4-BE49-F238E27FC236}">
                  <a16:creationId xmlns:a16="http://schemas.microsoft.com/office/drawing/2014/main" id="{329A6FC7-A9C3-47AE-20A4-EEE87618518F}"/>
                </a:ext>
              </a:extLst>
            </p:cNvPr>
            <p:cNvSpPr/>
            <p:nvPr/>
          </p:nvSpPr>
          <p:spPr>
            <a:xfrm>
              <a:off x="877529" y="139757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2196F3"/>
            </a:solidFill>
            <a:ln w="4179" cap="flat">
              <a:noFill/>
              <a:prstDash val="solid"/>
              <a:miter/>
            </a:ln>
          </p:spPr>
          <p:txBody>
            <a:bodyPr rtlCol="0" anchor="ctr"/>
            <a:lstStyle/>
            <a:p>
              <a:endParaRPr lang="zh-CN" altLang="en-US"/>
            </a:p>
          </p:txBody>
        </p:sp>
        <p:sp>
          <p:nvSpPr>
            <p:cNvPr id="45" name="文本框 44">
              <a:extLst>
                <a:ext uri="{FF2B5EF4-FFF2-40B4-BE49-F238E27FC236}">
                  <a16:creationId xmlns:a16="http://schemas.microsoft.com/office/drawing/2014/main" id="{C30BDDF7-7A16-E798-E066-794AEEB3CD85}"/>
                </a:ext>
              </a:extLst>
            </p:cNvPr>
            <p:cNvSpPr txBox="1"/>
            <p:nvPr/>
          </p:nvSpPr>
          <p:spPr>
            <a:xfrm>
              <a:off x="923986" y="1314245"/>
              <a:ext cx="575678"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Mobile Signaling Data</a:t>
              </a:r>
            </a:p>
          </p:txBody>
        </p:sp>
        <p:sp>
          <p:nvSpPr>
            <p:cNvPr id="46" name="文本框 45">
              <a:extLst>
                <a:ext uri="{FF2B5EF4-FFF2-40B4-BE49-F238E27FC236}">
                  <a16:creationId xmlns:a16="http://schemas.microsoft.com/office/drawing/2014/main" id="{DCD8F00C-8CB0-80F8-478A-EB9CC1D9F5A1}"/>
                </a:ext>
              </a:extLst>
            </p:cNvPr>
            <p:cNvSpPr txBox="1"/>
            <p:nvPr/>
          </p:nvSpPr>
          <p:spPr>
            <a:xfrm>
              <a:off x="809071" y="1406176"/>
              <a:ext cx="805507"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OD flows · Commute patterns · Mode split</a:t>
              </a:r>
            </a:p>
          </p:txBody>
        </p:sp>
        <p:sp>
          <p:nvSpPr>
            <p:cNvPr id="47" name="文本框 46">
              <a:extLst>
                <a:ext uri="{FF2B5EF4-FFF2-40B4-BE49-F238E27FC236}">
                  <a16:creationId xmlns:a16="http://schemas.microsoft.com/office/drawing/2014/main" id="{BD4724E1-1A4C-6595-9CB9-0E048C226720}"/>
                </a:ext>
              </a:extLst>
            </p:cNvPr>
            <p:cNvSpPr txBox="1"/>
            <p:nvPr/>
          </p:nvSpPr>
          <p:spPr>
            <a:xfrm>
              <a:off x="894735" y="1468857"/>
              <a:ext cx="634180"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56.59M daily OD / 3.12M commute</a:t>
              </a:r>
            </a:p>
          </p:txBody>
        </p:sp>
      </p:grpSp>
      <p:grpSp>
        <p:nvGrpSpPr>
          <p:cNvPr id="48" name="图形 2">
            <a:extLst>
              <a:ext uri="{FF2B5EF4-FFF2-40B4-BE49-F238E27FC236}">
                <a16:creationId xmlns:a16="http://schemas.microsoft.com/office/drawing/2014/main" id="{4BC94601-D5F1-523B-9805-034777AFEF13}"/>
              </a:ext>
            </a:extLst>
          </p:cNvPr>
          <p:cNvGrpSpPr/>
          <p:nvPr/>
        </p:nvGrpSpPr>
        <p:grpSpPr>
          <a:xfrm>
            <a:off x="125361" y="1639938"/>
            <a:ext cx="668593" cy="234007"/>
            <a:chOff x="125361" y="1639938"/>
            <a:chExt cx="668593" cy="234007"/>
          </a:xfrm>
        </p:grpSpPr>
        <p:sp>
          <p:nvSpPr>
            <p:cNvPr id="49" name="任意形状 48">
              <a:extLst>
                <a:ext uri="{FF2B5EF4-FFF2-40B4-BE49-F238E27FC236}">
                  <a16:creationId xmlns:a16="http://schemas.microsoft.com/office/drawing/2014/main" id="{02A4873D-C737-D897-A23F-B1C05418AA17}"/>
                </a:ext>
              </a:extLst>
            </p:cNvPr>
            <p:cNvSpPr/>
            <p:nvPr/>
          </p:nvSpPr>
          <p:spPr>
            <a:xfrm>
              <a:off x="125361" y="1639938"/>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50" name="任意形状 49">
              <a:extLst>
                <a:ext uri="{FF2B5EF4-FFF2-40B4-BE49-F238E27FC236}">
                  <a16:creationId xmlns:a16="http://schemas.microsoft.com/office/drawing/2014/main" id="{9E83CAB7-8BCA-440C-F0A3-33F089E0C4D6}"/>
                </a:ext>
              </a:extLst>
            </p:cNvPr>
            <p:cNvSpPr/>
            <p:nvPr/>
          </p:nvSpPr>
          <p:spPr>
            <a:xfrm>
              <a:off x="125361" y="1639938"/>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42A5F5"/>
            </a:solidFill>
            <a:ln w="4179" cap="flat">
              <a:noFill/>
              <a:prstDash val="solid"/>
              <a:miter/>
            </a:ln>
          </p:spPr>
          <p:txBody>
            <a:bodyPr rtlCol="0" anchor="ctr"/>
            <a:lstStyle/>
            <a:p>
              <a:endParaRPr lang="zh-CN" altLang="en-US"/>
            </a:p>
          </p:txBody>
        </p:sp>
        <p:sp>
          <p:nvSpPr>
            <p:cNvPr id="51" name="任意形状 50">
              <a:extLst>
                <a:ext uri="{FF2B5EF4-FFF2-40B4-BE49-F238E27FC236}">
                  <a16:creationId xmlns:a16="http://schemas.microsoft.com/office/drawing/2014/main" id="{765FDD27-F0DF-DE65-E089-DEEFC8DFC357}"/>
                </a:ext>
              </a:extLst>
            </p:cNvPr>
            <p:cNvSpPr/>
            <p:nvPr/>
          </p:nvSpPr>
          <p:spPr>
            <a:xfrm>
              <a:off x="125361" y="169008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42A5F5"/>
            </a:solidFill>
            <a:ln w="4179" cap="flat">
              <a:noFill/>
              <a:prstDash val="solid"/>
              <a:miter/>
            </a:ln>
          </p:spPr>
          <p:txBody>
            <a:bodyPr rtlCol="0" anchor="ctr"/>
            <a:lstStyle/>
            <a:p>
              <a:endParaRPr lang="zh-CN" altLang="en-US"/>
            </a:p>
          </p:txBody>
        </p:sp>
        <p:sp>
          <p:nvSpPr>
            <p:cNvPr id="52" name="文本框 51">
              <a:extLst>
                <a:ext uri="{FF2B5EF4-FFF2-40B4-BE49-F238E27FC236}">
                  <a16:creationId xmlns:a16="http://schemas.microsoft.com/office/drawing/2014/main" id="{A0081109-B247-48BE-C4E8-E4B22D258C96}"/>
                </a:ext>
              </a:extLst>
            </p:cNvPr>
            <p:cNvSpPr txBox="1"/>
            <p:nvPr/>
          </p:nvSpPr>
          <p:spPr>
            <a:xfrm>
              <a:off x="165550" y="1606754"/>
              <a:ext cx="584036"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Block-Level Population</a:t>
              </a:r>
            </a:p>
          </p:txBody>
        </p:sp>
        <p:sp>
          <p:nvSpPr>
            <p:cNvPr id="53" name="文本框 52">
              <a:extLst>
                <a:ext uri="{FF2B5EF4-FFF2-40B4-BE49-F238E27FC236}">
                  <a16:creationId xmlns:a16="http://schemas.microsoft.com/office/drawing/2014/main" id="{C65D0DAF-594A-FC68-8021-C19641C42F47}"/>
                </a:ext>
              </a:extLst>
            </p:cNvPr>
            <p:cNvSpPr txBox="1"/>
            <p:nvPr/>
          </p:nvSpPr>
          <p:spPr>
            <a:xfrm>
              <a:off x="140478" y="1698686"/>
              <a:ext cx="638359"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Baidu LBS resident distribution</a:t>
              </a:r>
            </a:p>
          </p:txBody>
        </p:sp>
        <p:sp>
          <p:nvSpPr>
            <p:cNvPr id="54" name="文本框 53">
              <a:extLst>
                <a:ext uri="{FF2B5EF4-FFF2-40B4-BE49-F238E27FC236}">
                  <a16:creationId xmlns:a16="http://schemas.microsoft.com/office/drawing/2014/main" id="{D2CD1025-28EE-507A-B7C5-49F71AA4EEF6}"/>
                </a:ext>
              </a:extLst>
            </p:cNvPr>
            <p:cNvSpPr txBox="1"/>
            <p:nvPr/>
          </p:nvSpPr>
          <p:spPr>
            <a:xfrm>
              <a:off x="188533" y="1761366"/>
              <a:ext cx="542249"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Block-level spatial precision</a:t>
              </a:r>
            </a:p>
          </p:txBody>
        </p:sp>
      </p:grpSp>
      <p:grpSp>
        <p:nvGrpSpPr>
          <p:cNvPr id="55" name="图形 2">
            <a:extLst>
              <a:ext uri="{FF2B5EF4-FFF2-40B4-BE49-F238E27FC236}">
                <a16:creationId xmlns:a16="http://schemas.microsoft.com/office/drawing/2014/main" id="{AFBA9243-F203-9B07-FFBC-96D783957589}"/>
              </a:ext>
            </a:extLst>
          </p:cNvPr>
          <p:cNvGrpSpPr/>
          <p:nvPr/>
        </p:nvGrpSpPr>
        <p:grpSpPr>
          <a:xfrm>
            <a:off x="877529" y="1639938"/>
            <a:ext cx="668593" cy="234007"/>
            <a:chOff x="877529" y="1639938"/>
            <a:chExt cx="668593" cy="234007"/>
          </a:xfrm>
        </p:grpSpPr>
        <p:sp>
          <p:nvSpPr>
            <p:cNvPr id="56" name="任意形状 55">
              <a:extLst>
                <a:ext uri="{FF2B5EF4-FFF2-40B4-BE49-F238E27FC236}">
                  <a16:creationId xmlns:a16="http://schemas.microsoft.com/office/drawing/2014/main" id="{A94897E8-2BE0-29D6-F58B-68B64D6FF663}"/>
                </a:ext>
              </a:extLst>
            </p:cNvPr>
            <p:cNvSpPr/>
            <p:nvPr/>
          </p:nvSpPr>
          <p:spPr>
            <a:xfrm>
              <a:off x="877529" y="1639938"/>
              <a:ext cx="668593" cy="234007"/>
            </a:xfrm>
            <a:custGeom>
              <a:avLst/>
              <a:gdLst>
                <a:gd name="connsiteX0" fmla="*/ 643521 w 668593"/>
                <a:gd name="connsiteY0" fmla="*/ 0 h 234007"/>
                <a:gd name="connsiteX1" fmla="*/ 668594 w 668593"/>
                <a:gd name="connsiteY1" fmla="*/ 0 h 234007"/>
                <a:gd name="connsiteX2" fmla="*/ 668594 w 668593"/>
                <a:gd name="connsiteY2" fmla="*/ 234008 h 234007"/>
                <a:gd name="connsiteX3" fmla="*/ 643521 w 668593"/>
                <a:gd name="connsiteY3" fmla="*/ 234008 h 234007"/>
                <a:gd name="connsiteX4" fmla="*/ 25072 w 668593"/>
                <a:gd name="connsiteY4" fmla="*/ 234008 h 234007"/>
                <a:gd name="connsiteX5" fmla="*/ 0 w 668593"/>
                <a:gd name="connsiteY5" fmla="*/ 234008 h 234007"/>
                <a:gd name="connsiteX6" fmla="*/ 0 w 668593"/>
                <a:gd name="connsiteY6" fmla="*/ 0 h 234007"/>
                <a:gd name="connsiteX7" fmla="*/ 25072 w 668593"/>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234007">
                  <a:moveTo>
                    <a:pt x="643521" y="0"/>
                  </a:moveTo>
                  <a:cubicBezTo>
                    <a:pt x="657368" y="0"/>
                    <a:pt x="668594" y="0"/>
                    <a:pt x="668594" y="0"/>
                  </a:cubicBezTo>
                  <a:lnTo>
                    <a:pt x="668594" y="234008"/>
                  </a:lnTo>
                  <a:cubicBezTo>
                    <a:pt x="668594" y="234008"/>
                    <a:pt x="657368" y="234008"/>
                    <a:pt x="643521" y="234008"/>
                  </a:cubicBezTo>
                  <a:lnTo>
                    <a:pt x="25072" y="234008"/>
                  </a:lnTo>
                  <a:cubicBezTo>
                    <a:pt x="11225" y="234008"/>
                    <a:pt x="0" y="234008"/>
                    <a:pt x="0" y="234008"/>
                  </a:cubicBezTo>
                  <a:lnTo>
                    <a:pt x="0" y="0"/>
                  </a:lnTo>
                  <a:cubicBezTo>
                    <a:pt x="0" y="0"/>
                    <a:pt x="11225" y="0"/>
                    <a:pt x="25072" y="0"/>
                  </a:cubicBezTo>
                  <a:close/>
                </a:path>
              </a:pathLst>
            </a:custGeom>
            <a:solidFill>
              <a:srgbClr val="FFFFFF"/>
            </a:solidFill>
            <a:ln w="3343" cap="flat">
              <a:solidFill>
                <a:srgbClr val="1565C0"/>
              </a:solidFill>
              <a:prstDash val="solid"/>
              <a:miter/>
            </a:ln>
          </p:spPr>
          <p:txBody>
            <a:bodyPr rtlCol="0" anchor="ctr"/>
            <a:lstStyle/>
            <a:p>
              <a:endParaRPr lang="zh-CN" altLang="en-US"/>
            </a:p>
          </p:txBody>
        </p:sp>
        <p:sp>
          <p:nvSpPr>
            <p:cNvPr id="57" name="任意形状 56">
              <a:extLst>
                <a:ext uri="{FF2B5EF4-FFF2-40B4-BE49-F238E27FC236}">
                  <a16:creationId xmlns:a16="http://schemas.microsoft.com/office/drawing/2014/main" id="{6EFC0C7B-C736-BEED-310C-41741CC9B9B2}"/>
                </a:ext>
              </a:extLst>
            </p:cNvPr>
            <p:cNvSpPr/>
            <p:nvPr/>
          </p:nvSpPr>
          <p:spPr>
            <a:xfrm>
              <a:off x="877529" y="1639938"/>
              <a:ext cx="668593" cy="75216"/>
            </a:xfrm>
            <a:custGeom>
              <a:avLst/>
              <a:gdLst>
                <a:gd name="connsiteX0" fmla="*/ 643521 w 668593"/>
                <a:gd name="connsiteY0" fmla="*/ 0 h 75216"/>
                <a:gd name="connsiteX1" fmla="*/ 668594 w 668593"/>
                <a:gd name="connsiteY1" fmla="*/ 0 h 75216"/>
                <a:gd name="connsiteX2" fmla="*/ 668594 w 668593"/>
                <a:gd name="connsiteY2" fmla="*/ 75217 h 75216"/>
                <a:gd name="connsiteX3" fmla="*/ 643521 w 668593"/>
                <a:gd name="connsiteY3" fmla="*/ 75217 h 75216"/>
                <a:gd name="connsiteX4" fmla="*/ 25072 w 668593"/>
                <a:gd name="connsiteY4" fmla="*/ 75217 h 75216"/>
                <a:gd name="connsiteX5" fmla="*/ 0 w 668593"/>
                <a:gd name="connsiteY5" fmla="*/ 75217 h 75216"/>
                <a:gd name="connsiteX6" fmla="*/ 0 w 668593"/>
                <a:gd name="connsiteY6" fmla="*/ 0 h 75216"/>
                <a:gd name="connsiteX7" fmla="*/ 25072 w 66859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8593" h="75216">
                  <a:moveTo>
                    <a:pt x="643521" y="0"/>
                  </a:moveTo>
                  <a:cubicBezTo>
                    <a:pt x="657368" y="0"/>
                    <a:pt x="668594" y="0"/>
                    <a:pt x="668594" y="0"/>
                  </a:cubicBezTo>
                  <a:lnTo>
                    <a:pt x="668594" y="75217"/>
                  </a:lnTo>
                  <a:cubicBezTo>
                    <a:pt x="668594" y="75217"/>
                    <a:pt x="657368" y="75217"/>
                    <a:pt x="643521" y="75217"/>
                  </a:cubicBezTo>
                  <a:lnTo>
                    <a:pt x="25072" y="75217"/>
                  </a:lnTo>
                  <a:cubicBezTo>
                    <a:pt x="11225" y="75217"/>
                    <a:pt x="0" y="75217"/>
                    <a:pt x="0" y="75217"/>
                  </a:cubicBezTo>
                  <a:lnTo>
                    <a:pt x="0" y="0"/>
                  </a:lnTo>
                  <a:cubicBezTo>
                    <a:pt x="0" y="0"/>
                    <a:pt x="11225" y="0"/>
                    <a:pt x="25072" y="0"/>
                  </a:cubicBezTo>
                  <a:close/>
                </a:path>
              </a:pathLst>
            </a:custGeom>
            <a:solidFill>
              <a:srgbClr val="64B5F6"/>
            </a:solidFill>
            <a:ln w="4179" cap="flat">
              <a:noFill/>
              <a:prstDash val="solid"/>
              <a:miter/>
            </a:ln>
          </p:spPr>
          <p:txBody>
            <a:bodyPr rtlCol="0" anchor="ctr"/>
            <a:lstStyle/>
            <a:p>
              <a:endParaRPr lang="zh-CN" altLang="en-US"/>
            </a:p>
          </p:txBody>
        </p:sp>
        <p:sp>
          <p:nvSpPr>
            <p:cNvPr id="58" name="任意形状 57">
              <a:extLst>
                <a:ext uri="{FF2B5EF4-FFF2-40B4-BE49-F238E27FC236}">
                  <a16:creationId xmlns:a16="http://schemas.microsoft.com/office/drawing/2014/main" id="{28A0AA93-B3D6-D9EB-1FEB-0DAB8195FD80}"/>
                </a:ext>
              </a:extLst>
            </p:cNvPr>
            <p:cNvSpPr/>
            <p:nvPr/>
          </p:nvSpPr>
          <p:spPr>
            <a:xfrm>
              <a:off x="877529" y="1690083"/>
              <a:ext cx="668593" cy="25072"/>
            </a:xfrm>
            <a:custGeom>
              <a:avLst/>
              <a:gdLst>
                <a:gd name="connsiteX0" fmla="*/ 0 w 668593"/>
                <a:gd name="connsiteY0" fmla="*/ 0 h 25072"/>
                <a:gd name="connsiteX1" fmla="*/ 668594 w 668593"/>
                <a:gd name="connsiteY1" fmla="*/ 0 h 25072"/>
                <a:gd name="connsiteX2" fmla="*/ 668594 w 668593"/>
                <a:gd name="connsiteY2" fmla="*/ 25072 h 25072"/>
                <a:gd name="connsiteX3" fmla="*/ 0 w 668593"/>
                <a:gd name="connsiteY3" fmla="*/ 25072 h 25072"/>
              </a:gdLst>
              <a:ahLst/>
              <a:cxnLst>
                <a:cxn ang="0">
                  <a:pos x="connsiteX0" y="connsiteY0"/>
                </a:cxn>
                <a:cxn ang="0">
                  <a:pos x="connsiteX1" y="connsiteY1"/>
                </a:cxn>
                <a:cxn ang="0">
                  <a:pos x="connsiteX2" y="connsiteY2"/>
                </a:cxn>
                <a:cxn ang="0">
                  <a:pos x="connsiteX3" y="connsiteY3"/>
                </a:cxn>
              </a:cxnLst>
              <a:rect l="l" t="t" r="r" b="b"/>
              <a:pathLst>
                <a:path w="668593" h="25072">
                  <a:moveTo>
                    <a:pt x="0" y="0"/>
                  </a:moveTo>
                  <a:lnTo>
                    <a:pt x="668594" y="0"/>
                  </a:lnTo>
                  <a:lnTo>
                    <a:pt x="668594" y="25072"/>
                  </a:lnTo>
                  <a:lnTo>
                    <a:pt x="0" y="25072"/>
                  </a:lnTo>
                  <a:close/>
                </a:path>
              </a:pathLst>
            </a:custGeom>
            <a:solidFill>
              <a:srgbClr val="64B5F6"/>
            </a:solidFill>
            <a:ln w="4179" cap="flat">
              <a:noFill/>
              <a:prstDash val="solid"/>
              <a:miter/>
            </a:ln>
          </p:spPr>
          <p:txBody>
            <a:bodyPr rtlCol="0" anchor="ctr"/>
            <a:lstStyle/>
            <a:p>
              <a:endParaRPr lang="zh-CN" altLang="en-US"/>
            </a:p>
          </p:txBody>
        </p:sp>
        <p:sp>
          <p:nvSpPr>
            <p:cNvPr id="59" name="文本框 58">
              <a:extLst>
                <a:ext uri="{FF2B5EF4-FFF2-40B4-BE49-F238E27FC236}">
                  <a16:creationId xmlns:a16="http://schemas.microsoft.com/office/drawing/2014/main" id="{1D79161D-BEEF-A7DE-D555-B8A99248EE59}"/>
                </a:ext>
              </a:extLst>
            </p:cNvPr>
            <p:cNvSpPr txBox="1"/>
            <p:nvPr/>
          </p:nvSpPr>
          <p:spPr>
            <a:xfrm>
              <a:off x="898914" y="1606754"/>
              <a:ext cx="625823" cy="141584"/>
            </a:xfrm>
            <a:prstGeom prst="rect">
              <a:avLst/>
            </a:prstGeom>
            <a:noFill/>
          </p:spPr>
          <p:txBody>
            <a:bodyPr wrap="none" rtlCol="0">
              <a:spAutoFit/>
            </a:bodyPr>
            <a:lstStyle/>
            <a:p>
              <a:pPr algn="l"/>
              <a:r>
                <a:rPr lang="zh-CN" altLang="en-US" sz="675" b="1" spc="0" baseline="0">
                  <a:ln/>
                  <a:solidFill>
                    <a:srgbClr val="FFFFFF"/>
                  </a:solidFill>
                  <a:latin typeface="Segoe UI"/>
                  <a:cs typeface="Segoe UI"/>
                  <a:sym typeface="Segoe UI"/>
                  <a:rtl val="0"/>
                </a:rPr>
                <a:t>Administrative Boundary</a:t>
              </a:r>
            </a:p>
          </p:txBody>
        </p:sp>
        <p:sp>
          <p:nvSpPr>
            <p:cNvPr id="60" name="文本框 59">
              <a:extLst>
                <a:ext uri="{FF2B5EF4-FFF2-40B4-BE49-F238E27FC236}">
                  <a16:creationId xmlns:a16="http://schemas.microsoft.com/office/drawing/2014/main" id="{E96365A6-052B-D5E6-7A8A-A48CE28F05D8}"/>
                </a:ext>
              </a:extLst>
            </p:cNvPr>
            <p:cNvSpPr txBox="1"/>
            <p:nvPr/>
          </p:nvSpPr>
          <p:spPr>
            <a:xfrm>
              <a:off x="857127" y="1698686"/>
              <a:ext cx="713576"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Yizhuang master plan · 15km buffer</a:t>
              </a:r>
            </a:p>
          </p:txBody>
        </p:sp>
        <p:sp>
          <p:nvSpPr>
            <p:cNvPr id="61" name="文本框 60">
              <a:extLst>
                <a:ext uri="{FF2B5EF4-FFF2-40B4-BE49-F238E27FC236}">
                  <a16:creationId xmlns:a16="http://schemas.microsoft.com/office/drawing/2014/main" id="{846AB4E5-B207-F7DC-8EDC-9A783DB781DD}"/>
                </a:ext>
              </a:extLst>
            </p:cNvPr>
            <p:cNvSpPr txBox="1"/>
            <p:nvPr/>
          </p:nvSpPr>
          <p:spPr>
            <a:xfrm>
              <a:off x="992935" y="1761366"/>
              <a:ext cx="437781"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Study area 707 km²</a:t>
              </a:r>
            </a:p>
          </p:txBody>
        </p:sp>
      </p:grpSp>
      <p:grpSp>
        <p:nvGrpSpPr>
          <p:cNvPr id="62" name="图形 2">
            <a:extLst>
              <a:ext uri="{FF2B5EF4-FFF2-40B4-BE49-F238E27FC236}">
                <a16:creationId xmlns:a16="http://schemas.microsoft.com/office/drawing/2014/main" id="{7EB5A832-2D22-8843-AB39-B141E82325D7}"/>
              </a:ext>
            </a:extLst>
          </p:cNvPr>
          <p:cNvGrpSpPr/>
          <p:nvPr/>
        </p:nvGrpSpPr>
        <p:grpSpPr>
          <a:xfrm>
            <a:off x="146254" y="1953341"/>
            <a:ext cx="1420761" cy="417870"/>
            <a:chOff x="146254" y="1953341"/>
            <a:chExt cx="1420761" cy="417870"/>
          </a:xfrm>
        </p:grpSpPr>
        <p:sp>
          <p:nvSpPr>
            <p:cNvPr id="63" name="任意形状 62">
              <a:extLst>
                <a:ext uri="{FF2B5EF4-FFF2-40B4-BE49-F238E27FC236}">
                  <a16:creationId xmlns:a16="http://schemas.microsoft.com/office/drawing/2014/main" id="{9B92C453-B8FD-9F3E-BD8E-F0C4643A5112}"/>
                </a:ext>
              </a:extLst>
            </p:cNvPr>
            <p:cNvSpPr/>
            <p:nvPr/>
          </p:nvSpPr>
          <p:spPr>
            <a:xfrm>
              <a:off x="146254" y="1953341"/>
              <a:ext cx="1420761" cy="417870"/>
            </a:xfrm>
            <a:custGeom>
              <a:avLst/>
              <a:gdLst>
                <a:gd name="connsiteX0" fmla="*/ 1387332 w 1420761"/>
                <a:gd name="connsiteY0" fmla="*/ 0 h 417870"/>
                <a:gd name="connsiteX1" fmla="*/ 1420761 w 1420761"/>
                <a:gd name="connsiteY1" fmla="*/ 0 h 417870"/>
                <a:gd name="connsiteX2" fmla="*/ 1420761 w 1420761"/>
                <a:gd name="connsiteY2" fmla="*/ 417871 h 417870"/>
                <a:gd name="connsiteX3" fmla="*/ 1387332 w 1420761"/>
                <a:gd name="connsiteY3" fmla="*/ 417871 h 417870"/>
                <a:gd name="connsiteX4" fmla="*/ 33430 w 1420761"/>
                <a:gd name="connsiteY4" fmla="*/ 417871 h 417870"/>
                <a:gd name="connsiteX5" fmla="*/ 0 w 1420761"/>
                <a:gd name="connsiteY5" fmla="*/ 417871 h 417870"/>
                <a:gd name="connsiteX6" fmla="*/ 0 w 1420761"/>
                <a:gd name="connsiteY6" fmla="*/ 0 h 417870"/>
                <a:gd name="connsiteX7" fmla="*/ 33430 w 1420761"/>
                <a:gd name="connsiteY7" fmla="*/ 0 h 41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0761" h="417870">
                  <a:moveTo>
                    <a:pt x="1387332" y="0"/>
                  </a:moveTo>
                  <a:cubicBezTo>
                    <a:pt x="1405794" y="0"/>
                    <a:pt x="1420761" y="0"/>
                    <a:pt x="1420761" y="0"/>
                  </a:cubicBezTo>
                  <a:lnTo>
                    <a:pt x="1420761" y="417871"/>
                  </a:lnTo>
                  <a:cubicBezTo>
                    <a:pt x="1420761" y="417871"/>
                    <a:pt x="1405794" y="417871"/>
                    <a:pt x="1387332" y="417871"/>
                  </a:cubicBezTo>
                  <a:lnTo>
                    <a:pt x="33430" y="417871"/>
                  </a:lnTo>
                  <a:cubicBezTo>
                    <a:pt x="14967" y="417871"/>
                    <a:pt x="0" y="417871"/>
                    <a:pt x="0" y="417871"/>
                  </a:cubicBezTo>
                  <a:lnTo>
                    <a:pt x="0" y="0"/>
                  </a:lnTo>
                  <a:cubicBezTo>
                    <a:pt x="0" y="0"/>
                    <a:pt x="14967" y="0"/>
                    <a:pt x="33430" y="0"/>
                  </a:cubicBezTo>
                  <a:close/>
                </a:path>
              </a:pathLst>
            </a:custGeom>
            <a:solidFill>
              <a:srgbClr val="FFFFFF"/>
            </a:solidFill>
            <a:ln w="4179" cap="flat">
              <a:solidFill>
                <a:srgbClr val="0D47A1"/>
              </a:solidFill>
              <a:prstDash val="solid"/>
              <a:miter/>
            </a:ln>
          </p:spPr>
          <p:txBody>
            <a:bodyPr rtlCol="0" anchor="ctr"/>
            <a:lstStyle/>
            <a:p>
              <a:endParaRPr lang="zh-CN" altLang="en-US"/>
            </a:p>
          </p:txBody>
        </p:sp>
        <p:sp>
          <p:nvSpPr>
            <p:cNvPr id="64" name="任意形状 63">
              <a:extLst>
                <a:ext uri="{FF2B5EF4-FFF2-40B4-BE49-F238E27FC236}">
                  <a16:creationId xmlns:a16="http://schemas.microsoft.com/office/drawing/2014/main" id="{4340E2DA-BB72-DC48-0850-85BAF29034EC}"/>
                </a:ext>
              </a:extLst>
            </p:cNvPr>
            <p:cNvSpPr/>
            <p:nvPr/>
          </p:nvSpPr>
          <p:spPr>
            <a:xfrm>
              <a:off x="146254" y="1953341"/>
              <a:ext cx="1420761" cy="91931"/>
            </a:xfrm>
            <a:custGeom>
              <a:avLst/>
              <a:gdLst>
                <a:gd name="connsiteX0" fmla="*/ 1387332 w 1420761"/>
                <a:gd name="connsiteY0" fmla="*/ 0 h 91931"/>
                <a:gd name="connsiteX1" fmla="*/ 1420761 w 1420761"/>
                <a:gd name="connsiteY1" fmla="*/ 0 h 91931"/>
                <a:gd name="connsiteX2" fmla="*/ 1420761 w 1420761"/>
                <a:gd name="connsiteY2" fmla="*/ 91932 h 91931"/>
                <a:gd name="connsiteX3" fmla="*/ 1387332 w 1420761"/>
                <a:gd name="connsiteY3" fmla="*/ 91932 h 91931"/>
                <a:gd name="connsiteX4" fmla="*/ 33430 w 1420761"/>
                <a:gd name="connsiteY4" fmla="*/ 91932 h 91931"/>
                <a:gd name="connsiteX5" fmla="*/ 0 w 1420761"/>
                <a:gd name="connsiteY5" fmla="*/ 91932 h 91931"/>
                <a:gd name="connsiteX6" fmla="*/ 0 w 1420761"/>
                <a:gd name="connsiteY6" fmla="*/ 0 h 91931"/>
                <a:gd name="connsiteX7" fmla="*/ 33430 w 1420761"/>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0761" h="91931">
                  <a:moveTo>
                    <a:pt x="1387332" y="0"/>
                  </a:moveTo>
                  <a:cubicBezTo>
                    <a:pt x="1405794" y="0"/>
                    <a:pt x="1420761" y="0"/>
                    <a:pt x="1420761" y="0"/>
                  </a:cubicBezTo>
                  <a:lnTo>
                    <a:pt x="1420761" y="91932"/>
                  </a:lnTo>
                  <a:cubicBezTo>
                    <a:pt x="1420761" y="91932"/>
                    <a:pt x="1405794" y="91932"/>
                    <a:pt x="1387332" y="91932"/>
                  </a:cubicBezTo>
                  <a:lnTo>
                    <a:pt x="33430" y="91932"/>
                  </a:lnTo>
                  <a:cubicBezTo>
                    <a:pt x="14967" y="91932"/>
                    <a:pt x="0" y="91932"/>
                    <a:pt x="0" y="91932"/>
                  </a:cubicBezTo>
                  <a:lnTo>
                    <a:pt x="0" y="0"/>
                  </a:lnTo>
                  <a:cubicBezTo>
                    <a:pt x="0" y="0"/>
                    <a:pt x="14967" y="0"/>
                    <a:pt x="33430" y="0"/>
                  </a:cubicBezTo>
                  <a:close/>
                </a:path>
              </a:pathLst>
            </a:custGeom>
            <a:solidFill>
              <a:srgbClr val="0D47A1"/>
            </a:solidFill>
            <a:ln w="4179" cap="flat">
              <a:noFill/>
              <a:prstDash val="solid"/>
              <a:miter/>
            </a:ln>
          </p:spPr>
          <p:txBody>
            <a:bodyPr rtlCol="0" anchor="ctr"/>
            <a:lstStyle/>
            <a:p>
              <a:endParaRPr lang="zh-CN" altLang="en-US"/>
            </a:p>
          </p:txBody>
        </p:sp>
        <p:sp>
          <p:nvSpPr>
            <p:cNvPr id="65" name="任意形状 64">
              <a:extLst>
                <a:ext uri="{FF2B5EF4-FFF2-40B4-BE49-F238E27FC236}">
                  <a16:creationId xmlns:a16="http://schemas.microsoft.com/office/drawing/2014/main" id="{C3698334-E7A9-F112-6199-3DDF7F2EE235}"/>
                </a:ext>
              </a:extLst>
            </p:cNvPr>
            <p:cNvSpPr/>
            <p:nvPr/>
          </p:nvSpPr>
          <p:spPr>
            <a:xfrm>
              <a:off x="146254" y="2020201"/>
              <a:ext cx="1420761" cy="25072"/>
            </a:xfrm>
            <a:custGeom>
              <a:avLst/>
              <a:gdLst>
                <a:gd name="connsiteX0" fmla="*/ 0 w 1420761"/>
                <a:gd name="connsiteY0" fmla="*/ 0 h 25072"/>
                <a:gd name="connsiteX1" fmla="*/ 1420761 w 1420761"/>
                <a:gd name="connsiteY1" fmla="*/ 0 h 25072"/>
                <a:gd name="connsiteX2" fmla="*/ 1420761 w 1420761"/>
                <a:gd name="connsiteY2" fmla="*/ 25072 h 25072"/>
                <a:gd name="connsiteX3" fmla="*/ 0 w 1420761"/>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420761" h="25072">
                  <a:moveTo>
                    <a:pt x="0" y="0"/>
                  </a:moveTo>
                  <a:lnTo>
                    <a:pt x="1420761" y="0"/>
                  </a:lnTo>
                  <a:lnTo>
                    <a:pt x="1420761" y="25072"/>
                  </a:lnTo>
                  <a:lnTo>
                    <a:pt x="0" y="25072"/>
                  </a:lnTo>
                  <a:close/>
                </a:path>
              </a:pathLst>
            </a:custGeom>
            <a:solidFill>
              <a:srgbClr val="0D47A1"/>
            </a:solidFill>
            <a:ln w="4179" cap="flat">
              <a:noFill/>
              <a:prstDash val="solid"/>
              <a:miter/>
            </a:ln>
          </p:spPr>
          <p:txBody>
            <a:bodyPr rtlCol="0" anchor="ctr"/>
            <a:lstStyle/>
            <a:p>
              <a:endParaRPr lang="zh-CN" altLang="en-US"/>
            </a:p>
          </p:txBody>
        </p:sp>
        <p:sp>
          <p:nvSpPr>
            <p:cNvPr id="66" name="文本框 65">
              <a:extLst>
                <a:ext uri="{FF2B5EF4-FFF2-40B4-BE49-F238E27FC236}">
                  <a16:creationId xmlns:a16="http://schemas.microsoft.com/office/drawing/2014/main" id="{51C47F05-EA2B-2FA1-73CA-4370C5FFBE48}"/>
                </a:ext>
              </a:extLst>
            </p:cNvPr>
            <p:cNvSpPr txBox="1"/>
            <p:nvPr/>
          </p:nvSpPr>
          <p:spPr>
            <a:xfrm>
              <a:off x="410005" y="1928515"/>
              <a:ext cx="897439"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Data Processing Pipeline (Steps 0–7)</a:t>
              </a:r>
            </a:p>
          </p:txBody>
        </p:sp>
        <p:sp>
          <p:nvSpPr>
            <p:cNvPr id="67" name="文本框 66">
              <a:extLst>
                <a:ext uri="{FF2B5EF4-FFF2-40B4-BE49-F238E27FC236}">
                  <a16:creationId xmlns:a16="http://schemas.microsoft.com/office/drawing/2014/main" id="{41DDF61D-4826-4992-6AA4-C5FF4578471B}"/>
                </a:ext>
              </a:extLst>
            </p:cNvPr>
            <p:cNvSpPr txBox="1"/>
            <p:nvPr/>
          </p:nvSpPr>
          <p:spPr>
            <a:xfrm>
              <a:off x="138389" y="2045519"/>
              <a:ext cx="1022800"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 BD-09 → GCJ-02 → WGS84 coordinate transformation</a:t>
              </a:r>
            </a:p>
          </p:txBody>
        </p:sp>
        <p:sp>
          <p:nvSpPr>
            <p:cNvPr id="68" name="文本框 67">
              <a:extLst>
                <a:ext uri="{FF2B5EF4-FFF2-40B4-BE49-F238E27FC236}">
                  <a16:creationId xmlns:a16="http://schemas.microsoft.com/office/drawing/2014/main" id="{D013762D-5780-38D7-03C8-F9191A1563F3}"/>
                </a:ext>
              </a:extLst>
            </p:cNvPr>
            <p:cNvSpPr txBox="1"/>
            <p:nvPr/>
          </p:nvSpPr>
          <p:spPr>
            <a:xfrm>
              <a:off x="138389" y="2104021"/>
              <a:ext cx="1047872"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 Road clipping → NetworkX digraph → Dijkstra travel time</a:t>
              </a:r>
            </a:p>
          </p:txBody>
        </p:sp>
        <p:sp>
          <p:nvSpPr>
            <p:cNvPr id="69" name="文本框 68">
              <a:extLst>
                <a:ext uri="{FF2B5EF4-FFF2-40B4-BE49-F238E27FC236}">
                  <a16:creationId xmlns:a16="http://schemas.microsoft.com/office/drawing/2014/main" id="{F1A44295-34E5-FC6F-3E54-628B12945467}"/>
                </a:ext>
              </a:extLst>
            </p:cNvPr>
            <p:cNvSpPr txBox="1"/>
            <p:nvPr/>
          </p:nvSpPr>
          <p:spPr>
            <a:xfrm>
              <a:off x="138389" y="2162523"/>
              <a:ext cx="955941"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 Population disaggregation (census age block pop.)</a:t>
              </a:r>
            </a:p>
          </p:txBody>
        </p:sp>
        <p:sp>
          <p:nvSpPr>
            <p:cNvPr id="70" name="文本框 69">
              <a:extLst>
                <a:ext uri="{FF2B5EF4-FFF2-40B4-BE49-F238E27FC236}">
                  <a16:creationId xmlns:a16="http://schemas.microsoft.com/office/drawing/2014/main" id="{6F0152B7-CDAD-50C9-2CC1-5DA718A70EE6}"/>
                </a:ext>
              </a:extLst>
            </p:cNvPr>
            <p:cNvSpPr txBox="1"/>
            <p:nvPr/>
          </p:nvSpPr>
          <p:spPr>
            <a:xfrm>
              <a:off x="138389" y="2221025"/>
              <a:ext cx="1093838"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 Subway topology · OD/commute clipping · POI classification</a:t>
              </a:r>
            </a:p>
          </p:txBody>
        </p:sp>
      </p:grpSp>
      <p:grpSp>
        <p:nvGrpSpPr>
          <p:cNvPr id="71" name="图形 2">
            <a:extLst>
              <a:ext uri="{FF2B5EF4-FFF2-40B4-BE49-F238E27FC236}">
                <a16:creationId xmlns:a16="http://schemas.microsoft.com/office/drawing/2014/main" id="{2B6EB81A-3980-0D71-6BE2-84BF7667BB45}"/>
              </a:ext>
            </a:extLst>
          </p:cNvPr>
          <p:cNvGrpSpPr/>
          <p:nvPr/>
        </p:nvGrpSpPr>
        <p:grpSpPr>
          <a:xfrm>
            <a:off x="146254" y="2433893"/>
            <a:ext cx="1420761" cy="200578"/>
            <a:chOff x="146254" y="2433893"/>
            <a:chExt cx="1420761" cy="200578"/>
          </a:xfrm>
        </p:grpSpPr>
        <p:sp>
          <p:nvSpPr>
            <p:cNvPr id="72" name="任意形状 71">
              <a:extLst>
                <a:ext uri="{FF2B5EF4-FFF2-40B4-BE49-F238E27FC236}">
                  <a16:creationId xmlns:a16="http://schemas.microsoft.com/office/drawing/2014/main" id="{5BCEDAB0-A5C6-932D-7DC4-E835E03AA7AD}"/>
                </a:ext>
              </a:extLst>
            </p:cNvPr>
            <p:cNvSpPr/>
            <p:nvPr/>
          </p:nvSpPr>
          <p:spPr>
            <a:xfrm>
              <a:off x="146254" y="2433893"/>
              <a:ext cx="1420761" cy="200578"/>
            </a:xfrm>
            <a:custGeom>
              <a:avLst/>
              <a:gdLst>
                <a:gd name="connsiteX0" fmla="*/ 1387332 w 1420761"/>
                <a:gd name="connsiteY0" fmla="*/ 0 h 200578"/>
                <a:gd name="connsiteX1" fmla="*/ 1420761 w 1420761"/>
                <a:gd name="connsiteY1" fmla="*/ 0 h 200578"/>
                <a:gd name="connsiteX2" fmla="*/ 1420761 w 1420761"/>
                <a:gd name="connsiteY2" fmla="*/ 200578 h 200578"/>
                <a:gd name="connsiteX3" fmla="*/ 1387332 w 1420761"/>
                <a:gd name="connsiteY3" fmla="*/ 200578 h 200578"/>
                <a:gd name="connsiteX4" fmla="*/ 33430 w 1420761"/>
                <a:gd name="connsiteY4" fmla="*/ 200578 h 200578"/>
                <a:gd name="connsiteX5" fmla="*/ 0 w 1420761"/>
                <a:gd name="connsiteY5" fmla="*/ 200578 h 200578"/>
                <a:gd name="connsiteX6" fmla="*/ 0 w 1420761"/>
                <a:gd name="connsiteY6" fmla="*/ 0 h 200578"/>
                <a:gd name="connsiteX7" fmla="*/ 33430 w 1420761"/>
                <a:gd name="connsiteY7" fmla="*/ 0 h 20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0761" h="200578">
                  <a:moveTo>
                    <a:pt x="1387332" y="0"/>
                  </a:moveTo>
                  <a:cubicBezTo>
                    <a:pt x="1405794" y="0"/>
                    <a:pt x="1420761" y="0"/>
                    <a:pt x="1420761" y="0"/>
                  </a:cubicBezTo>
                  <a:lnTo>
                    <a:pt x="1420761" y="200578"/>
                  </a:lnTo>
                  <a:cubicBezTo>
                    <a:pt x="1420761" y="200578"/>
                    <a:pt x="1405794" y="200578"/>
                    <a:pt x="1387332" y="200578"/>
                  </a:cubicBezTo>
                  <a:lnTo>
                    <a:pt x="33430" y="200578"/>
                  </a:lnTo>
                  <a:cubicBezTo>
                    <a:pt x="14967" y="200578"/>
                    <a:pt x="0" y="200578"/>
                    <a:pt x="0" y="200578"/>
                  </a:cubicBezTo>
                  <a:lnTo>
                    <a:pt x="0" y="0"/>
                  </a:lnTo>
                  <a:cubicBezTo>
                    <a:pt x="0" y="0"/>
                    <a:pt x="14967" y="0"/>
                    <a:pt x="33430" y="0"/>
                  </a:cubicBezTo>
                  <a:close/>
                </a:path>
              </a:pathLst>
            </a:custGeom>
            <a:solidFill>
              <a:srgbClr val="FFFFFF"/>
            </a:solidFill>
            <a:ln w="4179" cap="flat">
              <a:solidFill>
                <a:srgbClr val="0D47A1"/>
              </a:solidFill>
              <a:custDash>
                <a:ds d="300000" sp="150000"/>
              </a:custDash>
              <a:miter/>
            </a:ln>
          </p:spPr>
          <p:txBody>
            <a:bodyPr rtlCol="0" anchor="ctr"/>
            <a:lstStyle/>
            <a:p>
              <a:endParaRPr lang="zh-CN" altLang="en-US"/>
            </a:p>
          </p:txBody>
        </p:sp>
        <p:sp>
          <p:nvSpPr>
            <p:cNvPr id="73" name="文本框 72">
              <a:extLst>
                <a:ext uri="{FF2B5EF4-FFF2-40B4-BE49-F238E27FC236}">
                  <a16:creationId xmlns:a16="http://schemas.microsoft.com/office/drawing/2014/main" id="{2FEBC20D-A66F-B473-54FE-5CE7143FE5C2}"/>
                </a:ext>
              </a:extLst>
            </p:cNvPr>
            <p:cNvSpPr txBox="1"/>
            <p:nvPr/>
          </p:nvSpPr>
          <p:spPr>
            <a:xfrm>
              <a:off x="355681" y="2429960"/>
              <a:ext cx="997728" cy="141584"/>
            </a:xfrm>
            <a:prstGeom prst="rect">
              <a:avLst/>
            </a:prstGeom>
            <a:noFill/>
          </p:spPr>
          <p:txBody>
            <a:bodyPr wrap="none" rtlCol="0">
              <a:spAutoFit/>
            </a:bodyPr>
            <a:lstStyle/>
            <a:p>
              <a:pPr algn="l"/>
              <a:r>
                <a:rPr lang="zh-CN" altLang="en-US" sz="675" b="1" spc="0" baseline="0">
                  <a:ln/>
                  <a:solidFill>
                    <a:srgbClr val="0D47A1"/>
                  </a:solidFill>
                  <a:latin typeface="Segoe UI"/>
                  <a:cs typeface="Segoe UI"/>
                  <a:sym typeface="Segoe UI"/>
                  <a:rtl val="0"/>
                </a:rPr>
                <a:t>Data Integration &amp; Consistency Check (Step 8)</a:t>
              </a:r>
            </a:p>
          </p:txBody>
        </p:sp>
        <p:sp>
          <p:nvSpPr>
            <p:cNvPr id="74" name="文本框 73">
              <a:extLst>
                <a:ext uri="{FF2B5EF4-FFF2-40B4-BE49-F238E27FC236}">
                  <a16:creationId xmlns:a16="http://schemas.microsoft.com/office/drawing/2014/main" id="{71233F86-AF22-9DB7-2940-E05C02AB2BD3}"/>
                </a:ext>
              </a:extLst>
            </p:cNvPr>
            <p:cNvSpPr txBox="1"/>
            <p:nvPr/>
          </p:nvSpPr>
          <p:spPr>
            <a:xfrm>
              <a:off x="286733" y="2509356"/>
              <a:ext cx="1139804"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Spatial overlay · Topology validation · Scenario parameter export</a:t>
              </a:r>
            </a:p>
          </p:txBody>
        </p:sp>
      </p:grpSp>
      <p:grpSp>
        <p:nvGrpSpPr>
          <p:cNvPr id="75" name="图形 2">
            <a:extLst>
              <a:ext uri="{FF2B5EF4-FFF2-40B4-BE49-F238E27FC236}">
                <a16:creationId xmlns:a16="http://schemas.microsoft.com/office/drawing/2014/main" id="{AD926D1B-5DBE-5DC8-68FE-F1F78BF5710A}"/>
              </a:ext>
            </a:extLst>
          </p:cNvPr>
          <p:cNvGrpSpPr/>
          <p:nvPr/>
        </p:nvGrpSpPr>
        <p:grpSpPr>
          <a:xfrm>
            <a:off x="1713270" y="1030092"/>
            <a:ext cx="1044677" cy="325694"/>
            <a:chOff x="1713270" y="1030092"/>
            <a:chExt cx="1044677" cy="325694"/>
          </a:xfrm>
        </p:grpSpPr>
        <p:sp>
          <p:nvSpPr>
            <p:cNvPr id="76" name="任意形状 75">
              <a:extLst>
                <a:ext uri="{FF2B5EF4-FFF2-40B4-BE49-F238E27FC236}">
                  <a16:creationId xmlns:a16="http://schemas.microsoft.com/office/drawing/2014/main" id="{16BF76DA-F836-7A83-3641-74EF8E84E6FE}"/>
                </a:ext>
              </a:extLst>
            </p:cNvPr>
            <p:cNvSpPr/>
            <p:nvPr/>
          </p:nvSpPr>
          <p:spPr>
            <a:xfrm>
              <a:off x="1713270" y="1054919"/>
              <a:ext cx="1044677" cy="300867"/>
            </a:xfrm>
            <a:custGeom>
              <a:avLst/>
              <a:gdLst>
                <a:gd name="connsiteX0" fmla="*/ 1011248 w 1044677"/>
                <a:gd name="connsiteY0" fmla="*/ 0 h 300867"/>
                <a:gd name="connsiteX1" fmla="*/ 1044677 w 1044677"/>
                <a:gd name="connsiteY1" fmla="*/ 0 h 300867"/>
                <a:gd name="connsiteX2" fmla="*/ 1044677 w 1044677"/>
                <a:gd name="connsiteY2" fmla="*/ 300867 h 300867"/>
                <a:gd name="connsiteX3" fmla="*/ 1011248 w 1044677"/>
                <a:gd name="connsiteY3" fmla="*/ 300867 h 300867"/>
                <a:gd name="connsiteX4" fmla="*/ 33430 w 1044677"/>
                <a:gd name="connsiteY4" fmla="*/ 300867 h 300867"/>
                <a:gd name="connsiteX5" fmla="*/ 0 w 1044677"/>
                <a:gd name="connsiteY5" fmla="*/ 300867 h 300867"/>
                <a:gd name="connsiteX6" fmla="*/ 0 w 1044677"/>
                <a:gd name="connsiteY6" fmla="*/ 0 h 300867"/>
                <a:gd name="connsiteX7" fmla="*/ 33430 w 1044677"/>
                <a:gd name="connsiteY7" fmla="*/ 0 h 30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300867">
                  <a:moveTo>
                    <a:pt x="1011248" y="0"/>
                  </a:moveTo>
                  <a:cubicBezTo>
                    <a:pt x="1029710" y="0"/>
                    <a:pt x="1044677" y="0"/>
                    <a:pt x="1044677" y="0"/>
                  </a:cubicBezTo>
                  <a:lnTo>
                    <a:pt x="1044677" y="300867"/>
                  </a:lnTo>
                  <a:cubicBezTo>
                    <a:pt x="1044677" y="300867"/>
                    <a:pt x="1029710" y="300867"/>
                    <a:pt x="1011248" y="300867"/>
                  </a:cubicBezTo>
                  <a:lnTo>
                    <a:pt x="33430" y="300867"/>
                  </a:lnTo>
                  <a:cubicBezTo>
                    <a:pt x="14967" y="300867"/>
                    <a:pt x="0" y="300867"/>
                    <a:pt x="0" y="300867"/>
                  </a:cubicBezTo>
                  <a:lnTo>
                    <a:pt x="0" y="0"/>
                  </a:lnTo>
                  <a:cubicBezTo>
                    <a:pt x="0" y="0"/>
                    <a:pt x="14967" y="0"/>
                    <a:pt x="33430" y="0"/>
                  </a:cubicBezTo>
                  <a:close/>
                </a:path>
              </a:pathLst>
            </a:custGeom>
            <a:solidFill>
              <a:srgbClr val="FFFFFF"/>
            </a:solidFill>
            <a:ln w="4179" cap="flat">
              <a:solidFill>
                <a:srgbClr val="E65100"/>
              </a:solidFill>
              <a:prstDash val="solid"/>
              <a:miter/>
            </a:ln>
          </p:spPr>
          <p:txBody>
            <a:bodyPr rtlCol="0" anchor="ctr"/>
            <a:lstStyle/>
            <a:p>
              <a:endParaRPr lang="zh-CN" altLang="en-US"/>
            </a:p>
          </p:txBody>
        </p:sp>
        <p:sp>
          <p:nvSpPr>
            <p:cNvPr id="77" name="任意形状 76">
              <a:extLst>
                <a:ext uri="{FF2B5EF4-FFF2-40B4-BE49-F238E27FC236}">
                  <a16:creationId xmlns:a16="http://schemas.microsoft.com/office/drawing/2014/main" id="{5EADEDB9-D57C-DE19-596A-FD1A264CC39F}"/>
                </a:ext>
              </a:extLst>
            </p:cNvPr>
            <p:cNvSpPr/>
            <p:nvPr/>
          </p:nvSpPr>
          <p:spPr>
            <a:xfrm>
              <a:off x="1713270" y="1054919"/>
              <a:ext cx="1044677" cy="91931"/>
            </a:xfrm>
            <a:custGeom>
              <a:avLst/>
              <a:gdLst>
                <a:gd name="connsiteX0" fmla="*/ 1011248 w 1044677"/>
                <a:gd name="connsiteY0" fmla="*/ 0 h 91931"/>
                <a:gd name="connsiteX1" fmla="*/ 1044677 w 1044677"/>
                <a:gd name="connsiteY1" fmla="*/ 0 h 91931"/>
                <a:gd name="connsiteX2" fmla="*/ 1044677 w 1044677"/>
                <a:gd name="connsiteY2" fmla="*/ 91932 h 91931"/>
                <a:gd name="connsiteX3" fmla="*/ 1011248 w 1044677"/>
                <a:gd name="connsiteY3" fmla="*/ 91932 h 91931"/>
                <a:gd name="connsiteX4" fmla="*/ 33430 w 1044677"/>
                <a:gd name="connsiteY4" fmla="*/ 91932 h 91931"/>
                <a:gd name="connsiteX5" fmla="*/ 0 w 1044677"/>
                <a:gd name="connsiteY5" fmla="*/ 91932 h 91931"/>
                <a:gd name="connsiteX6" fmla="*/ 0 w 1044677"/>
                <a:gd name="connsiteY6" fmla="*/ 0 h 91931"/>
                <a:gd name="connsiteX7" fmla="*/ 33430 w 1044677"/>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91931">
                  <a:moveTo>
                    <a:pt x="1011248" y="0"/>
                  </a:moveTo>
                  <a:cubicBezTo>
                    <a:pt x="1029710" y="0"/>
                    <a:pt x="1044677" y="0"/>
                    <a:pt x="1044677" y="0"/>
                  </a:cubicBezTo>
                  <a:lnTo>
                    <a:pt x="1044677" y="91932"/>
                  </a:lnTo>
                  <a:cubicBezTo>
                    <a:pt x="1044677" y="91932"/>
                    <a:pt x="1029710" y="91932"/>
                    <a:pt x="1011248" y="91932"/>
                  </a:cubicBezTo>
                  <a:lnTo>
                    <a:pt x="33430" y="91932"/>
                  </a:lnTo>
                  <a:cubicBezTo>
                    <a:pt x="14967" y="91932"/>
                    <a:pt x="0" y="91932"/>
                    <a:pt x="0" y="91932"/>
                  </a:cubicBezTo>
                  <a:lnTo>
                    <a:pt x="0" y="0"/>
                  </a:lnTo>
                  <a:cubicBezTo>
                    <a:pt x="0" y="0"/>
                    <a:pt x="14967" y="0"/>
                    <a:pt x="33430" y="0"/>
                  </a:cubicBezTo>
                  <a:close/>
                </a:path>
              </a:pathLst>
            </a:custGeom>
            <a:solidFill>
              <a:srgbClr val="E65100"/>
            </a:solidFill>
            <a:ln w="4179" cap="flat">
              <a:noFill/>
              <a:prstDash val="solid"/>
              <a:miter/>
            </a:ln>
          </p:spPr>
          <p:txBody>
            <a:bodyPr rtlCol="0" anchor="ctr"/>
            <a:lstStyle/>
            <a:p>
              <a:endParaRPr lang="zh-CN" altLang="en-US"/>
            </a:p>
          </p:txBody>
        </p:sp>
        <p:sp>
          <p:nvSpPr>
            <p:cNvPr id="78" name="任意形状 77">
              <a:extLst>
                <a:ext uri="{FF2B5EF4-FFF2-40B4-BE49-F238E27FC236}">
                  <a16:creationId xmlns:a16="http://schemas.microsoft.com/office/drawing/2014/main" id="{754ACEAE-6BCF-D884-B97E-7C713A1F3211}"/>
                </a:ext>
              </a:extLst>
            </p:cNvPr>
            <p:cNvSpPr/>
            <p:nvPr/>
          </p:nvSpPr>
          <p:spPr>
            <a:xfrm>
              <a:off x="1713270" y="1121778"/>
              <a:ext cx="1044677" cy="25072"/>
            </a:xfrm>
            <a:custGeom>
              <a:avLst/>
              <a:gdLst>
                <a:gd name="connsiteX0" fmla="*/ 0 w 1044677"/>
                <a:gd name="connsiteY0" fmla="*/ 0 h 25072"/>
                <a:gd name="connsiteX1" fmla="*/ 1044677 w 1044677"/>
                <a:gd name="connsiteY1" fmla="*/ 0 h 25072"/>
                <a:gd name="connsiteX2" fmla="*/ 1044677 w 1044677"/>
                <a:gd name="connsiteY2" fmla="*/ 25072 h 25072"/>
                <a:gd name="connsiteX3" fmla="*/ 0 w 1044677"/>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44677" h="25072">
                  <a:moveTo>
                    <a:pt x="0" y="0"/>
                  </a:moveTo>
                  <a:lnTo>
                    <a:pt x="1044677" y="0"/>
                  </a:lnTo>
                  <a:lnTo>
                    <a:pt x="1044677" y="25072"/>
                  </a:lnTo>
                  <a:lnTo>
                    <a:pt x="0" y="25072"/>
                  </a:lnTo>
                  <a:close/>
                </a:path>
              </a:pathLst>
            </a:custGeom>
            <a:solidFill>
              <a:srgbClr val="E65100"/>
            </a:solidFill>
            <a:ln w="4179" cap="flat">
              <a:noFill/>
              <a:prstDash val="solid"/>
              <a:miter/>
            </a:ln>
          </p:spPr>
          <p:txBody>
            <a:bodyPr rtlCol="0" anchor="ctr"/>
            <a:lstStyle/>
            <a:p>
              <a:endParaRPr lang="zh-CN" altLang="en-US"/>
            </a:p>
          </p:txBody>
        </p:sp>
        <p:sp>
          <p:nvSpPr>
            <p:cNvPr id="79" name="文本框 78">
              <a:extLst>
                <a:ext uri="{FF2B5EF4-FFF2-40B4-BE49-F238E27FC236}">
                  <a16:creationId xmlns:a16="http://schemas.microsoft.com/office/drawing/2014/main" id="{06EB8A19-32CF-6399-8B77-22AB6D63622A}"/>
                </a:ext>
              </a:extLst>
            </p:cNvPr>
            <p:cNvSpPr txBox="1"/>
            <p:nvPr/>
          </p:nvSpPr>
          <p:spPr>
            <a:xfrm>
              <a:off x="1811962" y="1030092"/>
              <a:ext cx="847294"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Gaussian Plume Dispersion Model</a:t>
              </a:r>
            </a:p>
          </p:txBody>
        </p:sp>
        <p:sp>
          <p:nvSpPr>
            <p:cNvPr id="80" name="文本框 79">
              <a:extLst>
                <a:ext uri="{FF2B5EF4-FFF2-40B4-BE49-F238E27FC236}">
                  <a16:creationId xmlns:a16="http://schemas.microsoft.com/office/drawing/2014/main" id="{86BCCE78-2DAA-67CA-5B8F-C9D7A59579BD}"/>
                </a:ext>
              </a:extLst>
            </p:cNvPr>
            <p:cNvSpPr txBox="1"/>
            <p:nvPr/>
          </p:nvSpPr>
          <p:spPr>
            <a:xfrm>
              <a:off x="1761817" y="1134560"/>
              <a:ext cx="947583"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Cl</a:t>
              </a:r>
              <a:r>
                <a:rPr lang="zh-CN" altLang="en-US" sz="600" spc="0" baseline="0">
                  <a:ln/>
                  <a:solidFill>
                    <a:srgbClr val="333333"/>
                  </a:solidFill>
                  <a:latin typeface="Cambria Math"/>
                  <a:cs typeface="Arial"/>
                  <a:sym typeface="Cambria Math"/>
                  <a:rtl val="0"/>
                </a:rPr>
                <a:t>₂</a:t>
              </a:r>
              <a:r>
                <a:rPr lang="zh-CN" altLang="en-US" sz="600" spc="0" baseline="0">
                  <a:ln/>
                  <a:solidFill>
                    <a:srgbClr val="333333"/>
                  </a:solidFill>
                  <a:latin typeface="Arial"/>
                  <a:cs typeface="Arial"/>
                  <a:sym typeface="Arial"/>
                  <a:rtl val="0"/>
                </a:rPr>
                <a:t> release 5 kg/min · Wind 3 m/s · Class D stability</a:t>
              </a:r>
            </a:p>
          </p:txBody>
        </p:sp>
        <p:sp>
          <p:nvSpPr>
            <p:cNvPr id="81" name="文本框 80">
              <a:extLst>
                <a:ext uri="{FF2B5EF4-FFF2-40B4-BE49-F238E27FC236}">
                  <a16:creationId xmlns:a16="http://schemas.microsoft.com/office/drawing/2014/main" id="{1005D79B-D838-3178-C4FD-4B9CB84F44EC}"/>
                </a:ext>
              </a:extLst>
            </p:cNvPr>
            <p:cNvSpPr txBox="1"/>
            <p:nvPr/>
          </p:nvSpPr>
          <p:spPr>
            <a:xfrm>
              <a:off x="1799426" y="1193062"/>
              <a:ext cx="868188" cy="129048"/>
            </a:xfrm>
            <a:prstGeom prst="rect">
              <a:avLst/>
            </a:prstGeom>
            <a:noFill/>
          </p:spPr>
          <p:txBody>
            <a:bodyPr wrap="none" rtlCol="0">
              <a:spAutoFit/>
            </a:bodyPr>
            <a:lstStyle/>
            <a:p>
              <a:pPr algn="l"/>
              <a:r>
                <a:rPr lang="zh-CN" altLang="en-US" sz="600" spc="0" baseline="0" dirty="0">
                  <a:ln/>
                  <a:solidFill>
                    <a:srgbClr val="666666"/>
                  </a:solidFill>
                  <a:latin typeface="Arial"/>
                  <a:cs typeface="Arial"/>
                  <a:sym typeface="Arial"/>
                  <a:rtl val="0"/>
                </a:rPr>
                <a:t>Pasquill-Gifford params · Briggs urban formula</a:t>
              </a:r>
            </a:p>
          </p:txBody>
        </p:sp>
      </p:grpSp>
      <p:grpSp>
        <p:nvGrpSpPr>
          <p:cNvPr id="83" name="图形 2">
            <a:extLst>
              <a:ext uri="{FF2B5EF4-FFF2-40B4-BE49-F238E27FC236}">
                <a16:creationId xmlns:a16="http://schemas.microsoft.com/office/drawing/2014/main" id="{7D064B24-7702-7C63-0009-524EF8D75EFD}"/>
              </a:ext>
            </a:extLst>
          </p:cNvPr>
          <p:cNvGrpSpPr/>
          <p:nvPr/>
        </p:nvGrpSpPr>
        <p:grpSpPr>
          <a:xfrm>
            <a:off x="1713270" y="1410109"/>
            <a:ext cx="1044677" cy="367726"/>
            <a:chOff x="1713270" y="1410109"/>
            <a:chExt cx="1044677" cy="367726"/>
          </a:xfrm>
        </p:grpSpPr>
        <p:sp>
          <p:nvSpPr>
            <p:cNvPr id="84" name="任意形状 83">
              <a:extLst>
                <a:ext uri="{FF2B5EF4-FFF2-40B4-BE49-F238E27FC236}">
                  <a16:creationId xmlns:a16="http://schemas.microsoft.com/office/drawing/2014/main" id="{D54ABE11-4406-670D-8229-EFB14C38DA97}"/>
                </a:ext>
              </a:extLst>
            </p:cNvPr>
            <p:cNvSpPr/>
            <p:nvPr/>
          </p:nvSpPr>
          <p:spPr>
            <a:xfrm>
              <a:off x="1713270" y="1410109"/>
              <a:ext cx="1044677" cy="367726"/>
            </a:xfrm>
            <a:custGeom>
              <a:avLst/>
              <a:gdLst>
                <a:gd name="connsiteX0" fmla="*/ 1011248 w 1044677"/>
                <a:gd name="connsiteY0" fmla="*/ 0 h 367726"/>
                <a:gd name="connsiteX1" fmla="*/ 1044677 w 1044677"/>
                <a:gd name="connsiteY1" fmla="*/ 0 h 367726"/>
                <a:gd name="connsiteX2" fmla="*/ 1044677 w 1044677"/>
                <a:gd name="connsiteY2" fmla="*/ 367726 h 367726"/>
                <a:gd name="connsiteX3" fmla="*/ 1011248 w 1044677"/>
                <a:gd name="connsiteY3" fmla="*/ 367726 h 367726"/>
                <a:gd name="connsiteX4" fmla="*/ 33430 w 1044677"/>
                <a:gd name="connsiteY4" fmla="*/ 367726 h 367726"/>
                <a:gd name="connsiteX5" fmla="*/ 0 w 1044677"/>
                <a:gd name="connsiteY5" fmla="*/ 367726 h 367726"/>
                <a:gd name="connsiteX6" fmla="*/ 0 w 1044677"/>
                <a:gd name="connsiteY6" fmla="*/ 0 h 367726"/>
                <a:gd name="connsiteX7" fmla="*/ 33430 w 1044677"/>
                <a:gd name="connsiteY7" fmla="*/ 0 h 3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367726">
                  <a:moveTo>
                    <a:pt x="1011248" y="0"/>
                  </a:moveTo>
                  <a:cubicBezTo>
                    <a:pt x="1029710" y="0"/>
                    <a:pt x="1044677" y="0"/>
                    <a:pt x="1044677" y="0"/>
                  </a:cubicBezTo>
                  <a:lnTo>
                    <a:pt x="1044677" y="367726"/>
                  </a:lnTo>
                  <a:cubicBezTo>
                    <a:pt x="1044677" y="367726"/>
                    <a:pt x="1029710" y="367726"/>
                    <a:pt x="1011248" y="367726"/>
                  </a:cubicBezTo>
                  <a:lnTo>
                    <a:pt x="33430" y="367726"/>
                  </a:lnTo>
                  <a:cubicBezTo>
                    <a:pt x="14967" y="367726"/>
                    <a:pt x="0" y="367726"/>
                    <a:pt x="0" y="367726"/>
                  </a:cubicBezTo>
                  <a:lnTo>
                    <a:pt x="0" y="0"/>
                  </a:lnTo>
                  <a:cubicBezTo>
                    <a:pt x="0" y="0"/>
                    <a:pt x="14967" y="0"/>
                    <a:pt x="33430" y="0"/>
                  </a:cubicBezTo>
                  <a:close/>
                </a:path>
              </a:pathLst>
            </a:custGeom>
            <a:solidFill>
              <a:srgbClr val="FFFFFF"/>
            </a:solidFill>
            <a:ln w="4179" cap="flat">
              <a:solidFill>
                <a:srgbClr val="E65100"/>
              </a:solidFill>
              <a:prstDash val="solid"/>
              <a:miter/>
            </a:ln>
          </p:spPr>
          <p:txBody>
            <a:bodyPr rtlCol="0" anchor="ctr"/>
            <a:lstStyle/>
            <a:p>
              <a:endParaRPr lang="zh-CN" altLang="en-US"/>
            </a:p>
          </p:txBody>
        </p:sp>
        <p:sp>
          <p:nvSpPr>
            <p:cNvPr id="85" name="任意形状 84">
              <a:extLst>
                <a:ext uri="{FF2B5EF4-FFF2-40B4-BE49-F238E27FC236}">
                  <a16:creationId xmlns:a16="http://schemas.microsoft.com/office/drawing/2014/main" id="{E3D38226-D49F-7976-4EFB-3331C6293E28}"/>
                </a:ext>
              </a:extLst>
            </p:cNvPr>
            <p:cNvSpPr/>
            <p:nvPr/>
          </p:nvSpPr>
          <p:spPr>
            <a:xfrm>
              <a:off x="1713270" y="1410109"/>
              <a:ext cx="1044677" cy="91931"/>
            </a:xfrm>
            <a:custGeom>
              <a:avLst/>
              <a:gdLst>
                <a:gd name="connsiteX0" fmla="*/ 1011248 w 1044677"/>
                <a:gd name="connsiteY0" fmla="*/ 0 h 91931"/>
                <a:gd name="connsiteX1" fmla="*/ 1044677 w 1044677"/>
                <a:gd name="connsiteY1" fmla="*/ 0 h 91931"/>
                <a:gd name="connsiteX2" fmla="*/ 1044677 w 1044677"/>
                <a:gd name="connsiteY2" fmla="*/ 91932 h 91931"/>
                <a:gd name="connsiteX3" fmla="*/ 1011248 w 1044677"/>
                <a:gd name="connsiteY3" fmla="*/ 91932 h 91931"/>
                <a:gd name="connsiteX4" fmla="*/ 33430 w 1044677"/>
                <a:gd name="connsiteY4" fmla="*/ 91932 h 91931"/>
                <a:gd name="connsiteX5" fmla="*/ 0 w 1044677"/>
                <a:gd name="connsiteY5" fmla="*/ 91932 h 91931"/>
                <a:gd name="connsiteX6" fmla="*/ 0 w 1044677"/>
                <a:gd name="connsiteY6" fmla="*/ 0 h 91931"/>
                <a:gd name="connsiteX7" fmla="*/ 33430 w 1044677"/>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91931">
                  <a:moveTo>
                    <a:pt x="1011248" y="0"/>
                  </a:moveTo>
                  <a:cubicBezTo>
                    <a:pt x="1029710" y="0"/>
                    <a:pt x="1044677" y="0"/>
                    <a:pt x="1044677" y="0"/>
                  </a:cubicBezTo>
                  <a:lnTo>
                    <a:pt x="1044677" y="91932"/>
                  </a:lnTo>
                  <a:cubicBezTo>
                    <a:pt x="1044677" y="91932"/>
                    <a:pt x="1029710" y="91932"/>
                    <a:pt x="1011248" y="91932"/>
                  </a:cubicBezTo>
                  <a:lnTo>
                    <a:pt x="33430" y="91932"/>
                  </a:lnTo>
                  <a:cubicBezTo>
                    <a:pt x="14967" y="91932"/>
                    <a:pt x="0" y="91932"/>
                    <a:pt x="0" y="91932"/>
                  </a:cubicBezTo>
                  <a:lnTo>
                    <a:pt x="0" y="0"/>
                  </a:lnTo>
                  <a:cubicBezTo>
                    <a:pt x="0" y="0"/>
                    <a:pt x="14967" y="0"/>
                    <a:pt x="33430" y="0"/>
                  </a:cubicBezTo>
                  <a:close/>
                </a:path>
              </a:pathLst>
            </a:custGeom>
            <a:solidFill>
              <a:srgbClr val="FF6F00"/>
            </a:solidFill>
            <a:ln w="4179" cap="flat">
              <a:noFill/>
              <a:prstDash val="solid"/>
              <a:miter/>
            </a:ln>
          </p:spPr>
          <p:txBody>
            <a:bodyPr rtlCol="0" anchor="ctr"/>
            <a:lstStyle/>
            <a:p>
              <a:endParaRPr lang="zh-CN" altLang="en-US"/>
            </a:p>
          </p:txBody>
        </p:sp>
        <p:sp>
          <p:nvSpPr>
            <p:cNvPr id="86" name="任意形状 85">
              <a:extLst>
                <a:ext uri="{FF2B5EF4-FFF2-40B4-BE49-F238E27FC236}">
                  <a16:creationId xmlns:a16="http://schemas.microsoft.com/office/drawing/2014/main" id="{B21D91DD-02C7-083C-8CE6-A38E46097D49}"/>
                </a:ext>
              </a:extLst>
            </p:cNvPr>
            <p:cNvSpPr/>
            <p:nvPr/>
          </p:nvSpPr>
          <p:spPr>
            <a:xfrm>
              <a:off x="1713270" y="1476968"/>
              <a:ext cx="1044677" cy="25072"/>
            </a:xfrm>
            <a:custGeom>
              <a:avLst/>
              <a:gdLst>
                <a:gd name="connsiteX0" fmla="*/ 0 w 1044677"/>
                <a:gd name="connsiteY0" fmla="*/ 0 h 25072"/>
                <a:gd name="connsiteX1" fmla="*/ 1044677 w 1044677"/>
                <a:gd name="connsiteY1" fmla="*/ 0 h 25072"/>
                <a:gd name="connsiteX2" fmla="*/ 1044677 w 1044677"/>
                <a:gd name="connsiteY2" fmla="*/ 25072 h 25072"/>
                <a:gd name="connsiteX3" fmla="*/ 0 w 1044677"/>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44677" h="25072">
                  <a:moveTo>
                    <a:pt x="0" y="0"/>
                  </a:moveTo>
                  <a:lnTo>
                    <a:pt x="1044677" y="0"/>
                  </a:lnTo>
                  <a:lnTo>
                    <a:pt x="1044677" y="25072"/>
                  </a:lnTo>
                  <a:lnTo>
                    <a:pt x="0" y="25072"/>
                  </a:lnTo>
                  <a:close/>
                </a:path>
              </a:pathLst>
            </a:custGeom>
            <a:solidFill>
              <a:srgbClr val="FF6F00"/>
            </a:solidFill>
            <a:ln w="4179" cap="flat">
              <a:noFill/>
              <a:prstDash val="solid"/>
              <a:miter/>
            </a:ln>
          </p:spPr>
          <p:txBody>
            <a:bodyPr rtlCol="0" anchor="ctr"/>
            <a:lstStyle/>
            <a:p>
              <a:endParaRPr lang="zh-CN" altLang="en-US"/>
            </a:p>
          </p:txBody>
        </p:sp>
        <p:sp>
          <p:nvSpPr>
            <p:cNvPr id="87" name="文本框 86">
              <a:extLst>
                <a:ext uri="{FF2B5EF4-FFF2-40B4-BE49-F238E27FC236}">
                  <a16:creationId xmlns:a16="http://schemas.microsoft.com/office/drawing/2014/main" id="{60B930E0-C785-DA1D-7501-051CB2FFB55A}"/>
                </a:ext>
              </a:extLst>
            </p:cNvPr>
            <p:cNvSpPr txBox="1"/>
            <p:nvPr/>
          </p:nvSpPr>
          <p:spPr>
            <a:xfrm>
              <a:off x="1826587" y="1385283"/>
              <a:ext cx="818043"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ERPG Hazard Zone Classification</a:t>
              </a:r>
            </a:p>
          </p:txBody>
        </p:sp>
        <p:sp>
          <p:nvSpPr>
            <p:cNvPr id="88" name="任意形状 87">
              <a:extLst>
                <a:ext uri="{FF2B5EF4-FFF2-40B4-BE49-F238E27FC236}">
                  <a16:creationId xmlns:a16="http://schemas.microsoft.com/office/drawing/2014/main" id="{96CC4C2F-6A29-2AC2-EDE9-82036F070C4C}"/>
                </a:ext>
              </a:extLst>
            </p:cNvPr>
            <p:cNvSpPr/>
            <p:nvPr/>
          </p:nvSpPr>
          <p:spPr>
            <a:xfrm>
              <a:off x="1775951" y="1543828"/>
              <a:ext cx="50144" cy="50144"/>
            </a:xfrm>
            <a:custGeom>
              <a:avLst/>
              <a:gdLst>
                <a:gd name="connsiteX0" fmla="*/ 41787 w 50144"/>
                <a:gd name="connsiteY0" fmla="*/ 0 h 50144"/>
                <a:gd name="connsiteX1" fmla="*/ 50145 w 50144"/>
                <a:gd name="connsiteY1" fmla="*/ 0 h 50144"/>
                <a:gd name="connsiteX2" fmla="*/ 50145 w 50144"/>
                <a:gd name="connsiteY2" fmla="*/ 50145 h 50144"/>
                <a:gd name="connsiteX3" fmla="*/ 41787 w 50144"/>
                <a:gd name="connsiteY3" fmla="*/ 50145 h 50144"/>
                <a:gd name="connsiteX4" fmla="*/ 8357 w 50144"/>
                <a:gd name="connsiteY4" fmla="*/ 50145 h 50144"/>
                <a:gd name="connsiteX5" fmla="*/ 0 w 50144"/>
                <a:gd name="connsiteY5" fmla="*/ 50145 h 50144"/>
                <a:gd name="connsiteX6" fmla="*/ 0 w 50144"/>
                <a:gd name="connsiteY6" fmla="*/ 0 h 50144"/>
                <a:gd name="connsiteX7" fmla="*/ 8357 w 50144"/>
                <a:gd name="connsiteY7" fmla="*/ 0 h 5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44" h="50144">
                  <a:moveTo>
                    <a:pt x="41787" y="0"/>
                  </a:moveTo>
                  <a:cubicBezTo>
                    <a:pt x="46403" y="0"/>
                    <a:pt x="50145" y="0"/>
                    <a:pt x="50145" y="0"/>
                  </a:cubicBezTo>
                  <a:lnTo>
                    <a:pt x="50145" y="50145"/>
                  </a:lnTo>
                  <a:cubicBezTo>
                    <a:pt x="50145" y="50145"/>
                    <a:pt x="46403" y="50145"/>
                    <a:pt x="41787" y="50145"/>
                  </a:cubicBezTo>
                  <a:lnTo>
                    <a:pt x="8357" y="50145"/>
                  </a:lnTo>
                  <a:cubicBezTo>
                    <a:pt x="3742" y="50145"/>
                    <a:pt x="0" y="50145"/>
                    <a:pt x="0" y="50145"/>
                  </a:cubicBezTo>
                  <a:lnTo>
                    <a:pt x="0" y="0"/>
                  </a:lnTo>
                  <a:cubicBezTo>
                    <a:pt x="0" y="0"/>
                    <a:pt x="3742" y="0"/>
                    <a:pt x="8357" y="0"/>
                  </a:cubicBezTo>
                  <a:close/>
                </a:path>
              </a:pathLst>
            </a:custGeom>
            <a:solidFill>
              <a:srgbClr val="D32F2F"/>
            </a:solidFill>
            <a:ln w="4179" cap="flat">
              <a:noFill/>
              <a:prstDash val="solid"/>
              <a:miter/>
            </a:ln>
          </p:spPr>
          <p:txBody>
            <a:bodyPr rtlCol="0" anchor="ctr"/>
            <a:lstStyle/>
            <a:p>
              <a:endParaRPr lang="zh-CN" altLang="en-US"/>
            </a:p>
          </p:txBody>
        </p:sp>
        <p:sp>
          <p:nvSpPr>
            <p:cNvPr id="89" name="文本框 88">
              <a:extLst>
                <a:ext uri="{FF2B5EF4-FFF2-40B4-BE49-F238E27FC236}">
                  <a16:creationId xmlns:a16="http://schemas.microsoft.com/office/drawing/2014/main" id="{1E731680-0058-1452-7F47-9AB422452C3F}"/>
                </a:ext>
              </a:extLst>
            </p:cNvPr>
            <p:cNvSpPr txBox="1"/>
            <p:nvPr/>
          </p:nvSpPr>
          <p:spPr>
            <a:xfrm>
              <a:off x="1755549" y="1510644"/>
              <a:ext cx="1001907"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Core Zone ERPG-3 (≥20 mg/m³) Immediate evacuation</a:t>
              </a:r>
            </a:p>
          </p:txBody>
        </p:sp>
        <p:sp>
          <p:nvSpPr>
            <p:cNvPr id="90" name="任意形状 89">
              <a:extLst>
                <a:ext uri="{FF2B5EF4-FFF2-40B4-BE49-F238E27FC236}">
                  <a16:creationId xmlns:a16="http://schemas.microsoft.com/office/drawing/2014/main" id="{F496893B-1E86-E0FD-F61B-86D37C8BA074}"/>
                </a:ext>
              </a:extLst>
            </p:cNvPr>
            <p:cNvSpPr/>
            <p:nvPr/>
          </p:nvSpPr>
          <p:spPr>
            <a:xfrm>
              <a:off x="1775951" y="1619045"/>
              <a:ext cx="50144" cy="50144"/>
            </a:xfrm>
            <a:custGeom>
              <a:avLst/>
              <a:gdLst>
                <a:gd name="connsiteX0" fmla="*/ 41787 w 50144"/>
                <a:gd name="connsiteY0" fmla="*/ 0 h 50144"/>
                <a:gd name="connsiteX1" fmla="*/ 50145 w 50144"/>
                <a:gd name="connsiteY1" fmla="*/ 0 h 50144"/>
                <a:gd name="connsiteX2" fmla="*/ 50145 w 50144"/>
                <a:gd name="connsiteY2" fmla="*/ 50145 h 50144"/>
                <a:gd name="connsiteX3" fmla="*/ 41787 w 50144"/>
                <a:gd name="connsiteY3" fmla="*/ 50145 h 50144"/>
                <a:gd name="connsiteX4" fmla="*/ 8357 w 50144"/>
                <a:gd name="connsiteY4" fmla="*/ 50145 h 50144"/>
                <a:gd name="connsiteX5" fmla="*/ 0 w 50144"/>
                <a:gd name="connsiteY5" fmla="*/ 50145 h 50144"/>
                <a:gd name="connsiteX6" fmla="*/ 0 w 50144"/>
                <a:gd name="connsiteY6" fmla="*/ 0 h 50144"/>
                <a:gd name="connsiteX7" fmla="*/ 8357 w 50144"/>
                <a:gd name="connsiteY7" fmla="*/ 0 h 5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44" h="50144">
                  <a:moveTo>
                    <a:pt x="41787" y="0"/>
                  </a:moveTo>
                  <a:cubicBezTo>
                    <a:pt x="46403" y="0"/>
                    <a:pt x="50145" y="0"/>
                    <a:pt x="50145" y="0"/>
                  </a:cubicBezTo>
                  <a:lnTo>
                    <a:pt x="50145" y="50145"/>
                  </a:lnTo>
                  <a:cubicBezTo>
                    <a:pt x="50145" y="50145"/>
                    <a:pt x="46403" y="50145"/>
                    <a:pt x="41787" y="50145"/>
                  </a:cubicBezTo>
                  <a:lnTo>
                    <a:pt x="8357" y="50145"/>
                  </a:lnTo>
                  <a:cubicBezTo>
                    <a:pt x="3742" y="50145"/>
                    <a:pt x="0" y="50145"/>
                    <a:pt x="0" y="50145"/>
                  </a:cubicBezTo>
                  <a:lnTo>
                    <a:pt x="0" y="0"/>
                  </a:lnTo>
                  <a:cubicBezTo>
                    <a:pt x="0" y="0"/>
                    <a:pt x="3742" y="0"/>
                    <a:pt x="8357" y="0"/>
                  </a:cubicBezTo>
                  <a:close/>
                </a:path>
              </a:pathLst>
            </a:custGeom>
            <a:solidFill>
              <a:srgbClr val="FF9800"/>
            </a:solidFill>
            <a:ln w="4179" cap="flat">
              <a:noFill/>
              <a:prstDash val="solid"/>
              <a:miter/>
            </a:ln>
          </p:spPr>
          <p:txBody>
            <a:bodyPr rtlCol="0" anchor="ctr"/>
            <a:lstStyle/>
            <a:p>
              <a:endParaRPr lang="zh-CN" altLang="en-US"/>
            </a:p>
          </p:txBody>
        </p:sp>
        <p:sp>
          <p:nvSpPr>
            <p:cNvPr id="91" name="文本框 90">
              <a:extLst>
                <a:ext uri="{FF2B5EF4-FFF2-40B4-BE49-F238E27FC236}">
                  <a16:creationId xmlns:a16="http://schemas.microsoft.com/office/drawing/2014/main" id="{D17D0FBC-724F-564A-B122-924C274E1FC4}"/>
                </a:ext>
              </a:extLst>
            </p:cNvPr>
            <p:cNvSpPr txBox="1"/>
            <p:nvPr/>
          </p:nvSpPr>
          <p:spPr>
            <a:xfrm>
              <a:off x="1755549" y="1585861"/>
              <a:ext cx="922511"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Alert Zone ERPG-2 (≥3 mg/m³) Urgent evacuation</a:t>
              </a:r>
            </a:p>
          </p:txBody>
        </p:sp>
        <p:sp>
          <p:nvSpPr>
            <p:cNvPr id="92" name="任意形状 91">
              <a:extLst>
                <a:ext uri="{FF2B5EF4-FFF2-40B4-BE49-F238E27FC236}">
                  <a16:creationId xmlns:a16="http://schemas.microsoft.com/office/drawing/2014/main" id="{2CAFD100-6A6F-7A8E-3D8E-27D4EDD93A67}"/>
                </a:ext>
              </a:extLst>
            </p:cNvPr>
            <p:cNvSpPr/>
            <p:nvPr/>
          </p:nvSpPr>
          <p:spPr>
            <a:xfrm>
              <a:off x="1775951" y="1694261"/>
              <a:ext cx="50144" cy="50144"/>
            </a:xfrm>
            <a:custGeom>
              <a:avLst/>
              <a:gdLst>
                <a:gd name="connsiteX0" fmla="*/ 41787 w 50144"/>
                <a:gd name="connsiteY0" fmla="*/ 0 h 50144"/>
                <a:gd name="connsiteX1" fmla="*/ 50145 w 50144"/>
                <a:gd name="connsiteY1" fmla="*/ 0 h 50144"/>
                <a:gd name="connsiteX2" fmla="*/ 50145 w 50144"/>
                <a:gd name="connsiteY2" fmla="*/ 50145 h 50144"/>
                <a:gd name="connsiteX3" fmla="*/ 41787 w 50144"/>
                <a:gd name="connsiteY3" fmla="*/ 50145 h 50144"/>
                <a:gd name="connsiteX4" fmla="*/ 8357 w 50144"/>
                <a:gd name="connsiteY4" fmla="*/ 50145 h 50144"/>
                <a:gd name="connsiteX5" fmla="*/ 0 w 50144"/>
                <a:gd name="connsiteY5" fmla="*/ 50145 h 50144"/>
                <a:gd name="connsiteX6" fmla="*/ 0 w 50144"/>
                <a:gd name="connsiteY6" fmla="*/ 0 h 50144"/>
                <a:gd name="connsiteX7" fmla="*/ 8357 w 50144"/>
                <a:gd name="connsiteY7" fmla="*/ 0 h 50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44" h="50144">
                  <a:moveTo>
                    <a:pt x="41787" y="0"/>
                  </a:moveTo>
                  <a:cubicBezTo>
                    <a:pt x="46403" y="0"/>
                    <a:pt x="50145" y="0"/>
                    <a:pt x="50145" y="0"/>
                  </a:cubicBezTo>
                  <a:lnTo>
                    <a:pt x="50145" y="50145"/>
                  </a:lnTo>
                  <a:cubicBezTo>
                    <a:pt x="50145" y="50145"/>
                    <a:pt x="46403" y="50145"/>
                    <a:pt x="41787" y="50145"/>
                  </a:cubicBezTo>
                  <a:lnTo>
                    <a:pt x="8357" y="50145"/>
                  </a:lnTo>
                  <a:cubicBezTo>
                    <a:pt x="3742" y="50145"/>
                    <a:pt x="0" y="50145"/>
                    <a:pt x="0" y="50145"/>
                  </a:cubicBezTo>
                  <a:lnTo>
                    <a:pt x="0" y="0"/>
                  </a:lnTo>
                  <a:cubicBezTo>
                    <a:pt x="0" y="0"/>
                    <a:pt x="3742" y="0"/>
                    <a:pt x="8357" y="0"/>
                  </a:cubicBezTo>
                  <a:close/>
                </a:path>
              </a:pathLst>
            </a:custGeom>
            <a:solidFill>
              <a:srgbClr val="FFC107"/>
            </a:solidFill>
            <a:ln w="4179" cap="flat">
              <a:noFill/>
              <a:prstDash val="solid"/>
              <a:miter/>
            </a:ln>
          </p:spPr>
          <p:txBody>
            <a:bodyPr rtlCol="0" anchor="ctr"/>
            <a:lstStyle/>
            <a:p>
              <a:endParaRPr lang="zh-CN" altLang="en-US"/>
            </a:p>
          </p:txBody>
        </p:sp>
        <p:sp>
          <p:nvSpPr>
            <p:cNvPr id="93" name="文本框 92">
              <a:extLst>
                <a:ext uri="{FF2B5EF4-FFF2-40B4-BE49-F238E27FC236}">
                  <a16:creationId xmlns:a16="http://schemas.microsoft.com/office/drawing/2014/main" id="{FB714D9F-C5B3-78F3-C4DF-78347FF787D4}"/>
                </a:ext>
              </a:extLst>
            </p:cNvPr>
            <p:cNvSpPr txBox="1"/>
            <p:nvPr/>
          </p:nvSpPr>
          <p:spPr>
            <a:xfrm>
              <a:off x="1755549" y="1661077"/>
              <a:ext cx="905796"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Buffer Zone ERPG-1 (≥1 mg/m³) Shelter-in-place</a:t>
              </a:r>
            </a:p>
          </p:txBody>
        </p:sp>
      </p:grpSp>
      <p:grpSp>
        <p:nvGrpSpPr>
          <p:cNvPr id="94" name="图形 2">
            <a:extLst>
              <a:ext uri="{FF2B5EF4-FFF2-40B4-BE49-F238E27FC236}">
                <a16:creationId xmlns:a16="http://schemas.microsoft.com/office/drawing/2014/main" id="{8225BA90-7FCA-0E22-FAEB-1FC3B5516F13}"/>
              </a:ext>
            </a:extLst>
          </p:cNvPr>
          <p:cNvGrpSpPr/>
          <p:nvPr/>
        </p:nvGrpSpPr>
        <p:grpSpPr>
          <a:xfrm>
            <a:off x="1713270" y="1836337"/>
            <a:ext cx="1044677" cy="284152"/>
            <a:chOff x="1713270" y="1836337"/>
            <a:chExt cx="1044677" cy="284152"/>
          </a:xfrm>
        </p:grpSpPr>
        <p:sp>
          <p:nvSpPr>
            <p:cNvPr id="95" name="任意形状 94">
              <a:extLst>
                <a:ext uri="{FF2B5EF4-FFF2-40B4-BE49-F238E27FC236}">
                  <a16:creationId xmlns:a16="http://schemas.microsoft.com/office/drawing/2014/main" id="{7387FE9A-1CFA-0104-DACE-5864A43595AC}"/>
                </a:ext>
              </a:extLst>
            </p:cNvPr>
            <p:cNvSpPr/>
            <p:nvPr/>
          </p:nvSpPr>
          <p:spPr>
            <a:xfrm>
              <a:off x="1713270" y="1836337"/>
              <a:ext cx="1044677" cy="284152"/>
            </a:xfrm>
            <a:custGeom>
              <a:avLst/>
              <a:gdLst>
                <a:gd name="connsiteX0" fmla="*/ 1011248 w 1044677"/>
                <a:gd name="connsiteY0" fmla="*/ 0 h 284152"/>
                <a:gd name="connsiteX1" fmla="*/ 1044677 w 1044677"/>
                <a:gd name="connsiteY1" fmla="*/ 0 h 284152"/>
                <a:gd name="connsiteX2" fmla="*/ 1044677 w 1044677"/>
                <a:gd name="connsiteY2" fmla="*/ 284152 h 284152"/>
                <a:gd name="connsiteX3" fmla="*/ 1011248 w 1044677"/>
                <a:gd name="connsiteY3" fmla="*/ 284152 h 284152"/>
                <a:gd name="connsiteX4" fmla="*/ 33430 w 1044677"/>
                <a:gd name="connsiteY4" fmla="*/ 284152 h 284152"/>
                <a:gd name="connsiteX5" fmla="*/ 0 w 1044677"/>
                <a:gd name="connsiteY5" fmla="*/ 284152 h 284152"/>
                <a:gd name="connsiteX6" fmla="*/ 0 w 1044677"/>
                <a:gd name="connsiteY6" fmla="*/ 0 h 284152"/>
                <a:gd name="connsiteX7" fmla="*/ 33430 w 1044677"/>
                <a:gd name="connsiteY7" fmla="*/ 0 h 28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284152">
                  <a:moveTo>
                    <a:pt x="1011248" y="0"/>
                  </a:moveTo>
                  <a:cubicBezTo>
                    <a:pt x="1029710" y="0"/>
                    <a:pt x="1044677" y="0"/>
                    <a:pt x="1044677" y="0"/>
                  </a:cubicBezTo>
                  <a:lnTo>
                    <a:pt x="1044677" y="284152"/>
                  </a:lnTo>
                  <a:cubicBezTo>
                    <a:pt x="1044677" y="284152"/>
                    <a:pt x="1029710" y="284152"/>
                    <a:pt x="1011248" y="284152"/>
                  </a:cubicBezTo>
                  <a:lnTo>
                    <a:pt x="33430" y="284152"/>
                  </a:lnTo>
                  <a:cubicBezTo>
                    <a:pt x="14967" y="284152"/>
                    <a:pt x="0" y="284152"/>
                    <a:pt x="0" y="284152"/>
                  </a:cubicBezTo>
                  <a:lnTo>
                    <a:pt x="0" y="0"/>
                  </a:lnTo>
                  <a:cubicBezTo>
                    <a:pt x="0" y="0"/>
                    <a:pt x="14967" y="0"/>
                    <a:pt x="33430" y="0"/>
                  </a:cubicBezTo>
                  <a:close/>
                </a:path>
              </a:pathLst>
            </a:custGeom>
            <a:solidFill>
              <a:srgbClr val="FFFFFF"/>
            </a:solidFill>
            <a:ln w="3343" cap="flat">
              <a:solidFill>
                <a:srgbClr val="FF6F00"/>
              </a:solidFill>
              <a:prstDash val="solid"/>
              <a:miter/>
            </a:ln>
          </p:spPr>
          <p:txBody>
            <a:bodyPr rtlCol="0" anchor="ctr"/>
            <a:lstStyle/>
            <a:p>
              <a:endParaRPr lang="zh-CN" altLang="en-US"/>
            </a:p>
          </p:txBody>
        </p:sp>
        <p:sp>
          <p:nvSpPr>
            <p:cNvPr id="96" name="任意形状 95">
              <a:extLst>
                <a:ext uri="{FF2B5EF4-FFF2-40B4-BE49-F238E27FC236}">
                  <a16:creationId xmlns:a16="http://schemas.microsoft.com/office/drawing/2014/main" id="{164E7808-C402-214B-11B1-41BD1D06AB47}"/>
                </a:ext>
              </a:extLst>
            </p:cNvPr>
            <p:cNvSpPr/>
            <p:nvPr/>
          </p:nvSpPr>
          <p:spPr>
            <a:xfrm>
              <a:off x="1713270" y="1836337"/>
              <a:ext cx="1044677" cy="91931"/>
            </a:xfrm>
            <a:custGeom>
              <a:avLst/>
              <a:gdLst>
                <a:gd name="connsiteX0" fmla="*/ 1011248 w 1044677"/>
                <a:gd name="connsiteY0" fmla="*/ 0 h 91931"/>
                <a:gd name="connsiteX1" fmla="*/ 1044677 w 1044677"/>
                <a:gd name="connsiteY1" fmla="*/ 0 h 91931"/>
                <a:gd name="connsiteX2" fmla="*/ 1044677 w 1044677"/>
                <a:gd name="connsiteY2" fmla="*/ 91932 h 91931"/>
                <a:gd name="connsiteX3" fmla="*/ 1011248 w 1044677"/>
                <a:gd name="connsiteY3" fmla="*/ 91932 h 91931"/>
                <a:gd name="connsiteX4" fmla="*/ 33430 w 1044677"/>
                <a:gd name="connsiteY4" fmla="*/ 91932 h 91931"/>
                <a:gd name="connsiteX5" fmla="*/ 0 w 1044677"/>
                <a:gd name="connsiteY5" fmla="*/ 91932 h 91931"/>
                <a:gd name="connsiteX6" fmla="*/ 0 w 1044677"/>
                <a:gd name="connsiteY6" fmla="*/ 0 h 91931"/>
                <a:gd name="connsiteX7" fmla="*/ 33430 w 1044677"/>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91931">
                  <a:moveTo>
                    <a:pt x="1011248" y="0"/>
                  </a:moveTo>
                  <a:cubicBezTo>
                    <a:pt x="1029710" y="0"/>
                    <a:pt x="1044677" y="0"/>
                    <a:pt x="1044677" y="0"/>
                  </a:cubicBezTo>
                  <a:lnTo>
                    <a:pt x="1044677" y="91932"/>
                  </a:lnTo>
                  <a:cubicBezTo>
                    <a:pt x="1044677" y="91932"/>
                    <a:pt x="1029710" y="91932"/>
                    <a:pt x="1011248" y="91932"/>
                  </a:cubicBezTo>
                  <a:lnTo>
                    <a:pt x="33430" y="91932"/>
                  </a:lnTo>
                  <a:cubicBezTo>
                    <a:pt x="14967" y="91932"/>
                    <a:pt x="0" y="91932"/>
                    <a:pt x="0" y="91932"/>
                  </a:cubicBezTo>
                  <a:lnTo>
                    <a:pt x="0" y="0"/>
                  </a:lnTo>
                  <a:cubicBezTo>
                    <a:pt x="0" y="0"/>
                    <a:pt x="14967" y="0"/>
                    <a:pt x="33430" y="0"/>
                  </a:cubicBezTo>
                  <a:close/>
                </a:path>
              </a:pathLst>
            </a:custGeom>
            <a:solidFill>
              <a:srgbClr val="FF8F00"/>
            </a:solidFill>
            <a:ln w="4179" cap="flat">
              <a:noFill/>
              <a:prstDash val="solid"/>
              <a:miter/>
            </a:ln>
          </p:spPr>
          <p:txBody>
            <a:bodyPr rtlCol="0" anchor="ctr"/>
            <a:lstStyle/>
            <a:p>
              <a:endParaRPr lang="zh-CN" altLang="en-US"/>
            </a:p>
          </p:txBody>
        </p:sp>
        <p:sp>
          <p:nvSpPr>
            <p:cNvPr id="97" name="任意形状 96">
              <a:extLst>
                <a:ext uri="{FF2B5EF4-FFF2-40B4-BE49-F238E27FC236}">
                  <a16:creationId xmlns:a16="http://schemas.microsoft.com/office/drawing/2014/main" id="{DB5BC85B-F687-D3D7-1031-FB8695190500}"/>
                </a:ext>
              </a:extLst>
            </p:cNvPr>
            <p:cNvSpPr/>
            <p:nvPr/>
          </p:nvSpPr>
          <p:spPr>
            <a:xfrm>
              <a:off x="1713270" y="1903197"/>
              <a:ext cx="1044677" cy="25072"/>
            </a:xfrm>
            <a:custGeom>
              <a:avLst/>
              <a:gdLst>
                <a:gd name="connsiteX0" fmla="*/ 0 w 1044677"/>
                <a:gd name="connsiteY0" fmla="*/ 0 h 25072"/>
                <a:gd name="connsiteX1" fmla="*/ 1044677 w 1044677"/>
                <a:gd name="connsiteY1" fmla="*/ 0 h 25072"/>
                <a:gd name="connsiteX2" fmla="*/ 1044677 w 1044677"/>
                <a:gd name="connsiteY2" fmla="*/ 25072 h 25072"/>
                <a:gd name="connsiteX3" fmla="*/ 0 w 1044677"/>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44677" h="25072">
                  <a:moveTo>
                    <a:pt x="0" y="0"/>
                  </a:moveTo>
                  <a:lnTo>
                    <a:pt x="1044677" y="0"/>
                  </a:lnTo>
                  <a:lnTo>
                    <a:pt x="1044677" y="25072"/>
                  </a:lnTo>
                  <a:lnTo>
                    <a:pt x="0" y="25072"/>
                  </a:lnTo>
                  <a:close/>
                </a:path>
              </a:pathLst>
            </a:custGeom>
            <a:solidFill>
              <a:srgbClr val="FF8F00"/>
            </a:solidFill>
            <a:ln w="4179" cap="flat">
              <a:noFill/>
              <a:prstDash val="solid"/>
              <a:miter/>
            </a:ln>
          </p:spPr>
          <p:txBody>
            <a:bodyPr rtlCol="0" anchor="ctr"/>
            <a:lstStyle/>
            <a:p>
              <a:endParaRPr lang="zh-CN" altLang="en-US"/>
            </a:p>
          </p:txBody>
        </p:sp>
        <p:sp>
          <p:nvSpPr>
            <p:cNvPr id="98" name="文本框 97">
              <a:extLst>
                <a:ext uri="{FF2B5EF4-FFF2-40B4-BE49-F238E27FC236}">
                  <a16:creationId xmlns:a16="http://schemas.microsoft.com/office/drawing/2014/main" id="{23541C81-2D97-6A06-A798-F3AA59F7BC88}"/>
                </a:ext>
              </a:extLst>
            </p:cNvPr>
            <p:cNvSpPr txBox="1"/>
            <p:nvPr/>
          </p:nvSpPr>
          <p:spPr>
            <a:xfrm>
              <a:off x="1774353" y="1811511"/>
              <a:ext cx="922511"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Road Closure &amp; Congestion Modeling</a:t>
              </a:r>
            </a:p>
          </p:txBody>
        </p:sp>
        <p:sp>
          <p:nvSpPr>
            <p:cNvPr id="99" name="文本框 98">
              <a:extLst>
                <a:ext uri="{FF2B5EF4-FFF2-40B4-BE49-F238E27FC236}">
                  <a16:creationId xmlns:a16="http://schemas.microsoft.com/office/drawing/2014/main" id="{293866B7-B2C8-61CF-DEFB-91B4F1513FCD}"/>
                </a:ext>
              </a:extLst>
            </p:cNvPr>
            <p:cNvSpPr txBox="1"/>
            <p:nvPr/>
          </p:nvSpPr>
          <p:spPr>
            <a:xfrm>
              <a:off x="1788979" y="1911800"/>
              <a:ext cx="897439"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500m road closure · 1km core closure (96.7 km)</a:t>
              </a:r>
            </a:p>
          </p:txBody>
        </p:sp>
        <p:sp>
          <p:nvSpPr>
            <p:cNvPr id="100" name="文本框 99">
              <a:extLst>
                <a:ext uri="{FF2B5EF4-FFF2-40B4-BE49-F238E27FC236}">
                  <a16:creationId xmlns:a16="http://schemas.microsoft.com/office/drawing/2014/main" id="{2E100B13-8FA3-4163-014A-4BD515345CE9}"/>
                </a:ext>
              </a:extLst>
            </p:cNvPr>
            <p:cNvSpPr txBox="1"/>
            <p:nvPr/>
          </p:nvSpPr>
          <p:spPr>
            <a:xfrm>
              <a:off x="1726298" y="1970302"/>
              <a:ext cx="1018621"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3km BPR congestion (α=0.15, β=4.0) · 5km impact zone</a:t>
              </a:r>
            </a:p>
          </p:txBody>
        </p:sp>
        <p:sp>
          <p:nvSpPr>
            <p:cNvPr id="101" name="文本框 100">
              <a:extLst>
                <a:ext uri="{FF2B5EF4-FFF2-40B4-BE49-F238E27FC236}">
                  <a16:creationId xmlns:a16="http://schemas.microsoft.com/office/drawing/2014/main" id="{106BCD3D-FB89-FF6C-DCA1-54DCB08D8986}"/>
                </a:ext>
              </a:extLst>
            </p:cNvPr>
            <p:cNvSpPr txBox="1"/>
            <p:nvPr/>
          </p:nvSpPr>
          <p:spPr>
            <a:xfrm>
              <a:off x="1905983" y="2028804"/>
              <a:ext cx="659252"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Closure ratio: 19.1% (96.7/505.3 km)</a:t>
              </a:r>
            </a:p>
          </p:txBody>
        </p:sp>
      </p:grpSp>
      <p:grpSp>
        <p:nvGrpSpPr>
          <p:cNvPr id="102" name="图形 2">
            <a:extLst>
              <a:ext uri="{FF2B5EF4-FFF2-40B4-BE49-F238E27FC236}">
                <a16:creationId xmlns:a16="http://schemas.microsoft.com/office/drawing/2014/main" id="{5D382BE9-952C-E4D5-D0BE-E948D9F4C945}"/>
              </a:ext>
            </a:extLst>
          </p:cNvPr>
          <p:cNvGrpSpPr/>
          <p:nvPr/>
        </p:nvGrpSpPr>
        <p:grpSpPr>
          <a:xfrm>
            <a:off x="1713270" y="2178992"/>
            <a:ext cx="1044677" cy="229829"/>
            <a:chOff x="1713270" y="2178992"/>
            <a:chExt cx="1044677" cy="229829"/>
          </a:xfrm>
        </p:grpSpPr>
        <p:sp>
          <p:nvSpPr>
            <p:cNvPr id="103" name="任意形状 102">
              <a:extLst>
                <a:ext uri="{FF2B5EF4-FFF2-40B4-BE49-F238E27FC236}">
                  <a16:creationId xmlns:a16="http://schemas.microsoft.com/office/drawing/2014/main" id="{E9D04942-2BB5-1DD5-C033-D603AFEB4466}"/>
                </a:ext>
              </a:extLst>
            </p:cNvPr>
            <p:cNvSpPr/>
            <p:nvPr/>
          </p:nvSpPr>
          <p:spPr>
            <a:xfrm>
              <a:off x="1713270" y="2178992"/>
              <a:ext cx="1044677" cy="229829"/>
            </a:xfrm>
            <a:custGeom>
              <a:avLst/>
              <a:gdLst>
                <a:gd name="connsiteX0" fmla="*/ 1011248 w 1044677"/>
                <a:gd name="connsiteY0" fmla="*/ 0 h 229829"/>
                <a:gd name="connsiteX1" fmla="*/ 1044677 w 1044677"/>
                <a:gd name="connsiteY1" fmla="*/ 0 h 229829"/>
                <a:gd name="connsiteX2" fmla="*/ 1044677 w 1044677"/>
                <a:gd name="connsiteY2" fmla="*/ 229829 h 229829"/>
                <a:gd name="connsiteX3" fmla="*/ 1011248 w 1044677"/>
                <a:gd name="connsiteY3" fmla="*/ 229829 h 229829"/>
                <a:gd name="connsiteX4" fmla="*/ 33430 w 1044677"/>
                <a:gd name="connsiteY4" fmla="*/ 229829 h 229829"/>
                <a:gd name="connsiteX5" fmla="*/ 0 w 1044677"/>
                <a:gd name="connsiteY5" fmla="*/ 229829 h 229829"/>
                <a:gd name="connsiteX6" fmla="*/ 0 w 1044677"/>
                <a:gd name="connsiteY6" fmla="*/ 0 h 229829"/>
                <a:gd name="connsiteX7" fmla="*/ 33430 w 1044677"/>
                <a:gd name="connsiteY7" fmla="*/ 0 h 22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229829">
                  <a:moveTo>
                    <a:pt x="1011248" y="0"/>
                  </a:moveTo>
                  <a:cubicBezTo>
                    <a:pt x="1029710" y="0"/>
                    <a:pt x="1044677" y="0"/>
                    <a:pt x="1044677" y="0"/>
                  </a:cubicBezTo>
                  <a:lnTo>
                    <a:pt x="1044677" y="229829"/>
                  </a:lnTo>
                  <a:cubicBezTo>
                    <a:pt x="1044677" y="229829"/>
                    <a:pt x="1029710" y="229829"/>
                    <a:pt x="1011248" y="229829"/>
                  </a:cubicBezTo>
                  <a:lnTo>
                    <a:pt x="33430" y="229829"/>
                  </a:lnTo>
                  <a:cubicBezTo>
                    <a:pt x="14967" y="229829"/>
                    <a:pt x="0" y="229829"/>
                    <a:pt x="0" y="229829"/>
                  </a:cubicBezTo>
                  <a:lnTo>
                    <a:pt x="0" y="0"/>
                  </a:lnTo>
                  <a:cubicBezTo>
                    <a:pt x="0" y="0"/>
                    <a:pt x="14967" y="0"/>
                    <a:pt x="33430" y="0"/>
                  </a:cubicBezTo>
                  <a:close/>
                </a:path>
              </a:pathLst>
            </a:custGeom>
            <a:solidFill>
              <a:srgbClr val="FFFFFF"/>
            </a:solidFill>
            <a:ln w="3343" cap="flat">
              <a:solidFill>
                <a:srgbClr val="FFA000"/>
              </a:solidFill>
              <a:prstDash val="solid"/>
              <a:miter/>
            </a:ln>
          </p:spPr>
          <p:txBody>
            <a:bodyPr rtlCol="0" anchor="ctr"/>
            <a:lstStyle/>
            <a:p>
              <a:endParaRPr lang="zh-CN" altLang="en-US"/>
            </a:p>
          </p:txBody>
        </p:sp>
        <p:sp>
          <p:nvSpPr>
            <p:cNvPr id="104" name="任意形状 103">
              <a:extLst>
                <a:ext uri="{FF2B5EF4-FFF2-40B4-BE49-F238E27FC236}">
                  <a16:creationId xmlns:a16="http://schemas.microsoft.com/office/drawing/2014/main" id="{2D624BAB-D381-EE31-9CFA-FD5DC7E143C1}"/>
                </a:ext>
              </a:extLst>
            </p:cNvPr>
            <p:cNvSpPr/>
            <p:nvPr/>
          </p:nvSpPr>
          <p:spPr>
            <a:xfrm>
              <a:off x="1713270" y="2178992"/>
              <a:ext cx="1044677" cy="91931"/>
            </a:xfrm>
            <a:custGeom>
              <a:avLst/>
              <a:gdLst>
                <a:gd name="connsiteX0" fmla="*/ 1011248 w 1044677"/>
                <a:gd name="connsiteY0" fmla="*/ 0 h 91931"/>
                <a:gd name="connsiteX1" fmla="*/ 1044677 w 1044677"/>
                <a:gd name="connsiteY1" fmla="*/ 0 h 91931"/>
                <a:gd name="connsiteX2" fmla="*/ 1044677 w 1044677"/>
                <a:gd name="connsiteY2" fmla="*/ 91932 h 91931"/>
                <a:gd name="connsiteX3" fmla="*/ 1011248 w 1044677"/>
                <a:gd name="connsiteY3" fmla="*/ 91932 h 91931"/>
                <a:gd name="connsiteX4" fmla="*/ 33430 w 1044677"/>
                <a:gd name="connsiteY4" fmla="*/ 91932 h 91931"/>
                <a:gd name="connsiteX5" fmla="*/ 0 w 1044677"/>
                <a:gd name="connsiteY5" fmla="*/ 91932 h 91931"/>
                <a:gd name="connsiteX6" fmla="*/ 0 w 1044677"/>
                <a:gd name="connsiteY6" fmla="*/ 0 h 91931"/>
                <a:gd name="connsiteX7" fmla="*/ 33430 w 1044677"/>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91931">
                  <a:moveTo>
                    <a:pt x="1011248" y="0"/>
                  </a:moveTo>
                  <a:cubicBezTo>
                    <a:pt x="1029710" y="0"/>
                    <a:pt x="1044677" y="0"/>
                    <a:pt x="1044677" y="0"/>
                  </a:cubicBezTo>
                  <a:lnTo>
                    <a:pt x="1044677" y="91932"/>
                  </a:lnTo>
                  <a:cubicBezTo>
                    <a:pt x="1044677" y="91932"/>
                    <a:pt x="1029710" y="91932"/>
                    <a:pt x="1011248" y="91932"/>
                  </a:cubicBezTo>
                  <a:lnTo>
                    <a:pt x="33430" y="91932"/>
                  </a:lnTo>
                  <a:cubicBezTo>
                    <a:pt x="14967" y="91932"/>
                    <a:pt x="0" y="91932"/>
                    <a:pt x="0" y="91932"/>
                  </a:cubicBezTo>
                  <a:lnTo>
                    <a:pt x="0" y="0"/>
                  </a:lnTo>
                  <a:cubicBezTo>
                    <a:pt x="0" y="0"/>
                    <a:pt x="14967" y="0"/>
                    <a:pt x="33430" y="0"/>
                  </a:cubicBezTo>
                  <a:close/>
                </a:path>
              </a:pathLst>
            </a:custGeom>
            <a:solidFill>
              <a:srgbClr val="FFA726"/>
            </a:solidFill>
            <a:ln w="4179" cap="flat">
              <a:noFill/>
              <a:prstDash val="solid"/>
              <a:miter/>
            </a:ln>
          </p:spPr>
          <p:txBody>
            <a:bodyPr rtlCol="0" anchor="ctr"/>
            <a:lstStyle/>
            <a:p>
              <a:endParaRPr lang="zh-CN" altLang="en-US"/>
            </a:p>
          </p:txBody>
        </p:sp>
        <p:sp>
          <p:nvSpPr>
            <p:cNvPr id="105" name="任意形状 104">
              <a:extLst>
                <a:ext uri="{FF2B5EF4-FFF2-40B4-BE49-F238E27FC236}">
                  <a16:creationId xmlns:a16="http://schemas.microsoft.com/office/drawing/2014/main" id="{4E5F2010-9601-A017-5E83-CD140196D462}"/>
                </a:ext>
              </a:extLst>
            </p:cNvPr>
            <p:cNvSpPr/>
            <p:nvPr/>
          </p:nvSpPr>
          <p:spPr>
            <a:xfrm>
              <a:off x="1713270" y="2245851"/>
              <a:ext cx="1044677" cy="25072"/>
            </a:xfrm>
            <a:custGeom>
              <a:avLst/>
              <a:gdLst>
                <a:gd name="connsiteX0" fmla="*/ 0 w 1044677"/>
                <a:gd name="connsiteY0" fmla="*/ 0 h 25072"/>
                <a:gd name="connsiteX1" fmla="*/ 1044677 w 1044677"/>
                <a:gd name="connsiteY1" fmla="*/ 0 h 25072"/>
                <a:gd name="connsiteX2" fmla="*/ 1044677 w 1044677"/>
                <a:gd name="connsiteY2" fmla="*/ 25072 h 25072"/>
                <a:gd name="connsiteX3" fmla="*/ 0 w 1044677"/>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44677" h="25072">
                  <a:moveTo>
                    <a:pt x="0" y="0"/>
                  </a:moveTo>
                  <a:lnTo>
                    <a:pt x="1044677" y="0"/>
                  </a:lnTo>
                  <a:lnTo>
                    <a:pt x="1044677" y="25072"/>
                  </a:lnTo>
                  <a:lnTo>
                    <a:pt x="0" y="25072"/>
                  </a:lnTo>
                  <a:close/>
                </a:path>
              </a:pathLst>
            </a:custGeom>
            <a:solidFill>
              <a:srgbClr val="FFA726"/>
            </a:solidFill>
            <a:ln w="4179" cap="flat">
              <a:noFill/>
              <a:prstDash val="solid"/>
              <a:miter/>
            </a:ln>
          </p:spPr>
          <p:txBody>
            <a:bodyPr rtlCol="0" anchor="ctr"/>
            <a:lstStyle/>
            <a:p>
              <a:endParaRPr lang="zh-CN" altLang="en-US"/>
            </a:p>
          </p:txBody>
        </p:sp>
        <p:sp>
          <p:nvSpPr>
            <p:cNvPr id="106" name="文本框 105">
              <a:extLst>
                <a:ext uri="{FF2B5EF4-FFF2-40B4-BE49-F238E27FC236}">
                  <a16:creationId xmlns:a16="http://schemas.microsoft.com/office/drawing/2014/main" id="{0C6258FF-7042-093A-873C-DEF7F2E919F5}"/>
                </a:ext>
              </a:extLst>
            </p:cNvPr>
            <p:cNvSpPr txBox="1"/>
            <p:nvPr/>
          </p:nvSpPr>
          <p:spPr>
            <a:xfrm>
              <a:off x="1801515" y="2154165"/>
              <a:ext cx="864009"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Wind Direction Sensitivity Analysis</a:t>
              </a:r>
            </a:p>
          </p:txBody>
        </p:sp>
        <p:sp>
          <p:nvSpPr>
            <p:cNvPr id="107" name="文本框 106">
              <a:extLst>
                <a:ext uri="{FF2B5EF4-FFF2-40B4-BE49-F238E27FC236}">
                  <a16:creationId xmlns:a16="http://schemas.microsoft.com/office/drawing/2014/main" id="{4EF60A23-2720-2AD9-56D1-BC060960F7AE}"/>
                </a:ext>
              </a:extLst>
            </p:cNvPr>
            <p:cNvSpPr txBox="1"/>
            <p:nvPr/>
          </p:nvSpPr>
          <p:spPr>
            <a:xfrm>
              <a:off x="1795247" y="2254454"/>
              <a:ext cx="884903"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Four scenarios: SW(225°) base · N(0°) · E(90°)</a:t>
              </a:r>
            </a:p>
          </p:txBody>
        </p:sp>
        <p:sp>
          <p:nvSpPr>
            <p:cNvPr id="108" name="文本框 107">
              <a:extLst>
                <a:ext uri="{FF2B5EF4-FFF2-40B4-BE49-F238E27FC236}">
                  <a16:creationId xmlns:a16="http://schemas.microsoft.com/office/drawing/2014/main" id="{A5B0BA09-98BD-1143-9EE2-4148D1B53F61}"/>
                </a:ext>
              </a:extLst>
            </p:cNvPr>
            <p:cNvSpPr txBox="1"/>
            <p:nvPr/>
          </p:nvSpPr>
          <p:spPr>
            <a:xfrm>
              <a:off x="1755549" y="2308777"/>
              <a:ext cx="960120"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Strong SW(225°, 8m/s) → Real-time met. integration</a:t>
              </a:r>
            </a:p>
          </p:txBody>
        </p:sp>
      </p:grpSp>
      <p:grpSp>
        <p:nvGrpSpPr>
          <p:cNvPr id="109" name="图形 2">
            <a:extLst>
              <a:ext uri="{FF2B5EF4-FFF2-40B4-BE49-F238E27FC236}">
                <a16:creationId xmlns:a16="http://schemas.microsoft.com/office/drawing/2014/main" id="{035A4F1C-2403-2B23-8C0B-C0D6BA71F361}"/>
              </a:ext>
            </a:extLst>
          </p:cNvPr>
          <p:cNvGrpSpPr/>
          <p:nvPr/>
        </p:nvGrpSpPr>
        <p:grpSpPr>
          <a:xfrm>
            <a:off x="1713270" y="2467323"/>
            <a:ext cx="1044677" cy="234007"/>
            <a:chOff x="1713270" y="2467323"/>
            <a:chExt cx="1044677" cy="234007"/>
          </a:xfrm>
        </p:grpSpPr>
        <p:sp>
          <p:nvSpPr>
            <p:cNvPr id="110" name="任意形状 109">
              <a:extLst>
                <a:ext uri="{FF2B5EF4-FFF2-40B4-BE49-F238E27FC236}">
                  <a16:creationId xmlns:a16="http://schemas.microsoft.com/office/drawing/2014/main" id="{9E3F211F-677A-CC89-A686-96FF1C1C96A9}"/>
                </a:ext>
              </a:extLst>
            </p:cNvPr>
            <p:cNvSpPr/>
            <p:nvPr/>
          </p:nvSpPr>
          <p:spPr>
            <a:xfrm>
              <a:off x="1713270" y="2467323"/>
              <a:ext cx="1044677" cy="234007"/>
            </a:xfrm>
            <a:custGeom>
              <a:avLst/>
              <a:gdLst>
                <a:gd name="connsiteX0" fmla="*/ 1011248 w 1044677"/>
                <a:gd name="connsiteY0" fmla="*/ 0 h 234007"/>
                <a:gd name="connsiteX1" fmla="*/ 1044677 w 1044677"/>
                <a:gd name="connsiteY1" fmla="*/ 0 h 234007"/>
                <a:gd name="connsiteX2" fmla="*/ 1044677 w 1044677"/>
                <a:gd name="connsiteY2" fmla="*/ 234008 h 234007"/>
                <a:gd name="connsiteX3" fmla="*/ 1011248 w 1044677"/>
                <a:gd name="connsiteY3" fmla="*/ 234008 h 234007"/>
                <a:gd name="connsiteX4" fmla="*/ 33430 w 1044677"/>
                <a:gd name="connsiteY4" fmla="*/ 234008 h 234007"/>
                <a:gd name="connsiteX5" fmla="*/ 0 w 1044677"/>
                <a:gd name="connsiteY5" fmla="*/ 234008 h 234007"/>
                <a:gd name="connsiteX6" fmla="*/ 0 w 1044677"/>
                <a:gd name="connsiteY6" fmla="*/ 0 h 234007"/>
                <a:gd name="connsiteX7" fmla="*/ 33430 w 1044677"/>
                <a:gd name="connsiteY7" fmla="*/ 0 h 234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234007">
                  <a:moveTo>
                    <a:pt x="1011248" y="0"/>
                  </a:moveTo>
                  <a:cubicBezTo>
                    <a:pt x="1029710" y="0"/>
                    <a:pt x="1044677" y="0"/>
                    <a:pt x="1044677" y="0"/>
                  </a:cubicBezTo>
                  <a:lnTo>
                    <a:pt x="1044677" y="234008"/>
                  </a:lnTo>
                  <a:cubicBezTo>
                    <a:pt x="1044677" y="234008"/>
                    <a:pt x="1029710" y="234008"/>
                    <a:pt x="1011248" y="234008"/>
                  </a:cubicBezTo>
                  <a:lnTo>
                    <a:pt x="33430" y="234008"/>
                  </a:lnTo>
                  <a:cubicBezTo>
                    <a:pt x="14967" y="234008"/>
                    <a:pt x="0" y="234008"/>
                    <a:pt x="0" y="234008"/>
                  </a:cubicBezTo>
                  <a:lnTo>
                    <a:pt x="0" y="0"/>
                  </a:lnTo>
                  <a:cubicBezTo>
                    <a:pt x="0" y="0"/>
                    <a:pt x="14967" y="0"/>
                    <a:pt x="33430" y="0"/>
                  </a:cubicBezTo>
                  <a:close/>
                </a:path>
              </a:pathLst>
            </a:custGeom>
            <a:solidFill>
              <a:srgbClr val="FFFFFF"/>
            </a:solidFill>
            <a:ln w="3343" cap="flat">
              <a:solidFill>
                <a:srgbClr val="FFA000"/>
              </a:solidFill>
              <a:prstDash val="solid"/>
              <a:miter/>
            </a:ln>
          </p:spPr>
          <p:txBody>
            <a:bodyPr rtlCol="0" anchor="ctr"/>
            <a:lstStyle/>
            <a:p>
              <a:endParaRPr lang="zh-CN" altLang="en-US"/>
            </a:p>
          </p:txBody>
        </p:sp>
        <p:sp>
          <p:nvSpPr>
            <p:cNvPr id="111" name="任意形状 110">
              <a:extLst>
                <a:ext uri="{FF2B5EF4-FFF2-40B4-BE49-F238E27FC236}">
                  <a16:creationId xmlns:a16="http://schemas.microsoft.com/office/drawing/2014/main" id="{10D9206E-E2BF-B001-D82C-3E95F20A54ED}"/>
                </a:ext>
              </a:extLst>
            </p:cNvPr>
            <p:cNvSpPr/>
            <p:nvPr/>
          </p:nvSpPr>
          <p:spPr>
            <a:xfrm>
              <a:off x="1713270" y="2467323"/>
              <a:ext cx="1044677" cy="91931"/>
            </a:xfrm>
            <a:custGeom>
              <a:avLst/>
              <a:gdLst>
                <a:gd name="connsiteX0" fmla="*/ 1011248 w 1044677"/>
                <a:gd name="connsiteY0" fmla="*/ 0 h 91931"/>
                <a:gd name="connsiteX1" fmla="*/ 1044677 w 1044677"/>
                <a:gd name="connsiteY1" fmla="*/ 0 h 91931"/>
                <a:gd name="connsiteX2" fmla="*/ 1044677 w 1044677"/>
                <a:gd name="connsiteY2" fmla="*/ 91932 h 91931"/>
                <a:gd name="connsiteX3" fmla="*/ 1011248 w 1044677"/>
                <a:gd name="connsiteY3" fmla="*/ 91932 h 91931"/>
                <a:gd name="connsiteX4" fmla="*/ 33430 w 1044677"/>
                <a:gd name="connsiteY4" fmla="*/ 91932 h 91931"/>
                <a:gd name="connsiteX5" fmla="*/ 0 w 1044677"/>
                <a:gd name="connsiteY5" fmla="*/ 91932 h 91931"/>
                <a:gd name="connsiteX6" fmla="*/ 0 w 1044677"/>
                <a:gd name="connsiteY6" fmla="*/ 0 h 91931"/>
                <a:gd name="connsiteX7" fmla="*/ 33430 w 1044677"/>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677" h="91931">
                  <a:moveTo>
                    <a:pt x="1011248" y="0"/>
                  </a:moveTo>
                  <a:cubicBezTo>
                    <a:pt x="1029710" y="0"/>
                    <a:pt x="1044677" y="0"/>
                    <a:pt x="1044677" y="0"/>
                  </a:cubicBezTo>
                  <a:lnTo>
                    <a:pt x="1044677" y="91932"/>
                  </a:lnTo>
                  <a:cubicBezTo>
                    <a:pt x="1044677" y="91932"/>
                    <a:pt x="1029710" y="91932"/>
                    <a:pt x="1011248" y="91932"/>
                  </a:cubicBezTo>
                  <a:lnTo>
                    <a:pt x="33430" y="91932"/>
                  </a:lnTo>
                  <a:cubicBezTo>
                    <a:pt x="14967" y="91932"/>
                    <a:pt x="0" y="91932"/>
                    <a:pt x="0" y="91932"/>
                  </a:cubicBezTo>
                  <a:lnTo>
                    <a:pt x="0" y="0"/>
                  </a:lnTo>
                  <a:cubicBezTo>
                    <a:pt x="0" y="0"/>
                    <a:pt x="14967" y="0"/>
                    <a:pt x="33430" y="0"/>
                  </a:cubicBezTo>
                  <a:close/>
                </a:path>
              </a:pathLst>
            </a:custGeom>
            <a:solidFill>
              <a:srgbClr val="FFB74D"/>
            </a:solidFill>
            <a:ln w="4179" cap="flat">
              <a:noFill/>
              <a:prstDash val="solid"/>
              <a:miter/>
            </a:ln>
          </p:spPr>
          <p:txBody>
            <a:bodyPr rtlCol="0" anchor="ctr"/>
            <a:lstStyle/>
            <a:p>
              <a:endParaRPr lang="zh-CN" altLang="en-US"/>
            </a:p>
          </p:txBody>
        </p:sp>
        <p:sp>
          <p:nvSpPr>
            <p:cNvPr id="112" name="任意形状 111">
              <a:extLst>
                <a:ext uri="{FF2B5EF4-FFF2-40B4-BE49-F238E27FC236}">
                  <a16:creationId xmlns:a16="http://schemas.microsoft.com/office/drawing/2014/main" id="{649FE33D-22A3-4FCB-ECCD-6DA11C6625FA}"/>
                </a:ext>
              </a:extLst>
            </p:cNvPr>
            <p:cNvSpPr/>
            <p:nvPr/>
          </p:nvSpPr>
          <p:spPr>
            <a:xfrm>
              <a:off x="1713270" y="2534182"/>
              <a:ext cx="1044677" cy="25072"/>
            </a:xfrm>
            <a:custGeom>
              <a:avLst/>
              <a:gdLst>
                <a:gd name="connsiteX0" fmla="*/ 0 w 1044677"/>
                <a:gd name="connsiteY0" fmla="*/ 0 h 25072"/>
                <a:gd name="connsiteX1" fmla="*/ 1044677 w 1044677"/>
                <a:gd name="connsiteY1" fmla="*/ 0 h 25072"/>
                <a:gd name="connsiteX2" fmla="*/ 1044677 w 1044677"/>
                <a:gd name="connsiteY2" fmla="*/ 25072 h 25072"/>
                <a:gd name="connsiteX3" fmla="*/ 0 w 1044677"/>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44677" h="25072">
                  <a:moveTo>
                    <a:pt x="0" y="0"/>
                  </a:moveTo>
                  <a:lnTo>
                    <a:pt x="1044677" y="0"/>
                  </a:lnTo>
                  <a:lnTo>
                    <a:pt x="1044677" y="25072"/>
                  </a:lnTo>
                  <a:lnTo>
                    <a:pt x="0" y="25072"/>
                  </a:lnTo>
                  <a:close/>
                </a:path>
              </a:pathLst>
            </a:custGeom>
            <a:solidFill>
              <a:srgbClr val="FFB74D"/>
            </a:solidFill>
            <a:ln w="4179" cap="flat">
              <a:noFill/>
              <a:prstDash val="solid"/>
              <a:miter/>
            </a:ln>
          </p:spPr>
          <p:txBody>
            <a:bodyPr rtlCol="0" anchor="ctr"/>
            <a:lstStyle/>
            <a:p>
              <a:endParaRPr lang="zh-CN" altLang="en-US"/>
            </a:p>
          </p:txBody>
        </p:sp>
        <p:sp>
          <p:nvSpPr>
            <p:cNvPr id="113" name="文本框 112">
              <a:extLst>
                <a:ext uri="{FF2B5EF4-FFF2-40B4-BE49-F238E27FC236}">
                  <a16:creationId xmlns:a16="http://schemas.microsoft.com/office/drawing/2014/main" id="{E2870FD4-00C7-D430-0012-065D79E58698}"/>
                </a:ext>
              </a:extLst>
            </p:cNvPr>
            <p:cNvSpPr txBox="1"/>
            <p:nvPr/>
          </p:nvSpPr>
          <p:spPr>
            <a:xfrm>
              <a:off x="1811962" y="2442496"/>
              <a:ext cx="847294"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Affected Population Classification</a:t>
              </a:r>
            </a:p>
          </p:txBody>
        </p:sp>
        <p:sp>
          <p:nvSpPr>
            <p:cNvPr id="114" name="文本框 113">
              <a:extLst>
                <a:ext uri="{FF2B5EF4-FFF2-40B4-BE49-F238E27FC236}">
                  <a16:creationId xmlns:a16="http://schemas.microsoft.com/office/drawing/2014/main" id="{6AB9BA80-77FE-D1AE-B086-9DA454627B5E}"/>
                </a:ext>
              </a:extLst>
            </p:cNvPr>
            <p:cNvSpPr txBox="1"/>
            <p:nvPr/>
          </p:nvSpPr>
          <p:spPr>
            <a:xfrm>
              <a:off x="1703315" y="2542785"/>
              <a:ext cx="1064587"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k=1 Critical(2%) · k=2 Vulnerable(27%) · k=3 General(71%)</a:t>
              </a:r>
            </a:p>
          </p:txBody>
        </p:sp>
        <p:sp>
          <p:nvSpPr>
            <p:cNvPr id="115" name="文本框 114">
              <a:extLst>
                <a:ext uri="{FF2B5EF4-FFF2-40B4-BE49-F238E27FC236}">
                  <a16:creationId xmlns:a16="http://schemas.microsoft.com/office/drawing/2014/main" id="{B533125C-785A-8C6D-6823-33A8AC408AE0}"/>
                </a:ext>
              </a:extLst>
            </p:cNvPr>
            <p:cNvSpPr txBox="1"/>
            <p:nvPr/>
          </p:nvSpPr>
          <p:spPr>
            <a:xfrm>
              <a:off x="1855838" y="2597108"/>
              <a:ext cx="759541"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3km zone total affected pop. ≈ 234,502</a:t>
              </a:r>
            </a:p>
          </p:txBody>
        </p:sp>
      </p:grpSp>
      <p:grpSp>
        <p:nvGrpSpPr>
          <p:cNvPr id="116" name="图形 2">
            <a:extLst>
              <a:ext uri="{FF2B5EF4-FFF2-40B4-BE49-F238E27FC236}">
                <a16:creationId xmlns:a16="http://schemas.microsoft.com/office/drawing/2014/main" id="{54E53938-5B5B-98C1-F3C4-1722E765101D}"/>
              </a:ext>
            </a:extLst>
          </p:cNvPr>
          <p:cNvGrpSpPr/>
          <p:nvPr/>
        </p:nvGrpSpPr>
        <p:grpSpPr>
          <a:xfrm>
            <a:off x="2925096" y="1054919"/>
            <a:ext cx="2381864" cy="814848"/>
            <a:chOff x="2925096" y="1054919"/>
            <a:chExt cx="2381864" cy="814848"/>
          </a:xfrm>
        </p:grpSpPr>
        <p:sp>
          <p:nvSpPr>
            <p:cNvPr id="117" name="任意形状 116">
              <a:extLst>
                <a:ext uri="{FF2B5EF4-FFF2-40B4-BE49-F238E27FC236}">
                  <a16:creationId xmlns:a16="http://schemas.microsoft.com/office/drawing/2014/main" id="{F5C5E154-68BF-B95D-0F7E-F6CF37A06B09}"/>
                </a:ext>
              </a:extLst>
            </p:cNvPr>
            <p:cNvSpPr/>
            <p:nvPr/>
          </p:nvSpPr>
          <p:spPr>
            <a:xfrm>
              <a:off x="2925096" y="1054919"/>
              <a:ext cx="2381864" cy="814848"/>
            </a:xfrm>
            <a:custGeom>
              <a:avLst/>
              <a:gdLst>
                <a:gd name="connsiteX0" fmla="*/ 2340078 w 2381864"/>
                <a:gd name="connsiteY0" fmla="*/ 0 h 814848"/>
                <a:gd name="connsiteX1" fmla="*/ 2381865 w 2381864"/>
                <a:gd name="connsiteY1" fmla="*/ 0 h 814848"/>
                <a:gd name="connsiteX2" fmla="*/ 2381865 w 2381864"/>
                <a:gd name="connsiteY2" fmla="*/ 814848 h 814848"/>
                <a:gd name="connsiteX3" fmla="*/ 2340078 w 2381864"/>
                <a:gd name="connsiteY3" fmla="*/ 814848 h 814848"/>
                <a:gd name="connsiteX4" fmla="*/ 41787 w 2381864"/>
                <a:gd name="connsiteY4" fmla="*/ 814848 h 814848"/>
                <a:gd name="connsiteX5" fmla="*/ 0 w 2381864"/>
                <a:gd name="connsiteY5" fmla="*/ 814848 h 814848"/>
                <a:gd name="connsiteX6" fmla="*/ 0 w 2381864"/>
                <a:gd name="connsiteY6" fmla="*/ 0 h 814848"/>
                <a:gd name="connsiteX7" fmla="*/ 41787 w 2381864"/>
                <a:gd name="connsiteY7" fmla="*/ 0 h 814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864" h="814848">
                  <a:moveTo>
                    <a:pt x="2340078" y="0"/>
                  </a:moveTo>
                  <a:cubicBezTo>
                    <a:pt x="2363156" y="0"/>
                    <a:pt x="2381865" y="0"/>
                    <a:pt x="2381865" y="0"/>
                  </a:cubicBezTo>
                  <a:lnTo>
                    <a:pt x="2381865" y="814848"/>
                  </a:lnTo>
                  <a:cubicBezTo>
                    <a:pt x="2381865" y="814848"/>
                    <a:pt x="2363156" y="814848"/>
                    <a:pt x="2340078" y="814848"/>
                  </a:cubicBezTo>
                  <a:lnTo>
                    <a:pt x="41787" y="814848"/>
                  </a:lnTo>
                  <a:cubicBezTo>
                    <a:pt x="18709" y="814848"/>
                    <a:pt x="0" y="814848"/>
                    <a:pt x="0" y="814848"/>
                  </a:cubicBezTo>
                  <a:lnTo>
                    <a:pt x="0" y="0"/>
                  </a:lnTo>
                  <a:cubicBezTo>
                    <a:pt x="0" y="0"/>
                    <a:pt x="18709" y="0"/>
                    <a:pt x="41787" y="0"/>
                  </a:cubicBezTo>
                  <a:close/>
                </a:path>
              </a:pathLst>
            </a:custGeom>
            <a:solidFill>
              <a:srgbClr val="FFFFFF"/>
            </a:solidFill>
            <a:ln w="5014" cap="flat">
              <a:solidFill>
                <a:srgbClr val="2E7D32"/>
              </a:solidFill>
              <a:prstDash val="solid"/>
              <a:miter/>
            </a:ln>
          </p:spPr>
          <p:txBody>
            <a:bodyPr rtlCol="0" anchor="ctr"/>
            <a:lstStyle/>
            <a:p>
              <a:endParaRPr lang="zh-CN" altLang="en-US"/>
            </a:p>
          </p:txBody>
        </p:sp>
        <p:sp>
          <p:nvSpPr>
            <p:cNvPr id="118" name="任意形状 117">
              <a:extLst>
                <a:ext uri="{FF2B5EF4-FFF2-40B4-BE49-F238E27FC236}">
                  <a16:creationId xmlns:a16="http://schemas.microsoft.com/office/drawing/2014/main" id="{0FBF2675-115F-1FA2-FCB5-BA23A3644B0A}"/>
                </a:ext>
              </a:extLst>
            </p:cNvPr>
            <p:cNvSpPr/>
            <p:nvPr/>
          </p:nvSpPr>
          <p:spPr>
            <a:xfrm>
              <a:off x="2925096" y="1054919"/>
              <a:ext cx="2381864" cy="108646"/>
            </a:xfrm>
            <a:custGeom>
              <a:avLst/>
              <a:gdLst>
                <a:gd name="connsiteX0" fmla="*/ 2340078 w 2381864"/>
                <a:gd name="connsiteY0" fmla="*/ 0 h 108646"/>
                <a:gd name="connsiteX1" fmla="*/ 2381865 w 2381864"/>
                <a:gd name="connsiteY1" fmla="*/ 0 h 108646"/>
                <a:gd name="connsiteX2" fmla="*/ 2381865 w 2381864"/>
                <a:gd name="connsiteY2" fmla="*/ 108646 h 108646"/>
                <a:gd name="connsiteX3" fmla="*/ 2340078 w 2381864"/>
                <a:gd name="connsiteY3" fmla="*/ 108646 h 108646"/>
                <a:gd name="connsiteX4" fmla="*/ 41787 w 2381864"/>
                <a:gd name="connsiteY4" fmla="*/ 108646 h 108646"/>
                <a:gd name="connsiteX5" fmla="*/ 0 w 2381864"/>
                <a:gd name="connsiteY5" fmla="*/ 108646 h 108646"/>
                <a:gd name="connsiteX6" fmla="*/ 0 w 2381864"/>
                <a:gd name="connsiteY6" fmla="*/ 0 h 108646"/>
                <a:gd name="connsiteX7" fmla="*/ 41787 w 2381864"/>
                <a:gd name="connsiteY7" fmla="*/ 0 h 10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864" h="108646">
                  <a:moveTo>
                    <a:pt x="2340078" y="0"/>
                  </a:moveTo>
                  <a:cubicBezTo>
                    <a:pt x="2363156" y="0"/>
                    <a:pt x="2381865" y="0"/>
                    <a:pt x="2381865" y="0"/>
                  </a:cubicBezTo>
                  <a:lnTo>
                    <a:pt x="2381865" y="108646"/>
                  </a:lnTo>
                  <a:cubicBezTo>
                    <a:pt x="2381865" y="108646"/>
                    <a:pt x="2363156" y="108646"/>
                    <a:pt x="2340078" y="108646"/>
                  </a:cubicBezTo>
                  <a:lnTo>
                    <a:pt x="41787" y="108646"/>
                  </a:lnTo>
                  <a:cubicBezTo>
                    <a:pt x="18709" y="108646"/>
                    <a:pt x="0" y="108646"/>
                    <a:pt x="0" y="108646"/>
                  </a:cubicBezTo>
                  <a:lnTo>
                    <a:pt x="0" y="0"/>
                  </a:lnTo>
                  <a:cubicBezTo>
                    <a:pt x="0" y="0"/>
                    <a:pt x="18709" y="0"/>
                    <a:pt x="41787" y="0"/>
                  </a:cubicBezTo>
                  <a:close/>
                </a:path>
              </a:pathLst>
            </a:custGeom>
            <a:solidFill>
              <a:srgbClr val="2E7D32"/>
            </a:solidFill>
            <a:ln w="4179" cap="flat">
              <a:noFill/>
              <a:prstDash val="solid"/>
              <a:miter/>
            </a:ln>
          </p:spPr>
          <p:txBody>
            <a:bodyPr rtlCol="0" anchor="ctr"/>
            <a:lstStyle/>
            <a:p>
              <a:endParaRPr lang="zh-CN" altLang="en-US"/>
            </a:p>
          </p:txBody>
        </p:sp>
        <p:sp>
          <p:nvSpPr>
            <p:cNvPr id="119" name="任意形状 118">
              <a:extLst>
                <a:ext uri="{FF2B5EF4-FFF2-40B4-BE49-F238E27FC236}">
                  <a16:creationId xmlns:a16="http://schemas.microsoft.com/office/drawing/2014/main" id="{0DF1AF66-2DE9-E471-FDE3-01D77114248F}"/>
                </a:ext>
              </a:extLst>
            </p:cNvPr>
            <p:cNvSpPr/>
            <p:nvPr/>
          </p:nvSpPr>
          <p:spPr>
            <a:xfrm>
              <a:off x="2925096" y="1138493"/>
              <a:ext cx="2381864" cy="25072"/>
            </a:xfrm>
            <a:custGeom>
              <a:avLst/>
              <a:gdLst>
                <a:gd name="connsiteX0" fmla="*/ 0 w 2381864"/>
                <a:gd name="connsiteY0" fmla="*/ 0 h 25072"/>
                <a:gd name="connsiteX1" fmla="*/ 2381865 w 2381864"/>
                <a:gd name="connsiteY1" fmla="*/ 0 h 25072"/>
                <a:gd name="connsiteX2" fmla="*/ 2381865 w 2381864"/>
                <a:gd name="connsiteY2" fmla="*/ 25072 h 25072"/>
                <a:gd name="connsiteX3" fmla="*/ 0 w 2381864"/>
                <a:gd name="connsiteY3" fmla="*/ 25072 h 25072"/>
              </a:gdLst>
              <a:ahLst/>
              <a:cxnLst>
                <a:cxn ang="0">
                  <a:pos x="connsiteX0" y="connsiteY0"/>
                </a:cxn>
                <a:cxn ang="0">
                  <a:pos x="connsiteX1" y="connsiteY1"/>
                </a:cxn>
                <a:cxn ang="0">
                  <a:pos x="connsiteX2" y="connsiteY2"/>
                </a:cxn>
                <a:cxn ang="0">
                  <a:pos x="connsiteX3" y="connsiteY3"/>
                </a:cxn>
              </a:cxnLst>
              <a:rect l="l" t="t" r="r" b="b"/>
              <a:pathLst>
                <a:path w="2381864" h="25072">
                  <a:moveTo>
                    <a:pt x="0" y="0"/>
                  </a:moveTo>
                  <a:lnTo>
                    <a:pt x="2381865" y="0"/>
                  </a:lnTo>
                  <a:lnTo>
                    <a:pt x="2381865" y="25072"/>
                  </a:lnTo>
                  <a:lnTo>
                    <a:pt x="0" y="25072"/>
                  </a:lnTo>
                  <a:close/>
                </a:path>
              </a:pathLst>
            </a:custGeom>
            <a:solidFill>
              <a:srgbClr val="2E7D32"/>
            </a:solidFill>
            <a:ln w="4179" cap="flat">
              <a:noFill/>
              <a:prstDash val="solid"/>
              <a:miter/>
            </a:ln>
          </p:spPr>
          <p:txBody>
            <a:bodyPr rtlCol="0" anchor="ctr"/>
            <a:lstStyle/>
            <a:p>
              <a:endParaRPr lang="zh-CN" altLang="en-US"/>
            </a:p>
          </p:txBody>
        </p:sp>
        <p:sp>
          <p:nvSpPr>
            <p:cNvPr id="120" name="文本框 119">
              <a:extLst>
                <a:ext uri="{FF2B5EF4-FFF2-40B4-BE49-F238E27FC236}">
                  <a16:creationId xmlns:a16="http://schemas.microsoft.com/office/drawing/2014/main" id="{4203B064-900B-CE04-6604-CF7873B17BA4}"/>
                </a:ext>
              </a:extLst>
            </p:cNvPr>
            <p:cNvSpPr txBox="1"/>
            <p:nvPr/>
          </p:nvSpPr>
          <p:spPr>
            <a:xfrm>
              <a:off x="3264063" y="1038450"/>
              <a:ext cx="1703930" cy="154120"/>
            </a:xfrm>
            <a:prstGeom prst="rect">
              <a:avLst/>
            </a:prstGeom>
            <a:noFill/>
          </p:spPr>
          <p:txBody>
            <a:bodyPr wrap="none" rtlCol="0">
              <a:spAutoFit/>
            </a:bodyPr>
            <a:lstStyle/>
            <a:p>
              <a:pPr algn="l"/>
              <a:r>
                <a:rPr lang="zh-CN" altLang="en-US" sz="825" b="1" spc="0" baseline="0">
                  <a:ln/>
                  <a:solidFill>
                    <a:srgbClr val="FFFFFF"/>
                  </a:solidFill>
                  <a:latin typeface="Segoe UI"/>
                  <a:cs typeface="Segoe UI"/>
                  <a:sym typeface="Segoe UI"/>
                  <a:rtl val="0"/>
                </a:rPr>
                <a:t>Emergency Supply Delivery Optimization (Step 10) — Centripetal Flow</a:t>
              </a:r>
            </a:p>
          </p:txBody>
        </p:sp>
        <p:sp>
          <p:nvSpPr>
            <p:cNvPr id="121" name="任意形状 120">
              <a:extLst>
                <a:ext uri="{FF2B5EF4-FFF2-40B4-BE49-F238E27FC236}">
                  <a16:creationId xmlns:a16="http://schemas.microsoft.com/office/drawing/2014/main" id="{DDCABC82-BAE6-A9AE-08DA-180E7E52B92E}"/>
                </a:ext>
              </a:extLst>
            </p:cNvPr>
            <p:cNvSpPr/>
            <p:nvPr/>
          </p:nvSpPr>
          <p:spPr>
            <a:xfrm>
              <a:off x="2987777" y="1209531"/>
              <a:ext cx="718738" cy="271616"/>
            </a:xfrm>
            <a:custGeom>
              <a:avLst/>
              <a:gdLst>
                <a:gd name="connsiteX0" fmla="*/ 697845 w 718738"/>
                <a:gd name="connsiteY0" fmla="*/ 0 h 271616"/>
                <a:gd name="connsiteX1" fmla="*/ 718738 w 718738"/>
                <a:gd name="connsiteY1" fmla="*/ 0 h 271616"/>
                <a:gd name="connsiteX2" fmla="*/ 718738 w 718738"/>
                <a:gd name="connsiteY2" fmla="*/ 271616 h 271616"/>
                <a:gd name="connsiteX3" fmla="*/ 697845 w 718738"/>
                <a:gd name="connsiteY3" fmla="*/ 271616 h 271616"/>
                <a:gd name="connsiteX4" fmla="*/ 20894 w 718738"/>
                <a:gd name="connsiteY4" fmla="*/ 271616 h 271616"/>
                <a:gd name="connsiteX5" fmla="*/ 0 w 718738"/>
                <a:gd name="connsiteY5" fmla="*/ 271616 h 271616"/>
                <a:gd name="connsiteX6" fmla="*/ 0 w 718738"/>
                <a:gd name="connsiteY6" fmla="*/ 0 h 271616"/>
                <a:gd name="connsiteX7" fmla="*/ 20894 w 718738"/>
                <a:gd name="connsiteY7" fmla="*/ 0 h 27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8738" h="271616">
                  <a:moveTo>
                    <a:pt x="697845" y="0"/>
                  </a:moveTo>
                  <a:cubicBezTo>
                    <a:pt x="709384" y="0"/>
                    <a:pt x="718738" y="0"/>
                    <a:pt x="718738" y="0"/>
                  </a:cubicBezTo>
                  <a:lnTo>
                    <a:pt x="718738" y="271616"/>
                  </a:lnTo>
                  <a:cubicBezTo>
                    <a:pt x="718738" y="271616"/>
                    <a:pt x="709384" y="271616"/>
                    <a:pt x="697845" y="271616"/>
                  </a:cubicBezTo>
                  <a:lnTo>
                    <a:pt x="20894" y="271616"/>
                  </a:lnTo>
                  <a:cubicBezTo>
                    <a:pt x="9354" y="271616"/>
                    <a:pt x="0" y="271616"/>
                    <a:pt x="0" y="271616"/>
                  </a:cubicBezTo>
                  <a:lnTo>
                    <a:pt x="0" y="0"/>
                  </a:lnTo>
                  <a:cubicBezTo>
                    <a:pt x="0" y="0"/>
                    <a:pt x="9354" y="0"/>
                    <a:pt x="20894" y="0"/>
                  </a:cubicBezTo>
                  <a:close/>
                </a:path>
              </a:pathLst>
            </a:custGeom>
            <a:solidFill>
              <a:srgbClr val="E8F5E9"/>
            </a:solidFill>
            <a:ln w="2089" cap="flat">
              <a:solidFill>
                <a:srgbClr val="43A047"/>
              </a:solidFill>
              <a:prstDash val="solid"/>
              <a:miter/>
            </a:ln>
          </p:spPr>
          <p:txBody>
            <a:bodyPr rtlCol="0" anchor="ctr"/>
            <a:lstStyle/>
            <a:p>
              <a:endParaRPr lang="zh-CN" altLang="en-US"/>
            </a:p>
          </p:txBody>
        </p:sp>
        <p:sp>
          <p:nvSpPr>
            <p:cNvPr id="122" name="文本框 121">
              <a:extLst>
                <a:ext uri="{FF2B5EF4-FFF2-40B4-BE49-F238E27FC236}">
                  <a16:creationId xmlns:a16="http://schemas.microsoft.com/office/drawing/2014/main" id="{047D5823-136A-8E85-03E3-D48B4458A052}"/>
                </a:ext>
              </a:extLst>
            </p:cNvPr>
            <p:cNvSpPr txBox="1"/>
            <p:nvPr/>
          </p:nvSpPr>
          <p:spPr>
            <a:xfrm>
              <a:off x="3000805" y="1180526"/>
              <a:ext cx="692682" cy="141584"/>
            </a:xfrm>
            <a:prstGeom prst="rect">
              <a:avLst/>
            </a:prstGeom>
            <a:noFill/>
          </p:spPr>
          <p:txBody>
            <a:bodyPr wrap="none" rtlCol="0">
              <a:spAutoFit/>
            </a:bodyPr>
            <a:lstStyle/>
            <a:p>
              <a:pPr algn="l"/>
              <a:r>
                <a:rPr lang="zh-CN" altLang="en-US" sz="675" b="1" spc="0" baseline="0">
                  <a:ln/>
                  <a:solidFill>
                    <a:srgbClr val="1B5E20"/>
                  </a:solidFill>
                  <a:latin typeface="Segoe UI"/>
                  <a:cs typeface="Segoe UI"/>
                  <a:sym typeface="Segoe UI"/>
                  <a:rtl val="0"/>
                </a:rPr>
                <a:t>Three-Tier Logistics Network</a:t>
              </a:r>
            </a:p>
          </p:txBody>
        </p:sp>
        <p:sp>
          <p:nvSpPr>
            <p:cNvPr id="123" name="文本框 122">
              <a:extLst>
                <a:ext uri="{FF2B5EF4-FFF2-40B4-BE49-F238E27FC236}">
                  <a16:creationId xmlns:a16="http://schemas.microsoft.com/office/drawing/2014/main" id="{61475773-E2F7-A265-1882-68585F6EE76D}"/>
                </a:ext>
              </a:extLst>
            </p:cNvPr>
            <p:cNvSpPr txBox="1"/>
            <p:nvPr/>
          </p:nvSpPr>
          <p:spPr>
            <a:xfrm>
              <a:off x="3019609" y="1255743"/>
              <a:ext cx="659252"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Supply (H): 8 fire stations + 2 depots</a:t>
              </a:r>
            </a:p>
          </p:txBody>
        </p:sp>
        <p:sp>
          <p:nvSpPr>
            <p:cNvPr id="124" name="文本框 123">
              <a:extLst>
                <a:ext uri="{FF2B5EF4-FFF2-40B4-BE49-F238E27FC236}">
                  <a16:creationId xmlns:a16="http://schemas.microsoft.com/office/drawing/2014/main" id="{4DEED33C-DDB0-9578-C513-3A94A7A8BF70}"/>
                </a:ext>
              </a:extLst>
            </p:cNvPr>
            <p:cNvSpPr txBox="1"/>
            <p:nvPr/>
          </p:nvSpPr>
          <p:spPr>
            <a:xfrm>
              <a:off x="3025877" y="1305887"/>
              <a:ext cx="642538"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Transit (I): 5 large-capacity facilities</a:t>
              </a:r>
            </a:p>
          </p:txBody>
        </p:sp>
        <p:sp>
          <p:nvSpPr>
            <p:cNvPr id="125" name="文本框 124">
              <a:extLst>
                <a:ext uri="{FF2B5EF4-FFF2-40B4-BE49-F238E27FC236}">
                  <a16:creationId xmlns:a16="http://schemas.microsoft.com/office/drawing/2014/main" id="{A1ADA1E0-02C7-C720-3086-48033377F537}"/>
                </a:ext>
              </a:extLst>
            </p:cNvPr>
            <p:cNvSpPr txBox="1"/>
            <p:nvPr/>
          </p:nvSpPr>
          <p:spPr>
            <a:xfrm>
              <a:off x="3092736" y="1356032"/>
              <a:ext cx="508819"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Demand (J): 15 locations</a:t>
              </a:r>
            </a:p>
          </p:txBody>
        </p:sp>
        <p:sp>
          <p:nvSpPr>
            <p:cNvPr id="126" name="任意形状 125">
              <a:extLst>
                <a:ext uri="{FF2B5EF4-FFF2-40B4-BE49-F238E27FC236}">
                  <a16:creationId xmlns:a16="http://schemas.microsoft.com/office/drawing/2014/main" id="{EC541F9F-6E07-22F1-8F73-C2F2C11B48B2}"/>
                </a:ext>
              </a:extLst>
            </p:cNvPr>
            <p:cNvSpPr/>
            <p:nvPr/>
          </p:nvSpPr>
          <p:spPr>
            <a:xfrm>
              <a:off x="3748302" y="1209531"/>
              <a:ext cx="718738" cy="271616"/>
            </a:xfrm>
            <a:custGeom>
              <a:avLst/>
              <a:gdLst>
                <a:gd name="connsiteX0" fmla="*/ 697845 w 718738"/>
                <a:gd name="connsiteY0" fmla="*/ 0 h 271616"/>
                <a:gd name="connsiteX1" fmla="*/ 718738 w 718738"/>
                <a:gd name="connsiteY1" fmla="*/ 0 h 271616"/>
                <a:gd name="connsiteX2" fmla="*/ 718738 w 718738"/>
                <a:gd name="connsiteY2" fmla="*/ 271616 h 271616"/>
                <a:gd name="connsiteX3" fmla="*/ 697845 w 718738"/>
                <a:gd name="connsiteY3" fmla="*/ 271616 h 271616"/>
                <a:gd name="connsiteX4" fmla="*/ 20894 w 718738"/>
                <a:gd name="connsiteY4" fmla="*/ 271616 h 271616"/>
                <a:gd name="connsiteX5" fmla="*/ 0 w 718738"/>
                <a:gd name="connsiteY5" fmla="*/ 271616 h 271616"/>
                <a:gd name="connsiteX6" fmla="*/ 0 w 718738"/>
                <a:gd name="connsiteY6" fmla="*/ 0 h 271616"/>
                <a:gd name="connsiteX7" fmla="*/ 20894 w 718738"/>
                <a:gd name="connsiteY7" fmla="*/ 0 h 27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8738" h="271616">
                  <a:moveTo>
                    <a:pt x="697845" y="0"/>
                  </a:moveTo>
                  <a:cubicBezTo>
                    <a:pt x="709384" y="0"/>
                    <a:pt x="718738" y="0"/>
                    <a:pt x="718738" y="0"/>
                  </a:cubicBezTo>
                  <a:lnTo>
                    <a:pt x="718738" y="271616"/>
                  </a:lnTo>
                  <a:cubicBezTo>
                    <a:pt x="718738" y="271616"/>
                    <a:pt x="709384" y="271616"/>
                    <a:pt x="697845" y="271616"/>
                  </a:cubicBezTo>
                  <a:lnTo>
                    <a:pt x="20894" y="271616"/>
                  </a:lnTo>
                  <a:cubicBezTo>
                    <a:pt x="9354" y="271616"/>
                    <a:pt x="0" y="271616"/>
                    <a:pt x="0" y="271616"/>
                  </a:cubicBezTo>
                  <a:lnTo>
                    <a:pt x="0" y="0"/>
                  </a:lnTo>
                  <a:cubicBezTo>
                    <a:pt x="0" y="0"/>
                    <a:pt x="9354" y="0"/>
                    <a:pt x="20894" y="0"/>
                  </a:cubicBezTo>
                  <a:close/>
                </a:path>
              </a:pathLst>
            </a:custGeom>
            <a:solidFill>
              <a:srgbClr val="E8F5E9"/>
            </a:solidFill>
            <a:ln w="2089" cap="flat">
              <a:solidFill>
                <a:srgbClr val="43A047"/>
              </a:solidFill>
              <a:prstDash val="solid"/>
              <a:miter/>
            </a:ln>
          </p:spPr>
          <p:txBody>
            <a:bodyPr rtlCol="0" anchor="ctr"/>
            <a:lstStyle/>
            <a:p>
              <a:endParaRPr lang="zh-CN" altLang="en-US"/>
            </a:p>
          </p:txBody>
        </p:sp>
        <p:sp>
          <p:nvSpPr>
            <p:cNvPr id="127" name="文本框 126">
              <a:extLst>
                <a:ext uri="{FF2B5EF4-FFF2-40B4-BE49-F238E27FC236}">
                  <a16:creationId xmlns:a16="http://schemas.microsoft.com/office/drawing/2014/main" id="{AF90C78C-C25B-A8B0-93DD-087769C1E315}"/>
                </a:ext>
              </a:extLst>
            </p:cNvPr>
            <p:cNvSpPr txBox="1"/>
            <p:nvPr/>
          </p:nvSpPr>
          <p:spPr>
            <a:xfrm>
              <a:off x="3767598" y="1180526"/>
              <a:ext cx="680146" cy="141584"/>
            </a:xfrm>
            <a:prstGeom prst="rect">
              <a:avLst/>
            </a:prstGeom>
            <a:noFill/>
          </p:spPr>
          <p:txBody>
            <a:bodyPr wrap="none" rtlCol="0">
              <a:spAutoFit/>
            </a:bodyPr>
            <a:lstStyle/>
            <a:p>
              <a:pPr algn="l"/>
              <a:r>
                <a:rPr lang="zh-CN" altLang="en-US" sz="675" b="1" spc="0" baseline="0">
                  <a:ln/>
                  <a:solidFill>
                    <a:srgbClr val="1B5E20"/>
                  </a:solidFill>
                  <a:latin typeface="Segoe UI"/>
                  <a:cs typeface="Segoe UI"/>
                  <a:sym typeface="Segoe UI"/>
                  <a:rtl val="0"/>
                </a:rPr>
                <a:t>Four Priority Time Windows</a:t>
              </a:r>
            </a:p>
          </p:txBody>
        </p:sp>
        <p:sp>
          <p:nvSpPr>
            <p:cNvPr id="128" name="任意形状 127">
              <a:extLst>
                <a:ext uri="{FF2B5EF4-FFF2-40B4-BE49-F238E27FC236}">
                  <a16:creationId xmlns:a16="http://schemas.microsoft.com/office/drawing/2014/main" id="{AA251635-C9BB-46A2-1382-F7B38728CC7F}"/>
                </a:ext>
              </a:extLst>
            </p:cNvPr>
            <p:cNvSpPr/>
            <p:nvPr/>
          </p:nvSpPr>
          <p:spPr>
            <a:xfrm>
              <a:off x="3802625" y="1293105"/>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B71C1C"/>
            </a:solidFill>
            <a:ln w="4179" cap="flat">
              <a:noFill/>
              <a:prstDash val="solid"/>
              <a:miter/>
            </a:ln>
          </p:spPr>
          <p:txBody>
            <a:bodyPr rtlCol="0" anchor="ctr"/>
            <a:lstStyle/>
            <a:p>
              <a:endParaRPr lang="zh-CN" altLang="en-US"/>
            </a:p>
          </p:txBody>
        </p:sp>
        <p:sp>
          <p:nvSpPr>
            <p:cNvPr id="129" name="文本框 128">
              <a:extLst>
                <a:ext uri="{FF2B5EF4-FFF2-40B4-BE49-F238E27FC236}">
                  <a16:creationId xmlns:a16="http://schemas.microsoft.com/office/drawing/2014/main" id="{533AA075-A17E-6798-CA51-087CFA580DF3}"/>
                </a:ext>
              </a:extLst>
            </p:cNvPr>
            <p:cNvSpPr txBox="1"/>
            <p:nvPr/>
          </p:nvSpPr>
          <p:spPr>
            <a:xfrm>
              <a:off x="3761330" y="1251564"/>
              <a:ext cx="500461"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Life rescue 30min (hard)</a:t>
              </a:r>
            </a:p>
          </p:txBody>
        </p:sp>
        <p:sp>
          <p:nvSpPr>
            <p:cNvPr id="130" name="任意形状 129">
              <a:extLst>
                <a:ext uri="{FF2B5EF4-FFF2-40B4-BE49-F238E27FC236}">
                  <a16:creationId xmlns:a16="http://schemas.microsoft.com/office/drawing/2014/main" id="{FBFAADA9-3801-D9FF-BB98-F7E9BD15E1F5}"/>
                </a:ext>
              </a:extLst>
            </p:cNvPr>
            <p:cNvSpPr/>
            <p:nvPr/>
          </p:nvSpPr>
          <p:spPr>
            <a:xfrm>
              <a:off x="3802625" y="1343250"/>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E53935"/>
            </a:solidFill>
            <a:ln w="4179" cap="flat">
              <a:noFill/>
              <a:prstDash val="solid"/>
              <a:miter/>
            </a:ln>
          </p:spPr>
          <p:txBody>
            <a:bodyPr rtlCol="0" anchor="ctr"/>
            <a:lstStyle/>
            <a:p>
              <a:endParaRPr lang="zh-CN" altLang="en-US"/>
            </a:p>
          </p:txBody>
        </p:sp>
        <p:sp>
          <p:nvSpPr>
            <p:cNvPr id="131" name="文本框 130">
              <a:extLst>
                <a:ext uri="{FF2B5EF4-FFF2-40B4-BE49-F238E27FC236}">
                  <a16:creationId xmlns:a16="http://schemas.microsoft.com/office/drawing/2014/main" id="{AF81577D-EF57-08CA-C4A6-1B39EA66AA7B}"/>
                </a:ext>
              </a:extLst>
            </p:cNvPr>
            <p:cNvSpPr txBox="1"/>
            <p:nvPr/>
          </p:nvSpPr>
          <p:spPr>
            <a:xfrm>
              <a:off x="3761330" y="1301708"/>
              <a:ext cx="454496"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Medical 60min (hard)</a:t>
              </a:r>
            </a:p>
          </p:txBody>
        </p:sp>
        <p:sp>
          <p:nvSpPr>
            <p:cNvPr id="132" name="任意形状 131">
              <a:extLst>
                <a:ext uri="{FF2B5EF4-FFF2-40B4-BE49-F238E27FC236}">
                  <a16:creationId xmlns:a16="http://schemas.microsoft.com/office/drawing/2014/main" id="{D3BED235-1E39-F198-44C7-23C91AED6C47}"/>
                </a:ext>
              </a:extLst>
            </p:cNvPr>
            <p:cNvSpPr/>
            <p:nvPr/>
          </p:nvSpPr>
          <p:spPr>
            <a:xfrm>
              <a:off x="3802625" y="1393394"/>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FF9800"/>
            </a:solidFill>
            <a:ln w="4179" cap="flat">
              <a:noFill/>
              <a:prstDash val="solid"/>
              <a:miter/>
            </a:ln>
          </p:spPr>
          <p:txBody>
            <a:bodyPr rtlCol="0" anchor="ctr"/>
            <a:lstStyle/>
            <a:p>
              <a:endParaRPr lang="zh-CN" altLang="en-US"/>
            </a:p>
          </p:txBody>
        </p:sp>
        <p:sp>
          <p:nvSpPr>
            <p:cNvPr id="133" name="文本框 132">
              <a:extLst>
                <a:ext uri="{FF2B5EF4-FFF2-40B4-BE49-F238E27FC236}">
                  <a16:creationId xmlns:a16="http://schemas.microsoft.com/office/drawing/2014/main" id="{A1C43621-2D53-BB67-FB8B-C89502D5217F}"/>
                </a:ext>
              </a:extLst>
            </p:cNvPr>
            <p:cNvSpPr txBox="1"/>
            <p:nvPr/>
          </p:nvSpPr>
          <p:spPr>
            <a:xfrm>
              <a:off x="3761330" y="1351853"/>
              <a:ext cx="49210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Protection 120min (soft)</a:t>
              </a:r>
            </a:p>
          </p:txBody>
        </p:sp>
        <p:sp>
          <p:nvSpPr>
            <p:cNvPr id="134" name="任意形状 133">
              <a:extLst>
                <a:ext uri="{FF2B5EF4-FFF2-40B4-BE49-F238E27FC236}">
                  <a16:creationId xmlns:a16="http://schemas.microsoft.com/office/drawing/2014/main" id="{C68F8422-53A6-398D-914C-4983DF27D232}"/>
                </a:ext>
              </a:extLst>
            </p:cNvPr>
            <p:cNvSpPr/>
            <p:nvPr/>
          </p:nvSpPr>
          <p:spPr>
            <a:xfrm>
              <a:off x="3802625" y="1443539"/>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FFC107"/>
            </a:solidFill>
            <a:ln w="4179" cap="flat">
              <a:noFill/>
              <a:prstDash val="solid"/>
              <a:miter/>
            </a:ln>
          </p:spPr>
          <p:txBody>
            <a:bodyPr rtlCol="0" anchor="ctr"/>
            <a:lstStyle/>
            <a:p>
              <a:endParaRPr lang="zh-CN" altLang="en-US"/>
            </a:p>
          </p:txBody>
        </p:sp>
        <p:sp>
          <p:nvSpPr>
            <p:cNvPr id="135" name="文本框 134">
              <a:extLst>
                <a:ext uri="{FF2B5EF4-FFF2-40B4-BE49-F238E27FC236}">
                  <a16:creationId xmlns:a16="http://schemas.microsoft.com/office/drawing/2014/main" id="{C1F86821-6C42-55C9-2F60-67604FC81D66}"/>
                </a:ext>
              </a:extLst>
            </p:cNvPr>
            <p:cNvSpPr txBox="1"/>
            <p:nvPr/>
          </p:nvSpPr>
          <p:spPr>
            <a:xfrm>
              <a:off x="3761330" y="1401997"/>
              <a:ext cx="52553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Basic supply 240min (soft)</a:t>
              </a:r>
            </a:p>
          </p:txBody>
        </p:sp>
        <p:sp>
          <p:nvSpPr>
            <p:cNvPr id="136" name="任意形状 135">
              <a:extLst>
                <a:ext uri="{FF2B5EF4-FFF2-40B4-BE49-F238E27FC236}">
                  <a16:creationId xmlns:a16="http://schemas.microsoft.com/office/drawing/2014/main" id="{A2F9B28F-3E7C-6733-B3C4-173E0CEB1C1F}"/>
                </a:ext>
              </a:extLst>
            </p:cNvPr>
            <p:cNvSpPr/>
            <p:nvPr/>
          </p:nvSpPr>
          <p:spPr>
            <a:xfrm>
              <a:off x="4508827" y="1209531"/>
              <a:ext cx="743810" cy="271616"/>
            </a:xfrm>
            <a:custGeom>
              <a:avLst/>
              <a:gdLst>
                <a:gd name="connsiteX0" fmla="*/ 722917 w 743810"/>
                <a:gd name="connsiteY0" fmla="*/ 0 h 271616"/>
                <a:gd name="connsiteX1" fmla="*/ 743810 w 743810"/>
                <a:gd name="connsiteY1" fmla="*/ 0 h 271616"/>
                <a:gd name="connsiteX2" fmla="*/ 743810 w 743810"/>
                <a:gd name="connsiteY2" fmla="*/ 271616 h 271616"/>
                <a:gd name="connsiteX3" fmla="*/ 722917 w 743810"/>
                <a:gd name="connsiteY3" fmla="*/ 271616 h 271616"/>
                <a:gd name="connsiteX4" fmla="*/ 20894 w 743810"/>
                <a:gd name="connsiteY4" fmla="*/ 271616 h 271616"/>
                <a:gd name="connsiteX5" fmla="*/ 0 w 743810"/>
                <a:gd name="connsiteY5" fmla="*/ 271616 h 271616"/>
                <a:gd name="connsiteX6" fmla="*/ 0 w 743810"/>
                <a:gd name="connsiteY6" fmla="*/ 0 h 271616"/>
                <a:gd name="connsiteX7" fmla="*/ 20894 w 743810"/>
                <a:gd name="connsiteY7" fmla="*/ 0 h 271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810" h="271616">
                  <a:moveTo>
                    <a:pt x="722917" y="0"/>
                  </a:moveTo>
                  <a:cubicBezTo>
                    <a:pt x="734456" y="0"/>
                    <a:pt x="743810" y="0"/>
                    <a:pt x="743810" y="0"/>
                  </a:cubicBezTo>
                  <a:lnTo>
                    <a:pt x="743810" y="271616"/>
                  </a:lnTo>
                  <a:cubicBezTo>
                    <a:pt x="743810" y="271616"/>
                    <a:pt x="734456" y="271616"/>
                    <a:pt x="722917" y="271616"/>
                  </a:cubicBezTo>
                  <a:lnTo>
                    <a:pt x="20894" y="271616"/>
                  </a:lnTo>
                  <a:cubicBezTo>
                    <a:pt x="9354" y="271616"/>
                    <a:pt x="0" y="271616"/>
                    <a:pt x="0" y="271616"/>
                  </a:cubicBezTo>
                  <a:lnTo>
                    <a:pt x="0" y="0"/>
                  </a:lnTo>
                  <a:cubicBezTo>
                    <a:pt x="0" y="0"/>
                    <a:pt x="9354" y="0"/>
                    <a:pt x="20894" y="0"/>
                  </a:cubicBezTo>
                  <a:close/>
                </a:path>
              </a:pathLst>
            </a:custGeom>
            <a:solidFill>
              <a:srgbClr val="E8F5E9"/>
            </a:solidFill>
            <a:ln w="2089" cap="flat">
              <a:solidFill>
                <a:srgbClr val="43A047"/>
              </a:solidFill>
              <a:prstDash val="solid"/>
              <a:miter/>
            </a:ln>
          </p:spPr>
          <p:txBody>
            <a:bodyPr rtlCol="0" anchor="ctr"/>
            <a:lstStyle/>
            <a:p>
              <a:endParaRPr lang="zh-CN" altLang="en-US"/>
            </a:p>
          </p:txBody>
        </p:sp>
        <p:sp>
          <p:nvSpPr>
            <p:cNvPr id="137" name="文本框 136">
              <a:extLst>
                <a:ext uri="{FF2B5EF4-FFF2-40B4-BE49-F238E27FC236}">
                  <a16:creationId xmlns:a16="http://schemas.microsoft.com/office/drawing/2014/main" id="{BC250A4C-6E7A-87BB-D8F1-6F50F8C2ECFD}"/>
                </a:ext>
              </a:extLst>
            </p:cNvPr>
            <p:cNvSpPr txBox="1"/>
            <p:nvPr/>
          </p:nvSpPr>
          <p:spPr>
            <a:xfrm>
              <a:off x="4555285" y="1180526"/>
              <a:ext cx="646716" cy="141584"/>
            </a:xfrm>
            <a:prstGeom prst="rect">
              <a:avLst/>
            </a:prstGeom>
            <a:noFill/>
          </p:spPr>
          <p:txBody>
            <a:bodyPr wrap="none" rtlCol="0">
              <a:spAutoFit/>
            </a:bodyPr>
            <a:lstStyle/>
            <a:p>
              <a:pPr algn="l"/>
              <a:r>
                <a:rPr lang="zh-CN" altLang="en-US" sz="675" b="1" spc="0" baseline="0">
                  <a:ln/>
                  <a:solidFill>
                    <a:srgbClr val="1B5E20"/>
                  </a:solidFill>
                  <a:latin typeface="Segoe UI"/>
                  <a:cs typeface="Segoe UI"/>
                  <a:sym typeface="Segoe UI"/>
                  <a:rtl val="0"/>
                </a:rPr>
                <a:t>Truck–Drone Coordination</a:t>
              </a:r>
            </a:p>
          </p:txBody>
        </p:sp>
        <p:sp>
          <p:nvSpPr>
            <p:cNvPr id="138" name="文本框 137">
              <a:extLst>
                <a:ext uri="{FF2B5EF4-FFF2-40B4-BE49-F238E27FC236}">
                  <a16:creationId xmlns:a16="http://schemas.microsoft.com/office/drawing/2014/main" id="{EDC8D7B3-BEBF-E722-4C57-AD8E305B71A4}"/>
                </a:ext>
              </a:extLst>
            </p:cNvPr>
            <p:cNvSpPr txBox="1"/>
            <p:nvPr/>
          </p:nvSpPr>
          <p:spPr>
            <a:xfrm>
              <a:off x="4569910" y="1255743"/>
              <a:ext cx="61746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Direct: truck→demand (20 trucks)</a:t>
              </a:r>
            </a:p>
          </p:txBody>
        </p:sp>
        <p:sp>
          <p:nvSpPr>
            <p:cNvPr id="139" name="文本框 138">
              <a:extLst>
                <a:ext uri="{FF2B5EF4-FFF2-40B4-BE49-F238E27FC236}">
                  <a16:creationId xmlns:a16="http://schemas.microsoft.com/office/drawing/2014/main" id="{A0E8A69F-294C-F4C5-12C3-C54E6A72A7C0}"/>
                </a:ext>
              </a:extLst>
            </p:cNvPr>
            <p:cNvSpPr txBox="1"/>
            <p:nvPr/>
          </p:nvSpPr>
          <p:spPr>
            <a:xfrm>
              <a:off x="4534391" y="1305887"/>
              <a:ext cx="688503"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Relay: truck→transit→drone (10 UAVs)</a:t>
              </a:r>
            </a:p>
          </p:txBody>
        </p:sp>
        <p:sp>
          <p:nvSpPr>
            <p:cNvPr id="140" name="文本框 139">
              <a:extLst>
                <a:ext uri="{FF2B5EF4-FFF2-40B4-BE49-F238E27FC236}">
                  <a16:creationId xmlns:a16="http://schemas.microsoft.com/office/drawing/2014/main" id="{A7D07334-6F94-C22C-ABAF-7AC6036B7571}"/>
                </a:ext>
              </a:extLst>
            </p:cNvPr>
            <p:cNvSpPr txBox="1"/>
            <p:nvPr/>
          </p:nvSpPr>
          <p:spPr>
            <a:xfrm>
              <a:off x="4542749" y="1356032"/>
              <a:ext cx="675967"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Drone: 60km/h · ≤25kg · ≤15km range</a:t>
              </a:r>
            </a:p>
          </p:txBody>
        </p:sp>
        <p:sp>
          <p:nvSpPr>
            <p:cNvPr id="141" name="任意形状 140">
              <a:extLst>
                <a:ext uri="{FF2B5EF4-FFF2-40B4-BE49-F238E27FC236}">
                  <a16:creationId xmlns:a16="http://schemas.microsoft.com/office/drawing/2014/main" id="{C1829B0E-EE37-2EBF-B94B-C1D2855A4AF1}"/>
                </a:ext>
              </a:extLst>
            </p:cNvPr>
            <p:cNvSpPr/>
            <p:nvPr/>
          </p:nvSpPr>
          <p:spPr>
            <a:xfrm>
              <a:off x="2987777" y="1514577"/>
              <a:ext cx="1107358" cy="158790"/>
            </a:xfrm>
            <a:custGeom>
              <a:avLst/>
              <a:gdLst>
                <a:gd name="connsiteX0" fmla="*/ 1086465 w 1107358"/>
                <a:gd name="connsiteY0" fmla="*/ 0 h 158790"/>
                <a:gd name="connsiteX1" fmla="*/ 1107358 w 1107358"/>
                <a:gd name="connsiteY1" fmla="*/ 0 h 158790"/>
                <a:gd name="connsiteX2" fmla="*/ 1107358 w 1107358"/>
                <a:gd name="connsiteY2" fmla="*/ 158791 h 158790"/>
                <a:gd name="connsiteX3" fmla="*/ 1086465 w 1107358"/>
                <a:gd name="connsiteY3" fmla="*/ 158791 h 158790"/>
                <a:gd name="connsiteX4" fmla="*/ 20894 w 1107358"/>
                <a:gd name="connsiteY4" fmla="*/ 158791 h 158790"/>
                <a:gd name="connsiteX5" fmla="*/ 0 w 1107358"/>
                <a:gd name="connsiteY5" fmla="*/ 158791 h 158790"/>
                <a:gd name="connsiteX6" fmla="*/ 0 w 1107358"/>
                <a:gd name="connsiteY6" fmla="*/ 0 h 158790"/>
                <a:gd name="connsiteX7" fmla="*/ 20894 w 1107358"/>
                <a:gd name="connsiteY7" fmla="*/ 0 h 15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7358" h="158790">
                  <a:moveTo>
                    <a:pt x="1086465" y="0"/>
                  </a:moveTo>
                  <a:cubicBezTo>
                    <a:pt x="1098004" y="0"/>
                    <a:pt x="1107358" y="0"/>
                    <a:pt x="1107358" y="0"/>
                  </a:cubicBezTo>
                  <a:lnTo>
                    <a:pt x="1107358" y="158791"/>
                  </a:lnTo>
                  <a:cubicBezTo>
                    <a:pt x="1107358" y="158791"/>
                    <a:pt x="1098004" y="158791"/>
                    <a:pt x="1086465" y="158791"/>
                  </a:cubicBezTo>
                  <a:lnTo>
                    <a:pt x="20894" y="158791"/>
                  </a:lnTo>
                  <a:cubicBezTo>
                    <a:pt x="9354" y="158791"/>
                    <a:pt x="0" y="158791"/>
                    <a:pt x="0" y="158791"/>
                  </a:cubicBezTo>
                  <a:lnTo>
                    <a:pt x="0" y="0"/>
                  </a:lnTo>
                  <a:cubicBezTo>
                    <a:pt x="0" y="0"/>
                    <a:pt x="9354" y="0"/>
                    <a:pt x="20894" y="0"/>
                  </a:cubicBezTo>
                  <a:close/>
                </a:path>
              </a:pathLst>
            </a:custGeom>
            <a:solidFill>
              <a:srgbClr val="C8E6C9"/>
            </a:solidFill>
            <a:ln w="2089" cap="flat">
              <a:solidFill>
                <a:srgbClr val="388E3C"/>
              </a:solidFill>
              <a:prstDash val="solid"/>
              <a:miter/>
            </a:ln>
          </p:spPr>
          <p:txBody>
            <a:bodyPr rtlCol="0" anchor="ctr"/>
            <a:lstStyle/>
            <a:p>
              <a:endParaRPr lang="zh-CN" altLang="en-US"/>
            </a:p>
          </p:txBody>
        </p:sp>
        <p:sp>
          <p:nvSpPr>
            <p:cNvPr id="142" name="文本框 141">
              <a:extLst>
                <a:ext uri="{FF2B5EF4-FFF2-40B4-BE49-F238E27FC236}">
                  <a16:creationId xmlns:a16="http://schemas.microsoft.com/office/drawing/2014/main" id="{4EC94641-C42E-CAAD-515D-89D2EA8355FC}"/>
                </a:ext>
              </a:extLst>
            </p:cNvPr>
            <p:cNvSpPr txBox="1"/>
            <p:nvPr/>
          </p:nvSpPr>
          <p:spPr>
            <a:xfrm>
              <a:off x="3297493" y="1489750"/>
              <a:ext cx="483747" cy="141584"/>
            </a:xfrm>
            <a:prstGeom prst="rect">
              <a:avLst/>
            </a:prstGeom>
            <a:noFill/>
          </p:spPr>
          <p:txBody>
            <a:bodyPr wrap="none" rtlCol="0">
              <a:spAutoFit/>
            </a:bodyPr>
            <a:lstStyle/>
            <a:p>
              <a:pPr algn="l"/>
              <a:r>
                <a:rPr lang="zh-CN" altLang="en-US" sz="675" b="1" spc="0" baseline="0">
                  <a:ln/>
                  <a:solidFill>
                    <a:srgbClr val="1B5E20"/>
                  </a:solidFill>
                  <a:latin typeface="Segoe UI"/>
                  <a:cs typeface="Segoe UI"/>
                  <a:sym typeface="Segoe UI"/>
                  <a:rtl val="0"/>
                </a:rPr>
                <a:t>Solution Method</a:t>
              </a:r>
            </a:p>
          </p:txBody>
        </p:sp>
        <p:sp>
          <p:nvSpPr>
            <p:cNvPr id="143" name="文本框 142">
              <a:extLst>
                <a:ext uri="{FF2B5EF4-FFF2-40B4-BE49-F238E27FC236}">
                  <a16:creationId xmlns:a16="http://schemas.microsoft.com/office/drawing/2014/main" id="{89DE60B3-E8FC-A732-B7CE-446028265096}"/>
                </a:ext>
              </a:extLst>
            </p:cNvPr>
            <p:cNvSpPr txBox="1"/>
            <p:nvPr/>
          </p:nvSpPr>
          <p:spPr>
            <a:xfrm>
              <a:off x="3011251" y="1564967"/>
              <a:ext cx="1056230"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Priority-based greedy + 2-opt local search · Dijkstra network routing</a:t>
              </a:r>
            </a:p>
          </p:txBody>
        </p:sp>
        <p:sp>
          <p:nvSpPr>
            <p:cNvPr id="144" name="任意形状 143">
              <a:extLst>
                <a:ext uri="{FF2B5EF4-FFF2-40B4-BE49-F238E27FC236}">
                  <a16:creationId xmlns:a16="http://schemas.microsoft.com/office/drawing/2014/main" id="{761F5A5C-8C6E-ECF6-08BC-EB5CB212E24F}"/>
                </a:ext>
              </a:extLst>
            </p:cNvPr>
            <p:cNvSpPr/>
            <p:nvPr/>
          </p:nvSpPr>
          <p:spPr>
            <a:xfrm>
              <a:off x="4136922" y="1514577"/>
              <a:ext cx="1107358" cy="158790"/>
            </a:xfrm>
            <a:custGeom>
              <a:avLst/>
              <a:gdLst>
                <a:gd name="connsiteX0" fmla="*/ 1086465 w 1107358"/>
                <a:gd name="connsiteY0" fmla="*/ 0 h 158790"/>
                <a:gd name="connsiteX1" fmla="*/ 1107358 w 1107358"/>
                <a:gd name="connsiteY1" fmla="*/ 0 h 158790"/>
                <a:gd name="connsiteX2" fmla="*/ 1107358 w 1107358"/>
                <a:gd name="connsiteY2" fmla="*/ 158791 h 158790"/>
                <a:gd name="connsiteX3" fmla="*/ 1086465 w 1107358"/>
                <a:gd name="connsiteY3" fmla="*/ 158791 h 158790"/>
                <a:gd name="connsiteX4" fmla="*/ 20894 w 1107358"/>
                <a:gd name="connsiteY4" fmla="*/ 158791 h 158790"/>
                <a:gd name="connsiteX5" fmla="*/ 0 w 1107358"/>
                <a:gd name="connsiteY5" fmla="*/ 158791 h 158790"/>
                <a:gd name="connsiteX6" fmla="*/ 0 w 1107358"/>
                <a:gd name="connsiteY6" fmla="*/ 0 h 158790"/>
                <a:gd name="connsiteX7" fmla="*/ 20894 w 1107358"/>
                <a:gd name="connsiteY7" fmla="*/ 0 h 15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7358" h="158790">
                  <a:moveTo>
                    <a:pt x="1086465" y="0"/>
                  </a:moveTo>
                  <a:cubicBezTo>
                    <a:pt x="1098004" y="0"/>
                    <a:pt x="1107358" y="0"/>
                    <a:pt x="1107358" y="0"/>
                  </a:cubicBezTo>
                  <a:lnTo>
                    <a:pt x="1107358" y="158791"/>
                  </a:lnTo>
                  <a:cubicBezTo>
                    <a:pt x="1107358" y="158791"/>
                    <a:pt x="1098004" y="158791"/>
                    <a:pt x="1086465" y="158791"/>
                  </a:cubicBezTo>
                  <a:lnTo>
                    <a:pt x="20894" y="158791"/>
                  </a:lnTo>
                  <a:cubicBezTo>
                    <a:pt x="9354" y="158791"/>
                    <a:pt x="0" y="158791"/>
                    <a:pt x="0" y="158791"/>
                  </a:cubicBezTo>
                  <a:lnTo>
                    <a:pt x="0" y="0"/>
                  </a:lnTo>
                  <a:cubicBezTo>
                    <a:pt x="0" y="0"/>
                    <a:pt x="9354" y="0"/>
                    <a:pt x="20894" y="0"/>
                  </a:cubicBezTo>
                  <a:close/>
                </a:path>
              </a:pathLst>
            </a:custGeom>
            <a:solidFill>
              <a:srgbClr val="C8E6C9"/>
            </a:solidFill>
            <a:ln w="2089" cap="flat">
              <a:solidFill>
                <a:srgbClr val="388E3C"/>
              </a:solidFill>
              <a:prstDash val="solid"/>
              <a:miter/>
            </a:ln>
          </p:spPr>
          <p:txBody>
            <a:bodyPr rtlCol="0" anchor="ctr"/>
            <a:lstStyle/>
            <a:p>
              <a:endParaRPr lang="zh-CN" altLang="en-US"/>
            </a:p>
          </p:txBody>
        </p:sp>
        <p:sp>
          <p:nvSpPr>
            <p:cNvPr id="145" name="文本框 144">
              <a:extLst>
                <a:ext uri="{FF2B5EF4-FFF2-40B4-BE49-F238E27FC236}">
                  <a16:creationId xmlns:a16="http://schemas.microsoft.com/office/drawing/2014/main" id="{F9E5DEF4-0AA7-F506-7C6A-4577DB8D2C3D}"/>
                </a:ext>
              </a:extLst>
            </p:cNvPr>
            <p:cNvSpPr txBox="1"/>
            <p:nvPr/>
          </p:nvSpPr>
          <p:spPr>
            <a:xfrm>
              <a:off x="4432013" y="1489750"/>
              <a:ext cx="512998" cy="141584"/>
            </a:xfrm>
            <a:prstGeom prst="rect">
              <a:avLst/>
            </a:prstGeom>
            <a:noFill/>
          </p:spPr>
          <p:txBody>
            <a:bodyPr wrap="none" rtlCol="0">
              <a:spAutoFit/>
            </a:bodyPr>
            <a:lstStyle/>
            <a:p>
              <a:pPr algn="l"/>
              <a:r>
                <a:rPr lang="zh-CN" altLang="en-US" sz="675" b="1" spc="0" baseline="0">
                  <a:ln/>
                  <a:solidFill>
                    <a:srgbClr val="1B5E20"/>
                  </a:solidFill>
                  <a:latin typeface="Segoe UI"/>
                  <a:cs typeface="Segoe UI"/>
                  <a:sym typeface="Segoe UI"/>
                  <a:rtl val="0"/>
                </a:rPr>
                <a:t>Objective Function</a:t>
              </a:r>
            </a:p>
          </p:txBody>
        </p:sp>
        <p:sp>
          <p:nvSpPr>
            <p:cNvPr id="146" name="文本框 145">
              <a:extLst>
                <a:ext uri="{FF2B5EF4-FFF2-40B4-BE49-F238E27FC236}">
                  <a16:creationId xmlns:a16="http://schemas.microsoft.com/office/drawing/2014/main" id="{1ECC8EB1-F7A8-1EDB-B190-3494D8D188F7}"/>
                </a:ext>
              </a:extLst>
            </p:cNvPr>
            <p:cNvSpPr txBox="1"/>
            <p:nvPr/>
          </p:nvSpPr>
          <p:spPr>
            <a:xfrm>
              <a:off x="4273222" y="1564967"/>
              <a:ext cx="834758" cy="124869"/>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min Z = w</a:t>
              </a:r>
              <a:r>
                <a:rPr lang="zh-CN" altLang="en-US" sz="525" spc="0" baseline="0">
                  <a:ln/>
                  <a:solidFill>
                    <a:srgbClr val="333333"/>
                  </a:solidFill>
                  <a:latin typeface="Cambria Math"/>
                  <a:cs typeface="Arial"/>
                  <a:sym typeface="Cambria Math"/>
                  <a:rtl val="0"/>
                </a:rPr>
                <a:t>₁</a:t>
              </a:r>
              <a:r>
                <a:rPr lang="zh-CN" altLang="en-US" sz="525" spc="0" baseline="0">
                  <a:ln/>
                  <a:solidFill>
                    <a:srgbClr val="333333"/>
                  </a:solidFill>
                  <a:latin typeface="Arial"/>
                  <a:cs typeface="Arial"/>
                  <a:sym typeface="Arial"/>
                  <a:rtl val="0"/>
                </a:rPr>
                <a:t>·Makespan + w</a:t>
              </a:r>
              <a:r>
                <a:rPr lang="zh-CN" altLang="en-US" sz="525" spc="0" baseline="0">
                  <a:ln/>
                  <a:solidFill>
                    <a:srgbClr val="333333"/>
                  </a:solidFill>
                  <a:latin typeface="Cambria Math"/>
                  <a:cs typeface="Arial"/>
                  <a:sym typeface="Cambria Math"/>
                  <a:rtl val="0"/>
                </a:rPr>
                <a:t>₂</a:t>
              </a:r>
              <a:r>
                <a:rPr lang="zh-CN" altLang="en-US" sz="525" spc="0" baseline="0">
                  <a:ln/>
                  <a:solidFill>
                    <a:srgbClr val="333333"/>
                  </a:solidFill>
                  <a:latin typeface="Arial"/>
                  <a:cs typeface="Arial"/>
                  <a:sym typeface="Arial"/>
                  <a:rtl val="0"/>
                </a:rPr>
                <a:t>·Σpenalty + w</a:t>
              </a:r>
              <a:r>
                <a:rPr lang="zh-CN" altLang="en-US" sz="525" spc="0" baseline="0">
                  <a:ln/>
                  <a:solidFill>
                    <a:srgbClr val="333333"/>
                  </a:solidFill>
                  <a:latin typeface="Cambria Math"/>
                  <a:cs typeface="Arial"/>
                  <a:sym typeface="Cambria Math"/>
                  <a:rtl val="0"/>
                </a:rPr>
                <a:t>₃</a:t>
              </a:r>
              <a:r>
                <a:rPr lang="zh-CN" altLang="en-US" sz="525" spc="0" baseline="0">
                  <a:ln/>
                  <a:solidFill>
                    <a:srgbClr val="333333"/>
                  </a:solidFill>
                  <a:latin typeface="Arial"/>
                  <a:cs typeface="Arial"/>
                  <a:sym typeface="Arial"/>
                  <a:rtl val="0"/>
                </a:rPr>
                <a:t>·Σunmet</a:t>
              </a:r>
            </a:p>
          </p:txBody>
        </p:sp>
        <p:sp>
          <p:nvSpPr>
            <p:cNvPr id="147" name="任意形状 146">
              <a:extLst>
                <a:ext uri="{FF2B5EF4-FFF2-40B4-BE49-F238E27FC236}">
                  <a16:creationId xmlns:a16="http://schemas.microsoft.com/office/drawing/2014/main" id="{1C510C3C-BF92-7637-5CC0-A2228CAA6470}"/>
                </a:ext>
              </a:extLst>
            </p:cNvPr>
            <p:cNvSpPr/>
            <p:nvPr/>
          </p:nvSpPr>
          <p:spPr>
            <a:xfrm>
              <a:off x="2987777" y="1710976"/>
              <a:ext cx="2256503" cy="117003"/>
            </a:xfrm>
            <a:custGeom>
              <a:avLst/>
              <a:gdLst>
                <a:gd name="connsiteX0" fmla="*/ 2235610 w 2256503"/>
                <a:gd name="connsiteY0" fmla="*/ 0 h 117003"/>
                <a:gd name="connsiteX1" fmla="*/ 2256503 w 2256503"/>
                <a:gd name="connsiteY1" fmla="*/ 0 h 117003"/>
                <a:gd name="connsiteX2" fmla="*/ 2256503 w 2256503"/>
                <a:gd name="connsiteY2" fmla="*/ 117004 h 117003"/>
                <a:gd name="connsiteX3" fmla="*/ 2235610 w 2256503"/>
                <a:gd name="connsiteY3" fmla="*/ 117004 h 117003"/>
                <a:gd name="connsiteX4" fmla="*/ 20894 w 2256503"/>
                <a:gd name="connsiteY4" fmla="*/ 117004 h 117003"/>
                <a:gd name="connsiteX5" fmla="*/ 0 w 2256503"/>
                <a:gd name="connsiteY5" fmla="*/ 117004 h 117003"/>
                <a:gd name="connsiteX6" fmla="*/ 0 w 2256503"/>
                <a:gd name="connsiteY6" fmla="*/ 0 h 117003"/>
                <a:gd name="connsiteX7" fmla="*/ 20894 w 2256503"/>
                <a:gd name="connsiteY7" fmla="*/ 0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6503" h="117003">
                  <a:moveTo>
                    <a:pt x="2235610" y="0"/>
                  </a:moveTo>
                  <a:cubicBezTo>
                    <a:pt x="2247149" y="0"/>
                    <a:pt x="2256503" y="0"/>
                    <a:pt x="2256503" y="0"/>
                  </a:cubicBezTo>
                  <a:lnTo>
                    <a:pt x="2256503" y="117004"/>
                  </a:lnTo>
                  <a:cubicBezTo>
                    <a:pt x="2256503" y="117004"/>
                    <a:pt x="2247149" y="117004"/>
                    <a:pt x="2235610" y="117004"/>
                  </a:cubicBezTo>
                  <a:lnTo>
                    <a:pt x="20894" y="117004"/>
                  </a:lnTo>
                  <a:cubicBezTo>
                    <a:pt x="9354" y="117004"/>
                    <a:pt x="0" y="117004"/>
                    <a:pt x="0" y="117004"/>
                  </a:cubicBezTo>
                  <a:lnTo>
                    <a:pt x="0" y="0"/>
                  </a:lnTo>
                  <a:cubicBezTo>
                    <a:pt x="0" y="0"/>
                    <a:pt x="9354" y="0"/>
                    <a:pt x="20894" y="0"/>
                  </a:cubicBezTo>
                  <a:close/>
                </a:path>
              </a:pathLst>
            </a:custGeom>
            <a:solidFill>
              <a:srgbClr val="1B5E20">
                <a:alpha val="90000"/>
              </a:srgbClr>
            </a:solidFill>
            <a:ln w="4179" cap="flat">
              <a:noFill/>
              <a:prstDash val="solid"/>
              <a:miter/>
            </a:ln>
          </p:spPr>
          <p:txBody>
            <a:bodyPr rtlCol="0" anchor="ctr"/>
            <a:lstStyle/>
            <a:p>
              <a:endParaRPr lang="zh-CN" altLang="en-US"/>
            </a:p>
          </p:txBody>
        </p:sp>
        <p:sp>
          <p:nvSpPr>
            <p:cNvPr id="148" name="文本框 147">
              <a:extLst>
                <a:ext uri="{FF2B5EF4-FFF2-40B4-BE49-F238E27FC236}">
                  <a16:creationId xmlns:a16="http://schemas.microsoft.com/office/drawing/2014/main" id="{D396F11C-A3B7-AF51-8C82-FEB7D7A9629B}"/>
                </a:ext>
              </a:extLst>
            </p:cNvPr>
            <p:cNvSpPr txBox="1"/>
            <p:nvPr/>
          </p:nvSpPr>
          <p:spPr>
            <a:xfrm>
              <a:off x="3126166" y="1698686"/>
              <a:ext cx="1979725" cy="141584"/>
            </a:xfrm>
            <a:prstGeom prst="rect">
              <a:avLst/>
            </a:prstGeom>
            <a:noFill/>
          </p:spPr>
          <p:txBody>
            <a:bodyPr wrap="none" rtlCol="0">
              <a:spAutoFit/>
            </a:bodyPr>
            <a:lstStyle/>
            <a:p>
              <a:pPr algn="l"/>
              <a:r>
                <a:rPr lang="zh-CN" altLang="en-US" sz="675" spc="0" baseline="0">
                  <a:ln/>
                  <a:solidFill>
                    <a:srgbClr val="FFFFFF"/>
                  </a:solidFill>
                  <a:latin typeface="Segoe UI"/>
                  <a:cs typeface="Segoe UI"/>
                  <a:sym typeface="Segoe UI"/>
                  <a:rtl val="0"/>
                </a:rPr>
                <a:t>Results: Makespan 44.8→37.5 min (↓16.3%) · 40/40 tasks completed · Zero penalty · 100% life-rescue on-time</a:t>
              </a:r>
            </a:p>
          </p:txBody>
        </p:sp>
      </p:grpSp>
      <p:grpSp>
        <p:nvGrpSpPr>
          <p:cNvPr id="149" name="图形 2">
            <a:extLst>
              <a:ext uri="{FF2B5EF4-FFF2-40B4-BE49-F238E27FC236}">
                <a16:creationId xmlns:a16="http://schemas.microsoft.com/office/drawing/2014/main" id="{682B9CA1-1CB3-3A0A-6438-CFABEB16BFFE}"/>
              </a:ext>
            </a:extLst>
          </p:cNvPr>
          <p:cNvGrpSpPr/>
          <p:nvPr/>
        </p:nvGrpSpPr>
        <p:grpSpPr>
          <a:xfrm>
            <a:off x="2923499" y="1915979"/>
            <a:ext cx="2383461" cy="863149"/>
            <a:chOff x="2923499" y="1915979"/>
            <a:chExt cx="2383461" cy="863149"/>
          </a:xfrm>
        </p:grpSpPr>
        <p:sp>
          <p:nvSpPr>
            <p:cNvPr id="150" name="任意形状 149">
              <a:extLst>
                <a:ext uri="{FF2B5EF4-FFF2-40B4-BE49-F238E27FC236}">
                  <a16:creationId xmlns:a16="http://schemas.microsoft.com/office/drawing/2014/main" id="{16413DB4-7640-8184-C8B8-268B36D20067}"/>
                </a:ext>
              </a:extLst>
            </p:cNvPr>
            <p:cNvSpPr/>
            <p:nvPr/>
          </p:nvSpPr>
          <p:spPr>
            <a:xfrm>
              <a:off x="2925096" y="1932448"/>
              <a:ext cx="2381864" cy="814848"/>
            </a:xfrm>
            <a:custGeom>
              <a:avLst/>
              <a:gdLst>
                <a:gd name="connsiteX0" fmla="*/ 2340078 w 2381864"/>
                <a:gd name="connsiteY0" fmla="*/ 0 h 814848"/>
                <a:gd name="connsiteX1" fmla="*/ 2381865 w 2381864"/>
                <a:gd name="connsiteY1" fmla="*/ 0 h 814848"/>
                <a:gd name="connsiteX2" fmla="*/ 2381865 w 2381864"/>
                <a:gd name="connsiteY2" fmla="*/ 814848 h 814848"/>
                <a:gd name="connsiteX3" fmla="*/ 2340078 w 2381864"/>
                <a:gd name="connsiteY3" fmla="*/ 814848 h 814848"/>
                <a:gd name="connsiteX4" fmla="*/ 41787 w 2381864"/>
                <a:gd name="connsiteY4" fmla="*/ 814848 h 814848"/>
                <a:gd name="connsiteX5" fmla="*/ 0 w 2381864"/>
                <a:gd name="connsiteY5" fmla="*/ 814848 h 814848"/>
                <a:gd name="connsiteX6" fmla="*/ 0 w 2381864"/>
                <a:gd name="connsiteY6" fmla="*/ 0 h 814848"/>
                <a:gd name="connsiteX7" fmla="*/ 41787 w 2381864"/>
                <a:gd name="connsiteY7" fmla="*/ 0 h 814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864" h="814848">
                  <a:moveTo>
                    <a:pt x="2340078" y="0"/>
                  </a:moveTo>
                  <a:cubicBezTo>
                    <a:pt x="2363156" y="0"/>
                    <a:pt x="2381865" y="0"/>
                    <a:pt x="2381865" y="0"/>
                  </a:cubicBezTo>
                  <a:lnTo>
                    <a:pt x="2381865" y="814848"/>
                  </a:lnTo>
                  <a:cubicBezTo>
                    <a:pt x="2381865" y="814848"/>
                    <a:pt x="2363156" y="814848"/>
                    <a:pt x="2340078" y="814848"/>
                  </a:cubicBezTo>
                  <a:lnTo>
                    <a:pt x="41787" y="814848"/>
                  </a:lnTo>
                  <a:cubicBezTo>
                    <a:pt x="18709" y="814848"/>
                    <a:pt x="0" y="814848"/>
                    <a:pt x="0" y="814848"/>
                  </a:cubicBezTo>
                  <a:lnTo>
                    <a:pt x="0" y="0"/>
                  </a:lnTo>
                  <a:cubicBezTo>
                    <a:pt x="0" y="0"/>
                    <a:pt x="18709" y="0"/>
                    <a:pt x="41787" y="0"/>
                  </a:cubicBezTo>
                  <a:close/>
                </a:path>
              </a:pathLst>
            </a:custGeom>
            <a:solidFill>
              <a:srgbClr val="FFFFFF"/>
            </a:solidFill>
            <a:ln w="5014" cap="flat">
              <a:solidFill>
                <a:srgbClr val="4527A0"/>
              </a:solidFill>
              <a:prstDash val="solid"/>
              <a:miter/>
            </a:ln>
          </p:spPr>
          <p:txBody>
            <a:bodyPr rtlCol="0" anchor="ctr"/>
            <a:lstStyle/>
            <a:p>
              <a:endParaRPr lang="zh-CN" altLang="en-US"/>
            </a:p>
          </p:txBody>
        </p:sp>
        <p:sp>
          <p:nvSpPr>
            <p:cNvPr id="151" name="任意形状 150">
              <a:extLst>
                <a:ext uri="{FF2B5EF4-FFF2-40B4-BE49-F238E27FC236}">
                  <a16:creationId xmlns:a16="http://schemas.microsoft.com/office/drawing/2014/main" id="{4A021D5C-0B9B-D223-66AC-CB0B26C58704}"/>
                </a:ext>
              </a:extLst>
            </p:cNvPr>
            <p:cNvSpPr/>
            <p:nvPr/>
          </p:nvSpPr>
          <p:spPr>
            <a:xfrm>
              <a:off x="2925096" y="1932448"/>
              <a:ext cx="2381864" cy="108646"/>
            </a:xfrm>
            <a:custGeom>
              <a:avLst/>
              <a:gdLst>
                <a:gd name="connsiteX0" fmla="*/ 2340078 w 2381864"/>
                <a:gd name="connsiteY0" fmla="*/ 0 h 108646"/>
                <a:gd name="connsiteX1" fmla="*/ 2381865 w 2381864"/>
                <a:gd name="connsiteY1" fmla="*/ 0 h 108646"/>
                <a:gd name="connsiteX2" fmla="*/ 2381865 w 2381864"/>
                <a:gd name="connsiteY2" fmla="*/ 108646 h 108646"/>
                <a:gd name="connsiteX3" fmla="*/ 2340078 w 2381864"/>
                <a:gd name="connsiteY3" fmla="*/ 108646 h 108646"/>
                <a:gd name="connsiteX4" fmla="*/ 41787 w 2381864"/>
                <a:gd name="connsiteY4" fmla="*/ 108646 h 108646"/>
                <a:gd name="connsiteX5" fmla="*/ 0 w 2381864"/>
                <a:gd name="connsiteY5" fmla="*/ 108646 h 108646"/>
                <a:gd name="connsiteX6" fmla="*/ 0 w 2381864"/>
                <a:gd name="connsiteY6" fmla="*/ 0 h 108646"/>
                <a:gd name="connsiteX7" fmla="*/ 41787 w 2381864"/>
                <a:gd name="connsiteY7" fmla="*/ 0 h 10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864" h="108646">
                  <a:moveTo>
                    <a:pt x="2340078" y="0"/>
                  </a:moveTo>
                  <a:cubicBezTo>
                    <a:pt x="2363156" y="0"/>
                    <a:pt x="2381865" y="0"/>
                    <a:pt x="2381865" y="0"/>
                  </a:cubicBezTo>
                  <a:lnTo>
                    <a:pt x="2381865" y="108646"/>
                  </a:lnTo>
                  <a:cubicBezTo>
                    <a:pt x="2381865" y="108646"/>
                    <a:pt x="2363156" y="108646"/>
                    <a:pt x="2340078" y="108646"/>
                  </a:cubicBezTo>
                  <a:lnTo>
                    <a:pt x="41787" y="108646"/>
                  </a:lnTo>
                  <a:cubicBezTo>
                    <a:pt x="18709" y="108646"/>
                    <a:pt x="0" y="108646"/>
                    <a:pt x="0" y="108646"/>
                  </a:cubicBezTo>
                  <a:lnTo>
                    <a:pt x="0" y="0"/>
                  </a:lnTo>
                  <a:cubicBezTo>
                    <a:pt x="0" y="0"/>
                    <a:pt x="18709" y="0"/>
                    <a:pt x="41787" y="0"/>
                  </a:cubicBezTo>
                  <a:close/>
                </a:path>
              </a:pathLst>
            </a:custGeom>
            <a:solidFill>
              <a:srgbClr val="4527A0"/>
            </a:solidFill>
            <a:ln w="4179" cap="flat">
              <a:noFill/>
              <a:prstDash val="solid"/>
              <a:miter/>
            </a:ln>
          </p:spPr>
          <p:txBody>
            <a:bodyPr rtlCol="0" anchor="ctr"/>
            <a:lstStyle/>
            <a:p>
              <a:endParaRPr lang="zh-CN" altLang="en-US"/>
            </a:p>
          </p:txBody>
        </p:sp>
        <p:sp>
          <p:nvSpPr>
            <p:cNvPr id="152" name="任意形状 151">
              <a:extLst>
                <a:ext uri="{FF2B5EF4-FFF2-40B4-BE49-F238E27FC236}">
                  <a16:creationId xmlns:a16="http://schemas.microsoft.com/office/drawing/2014/main" id="{55579D50-50E5-582D-E96A-5611AD1F9245}"/>
                </a:ext>
              </a:extLst>
            </p:cNvPr>
            <p:cNvSpPr/>
            <p:nvPr/>
          </p:nvSpPr>
          <p:spPr>
            <a:xfrm>
              <a:off x="2925096" y="2016022"/>
              <a:ext cx="2381864" cy="25072"/>
            </a:xfrm>
            <a:custGeom>
              <a:avLst/>
              <a:gdLst>
                <a:gd name="connsiteX0" fmla="*/ 0 w 2381864"/>
                <a:gd name="connsiteY0" fmla="*/ 0 h 25072"/>
                <a:gd name="connsiteX1" fmla="*/ 2381865 w 2381864"/>
                <a:gd name="connsiteY1" fmla="*/ 0 h 25072"/>
                <a:gd name="connsiteX2" fmla="*/ 2381865 w 2381864"/>
                <a:gd name="connsiteY2" fmla="*/ 25072 h 25072"/>
                <a:gd name="connsiteX3" fmla="*/ 0 w 2381864"/>
                <a:gd name="connsiteY3" fmla="*/ 25072 h 25072"/>
              </a:gdLst>
              <a:ahLst/>
              <a:cxnLst>
                <a:cxn ang="0">
                  <a:pos x="connsiteX0" y="connsiteY0"/>
                </a:cxn>
                <a:cxn ang="0">
                  <a:pos x="connsiteX1" y="connsiteY1"/>
                </a:cxn>
                <a:cxn ang="0">
                  <a:pos x="connsiteX2" y="connsiteY2"/>
                </a:cxn>
                <a:cxn ang="0">
                  <a:pos x="connsiteX3" y="connsiteY3"/>
                </a:cxn>
              </a:cxnLst>
              <a:rect l="l" t="t" r="r" b="b"/>
              <a:pathLst>
                <a:path w="2381864" h="25072">
                  <a:moveTo>
                    <a:pt x="0" y="0"/>
                  </a:moveTo>
                  <a:lnTo>
                    <a:pt x="2381865" y="0"/>
                  </a:lnTo>
                  <a:lnTo>
                    <a:pt x="2381865" y="25072"/>
                  </a:lnTo>
                  <a:lnTo>
                    <a:pt x="0" y="25072"/>
                  </a:lnTo>
                  <a:close/>
                </a:path>
              </a:pathLst>
            </a:custGeom>
            <a:solidFill>
              <a:srgbClr val="4527A0"/>
            </a:solidFill>
            <a:ln w="4179" cap="flat">
              <a:noFill/>
              <a:prstDash val="solid"/>
              <a:miter/>
            </a:ln>
          </p:spPr>
          <p:txBody>
            <a:bodyPr rtlCol="0" anchor="ctr"/>
            <a:lstStyle/>
            <a:p>
              <a:endParaRPr lang="zh-CN" altLang="en-US"/>
            </a:p>
          </p:txBody>
        </p:sp>
        <p:sp>
          <p:nvSpPr>
            <p:cNvPr id="153" name="文本框 152">
              <a:extLst>
                <a:ext uri="{FF2B5EF4-FFF2-40B4-BE49-F238E27FC236}">
                  <a16:creationId xmlns:a16="http://schemas.microsoft.com/office/drawing/2014/main" id="{752FD05F-14D5-9978-5A72-AB3FC46158AD}"/>
                </a:ext>
              </a:extLst>
            </p:cNvPr>
            <p:cNvSpPr txBox="1"/>
            <p:nvPr/>
          </p:nvSpPr>
          <p:spPr>
            <a:xfrm>
              <a:off x="3203472" y="1915979"/>
              <a:ext cx="1825112" cy="154120"/>
            </a:xfrm>
            <a:prstGeom prst="rect">
              <a:avLst/>
            </a:prstGeom>
            <a:noFill/>
          </p:spPr>
          <p:txBody>
            <a:bodyPr wrap="none" rtlCol="0">
              <a:spAutoFit/>
            </a:bodyPr>
            <a:lstStyle/>
            <a:p>
              <a:pPr algn="l"/>
              <a:r>
                <a:rPr lang="zh-CN" altLang="en-US" sz="825" b="1" spc="0" baseline="0">
                  <a:ln/>
                  <a:solidFill>
                    <a:srgbClr val="FFFFFF"/>
                  </a:solidFill>
                  <a:latin typeface="Segoe UI"/>
                  <a:cs typeface="Segoe UI"/>
                  <a:sym typeface="Segoe UI"/>
                  <a:rtl val="0"/>
                </a:rPr>
                <a:t>Multi-Type Personnel Evacuation Optimization (Step 11) — Centrifugal Flow</a:t>
              </a:r>
            </a:p>
          </p:txBody>
        </p:sp>
        <p:sp>
          <p:nvSpPr>
            <p:cNvPr id="154" name="任意形状 153">
              <a:extLst>
                <a:ext uri="{FF2B5EF4-FFF2-40B4-BE49-F238E27FC236}">
                  <a16:creationId xmlns:a16="http://schemas.microsoft.com/office/drawing/2014/main" id="{0E01F053-2128-3405-5824-4532BCC0401D}"/>
                </a:ext>
              </a:extLst>
            </p:cNvPr>
            <p:cNvSpPr/>
            <p:nvPr/>
          </p:nvSpPr>
          <p:spPr>
            <a:xfrm>
              <a:off x="2987777" y="2087060"/>
              <a:ext cx="718738" cy="292509"/>
            </a:xfrm>
            <a:custGeom>
              <a:avLst/>
              <a:gdLst>
                <a:gd name="connsiteX0" fmla="*/ 697845 w 718738"/>
                <a:gd name="connsiteY0" fmla="*/ 0 h 292509"/>
                <a:gd name="connsiteX1" fmla="*/ 718738 w 718738"/>
                <a:gd name="connsiteY1" fmla="*/ 0 h 292509"/>
                <a:gd name="connsiteX2" fmla="*/ 718738 w 718738"/>
                <a:gd name="connsiteY2" fmla="*/ 292510 h 292509"/>
                <a:gd name="connsiteX3" fmla="*/ 697845 w 718738"/>
                <a:gd name="connsiteY3" fmla="*/ 292510 h 292509"/>
                <a:gd name="connsiteX4" fmla="*/ 20894 w 718738"/>
                <a:gd name="connsiteY4" fmla="*/ 292510 h 292509"/>
                <a:gd name="connsiteX5" fmla="*/ 0 w 718738"/>
                <a:gd name="connsiteY5" fmla="*/ 292510 h 292509"/>
                <a:gd name="connsiteX6" fmla="*/ 0 w 718738"/>
                <a:gd name="connsiteY6" fmla="*/ 0 h 292509"/>
                <a:gd name="connsiteX7" fmla="*/ 20894 w 718738"/>
                <a:gd name="connsiteY7" fmla="*/ 0 h 29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8738" h="292509">
                  <a:moveTo>
                    <a:pt x="697845" y="0"/>
                  </a:moveTo>
                  <a:cubicBezTo>
                    <a:pt x="709384" y="0"/>
                    <a:pt x="718738" y="0"/>
                    <a:pt x="718738" y="0"/>
                  </a:cubicBezTo>
                  <a:lnTo>
                    <a:pt x="718738" y="292510"/>
                  </a:lnTo>
                  <a:cubicBezTo>
                    <a:pt x="718738" y="292510"/>
                    <a:pt x="709384" y="292510"/>
                    <a:pt x="697845" y="292510"/>
                  </a:cubicBezTo>
                  <a:lnTo>
                    <a:pt x="20894" y="292510"/>
                  </a:lnTo>
                  <a:cubicBezTo>
                    <a:pt x="9354" y="292510"/>
                    <a:pt x="0" y="292510"/>
                    <a:pt x="0" y="292510"/>
                  </a:cubicBezTo>
                  <a:lnTo>
                    <a:pt x="0" y="0"/>
                  </a:lnTo>
                  <a:cubicBezTo>
                    <a:pt x="0" y="0"/>
                    <a:pt x="9354" y="0"/>
                    <a:pt x="20894" y="0"/>
                  </a:cubicBezTo>
                  <a:close/>
                </a:path>
              </a:pathLst>
            </a:custGeom>
            <a:solidFill>
              <a:srgbClr val="F3E5F5"/>
            </a:solidFill>
            <a:ln w="2089" cap="flat">
              <a:solidFill>
                <a:srgbClr val="7B1FA2"/>
              </a:solidFill>
              <a:prstDash val="solid"/>
              <a:miter/>
            </a:ln>
          </p:spPr>
          <p:txBody>
            <a:bodyPr rtlCol="0" anchor="ctr"/>
            <a:lstStyle/>
            <a:p>
              <a:endParaRPr lang="zh-CN" altLang="en-US"/>
            </a:p>
          </p:txBody>
        </p:sp>
        <p:sp>
          <p:nvSpPr>
            <p:cNvPr id="155" name="文本框 154">
              <a:extLst>
                <a:ext uri="{FF2B5EF4-FFF2-40B4-BE49-F238E27FC236}">
                  <a16:creationId xmlns:a16="http://schemas.microsoft.com/office/drawing/2014/main" id="{1E87B7B7-2D45-089D-7BD6-837661FC8588}"/>
                </a:ext>
              </a:extLst>
            </p:cNvPr>
            <p:cNvSpPr txBox="1"/>
            <p:nvPr/>
          </p:nvSpPr>
          <p:spPr>
            <a:xfrm>
              <a:off x="3065575" y="2058055"/>
              <a:ext cx="563142" cy="141584"/>
            </a:xfrm>
            <a:prstGeom prst="rect">
              <a:avLst/>
            </a:prstGeom>
            <a:noFill/>
          </p:spPr>
          <p:txBody>
            <a:bodyPr wrap="none" rtlCol="0">
              <a:spAutoFit/>
            </a:bodyPr>
            <a:lstStyle/>
            <a:p>
              <a:pPr algn="l"/>
              <a:r>
                <a:rPr lang="zh-CN" altLang="en-US" sz="675" b="1" spc="0" baseline="0">
                  <a:ln/>
                  <a:solidFill>
                    <a:srgbClr val="4A148C"/>
                  </a:solidFill>
                  <a:latin typeface="Segoe UI"/>
                  <a:cs typeface="Segoe UI"/>
                  <a:sym typeface="Segoe UI"/>
                  <a:rtl val="0"/>
                </a:rPr>
                <a:t>Five Transport Modes</a:t>
              </a:r>
            </a:p>
          </p:txBody>
        </p:sp>
        <p:sp>
          <p:nvSpPr>
            <p:cNvPr id="156" name="文本框 155">
              <a:extLst>
                <a:ext uri="{FF2B5EF4-FFF2-40B4-BE49-F238E27FC236}">
                  <a16:creationId xmlns:a16="http://schemas.microsoft.com/office/drawing/2014/main" id="{58F1382E-F89C-464C-3B21-9E9659439A7F}"/>
                </a:ext>
              </a:extLst>
            </p:cNvPr>
            <p:cNvSpPr txBox="1"/>
            <p:nvPr/>
          </p:nvSpPr>
          <p:spPr>
            <a:xfrm>
              <a:off x="2971554" y="2129093"/>
              <a:ext cx="74700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Ambulance 15 (cap.3) · Helicopter 3 (cap.6)</a:t>
              </a:r>
            </a:p>
          </p:txBody>
        </p:sp>
        <p:sp>
          <p:nvSpPr>
            <p:cNvPr id="157" name="文本框 156">
              <a:extLst>
                <a:ext uri="{FF2B5EF4-FFF2-40B4-BE49-F238E27FC236}">
                  <a16:creationId xmlns:a16="http://schemas.microsoft.com/office/drawing/2014/main" id="{42E76FD1-9512-4C30-B10A-CE03CC61EEA5}"/>
                </a:ext>
              </a:extLst>
            </p:cNvPr>
            <p:cNvSpPr txBox="1"/>
            <p:nvPr/>
          </p:nvSpPr>
          <p:spPr>
            <a:xfrm>
              <a:off x="2992447" y="2179237"/>
              <a:ext cx="709397"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Bus 20 (cap.50) · Private car 100 (cap.4)</a:t>
              </a:r>
            </a:p>
          </p:txBody>
        </p:sp>
        <p:sp>
          <p:nvSpPr>
            <p:cNvPr id="158" name="文本框 157">
              <a:extLst>
                <a:ext uri="{FF2B5EF4-FFF2-40B4-BE49-F238E27FC236}">
                  <a16:creationId xmlns:a16="http://schemas.microsoft.com/office/drawing/2014/main" id="{42EFB5A1-4C26-8FCF-A623-95ED0AFA7D16}"/>
                </a:ext>
              </a:extLst>
            </p:cNvPr>
            <p:cNvSpPr txBox="1"/>
            <p:nvPr/>
          </p:nvSpPr>
          <p:spPr>
            <a:xfrm>
              <a:off x="2998715" y="2229382"/>
              <a:ext cx="696861"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Subway 5 trains (cap.500) ← backbone</a:t>
              </a:r>
            </a:p>
          </p:txBody>
        </p:sp>
        <p:sp>
          <p:nvSpPr>
            <p:cNvPr id="159" name="文本框 158">
              <a:extLst>
                <a:ext uri="{FF2B5EF4-FFF2-40B4-BE49-F238E27FC236}">
                  <a16:creationId xmlns:a16="http://schemas.microsoft.com/office/drawing/2014/main" id="{087404AC-3C74-974F-D7BF-4B44D3CDA2AE}"/>
                </a:ext>
              </a:extLst>
            </p:cNvPr>
            <p:cNvSpPr txBox="1"/>
            <p:nvPr/>
          </p:nvSpPr>
          <p:spPr>
            <a:xfrm>
              <a:off x="2998715" y="2279526"/>
              <a:ext cx="696861"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Contributes 69% of evacuation capacity</a:t>
              </a:r>
            </a:p>
          </p:txBody>
        </p:sp>
        <p:sp>
          <p:nvSpPr>
            <p:cNvPr id="160" name="任意形状 159">
              <a:extLst>
                <a:ext uri="{FF2B5EF4-FFF2-40B4-BE49-F238E27FC236}">
                  <a16:creationId xmlns:a16="http://schemas.microsoft.com/office/drawing/2014/main" id="{99668754-9A62-1E8E-01C7-C08C1A42952F}"/>
                </a:ext>
              </a:extLst>
            </p:cNvPr>
            <p:cNvSpPr/>
            <p:nvPr/>
          </p:nvSpPr>
          <p:spPr>
            <a:xfrm>
              <a:off x="3748302" y="2087060"/>
              <a:ext cx="718738" cy="292509"/>
            </a:xfrm>
            <a:custGeom>
              <a:avLst/>
              <a:gdLst>
                <a:gd name="connsiteX0" fmla="*/ 697845 w 718738"/>
                <a:gd name="connsiteY0" fmla="*/ 0 h 292509"/>
                <a:gd name="connsiteX1" fmla="*/ 718738 w 718738"/>
                <a:gd name="connsiteY1" fmla="*/ 0 h 292509"/>
                <a:gd name="connsiteX2" fmla="*/ 718738 w 718738"/>
                <a:gd name="connsiteY2" fmla="*/ 292510 h 292509"/>
                <a:gd name="connsiteX3" fmla="*/ 697845 w 718738"/>
                <a:gd name="connsiteY3" fmla="*/ 292510 h 292509"/>
                <a:gd name="connsiteX4" fmla="*/ 20894 w 718738"/>
                <a:gd name="connsiteY4" fmla="*/ 292510 h 292509"/>
                <a:gd name="connsiteX5" fmla="*/ 0 w 718738"/>
                <a:gd name="connsiteY5" fmla="*/ 292510 h 292509"/>
                <a:gd name="connsiteX6" fmla="*/ 0 w 718738"/>
                <a:gd name="connsiteY6" fmla="*/ 0 h 292509"/>
                <a:gd name="connsiteX7" fmla="*/ 20894 w 718738"/>
                <a:gd name="connsiteY7" fmla="*/ 0 h 29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8738" h="292509">
                  <a:moveTo>
                    <a:pt x="697845" y="0"/>
                  </a:moveTo>
                  <a:cubicBezTo>
                    <a:pt x="709384" y="0"/>
                    <a:pt x="718738" y="0"/>
                    <a:pt x="718738" y="0"/>
                  </a:cubicBezTo>
                  <a:lnTo>
                    <a:pt x="718738" y="292510"/>
                  </a:lnTo>
                  <a:cubicBezTo>
                    <a:pt x="718738" y="292510"/>
                    <a:pt x="709384" y="292510"/>
                    <a:pt x="697845" y="292510"/>
                  </a:cubicBezTo>
                  <a:lnTo>
                    <a:pt x="20894" y="292510"/>
                  </a:lnTo>
                  <a:cubicBezTo>
                    <a:pt x="9354" y="292510"/>
                    <a:pt x="0" y="292510"/>
                    <a:pt x="0" y="292510"/>
                  </a:cubicBezTo>
                  <a:lnTo>
                    <a:pt x="0" y="0"/>
                  </a:lnTo>
                  <a:cubicBezTo>
                    <a:pt x="0" y="0"/>
                    <a:pt x="9354" y="0"/>
                    <a:pt x="20894" y="0"/>
                  </a:cubicBezTo>
                  <a:close/>
                </a:path>
              </a:pathLst>
            </a:custGeom>
            <a:solidFill>
              <a:srgbClr val="F3E5F5"/>
            </a:solidFill>
            <a:ln w="2089" cap="flat">
              <a:solidFill>
                <a:srgbClr val="7B1FA2"/>
              </a:solidFill>
              <a:prstDash val="solid"/>
              <a:miter/>
            </a:ln>
          </p:spPr>
          <p:txBody>
            <a:bodyPr rtlCol="0" anchor="ctr"/>
            <a:lstStyle/>
            <a:p>
              <a:endParaRPr lang="zh-CN" altLang="en-US"/>
            </a:p>
          </p:txBody>
        </p:sp>
        <p:sp>
          <p:nvSpPr>
            <p:cNvPr id="161" name="文本框 160">
              <a:extLst>
                <a:ext uri="{FF2B5EF4-FFF2-40B4-BE49-F238E27FC236}">
                  <a16:creationId xmlns:a16="http://schemas.microsoft.com/office/drawing/2014/main" id="{2E56D46F-F2EC-B5B3-0C52-A1B897F0EF12}"/>
                </a:ext>
              </a:extLst>
            </p:cNvPr>
            <p:cNvSpPr txBox="1"/>
            <p:nvPr/>
          </p:nvSpPr>
          <p:spPr>
            <a:xfrm>
              <a:off x="3780134" y="2058055"/>
              <a:ext cx="655074" cy="141584"/>
            </a:xfrm>
            <a:prstGeom prst="rect">
              <a:avLst/>
            </a:prstGeom>
            <a:noFill/>
          </p:spPr>
          <p:txBody>
            <a:bodyPr wrap="none" rtlCol="0">
              <a:spAutoFit/>
            </a:bodyPr>
            <a:lstStyle/>
            <a:p>
              <a:pPr algn="l"/>
              <a:r>
                <a:rPr lang="zh-CN" altLang="en-US" sz="675" b="1" spc="0" baseline="0">
                  <a:ln/>
                  <a:solidFill>
                    <a:srgbClr val="4A148C"/>
                  </a:solidFill>
                  <a:latin typeface="Segoe UI"/>
                  <a:cs typeface="Segoe UI"/>
                  <a:sym typeface="Segoe UI"/>
                  <a:rtl val="0"/>
                </a:rPr>
                <a:t>Three Vulnerability Classes</a:t>
              </a:r>
            </a:p>
          </p:txBody>
        </p:sp>
        <p:sp>
          <p:nvSpPr>
            <p:cNvPr id="162" name="任意形状 161">
              <a:extLst>
                <a:ext uri="{FF2B5EF4-FFF2-40B4-BE49-F238E27FC236}">
                  <a16:creationId xmlns:a16="http://schemas.microsoft.com/office/drawing/2014/main" id="{23DFC666-5A46-79BE-941E-0EA4403BE53B}"/>
                </a:ext>
              </a:extLst>
            </p:cNvPr>
            <p:cNvSpPr/>
            <p:nvPr/>
          </p:nvSpPr>
          <p:spPr>
            <a:xfrm>
              <a:off x="3802625" y="2178992"/>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B71C1C"/>
            </a:solidFill>
            <a:ln w="4179" cap="flat">
              <a:noFill/>
              <a:prstDash val="solid"/>
              <a:miter/>
            </a:ln>
          </p:spPr>
          <p:txBody>
            <a:bodyPr rtlCol="0" anchor="ctr"/>
            <a:lstStyle/>
            <a:p>
              <a:endParaRPr lang="zh-CN" altLang="en-US"/>
            </a:p>
          </p:txBody>
        </p:sp>
        <p:sp>
          <p:nvSpPr>
            <p:cNvPr id="163" name="文本框 162">
              <a:extLst>
                <a:ext uri="{FF2B5EF4-FFF2-40B4-BE49-F238E27FC236}">
                  <a16:creationId xmlns:a16="http://schemas.microsoft.com/office/drawing/2014/main" id="{10F1B55F-5295-F340-0874-89835EAD47EB}"/>
                </a:ext>
              </a:extLst>
            </p:cNvPr>
            <p:cNvSpPr txBox="1"/>
            <p:nvPr/>
          </p:nvSpPr>
          <p:spPr>
            <a:xfrm>
              <a:off x="3761330" y="2137450"/>
              <a:ext cx="584036"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k=1 Critical (ω=10) → Hospital</a:t>
              </a:r>
            </a:p>
          </p:txBody>
        </p:sp>
        <p:sp>
          <p:nvSpPr>
            <p:cNvPr id="164" name="任意形状 163">
              <a:extLst>
                <a:ext uri="{FF2B5EF4-FFF2-40B4-BE49-F238E27FC236}">
                  <a16:creationId xmlns:a16="http://schemas.microsoft.com/office/drawing/2014/main" id="{3D13656A-E752-8C0D-BE20-4BB2C23AB112}"/>
                </a:ext>
              </a:extLst>
            </p:cNvPr>
            <p:cNvSpPr/>
            <p:nvPr/>
          </p:nvSpPr>
          <p:spPr>
            <a:xfrm>
              <a:off x="3802625" y="2229136"/>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FF6F00"/>
            </a:solidFill>
            <a:ln w="4179" cap="flat">
              <a:noFill/>
              <a:prstDash val="solid"/>
              <a:miter/>
            </a:ln>
          </p:spPr>
          <p:txBody>
            <a:bodyPr rtlCol="0" anchor="ctr"/>
            <a:lstStyle/>
            <a:p>
              <a:endParaRPr lang="zh-CN" altLang="en-US"/>
            </a:p>
          </p:txBody>
        </p:sp>
        <p:sp>
          <p:nvSpPr>
            <p:cNvPr id="165" name="文本框 164">
              <a:extLst>
                <a:ext uri="{FF2B5EF4-FFF2-40B4-BE49-F238E27FC236}">
                  <a16:creationId xmlns:a16="http://schemas.microsoft.com/office/drawing/2014/main" id="{1E964B49-A744-E3EC-EB89-B0B6BCBF7579}"/>
                </a:ext>
              </a:extLst>
            </p:cNvPr>
            <p:cNvSpPr txBox="1"/>
            <p:nvPr/>
          </p:nvSpPr>
          <p:spPr>
            <a:xfrm>
              <a:off x="3761330" y="2187595"/>
              <a:ext cx="68432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k=2 Vulnerable (ω=5) → Hosp./Shelter</a:t>
              </a:r>
            </a:p>
          </p:txBody>
        </p:sp>
        <p:sp>
          <p:nvSpPr>
            <p:cNvPr id="166" name="任意形状 165">
              <a:extLst>
                <a:ext uri="{FF2B5EF4-FFF2-40B4-BE49-F238E27FC236}">
                  <a16:creationId xmlns:a16="http://schemas.microsoft.com/office/drawing/2014/main" id="{8F05AB7C-E211-0E50-D7FB-8BBE2DF531E0}"/>
                </a:ext>
              </a:extLst>
            </p:cNvPr>
            <p:cNvSpPr/>
            <p:nvPr/>
          </p:nvSpPr>
          <p:spPr>
            <a:xfrm>
              <a:off x="3802625" y="2279281"/>
              <a:ext cx="33429" cy="33429"/>
            </a:xfrm>
            <a:custGeom>
              <a:avLst/>
              <a:gdLst>
                <a:gd name="connsiteX0" fmla="*/ 29251 w 33429"/>
                <a:gd name="connsiteY0" fmla="*/ 0 h 33429"/>
                <a:gd name="connsiteX1" fmla="*/ 33430 w 33429"/>
                <a:gd name="connsiteY1" fmla="*/ 0 h 33429"/>
                <a:gd name="connsiteX2" fmla="*/ 33430 w 33429"/>
                <a:gd name="connsiteY2" fmla="*/ 33430 h 33429"/>
                <a:gd name="connsiteX3" fmla="*/ 29251 w 33429"/>
                <a:gd name="connsiteY3" fmla="*/ 33430 h 33429"/>
                <a:gd name="connsiteX4" fmla="*/ 4179 w 33429"/>
                <a:gd name="connsiteY4" fmla="*/ 33430 h 33429"/>
                <a:gd name="connsiteX5" fmla="*/ 0 w 33429"/>
                <a:gd name="connsiteY5" fmla="*/ 33430 h 33429"/>
                <a:gd name="connsiteX6" fmla="*/ 0 w 33429"/>
                <a:gd name="connsiteY6" fmla="*/ 0 h 33429"/>
                <a:gd name="connsiteX7" fmla="*/ 4179 w 33429"/>
                <a:gd name="connsiteY7" fmla="*/ 0 h 3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 h="33429">
                  <a:moveTo>
                    <a:pt x="29251" y="0"/>
                  </a:moveTo>
                  <a:cubicBezTo>
                    <a:pt x="31559" y="0"/>
                    <a:pt x="33430" y="0"/>
                    <a:pt x="33430" y="0"/>
                  </a:cubicBezTo>
                  <a:lnTo>
                    <a:pt x="33430" y="33430"/>
                  </a:lnTo>
                  <a:cubicBezTo>
                    <a:pt x="33430" y="33430"/>
                    <a:pt x="31559" y="33430"/>
                    <a:pt x="29251" y="33430"/>
                  </a:cubicBezTo>
                  <a:lnTo>
                    <a:pt x="4179" y="33430"/>
                  </a:lnTo>
                  <a:cubicBezTo>
                    <a:pt x="1871" y="33430"/>
                    <a:pt x="0" y="33430"/>
                    <a:pt x="0" y="33430"/>
                  </a:cubicBezTo>
                  <a:lnTo>
                    <a:pt x="0" y="0"/>
                  </a:lnTo>
                  <a:cubicBezTo>
                    <a:pt x="0" y="0"/>
                    <a:pt x="1871" y="0"/>
                    <a:pt x="4179" y="0"/>
                  </a:cubicBezTo>
                  <a:close/>
                </a:path>
              </a:pathLst>
            </a:custGeom>
            <a:solidFill>
              <a:srgbClr val="1976D2"/>
            </a:solidFill>
            <a:ln w="4179" cap="flat">
              <a:noFill/>
              <a:prstDash val="solid"/>
              <a:miter/>
            </a:ln>
          </p:spPr>
          <p:txBody>
            <a:bodyPr rtlCol="0" anchor="ctr"/>
            <a:lstStyle/>
            <a:p>
              <a:endParaRPr lang="zh-CN" altLang="en-US"/>
            </a:p>
          </p:txBody>
        </p:sp>
        <p:sp>
          <p:nvSpPr>
            <p:cNvPr id="167" name="文本框 166">
              <a:extLst>
                <a:ext uri="{FF2B5EF4-FFF2-40B4-BE49-F238E27FC236}">
                  <a16:creationId xmlns:a16="http://schemas.microsoft.com/office/drawing/2014/main" id="{1A0C92C8-C065-9B40-3749-BDD1E7FB4308}"/>
                </a:ext>
              </a:extLst>
            </p:cNvPr>
            <p:cNvSpPr txBox="1"/>
            <p:nvPr/>
          </p:nvSpPr>
          <p:spPr>
            <a:xfrm>
              <a:off x="3761330" y="2237739"/>
              <a:ext cx="62164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k=3 General (ω=1) → Any shelter</a:t>
              </a:r>
            </a:p>
          </p:txBody>
        </p:sp>
        <p:sp>
          <p:nvSpPr>
            <p:cNvPr id="168" name="文本框 167">
              <a:extLst>
                <a:ext uri="{FF2B5EF4-FFF2-40B4-BE49-F238E27FC236}">
                  <a16:creationId xmlns:a16="http://schemas.microsoft.com/office/drawing/2014/main" id="{68056CCA-E6AB-31A8-248E-22E5127AF337}"/>
                </a:ext>
              </a:extLst>
            </p:cNvPr>
            <p:cNvSpPr txBox="1"/>
            <p:nvPr/>
          </p:nvSpPr>
          <p:spPr>
            <a:xfrm>
              <a:off x="3755062" y="2296241"/>
              <a:ext cx="705218" cy="120690"/>
            </a:xfrm>
            <a:prstGeom prst="rect">
              <a:avLst/>
            </a:prstGeom>
            <a:noFill/>
          </p:spPr>
          <p:txBody>
            <a:bodyPr wrap="none" rtlCol="0">
              <a:spAutoFit/>
            </a:bodyPr>
            <a:lstStyle/>
            <a:p>
              <a:pPr algn="l"/>
              <a:r>
                <a:rPr lang="zh-CN" altLang="en-US" sz="525" spc="0" baseline="0">
                  <a:ln/>
                  <a:solidFill>
                    <a:srgbClr val="888888"/>
                  </a:solidFill>
                  <a:latin typeface="Arial"/>
                  <a:cs typeface="Arial"/>
                  <a:sym typeface="Arial"/>
                  <a:rtl val="0"/>
                </a:rPr>
                <a:t>Weighted priority protects the vulnerable</a:t>
              </a:r>
            </a:p>
          </p:txBody>
        </p:sp>
        <p:sp>
          <p:nvSpPr>
            <p:cNvPr id="169" name="任意形状 168">
              <a:extLst>
                <a:ext uri="{FF2B5EF4-FFF2-40B4-BE49-F238E27FC236}">
                  <a16:creationId xmlns:a16="http://schemas.microsoft.com/office/drawing/2014/main" id="{F80E43E9-210D-2A00-F4CC-A1DCE4E86634}"/>
                </a:ext>
              </a:extLst>
            </p:cNvPr>
            <p:cNvSpPr/>
            <p:nvPr/>
          </p:nvSpPr>
          <p:spPr>
            <a:xfrm>
              <a:off x="4508827" y="2087060"/>
              <a:ext cx="743810" cy="292509"/>
            </a:xfrm>
            <a:custGeom>
              <a:avLst/>
              <a:gdLst>
                <a:gd name="connsiteX0" fmla="*/ 722917 w 743810"/>
                <a:gd name="connsiteY0" fmla="*/ 0 h 292509"/>
                <a:gd name="connsiteX1" fmla="*/ 743810 w 743810"/>
                <a:gd name="connsiteY1" fmla="*/ 0 h 292509"/>
                <a:gd name="connsiteX2" fmla="*/ 743810 w 743810"/>
                <a:gd name="connsiteY2" fmla="*/ 292510 h 292509"/>
                <a:gd name="connsiteX3" fmla="*/ 722917 w 743810"/>
                <a:gd name="connsiteY3" fmla="*/ 292510 h 292509"/>
                <a:gd name="connsiteX4" fmla="*/ 20894 w 743810"/>
                <a:gd name="connsiteY4" fmla="*/ 292510 h 292509"/>
                <a:gd name="connsiteX5" fmla="*/ 0 w 743810"/>
                <a:gd name="connsiteY5" fmla="*/ 292510 h 292509"/>
                <a:gd name="connsiteX6" fmla="*/ 0 w 743810"/>
                <a:gd name="connsiteY6" fmla="*/ 0 h 292509"/>
                <a:gd name="connsiteX7" fmla="*/ 20894 w 743810"/>
                <a:gd name="connsiteY7" fmla="*/ 0 h 29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810" h="292509">
                  <a:moveTo>
                    <a:pt x="722917" y="0"/>
                  </a:moveTo>
                  <a:cubicBezTo>
                    <a:pt x="734456" y="0"/>
                    <a:pt x="743810" y="0"/>
                    <a:pt x="743810" y="0"/>
                  </a:cubicBezTo>
                  <a:lnTo>
                    <a:pt x="743810" y="292510"/>
                  </a:lnTo>
                  <a:cubicBezTo>
                    <a:pt x="743810" y="292510"/>
                    <a:pt x="734456" y="292510"/>
                    <a:pt x="722917" y="292510"/>
                  </a:cubicBezTo>
                  <a:lnTo>
                    <a:pt x="20894" y="292510"/>
                  </a:lnTo>
                  <a:cubicBezTo>
                    <a:pt x="9354" y="292510"/>
                    <a:pt x="0" y="292510"/>
                    <a:pt x="0" y="292510"/>
                  </a:cubicBezTo>
                  <a:lnTo>
                    <a:pt x="0" y="0"/>
                  </a:lnTo>
                  <a:cubicBezTo>
                    <a:pt x="0" y="0"/>
                    <a:pt x="9354" y="0"/>
                    <a:pt x="20894" y="0"/>
                  </a:cubicBezTo>
                  <a:close/>
                </a:path>
              </a:pathLst>
            </a:custGeom>
            <a:solidFill>
              <a:srgbClr val="F3E5F5"/>
            </a:solidFill>
            <a:ln w="2089" cap="flat">
              <a:solidFill>
                <a:srgbClr val="7B1FA2"/>
              </a:solidFill>
              <a:prstDash val="solid"/>
              <a:miter/>
            </a:ln>
          </p:spPr>
          <p:txBody>
            <a:bodyPr rtlCol="0" anchor="ctr"/>
            <a:lstStyle/>
            <a:p>
              <a:endParaRPr lang="zh-CN" altLang="en-US"/>
            </a:p>
          </p:txBody>
        </p:sp>
        <p:sp>
          <p:nvSpPr>
            <p:cNvPr id="170" name="文本框 169">
              <a:extLst>
                <a:ext uri="{FF2B5EF4-FFF2-40B4-BE49-F238E27FC236}">
                  <a16:creationId xmlns:a16="http://schemas.microsoft.com/office/drawing/2014/main" id="{9BDD104F-CD73-8471-05E9-F54F886D7CF0}"/>
                </a:ext>
              </a:extLst>
            </p:cNvPr>
            <p:cNvSpPr txBox="1"/>
            <p:nvPr/>
          </p:nvSpPr>
          <p:spPr>
            <a:xfrm>
              <a:off x="4546927" y="2058055"/>
              <a:ext cx="667610" cy="141584"/>
            </a:xfrm>
            <a:prstGeom prst="rect">
              <a:avLst/>
            </a:prstGeom>
            <a:noFill/>
          </p:spPr>
          <p:txBody>
            <a:bodyPr wrap="none" rtlCol="0">
              <a:spAutoFit/>
            </a:bodyPr>
            <a:lstStyle/>
            <a:p>
              <a:pPr algn="l"/>
              <a:r>
                <a:rPr lang="zh-CN" altLang="en-US" sz="675" b="1" spc="0" baseline="0">
                  <a:ln/>
                  <a:solidFill>
                    <a:srgbClr val="4A148C"/>
                  </a:solidFill>
                  <a:latin typeface="Segoe UI"/>
                  <a:cs typeface="Segoe UI"/>
                  <a:sym typeface="Segoe UI"/>
                  <a:rtl val="0"/>
                </a:rPr>
                <a:t>Risk-Aware Dispatch Model</a:t>
              </a:r>
            </a:p>
          </p:txBody>
        </p:sp>
        <p:sp>
          <p:nvSpPr>
            <p:cNvPr id="171" name="文本框 170">
              <a:extLst>
                <a:ext uri="{FF2B5EF4-FFF2-40B4-BE49-F238E27FC236}">
                  <a16:creationId xmlns:a16="http://schemas.microsoft.com/office/drawing/2014/main" id="{43A5CA65-6BE3-C690-2EE5-C950DF093AB6}"/>
                </a:ext>
              </a:extLst>
            </p:cNvPr>
            <p:cNvSpPr txBox="1"/>
            <p:nvPr/>
          </p:nvSpPr>
          <p:spPr>
            <a:xfrm>
              <a:off x="4555285" y="2129093"/>
              <a:ext cx="646716"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Time-stepping (Δt=5min, T=180min)</a:t>
              </a:r>
            </a:p>
          </p:txBody>
        </p:sp>
        <p:sp>
          <p:nvSpPr>
            <p:cNvPr id="172" name="文本框 171">
              <a:extLst>
                <a:ext uri="{FF2B5EF4-FFF2-40B4-BE49-F238E27FC236}">
                  <a16:creationId xmlns:a16="http://schemas.microsoft.com/office/drawing/2014/main" id="{41BC133F-2B36-E49C-AACE-A1A4F62A6163}"/>
                </a:ext>
              </a:extLst>
            </p:cNvPr>
            <p:cNvSpPr txBox="1"/>
            <p:nvPr/>
          </p:nvSpPr>
          <p:spPr>
            <a:xfrm>
              <a:off x="4532302" y="2179237"/>
              <a:ext cx="696861"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Dynamic risk exposure from plume field</a:t>
              </a:r>
            </a:p>
          </p:txBody>
        </p:sp>
        <p:sp>
          <p:nvSpPr>
            <p:cNvPr id="173" name="文本框 172">
              <a:extLst>
                <a:ext uri="{FF2B5EF4-FFF2-40B4-BE49-F238E27FC236}">
                  <a16:creationId xmlns:a16="http://schemas.microsoft.com/office/drawing/2014/main" id="{127ADC93-9FFA-5AE0-BF1C-6554CDA66370}"/>
                </a:ext>
              </a:extLst>
            </p:cNvPr>
            <p:cNvSpPr txBox="1"/>
            <p:nvPr/>
          </p:nvSpPr>
          <p:spPr>
            <a:xfrm>
              <a:off x="4565731" y="2229382"/>
              <a:ext cx="630001"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Dijkstra on damaged road network</a:t>
              </a:r>
            </a:p>
          </p:txBody>
        </p:sp>
        <p:sp>
          <p:nvSpPr>
            <p:cNvPr id="174" name="文本框 173">
              <a:extLst>
                <a:ext uri="{FF2B5EF4-FFF2-40B4-BE49-F238E27FC236}">
                  <a16:creationId xmlns:a16="http://schemas.microsoft.com/office/drawing/2014/main" id="{CF658D0B-2BE1-3EA8-E9BD-177AF17182F5}"/>
                </a:ext>
              </a:extLst>
            </p:cNvPr>
            <p:cNvSpPr txBox="1"/>
            <p:nvPr/>
          </p:nvSpPr>
          <p:spPr>
            <a:xfrm>
              <a:off x="4565731" y="2279526"/>
              <a:ext cx="625823"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Vehicle recycling (incl. return time)</a:t>
              </a:r>
            </a:p>
          </p:txBody>
        </p:sp>
        <p:sp>
          <p:nvSpPr>
            <p:cNvPr id="175" name="任意形状 174">
              <a:extLst>
                <a:ext uri="{FF2B5EF4-FFF2-40B4-BE49-F238E27FC236}">
                  <a16:creationId xmlns:a16="http://schemas.microsoft.com/office/drawing/2014/main" id="{9065FF86-9240-EF29-EF4C-7B5C92EBA19E}"/>
                </a:ext>
              </a:extLst>
            </p:cNvPr>
            <p:cNvSpPr/>
            <p:nvPr/>
          </p:nvSpPr>
          <p:spPr>
            <a:xfrm>
              <a:off x="2987777" y="2412999"/>
              <a:ext cx="1107358" cy="142076"/>
            </a:xfrm>
            <a:custGeom>
              <a:avLst/>
              <a:gdLst>
                <a:gd name="connsiteX0" fmla="*/ 1086465 w 1107358"/>
                <a:gd name="connsiteY0" fmla="*/ 0 h 142076"/>
                <a:gd name="connsiteX1" fmla="*/ 1107358 w 1107358"/>
                <a:gd name="connsiteY1" fmla="*/ 0 h 142076"/>
                <a:gd name="connsiteX2" fmla="*/ 1107358 w 1107358"/>
                <a:gd name="connsiteY2" fmla="*/ 142076 h 142076"/>
                <a:gd name="connsiteX3" fmla="*/ 1086465 w 1107358"/>
                <a:gd name="connsiteY3" fmla="*/ 142076 h 142076"/>
                <a:gd name="connsiteX4" fmla="*/ 20894 w 1107358"/>
                <a:gd name="connsiteY4" fmla="*/ 142076 h 142076"/>
                <a:gd name="connsiteX5" fmla="*/ 0 w 1107358"/>
                <a:gd name="connsiteY5" fmla="*/ 142076 h 142076"/>
                <a:gd name="connsiteX6" fmla="*/ 0 w 1107358"/>
                <a:gd name="connsiteY6" fmla="*/ 0 h 142076"/>
                <a:gd name="connsiteX7" fmla="*/ 20894 w 1107358"/>
                <a:gd name="connsiteY7" fmla="*/ 0 h 14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7358" h="142076">
                  <a:moveTo>
                    <a:pt x="1086465" y="0"/>
                  </a:moveTo>
                  <a:cubicBezTo>
                    <a:pt x="1098004" y="0"/>
                    <a:pt x="1107358" y="0"/>
                    <a:pt x="1107358" y="0"/>
                  </a:cubicBezTo>
                  <a:lnTo>
                    <a:pt x="1107358" y="142076"/>
                  </a:lnTo>
                  <a:cubicBezTo>
                    <a:pt x="1107358" y="142076"/>
                    <a:pt x="1098004" y="142076"/>
                    <a:pt x="1086465" y="142076"/>
                  </a:cubicBezTo>
                  <a:lnTo>
                    <a:pt x="20894" y="142076"/>
                  </a:lnTo>
                  <a:cubicBezTo>
                    <a:pt x="9354" y="142076"/>
                    <a:pt x="0" y="142076"/>
                    <a:pt x="0" y="142076"/>
                  </a:cubicBezTo>
                  <a:lnTo>
                    <a:pt x="0" y="0"/>
                  </a:lnTo>
                  <a:cubicBezTo>
                    <a:pt x="0" y="0"/>
                    <a:pt x="9354" y="0"/>
                    <a:pt x="20894" y="0"/>
                  </a:cubicBezTo>
                  <a:close/>
                </a:path>
              </a:pathLst>
            </a:custGeom>
            <a:solidFill>
              <a:srgbClr val="E1BEE7"/>
            </a:solidFill>
            <a:ln w="2089" cap="flat">
              <a:solidFill>
                <a:srgbClr val="6A1B9A"/>
              </a:solidFill>
              <a:prstDash val="solid"/>
              <a:miter/>
            </a:ln>
          </p:spPr>
          <p:txBody>
            <a:bodyPr rtlCol="0" anchor="ctr"/>
            <a:lstStyle/>
            <a:p>
              <a:endParaRPr lang="zh-CN" altLang="en-US"/>
            </a:p>
          </p:txBody>
        </p:sp>
        <p:sp>
          <p:nvSpPr>
            <p:cNvPr id="176" name="文本框 175">
              <a:extLst>
                <a:ext uri="{FF2B5EF4-FFF2-40B4-BE49-F238E27FC236}">
                  <a16:creationId xmlns:a16="http://schemas.microsoft.com/office/drawing/2014/main" id="{C5DCED5F-409A-5940-2514-CEB6A7C85B1B}"/>
                </a:ext>
              </a:extLst>
            </p:cNvPr>
            <p:cNvSpPr txBox="1"/>
            <p:nvPr/>
          </p:nvSpPr>
          <p:spPr>
            <a:xfrm>
              <a:off x="3282868" y="2383994"/>
              <a:ext cx="512998" cy="141584"/>
            </a:xfrm>
            <a:prstGeom prst="rect">
              <a:avLst/>
            </a:prstGeom>
            <a:noFill/>
          </p:spPr>
          <p:txBody>
            <a:bodyPr wrap="none" rtlCol="0">
              <a:spAutoFit/>
            </a:bodyPr>
            <a:lstStyle/>
            <a:p>
              <a:pPr algn="l"/>
              <a:r>
                <a:rPr lang="zh-CN" altLang="en-US" sz="675" b="1" spc="0" baseline="0">
                  <a:ln/>
                  <a:solidFill>
                    <a:srgbClr val="4A148C"/>
                  </a:solidFill>
                  <a:latin typeface="Segoe UI"/>
                  <a:cs typeface="Segoe UI"/>
                  <a:sym typeface="Segoe UI"/>
                  <a:rtl val="0"/>
                </a:rPr>
                <a:t>Objective Function</a:t>
              </a:r>
            </a:p>
          </p:txBody>
        </p:sp>
        <p:sp>
          <p:nvSpPr>
            <p:cNvPr id="177" name="文本框 176">
              <a:extLst>
                <a:ext uri="{FF2B5EF4-FFF2-40B4-BE49-F238E27FC236}">
                  <a16:creationId xmlns:a16="http://schemas.microsoft.com/office/drawing/2014/main" id="{B9935AC3-ACE7-AB8D-33E2-D13112C42338}"/>
                </a:ext>
              </a:extLst>
            </p:cNvPr>
            <p:cNvSpPr txBox="1"/>
            <p:nvPr/>
          </p:nvSpPr>
          <p:spPr>
            <a:xfrm>
              <a:off x="2923499" y="2455032"/>
              <a:ext cx="1231736" cy="124869"/>
            </a:xfrm>
            <a:prstGeom prst="rect">
              <a:avLst/>
            </a:prstGeom>
            <a:noFill/>
          </p:spPr>
          <p:txBody>
            <a:bodyPr wrap="none" rtlCol="0">
              <a:spAutoFit/>
            </a:bodyPr>
            <a:lstStyle/>
            <a:p>
              <a:pPr algn="l"/>
              <a:r>
                <a:rPr lang="zh-CN" altLang="en-US" sz="525" spc="0" baseline="0" dirty="0">
                  <a:ln/>
                  <a:solidFill>
                    <a:srgbClr val="333333"/>
                  </a:solidFill>
                  <a:latin typeface="Arial"/>
                  <a:cs typeface="Arial"/>
                  <a:sym typeface="Arial"/>
                  <a:rtl val="0"/>
                </a:rPr>
                <a:t>min Z</a:t>
              </a:r>
              <a:r>
                <a:rPr lang="zh-CN" altLang="en-US" sz="525" spc="0" baseline="0" dirty="0">
                  <a:ln/>
                  <a:solidFill>
                    <a:srgbClr val="333333"/>
                  </a:solidFill>
                  <a:latin typeface="Cambria Math"/>
                  <a:cs typeface="Arial"/>
                  <a:sym typeface="Cambria Math"/>
                  <a:rtl val="0"/>
                </a:rPr>
                <a:t>₁</a:t>
              </a:r>
              <a:r>
                <a:rPr lang="zh-CN" altLang="en-US" sz="525" spc="0" baseline="0" dirty="0">
                  <a:ln/>
                  <a:solidFill>
                    <a:srgbClr val="333333"/>
                  </a:solidFill>
                  <a:latin typeface="Arial"/>
                  <a:cs typeface="Arial"/>
                  <a:sym typeface="Arial"/>
                  <a:rtl val="0"/>
                </a:rPr>
                <a:t>(weighted evac. time) + Z</a:t>
              </a:r>
              <a:r>
                <a:rPr lang="zh-CN" altLang="en-US" sz="525" spc="0" baseline="0" dirty="0">
                  <a:ln/>
                  <a:solidFill>
                    <a:srgbClr val="333333"/>
                  </a:solidFill>
                  <a:latin typeface="Cambria Math"/>
                  <a:cs typeface="Arial"/>
                  <a:sym typeface="Cambria Math"/>
                  <a:rtl val="0"/>
                </a:rPr>
                <a:t>₂</a:t>
              </a:r>
              <a:r>
                <a:rPr lang="zh-CN" altLang="en-US" sz="525" spc="0" baseline="0" dirty="0">
                  <a:ln/>
                  <a:solidFill>
                    <a:srgbClr val="333333"/>
                  </a:solidFill>
                  <a:latin typeface="Arial"/>
                  <a:cs typeface="Arial"/>
                  <a:sym typeface="Arial"/>
                  <a:rtl val="0"/>
                </a:rPr>
                <a:t>(dynamic risk exposure) + Z</a:t>
              </a:r>
              <a:r>
                <a:rPr lang="zh-CN" altLang="en-US" sz="525" spc="0" baseline="0" dirty="0">
                  <a:ln/>
                  <a:solidFill>
                    <a:srgbClr val="333333"/>
                  </a:solidFill>
                  <a:latin typeface="Cambria Math"/>
                  <a:cs typeface="Arial"/>
                  <a:sym typeface="Cambria Math"/>
                  <a:rtl val="0"/>
                </a:rPr>
                <a:t>₃</a:t>
              </a:r>
              <a:r>
                <a:rPr lang="zh-CN" altLang="en-US" sz="525" spc="0" baseline="0" dirty="0">
                  <a:ln/>
                  <a:solidFill>
                    <a:srgbClr val="333333"/>
                  </a:solidFill>
                  <a:latin typeface="Arial"/>
                  <a:cs typeface="Arial"/>
                  <a:sym typeface="Arial"/>
                  <a:rtl val="0"/>
                </a:rPr>
                <a:t>(unserved penalty)</a:t>
              </a:r>
            </a:p>
          </p:txBody>
        </p:sp>
        <p:sp>
          <p:nvSpPr>
            <p:cNvPr id="178" name="任意形状 177">
              <a:extLst>
                <a:ext uri="{FF2B5EF4-FFF2-40B4-BE49-F238E27FC236}">
                  <a16:creationId xmlns:a16="http://schemas.microsoft.com/office/drawing/2014/main" id="{61B89A51-786E-6EBE-FC6C-1CBD76112167}"/>
                </a:ext>
              </a:extLst>
            </p:cNvPr>
            <p:cNvSpPr/>
            <p:nvPr/>
          </p:nvSpPr>
          <p:spPr>
            <a:xfrm>
              <a:off x="4136922" y="2412999"/>
              <a:ext cx="1107358" cy="142076"/>
            </a:xfrm>
            <a:custGeom>
              <a:avLst/>
              <a:gdLst>
                <a:gd name="connsiteX0" fmla="*/ 1086465 w 1107358"/>
                <a:gd name="connsiteY0" fmla="*/ 0 h 142076"/>
                <a:gd name="connsiteX1" fmla="*/ 1107358 w 1107358"/>
                <a:gd name="connsiteY1" fmla="*/ 0 h 142076"/>
                <a:gd name="connsiteX2" fmla="*/ 1107358 w 1107358"/>
                <a:gd name="connsiteY2" fmla="*/ 142076 h 142076"/>
                <a:gd name="connsiteX3" fmla="*/ 1086465 w 1107358"/>
                <a:gd name="connsiteY3" fmla="*/ 142076 h 142076"/>
                <a:gd name="connsiteX4" fmla="*/ 20894 w 1107358"/>
                <a:gd name="connsiteY4" fmla="*/ 142076 h 142076"/>
                <a:gd name="connsiteX5" fmla="*/ 0 w 1107358"/>
                <a:gd name="connsiteY5" fmla="*/ 142076 h 142076"/>
                <a:gd name="connsiteX6" fmla="*/ 0 w 1107358"/>
                <a:gd name="connsiteY6" fmla="*/ 0 h 142076"/>
                <a:gd name="connsiteX7" fmla="*/ 20894 w 1107358"/>
                <a:gd name="connsiteY7" fmla="*/ 0 h 14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7358" h="142076">
                  <a:moveTo>
                    <a:pt x="1086465" y="0"/>
                  </a:moveTo>
                  <a:cubicBezTo>
                    <a:pt x="1098004" y="0"/>
                    <a:pt x="1107358" y="0"/>
                    <a:pt x="1107358" y="0"/>
                  </a:cubicBezTo>
                  <a:lnTo>
                    <a:pt x="1107358" y="142076"/>
                  </a:lnTo>
                  <a:cubicBezTo>
                    <a:pt x="1107358" y="142076"/>
                    <a:pt x="1098004" y="142076"/>
                    <a:pt x="1086465" y="142076"/>
                  </a:cubicBezTo>
                  <a:lnTo>
                    <a:pt x="20894" y="142076"/>
                  </a:lnTo>
                  <a:cubicBezTo>
                    <a:pt x="9354" y="142076"/>
                    <a:pt x="0" y="142076"/>
                    <a:pt x="0" y="142076"/>
                  </a:cubicBezTo>
                  <a:lnTo>
                    <a:pt x="0" y="0"/>
                  </a:lnTo>
                  <a:cubicBezTo>
                    <a:pt x="0" y="0"/>
                    <a:pt x="9354" y="0"/>
                    <a:pt x="20894" y="0"/>
                  </a:cubicBezTo>
                  <a:close/>
                </a:path>
              </a:pathLst>
            </a:custGeom>
            <a:solidFill>
              <a:srgbClr val="311B92">
                <a:alpha val="90000"/>
              </a:srgbClr>
            </a:solidFill>
            <a:ln w="4179" cap="flat">
              <a:noFill/>
              <a:prstDash val="solid"/>
              <a:miter/>
            </a:ln>
          </p:spPr>
          <p:txBody>
            <a:bodyPr rtlCol="0" anchor="ctr"/>
            <a:lstStyle/>
            <a:p>
              <a:endParaRPr lang="zh-CN" altLang="en-US"/>
            </a:p>
          </p:txBody>
        </p:sp>
        <p:sp>
          <p:nvSpPr>
            <p:cNvPr id="179" name="文本框 178">
              <a:extLst>
                <a:ext uri="{FF2B5EF4-FFF2-40B4-BE49-F238E27FC236}">
                  <a16:creationId xmlns:a16="http://schemas.microsoft.com/office/drawing/2014/main" id="{4A5BC52B-2B7E-6407-7269-727DB94EDD3B}"/>
                </a:ext>
              </a:extLst>
            </p:cNvPr>
            <p:cNvSpPr txBox="1"/>
            <p:nvPr/>
          </p:nvSpPr>
          <p:spPr>
            <a:xfrm>
              <a:off x="4256507" y="2388173"/>
              <a:ext cx="859830" cy="137405"/>
            </a:xfrm>
            <a:prstGeom prst="rect">
              <a:avLst/>
            </a:prstGeom>
            <a:noFill/>
          </p:spPr>
          <p:txBody>
            <a:bodyPr wrap="none" rtlCol="0">
              <a:spAutoFit/>
            </a:bodyPr>
            <a:lstStyle/>
            <a:p>
              <a:pPr algn="l"/>
              <a:r>
                <a:rPr lang="zh-CN" altLang="en-US" sz="600" spc="0" baseline="0">
                  <a:ln/>
                  <a:solidFill>
                    <a:srgbClr val="FFFFFF"/>
                  </a:solidFill>
                  <a:latin typeface="Segoe UI"/>
                  <a:cs typeface="Segoe UI"/>
                  <a:sym typeface="Segoe UI"/>
                  <a:rtl val="0"/>
                </a:rPr>
                <a:t>Results: Evacuation rate 9.1% (21,312/234,502)</a:t>
              </a:r>
            </a:p>
          </p:txBody>
        </p:sp>
        <p:sp>
          <p:nvSpPr>
            <p:cNvPr id="180" name="文本框 179">
              <a:extLst>
                <a:ext uri="{FF2B5EF4-FFF2-40B4-BE49-F238E27FC236}">
                  <a16:creationId xmlns:a16="http://schemas.microsoft.com/office/drawing/2014/main" id="{E3AD1E74-FEA9-9EF7-6F28-96D60BC08C53}"/>
                </a:ext>
              </a:extLst>
            </p:cNvPr>
            <p:cNvSpPr txBox="1"/>
            <p:nvPr/>
          </p:nvSpPr>
          <p:spPr>
            <a:xfrm>
              <a:off x="4212630" y="2455032"/>
              <a:ext cx="951762" cy="120690"/>
            </a:xfrm>
            <a:prstGeom prst="rect">
              <a:avLst/>
            </a:prstGeom>
            <a:noFill/>
          </p:spPr>
          <p:txBody>
            <a:bodyPr wrap="none" rtlCol="0">
              <a:spAutoFit/>
            </a:bodyPr>
            <a:lstStyle/>
            <a:p>
              <a:pPr algn="l"/>
              <a:r>
                <a:rPr lang="zh-CN" altLang="en-US" sz="525" spc="0" baseline="0" dirty="0">
                  <a:ln/>
                  <a:solidFill>
                    <a:srgbClr val="E0E0E0"/>
                  </a:solidFill>
                  <a:latin typeface="Arial"/>
                  <a:cs typeface="Arial"/>
                  <a:sym typeface="Arial"/>
                  <a:rtl val="0"/>
                </a:rPr>
                <a:t>No subway→2.8% · Double ambulance→9.2% · Risk↓4.8%</a:t>
              </a:r>
            </a:p>
          </p:txBody>
        </p:sp>
        <p:sp>
          <p:nvSpPr>
            <p:cNvPr id="181" name="任意形状 180">
              <a:extLst>
                <a:ext uri="{FF2B5EF4-FFF2-40B4-BE49-F238E27FC236}">
                  <a16:creationId xmlns:a16="http://schemas.microsoft.com/office/drawing/2014/main" id="{A4BD7F20-48F4-F0D2-F61C-E1F0FC1AFE7D}"/>
                </a:ext>
              </a:extLst>
            </p:cNvPr>
            <p:cNvSpPr/>
            <p:nvPr/>
          </p:nvSpPr>
          <p:spPr>
            <a:xfrm>
              <a:off x="2987777" y="2588505"/>
              <a:ext cx="2256503" cy="117003"/>
            </a:xfrm>
            <a:custGeom>
              <a:avLst/>
              <a:gdLst>
                <a:gd name="connsiteX0" fmla="*/ 2235610 w 2256503"/>
                <a:gd name="connsiteY0" fmla="*/ 0 h 117003"/>
                <a:gd name="connsiteX1" fmla="*/ 2256503 w 2256503"/>
                <a:gd name="connsiteY1" fmla="*/ 0 h 117003"/>
                <a:gd name="connsiteX2" fmla="*/ 2256503 w 2256503"/>
                <a:gd name="connsiteY2" fmla="*/ 117004 h 117003"/>
                <a:gd name="connsiteX3" fmla="*/ 2235610 w 2256503"/>
                <a:gd name="connsiteY3" fmla="*/ 117004 h 117003"/>
                <a:gd name="connsiteX4" fmla="*/ 20894 w 2256503"/>
                <a:gd name="connsiteY4" fmla="*/ 117004 h 117003"/>
                <a:gd name="connsiteX5" fmla="*/ 0 w 2256503"/>
                <a:gd name="connsiteY5" fmla="*/ 117004 h 117003"/>
                <a:gd name="connsiteX6" fmla="*/ 0 w 2256503"/>
                <a:gd name="connsiteY6" fmla="*/ 0 h 117003"/>
                <a:gd name="connsiteX7" fmla="*/ 20894 w 2256503"/>
                <a:gd name="connsiteY7" fmla="*/ 0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6503" h="117003">
                  <a:moveTo>
                    <a:pt x="2235610" y="0"/>
                  </a:moveTo>
                  <a:cubicBezTo>
                    <a:pt x="2247149" y="0"/>
                    <a:pt x="2256503" y="0"/>
                    <a:pt x="2256503" y="0"/>
                  </a:cubicBezTo>
                  <a:lnTo>
                    <a:pt x="2256503" y="117004"/>
                  </a:lnTo>
                  <a:cubicBezTo>
                    <a:pt x="2256503" y="117004"/>
                    <a:pt x="2247149" y="117004"/>
                    <a:pt x="2235610" y="117004"/>
                  </a:cubicBezTo>
                  <a:lnTo>
                    <a:pt x="20894" y="117004"/>
                  </a:lnTo>
                  <a:cubicBezTo>
                    <a:pt x="9354" y="117004"/>
                    <a:pt x="0" y="117004"/>
                    <a:pt x="0" y="117004"/>
                  </a:cubicBezTo>
                  <a:lnTo>
                    <a:pt x="0" y="0"/>
                  </a:lnTo>
                  <a:cubicBezTo>
                    <a:pt x="0" y="0"/>
                    <a:pt x="9354" y="0"/>
                    <a:pt x="20894" y="0"/>
                  </a:cubicBezTo>
                  <a:close/>
                </a:path>
              </a:pathLst>
            </a:custGeom>
            <a:solidFill>
              <a:srgbClr val="4A148C">
                <a:alpha val="85000"/>
              </a:srgbClr>
            </a:solidFill>
            <a:ln w="4179" cap="flat">
              <a:noFill/>
              <a:prstDash val="solid"/>
              <a:miter/>
            </a:ln>
          </p:spPr>
          <p:txBody>
            <a:bodyPr rtlCol="0" anchor="ctr"/>
            <a:lstStyle/>
            <a:p>
              <a:endParaRPr lang="zh-CN" altLang="en-US"/>
            </a:p>
          </p:txBody>
        </p:sp>
        <p:sp>
          <p:nvSpPr>
            <p:cNvPr id="182" name="文本框 181">
              <a:extLst>
                <a:ext uri="{FF2B5EF4-FFF2-40B4-BE49-F238E27FC236}">
                  <a16:creationId xmlns:a16="http://schemas.microsoft.com/office/drawing/2014/main" id="{C089410B-AC38-AA24-D0B5-FA37C65F0776}"/>
                </a:ext>
              </a:extLst>
            </p:cNvPr>
            <p:cNvSpPr txBox="1"/>
            <p:nvPr/>
          </p:nvSpPr>
          <p:spPr>
            <a:xfrm>
              <a:off x="3134031" y="2637544"/>
              <a:ext cx="1766610" cy="141584"/>
            </a:xfrm>
            <a:prstGeom prst="rect">
              <a:avLst/>
            </a:prstGeom>
            <a:noFill/>
          </p:spPr>
          <p:txBody>
            <a:bodyPr wrap="none" rtlCol="0">
              <a:spAutoFit/>
            </a:bodyPr>
            <a:lstStyle/>
            <a:p>
              <a:pPr algn="l"/>
              <a:r>
                <a:rPr lang="zh-CN" altLang="en-US" sz="675" spc="0" baseline="0" dirty="0">
                  <a:ln/>
                  <a:solidFill>
                    <a:srgbClr val="FFFFFF"/>
                  </a:solidFill>
                  <a:latin typeface="Segoe UI"/>
                  <a:cs typeface="Segoe UI"/>
                  <a:sym typeface="Segoe UI"/>
                  <a:rtl val="0"/>
                </a:rPr>
                <a:t>Finding: Subway = 69% capacity (critical) · Severe capacity gap · Layered strategy recommended</a:t>
              </a:r>
            </a:p>
          </p:txBody>
        </p:sp>
      </p:grpSp>
      <p:grpSp>
        <p:nvGrpSpPr>
          <p:cNvPr id="183" name="图形 2">
            <a:extLst>
              <a:ext uri="{FF2B5EF4-FFF2-40B4-BE49-F238E27FC236}">
                <a16:creationId xmlns:a16="http://schemas.microsoft.com/office/drawing/2014/main" id="{B053DD1D-8C6C-A0D6-482A-73C1425FF88B}"/>
              </a:ext>
            </a:extLst>
          </p:cNvPr>
          <p:cNvGrpSpPr/>
          <p:nvPr/>
        </p:nvGrpSpPr>
        <p:grpSpPr>
          <a:xfrm>
            <a:off x="2810182" y="2768190"/>
            <a:ext cx="2611693" cy="229829"/>
            <a:chOff x="2810182" y="2768190"/>
            <a:chExt cx="2611693" cy="229829"/>
          </a:xfrm>
        </p:grpSpPr>
        <p:sp>
          <p:nvSpPr>
            <p:cNvPr id="184" name="任意形状 183">
              <a:extLst>
                <a:ext uri="{FF2B5EF4-FFF2-40B4-BE49-F238E27FC236}">
                  <a16:creationId xmlns:a16="http://schemas.microsoft.com/office/drawing/2014/main" id="{CC8E3AA2-9478-9F6F-C3E6-CF491CEBBA58}"/>
                </a:ext>
              </a:extLst>
            </p:cNvPr>
            <p:cNvSpPr/>
            <p:nvPr/>
          </p:nvSpPr>
          <p:spPr>
            <a:xfrm>
              <a:off x="2925096" y="2768190"/>
              <a:ext cx="2381864" cy="229829"/>
            </a:xfrm>
            <a:custGeom>
              <a:avLst/>
              <a:gdLst>
                <a:gd name="connsiteX0" fmla="*/ 2348435 w 2381864"/>
                <a:gd name="connsiteY0" fmla="*/ 0 h 229829"/>
                <a:gd name="connsiteX1" fmla="*/ 2381865 w 2381864"/>
                <a:gd name="connsiteY1" fmla="*/ 0 h 229829"/>
                <a:gd name="connsiteX2" fmla="*/ 2381865 w 2381864"/>
                <a:gd name="connsiteY2" fmla="*/ 229829 h 229829"/>
                <a:gd name="connsiteX3" fmla="*/ 2348435 w 2381864"/>
                <a:gd name="connsiteY3" fmla="*/ 229829 h 229829"/>
                <a:gd name="connsiteX4" fmla="*/ 33430 w 2381864"/>
                <a:gd name="connsiteY4" fmla="*/ 229829 h 229829"/>
                <a:gd name="connsiteX5" fmla="*/ 0 w 2381864"/>
                <a:gd name="connsiteY5" fmla="*/ 229829 h 229829"/>
                <a:gd name="connsiteX6" fmla="*/ 0 w 2381864"/>
                <a:gd name="connsiteY6" fmla="*/ 0 h 229829"/>
                <a:gd name="connsiteX7" fmla="*/ 33430 w 2381864"/>
                <a:gd name="connsiteY7" fmla="*/ 0 h 22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864" h="229829">
                  <a:moveTo>
                    <a:pt x="2348435" y="0"/>
                  </a:moveTo>
                  <a:cubicBezTo>
                    <a:pt x="2366898" y="0"/>
                    <a:pt x="2381865" y="0"/>
                    <a:pt x="2381865" y="0"/>
                  </a:cubicBezTo>
                  <a:lnTo>
                    <a:pt x="2381865" y="229829"/>
                  </a:lnTo>
                  <a:cubicBezTo>
                    <a:pt x="2381865" y="229829"/>
                    <a:pt x="2366898" y="229829"/>
                    <a:pt x="2348435" y="229829"/>
                  </a:cubicBezTo>
                  <a:lnTo>
                    <a:pt x="33430" y="229829"/>
                  </a:lnTo>
                  <a:cubicBezTo>
                    <a:pt x="14967" y="229829"/>
                    <a:pt x="0" y="229829"/>
                    <a:pt x="0" y="229829"/>
                  </a:cubicBezTo>
                  <a:lnTo>
                    <a:pt x="0" y="0"/>
                  </a:lnTo>
                  <a:cubicBezTo>
                    <a:pt x="0" y="0"/>
                    <a:pt x="14967" y="0"/>
                    <a:pt x="33430" y="0"/>
                  </a:cubicBezTo>
                  <a:close/>
                </a:path>
              </a:pathLst>
            </a:custGeom>
            <a:solidFill>
              <a:srgbClr val="FAFAFA"/>
            </a:solidFill>
            <a:ln w="4179" cap="flat">
              <a:solidFill>
                <a:srgbClr val="455A64"/>
              </a:solidFill>
              <a:custDash>
                <a:ds d="375000" sp="225000"/>
              </a:custDash>
              <a:miter/>
            </a:ln>
          </p:spPr>
          <p:txBody>
            <a:bodyPr rtlCol="0" anchor="ctr"/>
            <a:lstStyle/>
            <a:p>
              <a:endParaRPr lang="zh-CN" altLang="en-US"/>
            </a:p>
          </p:txBody>
        </p:sp>
        <p:sp>
          <p:nvSpPr>
            <p:cNvPr id="185" name="文本框 184">
              <a:extLst>
                <a:ext uri="{FF2B5EF4-FFF2-40B4-BE49-F238E27FC236}">
                  <a16:creationId xmlns:a16="http://schemas.microsoft.com/office/drawing/2014/main" id="{BF648555-D464-366A-A5D5-FDACFA34150B}"/>
                </a:ext>
              </a:extLst>
            </p:cNvPr>
            <p:cNvSpPr txBox="1"/>
            <p:nvPr/>
          </p:nvSpPr>
          <p:spPr>
            <a:xfrm>
              <a:off x="3684024" y="2760078"/>
              <a:ext cx="864009" cy="149941"/>
            </a:xfrm>
            <a:prstGeom prst="rect">
              <a:avLst/>
            </a:prstGeom>
            <a:noFill/>
          </p:spPr>
          <p:txBody>
            <a:bodyPr wrap="none" rtlCol="0">
              <a:spAutoFit/>
            </a:bodyPr>
            <a:lstStyle/>
            <a:p>
              <a:pPr algn="l"/>
              <a:r>
                <a:rPr lang="zh-CN" altLang="en-US" sz="750" b="1" spc="0" baseline="0">
                  <a:ln/>
                  <a:solidFill>
                    <a:srgbClr val="37474F"/>
                  </a:solidFill>
                  <a:latin typeface="Segoe UI"/>
                  <a:cs typeface="Segoe UI"/>
                  <a:sym typeface="Segoe UI"/>
                  <a:rtl val="0"/>
                </a:rPr>
                <a:t>Supply–Evacuation Triple Coupling</a:t>
              </a:r>
            </a:p>
          </p:txBody>
        </p:sp>
        <p:sp>
          <p:nvSpPr>
            <p:cNvPr id="186" name="文本框 185">
              <a:extLst>
                <a:ext uri="{FF2B5EF4-FFF2-40B4-BE49-F238E27FC236}">
                  <a16:creationId xmlns:a16="http://schemas.microsoft.com/office/drawing/2014/main" id="{A02051DF-0944-1388-2CC9-93BCB62DA8A0}"/>
                </a:ext>
              </a:extLst>
            </p:cNvPr>
            <p:cNvSpPr txBox="1"/>
            <p:nvPr/>
          </p:nvSpPr>
          <p:spPr>
            <a:xfrm>
              <a:off x="2718742" y="2847831"/>
              <a:ext cx="2794573" cy="129048"/>
            </a:xfrm>
            <a:prstGeom prst="rect">
              <a:avLst/>
            </a:prstGeom>
            <a:noFill/>
          </p:spPr>
          <p:txBody>
            <a:bodyPr wrap="none" rtlCol="0">
              <a:spAutoFit/>
            </a:bodyPr>
            <a:lstStyle/>
            <a:p>
              <a:pPr algn="l"/>
              <a:r>
                <a:rPr lang="zh-CN" altLang="en-US" sz="600" spc="0" baseline="0" dirty="0">
                  <a:ln/>
                  <a:solidFill>
                    <a:srgbClr val="555555"/>
                  </a:solidFill>
                  <a:latin typeface="Cambria Math"/>
                  <a:sym typeface="Cambria Math"/>
                  <a:rtl val="0"/>
                </a:rPr>
                <a:t>①</a:t>
              </a:r>
              <a:r>
                <a:rPr lang="zh-CN" altLang="en-US" sz="600" spc="0" baseline="0" dirty="0">
                  <a:ln/>
                  <a:solidFill>
                    <a:srgbClr val="555555"/>
                  </a:solidFill>
                  <a:latin typeface="Arial"/>
                  <a:cs typeface="Arial"/>
                  <a:sym typeface="Arial"/>
                  <a:rtl val="0"/>
                </a:rPr>
                <a:t> Resource competition: shared damaged network </a:t>
              </a:r>
              <a:r>
                <a:rPr lang="zh-CN" altLang="en-US" sz="600" spc="0" baseline="0" dirty="0">
                  <a:ln/>
                  <a:solidFill>
                    <a:srgbClr val="555555"/>
                  </a:solidFill>
                  <a:latin typeface="Cambria Math"/>
                  <a:cs typeface="Arial"/>
                  <a:sym typeface="Cambria Math"/>
                  <a:rtl val="0"/>
                </a:rPr>
                <a:t>②</a:t>
              </a:r>
              <a:r>
                <a:rPr lang="zh-CN" altLang="en-US" sz="600" spc="0" baseline="0" dirty="0">
                  <a:ln/>
                  <a:solidFill>
                    <a:srgbClr val="555555"/>
                  </a:solidFill>
                  <a:latin typeface="Arial"/>
                  <a:cs typeface="Arial"/>
                  <a:sym typeface="Arial"/>
                  <a:rtl val="0"/>
                </a:rPr>
                <a:t> Temporal coupling: supply-first → concurrent evacuation </a:t>
              </a:r>
              <a:r>
                <a:rPr lang="zh-CN" altLang="en-US" sz="600" spc="0" baseline="0" dirty="0">
                  <a:ln/>
                  <a:solidFill>
                    <a:srgbClr val="555555"/>
                  </a:solidFill>
                  <a:latin typeface="Cambria Math"/>
                  <a:cs typeface="Arial"/>
                  <a:sym typeface="Cambria Math"/>
                  <a:rtl val="0"/>
                </a:rPr>
                <a:t>③</a:t>
              </a:r>
              <a:r>
                <a:rPr lang="zh-CN" altLang="en-US" sz="600" spc="0" baseline="0" dirty="0">
                  <a:ln/>
                  <a:solidFill>
                    <a:srgbClr val="555555"/>
                  </a:solidFill>
                  <a:latin typeface="Arial"/>
                  <a:cs typeface="Arial"/>
                  <a:sym typeface="Arial"/>
                  <a:rtl val="0"/>
                </a:rPr>
                <a:t> Spatial interaction: centripetal (supply) vs centrifugal (evac.)</a:t>
              </a:r>
            </a:p>
          </p:txBody>
        </p:sp>
      </p:grpSp>
      <p:grpSp>
        <p:nvGrpSpPr>
          <p:cNvPr id="187" name="图形 2">
            <a:extLst>
              <a:ext uri="{FF2B5EF4-FFF2-40B4-BE49-F238E27FC236}">
                <a16:creationId xmlns:a16="http://schemas.microsoft.com/office/drawing/2014/main" id="{D7C4FD27-79AE-FF52-1AE8-F909E2EA3956}"/>
              </a:ext>
            </a:extLst>
          </p:cNvPr>
          <p:cNvGrpSpPr/>
          <p:nvPr/>
        </p:nvGrpSpPr>
        <p:grpSpPr>
          <a:xfrm>
            <a:off x="5474109" y="1054919"/>
            <a:ext cx="1002890" cy="334296"/>
            <a:chOff x="5474109" y="1054919"/>
            <a:chExt cx="1002890" cy="334296"/>
          </a:xfrm>
        </p:grpSpPr>
        <p:sp>
          <p:nvSpPr>
            <p:cNvPr id="188" name="任意形状 187">
              <a:extLst>
                <a:ext uri="{FF2B5EF4-FFF2-40B4-BE49-F238E27FC236}">
                  <a16:creationId xmlns:a16="http://schemas.microsoft.com/office/drawing/2014/main" id="{33C9AC2E-1D0E-5E99-24A0-F3290293FCFD}"/>
                </a:ext>
              </a:extLst>
            </p:cNvPr>
            <p:cNvSpPr/>
            <p:nvPr/>
          </p:nvSpPr>
          <p:spPr>
            <a:xfrm>
              <a:off x="5474109" y="1054919"/>
              <a:ext cx="1002890" cy="334296"/>
            </a:xfrm>
            <a:custGeom>
              <a:avLst/>
              <a:gdLst>
                <a:gd name="connsiteX0" fmla="*/ 969461 w 1002890"/>
                <a:gd name="connsiteY0" fmla="*/ 0 h 334296"/>
                <a:gd name="connsiteX1" fmla="*/ 1002890 w 1002890"/>
                <a:gd name="connsiteY1" fmla="*/ 0 h 334296"/>
                <a:gd name="connsiteX2" fmla="*/ 1002890 w 1002890"/>
                <a:gd name="connsiteY2" fmla="*/ 334297 h 334296"/>
                <a:gd name="connsiteX3" fmla="*/ 969461 w 1002890"/>
                <a:gd name="connsiteY3" fmla="*/ 334297 h 334296"/>
                <a:gd name="connsiteX4" fmla="*/ 33430 w 1002890"/>
                <a:gd name="connsiteY4" fmla="*/ 334297 h 334296"/>
                <a:gd name="connsiteX5" fmla="*/ 0 w 1002890"/>
                <a:gd name="connsiteY5" fmla="*/ 334297 h 334296"/>
                <a:gd name="connsiteX6" fmla="*/ 0 w 1002890"/>
                <a:gd name="connsiteY6" fmla="*/ 0 h 334296"/>
                <a:gd name="connsiteX7" fmla="*/ 33430 w 1002890"/>
                <a:gd name="connsiteY7" fmla="*/ 0 h 33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334296">
                  <a:moveTo>
                    <a:pt x="969461" y="0"/>
                  </a:moveTo>
                  <a:cubicBezTo>
                    <a:pt x="987924" y="0"/>
                    <a:pt x="1002890" y="0"/>
                    <a:pt x="1002890" y="0"/>
                  </a:cubicBezTo>
                  <a:lnTo>
                    <a:pt x="1002890" y="334297"/>
                  </a:lnTo>
                  <a:cubicBezTo>
                    <a:pt x="1002890" y="334297"/>
                    <a:pt x="987924" y="334297"/>
                    <a:pt x="969461" y="334297"/>
                  </a:cubicBezTo>
                  <a:lnTo>
                    <a:pt x="33430" y="334297"/>
                  </a:lnTo>
                  <a:cubicBezTo>
                    <a:pt x="14967" y="334297"/>
                    <a:pt x="0" y="334297"/>
                    <a:pt x="0" y="334297"/>
                  </a:cubicBezTo>
                  <a:lnTo>
                    <a:pt x="0" y="0"/>
                  </a:lnTo>
                  <a:cubicBezTo>
                    <a:pt x="0" y="0"/>
                    <a:pt x="14967" y="0"/>
                    <a:pt x="33430" y="0"/>
                  </a:cubicBezTo>
                  <a:close/>
                </a:path>
              </a:pathLst>
            </a:custGeom>
            <a:solidFill>
              <a:srgbClr val="FFFFFF"/>
            </a:solidFill>
            <a:ln w="4179" cap="flat">
              <a:solidFill>
                <a:srgbClr val="C62828"/>
              </a:solidFill>
              <a:prstDash val="solid"/>
              <a:miter/>
            </a:ln>
          </p:spPr>
          <p:txBody>
            <a:bodyPr rtlCol="0" anchor="ctr"/>
            <a:lstStyle/>
            <a:p>
              <a:endParaRPr lang="zh-CN" altLang="en-US"/>
            </a:p>
          </p:txBody>
        </p:sp>
        <p:sp>
          <p:nvSpPr>
            <p:cNvPr id="189" name="任意形状 188">
              <a:extLst>
                <a:ext uri="{FF2B5EF4-FFF2-40B4-BE49-F238E27FC236}">
                  <a16:creationId xmlns:a16="http://schemas.microsoft.com/office/drawing/2014/main" id="{9A483E70-E3B5-39AA-4482-6A3332C5B65A}"/>
                </a:ext>
              </a:extLst>
            </p:cNvPr>
            <p:cNvSpPr/>
            <p:nvPr/>
          </p:nvSpPr>
          <p:spPr>
            <a:xfrm>
              <a:off x="5474109" y="1054919"/>
              <a:ext cx="1002890" cy="91931"/>
            </a:xfrm>
            <a:custGeom>
              <a:avLst/>
              <a:gdLst>
                <a:gd name="connsiteX0" fmla="*/ 969461 w 1002890"/>
                <a:gd name="connsiteY0" fmla="*/ 0 h 91931"/>
                <a:gd name="connsiteX1" fmla="*/ 1002890 w 1002890"/>
                <a:gd name="connsiteY1" fmla="*/ 0 h 91931"/>
                <a:gd name="connsiteX2" fmla="*/ 1002890 w 1002890"/>
                <a:gd name="connsiteY2" fmla="*/ 91932 h 91931"/>
                <a:gd name="connsiteX3" fmla="*/ 969461 w 1002890"/>
                <a:gd name="connsiteY3" fmla="*/ 91932 h 91931"/>
                <a:gd name="connsiteX4" fmla="*/ 33430 w 1002890"/>
                <a:gd name="connsiteY4" fmla="*/ 91932 h 91931"/>
                <a:gd name="connsiteX5" fmla="*/ 0 w 1002890"/>
                <a:gd name="connsiteY5" fmla="*/ 91932 h 91931"/>
                <a:gd name="connsiteX6" fmla="*/ 0 w 1002890"/>
                <a:gd name="connsiteY6" fmla="*/ 0 h 91931"/>
                <a:gd name="connsiteX7" fmla="*/ 33430 w 1002890"/>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91931">
                  <a:moveTo>
                    <a:pt x="969461" y="0"/>
                  </a:moveTo>
                  <a:cubicBezTo>
                    <a:pt x="987924" y="0"/>
                    <a:pt x="1002890" y="0"/>
                    <a:pt x="1002890" y="0"/>
                  </a:cubicBezTo>
                  <a:lnTo>
                    <a:pt x="1002890" y="91932"/>
                  </a:lnTo>
                  <a:cubicBezTo>
                    <a:pt x="1002890" y="91932"/>
                    <a:pt x="987924" y="91932"/>
                    <a:pt x="969461" y="91932"/>
                  </a:cubicBezTo>
                  <a:lnTo>
                    <a:pt x="33430" y="91932"/>
                  </a:lnTo>
                  <a:cubicBezTo>
                    <a:pt x="14967" y="91932"/>
                    <a:pt x="0" y="91932"/>
                    <a:pt x="0" y="91932"/>
                  </a:cubicBezTo>
                  <a:lnTo>
                    <a:pt x="0" y="0"/>
                  </a:lnTo>
                  <a:cubicBezTo>
                    <a:pt x="0" y="0"/>
                    <a:pt x="14967" y="0"/>
                    <a:pt x="33430" y="0"/>
                  </a:cubicBezTo>
                  <a:close/>
                </a:path>
              </a:pathLst>
            </a:custGeom>
            <a:solidFill>
              <a:srgbClr val="C62828"/>
            </a:solidFill>
            <a:ln w="4179" cap="flat">
              <a:noFill/>
              <a:prstDash val="solid"/>
              <a:miter/>
            </a:ln>
          </p:spPr>
          <p:txBody>
            <a:bodyPr rtlCol="0" anchor="ctr"/>
            <a:lstStyle/>
            <a:p>
              <a:endParaRPr lang="zh-CN" altLang="en-US"/>
            </a:p>
          </p:txBody>
        </p:sp>
        <p:sp>
          <p:nvSpPr>
            <p:cNvPr id="190" name="任意形状 189">
              <a:extLst>
                <a:ext uri="{FF2B5EF4-FFF2-40B4-BE49-F238E27FC236}">
                  <a16:creationId xmlns:a16="http://schemas.microsoft.com/office/drawing/2014/main" id="{F5D2938E-549D-4DEF-B176-304713885241}"/>
                </a:ext>
              </a:extLst>
            </p:cNvPr>
            <p:cNvSpPr/>
            <p:nvPr/>
          </p:nvSpPr>
          <p:spPr>
            <a:xfrm>
              <a:off x="5474109" y="1121778"/>
              <a:ext cx="1002890" cy="25072"/>
            </a:xfrm>
            <a:custGeom>
              <a:avLst/>
              <a:gdLst>
                <a:gd name="connsiteX0" fmla="*/ 0 w 1002890"/>
                <a:gd name="connsiteY0" fmla="*/ 0 h 25072"/>
                <a:gd name="connsiteX1" fmla="*/ 1002890 w 1002890"/>
                <a:gd name="connsiteY1" fmla="*/ 0 h 25072"/>
                <a:gd name="connsiteX2" fmla="*/ 1002890 w 1002890"/>
                <a:gd name="connsiteY2" fmla="*/ 25072 h 25072"/>
                <a:gd name="connsiteX3" fmla="*/ 0 w 1002890"/>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02890" h="25072">
                  <a:moveTo>
                    <a:pt x="0" y="0"/>
                  </a:moveTo>
                  <a:lnTo>
                    <a:pt x="1002890" y="0"/>
                  </a:lnTo>
                  <a:lnTo>
                    <a:pt x="1002890" y="25072"/>
                  </a:lnTo>
                  <a:lnTo>
                    <a:pt x="0" y="25072"/>
                  </a:lnTo>
                  <a:close/>
                </a:path>
              </a:pathLst>
            </a:custGeom>
            <a:solidFill>
              <a:srgbClr val="C62828"/>
            </a:solidFill>
            <a:ln w="4179" cap="flat">
              <a:noFill/>
              <a:prstDash val="solid"/>
              <a:miter/>
            </a:ln>
          </p:spPr>
          <p:txBody>
            <a:bodyPr rtlCol="0" anchor="ctr"/>
            <a:lstStyle/>
            <a:p>
              <a:endParaRPr lang="zh-CN" altLang="en-US"/>
            </a:p>
          </p:txBody>
        </p:sp>
        <p:sp>
          <p:nvSpPr>
            <p:cNvPr id="191" name="文本框 190">
              <a:extLst>
                <a:ext uri="{FF2B5EF4-FFF2-40B4-BE49-F238E27FC236}">
                  <a16:creationId xmlns:a16="http://schemas.microsoft.com/office/drawing/2014/main" id="{959BD540-18EE-D594-9809-6B4E2DD0B7FB}"/>
                </a:ext>
              </a:extLst>
            </p:cNvPr>
            <p:cNvSpPr txBox="1"/>
            <p:nvPr/>
          </p:nvSpPr>
          <p:spPr>
            <a:xfrm>
              <a:off x="5685626" y="1030092"/>
              <a:ext cx="579857"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Structural Resilience</a:t>
              </a:r>
            </a:p>
          </p:txBody>
        </p:sp>
        <p:sp>
          <p:nvSpPr>
            <p:cNvPr id="192" name="文本框 191">
              <a:extLst>
                <a:ext uri="{FF2B5EF4-FFF2-40B4-BE49-F238E27FC236}">
                  <a16:creationId xmlns:a16="http://schemas.microsoft.com/office/drawing/2014/main" id="{C3FA3C43-5EE1-4D5E-B979-3C84AF18050E}"/>
                </a:ext>
              </a:extLst>
            </p:cNvPr>
            <p:cNvSpPr txBox="1"/>
            <p:nvPr/>
          </p:nvSpPr>
          <p:spPr>
            <a:xfrm>
              <a:off x="5570711" y="1147096"/>
              <a:ext cx="813865"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Road closure ratio: 19.1% (96.7/505.3 km)</a:t>
              </a:r>
            </a:p>
          </p:txBody>
        </p:sp>
        <p:sp>
          <p:nvSpPr>
            <p:cNvPr id="193" name="文本框 192">
              <a:extLst>
                <a:ext uri="{FF2B5EF4-FFF2-40B4-BE49-F238E27FC236}">
                  <a16:creationId xmlns:a16="http://schemas.microsoft.com/office/drawing/2014/main" id="{F60560EE-DEBD-DC19-3FDE-7AB928AF186F}"/>
                </a:ext>
              </a:extLst>
            </p:cNvPr>
            <p:cNvSpPr txBox="1"/>
            <p:nvPr/>
          </p:nvSpPr>
          <p:spPr>
            <a:xfrm>
              <a:off x="5597873" y="1209777"/>
              <a:ext cx="755363" cy="129048"/>
            </a:xfrm>
            <a:prstGeom prst="rect">
              <a:avLst/>
            </a:prstGeom>
            <a:noFill/>
          </p:spPr>
          <p:txBody>
            <a:bodyPr wrap="none" rtlCol="0">
              <a:spAutoFit/>
            </a:bodyPr>
            <a:lstStyle/>
            <a:p>
              <a:pPr algn="l"/>
              <a:r>
                <a:rPr lang="zh-CN" altLang="en-US" sz="600" spc="0" baseline="0">
                  <a:ln/>
                  <a:solidFill>
                    <a:srgbClr val="666666"/>
                  </a:solidFill>
                  <a:latin typeface="Arial"/>
                  <a:cs typeface="Arial"/>
                  <a:sym typeface="Arial"/>
                  <a:rtl val="0"/>
                </a:rPr>
                <a:t>Overall network connectivity preserved</a:t>
              </a:r>
            </a:p>
          </p:txBody>
        </p:sp>
        <p:sp>
          <p:nvSpPr>
            <p:cNvPr id="194" name="文本框 193">
              <a:extLst>
                <a:ext uri="{FF2B5EF4-FFF2-40B4-BE49-F238E27FC236}">
                  <a16:creationId xmlns:a16="http://schemas.microsoft.com/office/drawing/2014/main" id="{3BC6204A-8E22-A6AC-4C4E-F29A8F931343}"/>
                </a:ext>
              </a:extLst>
            </p:cNvPr>
            <p:cNvSpPr txBox="1"/>
            <p:nvPr/>
          </p:nvSpPr>
          <p:spPr>
            <a:xfrm>
              <a:off x="5639660" y="1264100"/>
              <a:ext cx="667610" cy="129048"/>
            </a:xfrm>
            <a:prstGeom prst="rect">
              <a:avLst/>
            </a:prstGeom>
            <a:noFill/>
          </p:spPr>
          <p:txBody>
            <a:bodyPr wrap="none" rtlCol="0">
              <a:spAutoFit/>
            </a:bodyPr>
            <a:lstStyle/>
            <a:p>
              <a:pPr algn="l"/>
              <a:r>
                <a:rPr lang="zh-CN" altLang="en-US" sz="600" spc="0" baseline="0">
                  <a:ln/>
                  <a:solidFill>
                    <a:srgbClr val="666666"/>
                  </a:solidFill>
                  <a:latin typeface="Arial"/>
                  <a:cs typeface="Arial"/>
                  <a:sym typeface="Arial"/>
                  <a:rtl val="0"/>
                </a:rPr>
                <a:t>Ground delivery remains feasible</a:t>
              </a:r>
            </a:p>
          </p:txBody>
        </p:sp>
      </p:grpSp>
      <p:grpSp>
        <p:nvGrpSpPr>
          <p:cNvPr id="195" name="图形 2">
            <a:extLst>
              <a:ext uri="{FF2B5EF4-FFF2-40B4-BE49-F238E27FC236}">
                <a16:creationId xmlns:a16="http://schemas.microsoft.com/office/drawing/2014/main" id="{8C994D1A-9B22-DA3A-DA31-14080E8DDFE1}"/>
              </a:ext>
            </a:extLst>
          </p:cNvPr>
          <p:cNvGrpSpPr/>
          <p:nvPr/>
        </p:nvGrpSpPr>
        <p:grpSpPr>
          <a:xfrm>
            <a:off x="5474109" y="1451896"/>
            <a:ext cx="1002890" cy="396977"/>
            <a:chOff x="5474109" y="1451896"/>
            <a:chExt cx="1002890" cy="396977"/>
          </a:xfrm>
        </p:grpSpPr>
        <p:sp>
          <p:nvSpPr>
            <p:cNvPr id="196" name="任意形状 195">
              <a:extLst>
                <a:ext uri="{FF2B5EF4-FFF2-40B4-BE49-F238E27FC236}">
                  <a16:creationId xmlns:a16="http://schemas.microsoft.com/office/drawing/2014/main" id="{D6B4D7A6-755D-ECE6-7EEA-17459AB71432}"/>
                </a:ext>
              </a:extLst>
            </p:cNvPr>
            <p:cNvSpPr/>
            <p:nvPr/>
          </p:nvSpPr>
          <p:spPr>
            <a:xfrm>
              <a:off x="5474109" y="1451896"/>
              <a:ext cx="1002890" cy="396977"/>
            </a:xfrm>
            <a:custGeom>
              <a:avLst/>
              <a:gdLst>
                <a:gd name="connsiteX0" fmla="*/ 969461 w 1002890"/>
                <a:gd name="connsiteY0" fmla="*/ 0 h 396977"/>
                <a:gd name="connsiteX1" fmla="*/ 1002890 w 1002890"/>
                <a:gd name="connsiteY1" fmla="*/ 0 h 396977"/>
                <a:gd name="connsiteX2" fmla="*/ 1002890 w 1002890"/>
                <a:gd name="connsiteY2" fmla="*/ 396977 h 396977"/>
                <a:gd name="connsiteX3" fmla="*/ 969461 w 1002890"/>
                <a:gd name="connsiteY3" fmla="*/ 396977 h 396977"/>
                <a:gd name="connsiteX4" fmla="*/ 33430 w 1002890"/>
                <a:gd name="connsiteY4" fmla="*/ 396977 h 396977"/>
                <a:gd name="connsiteX5" fmla="*/ 0 w 1002890"/>
                <a:gd name="connsiteY5" fmla="*/ 396977 h 396977"/>
                <a:gd name="connsiteX6" fmla="*/ 0 w 1002890"/>
                <a:gd name="connsiteY6" fmla="*/ 0 h 396977"/>
                <a:gd name="connsiteX7" fmla="*/ 33430 w 1002890"/>
                <a:gd name="connsiteY7" fmla="*/ 0 h 39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396977">
                  <a:moveTo>
                    <a:pt x="969461" y="0"/>
                  </a:moveTo>
                  <a:cubicBezTo>
                    <a:pt x="987924" y="0"/>
                    <a:pt x="1002890" y="0"/>
                    <a:pt x="1002890" y="0"/>
                  </a:cubicBezTo>
                  <a:lnTo>
                    <a:pt x="1002890" y="396977"/>
                  </a:lnTo>
                  <a:cubicBezTo>
                    <a:pt x="1002890" y="396977"/>
                    <a:pt x="987924" y="396977"/>
                    <a:pt x="969461" y="396977"/>
                  </a:cubicBezTo>
                  <a:lnTo>
                    <a:pt x="33430" y="396977"/>
                  </a:lnTo>
                  <a:cubicBezTo>
                    <a:pt x="14967" y="396977"/>
                    <a:pt x="0" y="396977"/>
                    <a:pt x="0" y="396977"/>
                  </a:cubicBezTo>
                  <a:lnTo>
                    <a:pt x="0" y="0"/>
                  </a:lnTo>
                  <a:cubicBezTo>
                    <a:pt x="0" y="0"/>
                    <a:pt x="14967" y="0"/>
                    <a:pt x="33430" y="0"/>
                  </a:cubicBezTo>
                  <a:close/>
                </a:path>
              </a:pathLst>
            </a:custGeom>
            <a:solidFill>
              <a:srgbClr val="FFFFFF"/>
            </a:solidFill>
            <a:ln w="4179" cap="flat">
              <a:solidFill>
                <a:srgbClr val="D32F2F"/>
              </a:solidFill>
              <a:prstDash val="solid"/>
              <a:miter/>
            </a:ln>
          </p:spPr>
          <p:txBody>
            <a:bodyPr rtlCol="0" anchor="ctr"/>
            <a:lstStyle/>
            <a:p>
              <a:endParaRPr lang="zh-CN" altLang="en-US"/>
            </a:p>
          </p:txBody>
        </p:sp>
        <p:sp>
          <p:nvSpPr>
            <p:cNvPr id="197" name="任意形状 196">
              <a:extLst>
                <a:ext uri="{FF2B5EF4-FFF2-40B4-BE49-F238E27FC236}">
                  <a16:creationId xmlns:a16="http://schemas.microsoft.com/office/drawing/2014/main" id="{62719A8A-8D03-EB83-8D9A-B5C33B8D2C55}"/>
                </a:ext>
              </a:extLst>
            </p:cNvPr>
            <p:cNvSpPr/>
            <p:nvPr/>
          </p:nvSpPr>
          <p:spPr>
            <a:xfrm>
              <a:off x="5474109" y="1451896"/>
              <a:ext cx="1002890" cy="91931"/>
            </a:xfrm>
            <a:custGeom>
              <a:avLst/>
              <a:gdLst>
                <a:gd name="connsiteX0" fmla="*/ 969461 w 1002890"/>
                <a:gd name="connsiteY0" fmla="*/ 0 h 91931"/>
                <a:gd name="connsiteX1" fmla="*/ 1002890 w 1002890"/>
                <a:gd name="connsiteY1" fmla="*/ 0 h 91931"/>
                <a:gd name="connsiteX2" fmla="*/ 1002890 w 1002890"/>
                <a:gd name="connsiteY2" fmla="*/ 91932 h 91931"/>
                <a:gd name="connsiteX3" fmla="*/ 969461 w 1002890"/>
                <a:gd name="connsiteY3" fmla="*/ 91932 h 91931"/>
                <a:gd name="connsiteX4" fmla="*/ 33430 w 1002890"/>
                <a:gd name="connsiteY4" fmla="*/ 91932 h 91931"/>
                <a:gd name="connsiteX5" fmla="*/ 0 w 1002890"/>
                <a:gd name="connsiteY5" fmla="*/ 91932 h 91931"/>
                <a:gd name="connsiteX6" fmla="*/ 0 w 1002890"/>
                <a:gd name="connsiteY6" fmla="*/ 0 h 91931"/>
                <a:gd name="connsiteX7" fmla="*/ 33430 w 1002890"/>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91931">
                  <a:moveTo>
                    <a:pt x="969461" y="0"/>
                  </a:moveTo>
                  <a:cubicBezTo>
                    <a:pt x="987924" y="0"/>
                    <a:pt x="1002890" y="0"/>
                    <a:pt x="1002890" y="0"/>
                  </a:cubicBezTo>
                  <a:lnTo>
                    <a:pt x="1002890" y="91932"/>
                  </a:lnTo>
                  <a:cubicBezTo>
                    <a:pt x="1002890" y="91932"/>
                    <a:pt x="987924" y="91932"/>
                    <a:pt x="969461" y="91932"/>
                  </a:cubicBezTo>
                  <a:lnTo>
                    <a:pt x="33430" y="91932"/>
                  </a:lnTo>
                  <a:cubicBezTo>
                    <a:pt x="14967" y="91932"/>
                    <a:pt x="0" y="91932"/>
                    <a:pt x="0" y="91932"/>
                  </a:cubicBezTo>
                  <a:lnTo>
                    <a:pt x="0" y="0"/>
                  </a:lnTo>
                  <a:cubicBezTo>
                    <a:pt x="0" y="0"/>
                    <a:pt x="14967" y="0"/>
                    <a:pt x="33430" y="0"/>
                  </a:cubicBezTo>
                  <a:close/>
                </a:path>
              </a:pathLst>
            </a:custGeom>
            <a:solidFill>
              <a:srgbClr val="D32F2F"/>
            </a:solidFill>
            <a:ln w="4179" cap="flat">
              <a:noFill/>
              <a:prstDash val="solid"/>
              <a:miter/>
            </a:ln>
          </p:spPr>
          <p:txBody>
            <a:bodyPr rtlCol="0" anchor="ctr"/>
            <a:lstStyle/>
            <a:p>
              <a:endParaRPr lang="zh-CN" altLang="en-US"/>
            </a:p>
          </p:txBody>
        </p:sp>
        <p:sp>
          <p:nvSpPr>
            <p:cNvPr id="198" name="任意形状 197">
              <a:extLst>
                <a:ext uri="{FF2B5EF4-FFF2-40B4-BE49-F238E27FC236}">
                  <a16:creationId xmlns:a16="http://schemas.microsoft.com/office/drawing/2014/main" id="{7A07253F-11A6-EC09-173A-31CF76E77BB8}"/>
                </a:ext>
              </a:extLst>
            </p:cNvPr>
            <p:cNvSpPr/>
            <p:nvPr/>
          </p:nvSpPr>
          <p:spPr>
            <a:xfrm>
              <a:off x="5474109" y="1518756"/>
              <a:ext cx="1002890" cy="25072"/>
            </a:xfrm>
            <a:custGeom>
              <a:avLst/>
              <a:gdLst>
                <a:gd name="connsiteX0" fmla="*/ 0 w 1002890"/>
                <a:gd name="connsiteY0" fmla="*/ 0 h 25072"/>
                <a:gd name="connsiteX1" fmla="*/ 1002890 w 1002890"/>
                <a:gd name="connsiteY1" fmla="*/ 0 h 25072"/>
                <a:gd name="connsiteX2" fmla="*/ 1002890 w 1002890"/>
                <a:gd name="connsiteY2" fmla="*/ 25072 h 25072"/>
                <a:gd name="connsiteX3" fmla="*/ 0 w 1002890"/>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02890" h="25072">
                  <a:moveTo>
                    <a:pt x="0" y="0"/>
                  </a:moveTo>
                  <a:lnTo>
                    <a:pt x="1002890" y="0"/>
                  </a:lnTo>
                  <a:lnTo>
                    <a:pt x="1002890" y="25072"/>
                  </a:lnTo>
                  <a:lnTo>
                    <a:pt x="0" y="25072"/>
                  </a:lnTo>
                  <a:close/>
                </a:path>
              </a:pathLst>
            </a:custGeom>
            <a:solidFill>
              <a:srgbClr val="D32F2F"/>
            </a:solidFill>
            <a:ln w="4179" cap="flat">
              <a:noFill/>
              <a:prstDash val="solid"/>
              <a:miter/>
            </a:ln>
          </p:spPr>
          <p:txBody>
            <a:bodyPr rtlCol="0" anchor="ctr"/>
            <a:lstStyle/>
            <a:p>
              <a:endParaRPr lang="zh-CN" altLang="en-US"/>
            </a:p>
          </p:txBody>
        </p:sp>
        <p:sp>
          <p:nvSpPr>
            <p:cNvPr id="199" name="文本框 198">
              <a:extLst>
                <a:ext uri="{FF2B5EF4-FFF2-40B4-BE49-F238E27FC236}">
                  <a16:creationId xmlns:a16="http://schemas.microsoft.com/office/drawing/2014/main" id="{51BEC746-6B74-06FE-F003-36438A493E34}"/>
                </a:ext>
              </a:extLst>
            </p:cNvPr>
            <p:cNvSpPr txBox="1"/>
            <p:nvPr/>
          </p:nvSpPr>
          <p:spPr>
            <a:xfrm>
              <a:off x="5679358" y="1427070"/>
              <a:ext cx="592393"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Functional Resilience</a:t>
              </a:r>
            </a:p>
          </p:txBody>
        </p:sp>
        <p:sp>
          <p:nvSpPr>
            <p:cNvPr id="200" name="文本框 199">
              <a:extLst>
                <a:ext uri="{FF2B5EF4-FFF2-40B4-BE49-F238E27FC236}">
                  <a16:creationId xmlns:a16="http://schemas.microsoft.com/office/drawing/2014/main" id="{8F0792E2-0CB3-DF98-8CFE-FAFE6B5C62BF}"/>
                </a:ext>
              </a:extLst>
            </p:cNvPr>
            <p:cNvSpPr txBox="1"/>
            <p:nvPr/>
          </p:nvSpPr>
          <p:spPr>
            <a:xfrm>
              <a:off x="5662643" y="1531537"/>
              <a:ext cx="625823"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Supply completion rate: 100%</a:t>
              </a:r>
            </a:p>
          </p:txBody>
        </p:sp>
        <p:sp>
          <p:nvSpPr>
            <p:cNvPr id="201" name="文本框 200">
              <a:extLst>
                <a:ext uri="{FF2B5EF4-FFF2-40B4-BE49-F238E27FC236}">
                  <a16:creationId xmlns:a16="http://schemas.microsoft.com/office/drawing/2014/main" id="{9C84B23E-BDCE-919A-3390-D46498AD5453}"/>
                </a:ext>
              </a:extLst>
            </p:cNvPr>
            <p:cNvSpPr txBox="1"/>
            <p:nvPr/>
          </p:nvSpPr>
          <p:spPr>
            <a:xfrm>
              <a:off x="5656375" y="1590039"/>
              <a:ext cx="638359"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Life-rescue on-time rate: 100%</a:t>
              </a:r>
            </a:p>
          </p:txBody>
        </p:sp>
        <p:sp>
          <p:nvSpPr>
            <p:cNvPr id="202" name="文本框 201">
              <a:extLst>
                <a:ext uri="{FF2B5EF4-FFF2-40B4-BE49-F238E27FC236}">
                  <a16:creationId xmlns:a16="http://schemas.microsoft.com/office/drawing/2014/main" id="{C8CF8BFC-0B76-52E7-D8E6-299905651682}"/>
                </a:ext>
              </a:extLst>
            </p:cNvPr>
            <p:cNvSpPr txBox="1"/>
            <p:nvPr/>
          </p:nvSpPr>
          <p:spPr>
            <a:xfrm>
              <a:off x="5635481" y="1648541"/>
              <a:ext cx="680146"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Evacuation completion rate: 9.1%</a:t>
              </a:r>
            </a:p>
          </p:txBody>
        </p:sp>
        <p:sp>
          <p:nvSpPr>
            <p:cNvPr id="203" name="文本框 202">
              <a:extLst>
                <a:ext uri="{FF2B5EF4-FFF2-40B4-BE49-F238E27FC236}">
                  <a16:creationId xmlns:a16="http://schemas.microsoft.com/office/drawing/2014/main" id="{49C18038-33F5-415E-D586-5A9D2AC6EDAA}"/>
                </a:ext>
              </a:extLst>
            </p:cNvPr>
            <p:cNvSpPr txBox="1"/>
            <p:nvPr/>
          </p:nvSpPr>
          <p:spPr>
            <a:xfrm>
              <a:off x="5482958" y="1715401"/>
              <a:ext cx="985192" cy="137405"/>
            </a:xfrm>
            <a:prstGeom prst="rect">
              <a:avLst/>
            </a:prstGeom>
            <a:noFill/>
          </p:spPr>
          <p:txBody>
            <a:bodyPr wrap="none" rtlCol="0">
              <a:spAutoFit/>
            </a:bodyPr>
            <a:lstStyle/>
            <a:p>
              <a:pPr algn="l"/>
              <a:r>
                <a:rPr lang="zh-CN" altLang="en-US" sz="600" b="1" spc="0" baseline="0">
                  <a:ln/>
                  <a:solidFill>
                    <a:srgbClr val="C62828"/>
                  </a:solidFill>
                  <a:latin typeface="Apple Color Emoji"/>
                  <a:ea typeface="Apple Color Emoji"/>
                  <a:sym typeface="Apple Color Emoji"/>
                  <a:rtl val="0"/>
                </a:rPr>
                <a:t>⚠</a:t>
              </a:r>
              <a:r>
                <a:rPr lang="zh-CN" altLang="en-US" sz="600" b="1" spc="0" baseline="0">
                  <a:ln/>
                  <a:solidFill>
                    <a:srgbClr val="C62828"/>
                  </a:solidFill>
                  <a:latin typeface="Arial"/>
                  <a:ea typeface="Apple Color Emoji"/>
                  <a:cs typeface="Arial"/>
                  <a:sym typeface="Arial"/>
                  <a:rtl val="0"/>
                </a:rPr>
                <a:t> Asymmetry: high supply vs low evac. resilience</a:t>
              </a:r>
            </a:p>
          </p:txBody>
        </p:sp>
      </p:grpSp>
      <p:grpSp>
        <p:nvGrpSpPr>
          <p:cNvPr id="204" name="图形 2">
            <a:extLst>
              <a:ext uri="{FF2B5EF4-FFF2-40B4-BE49-F238E27FC236}">
                <a16:creationId xmlns:a16="http://schemas.microsoft.com/office/drawing/2014/main" id="{94D5B8D3-92DF-2A09-64EB-4CA47D509B47}"/>
              </a:ext>
            </a:extLst>
          </p:cNvPr>
          <p:cNvGrpSpPr/>
          <p:nvPr/>
        </p:nvGrpSpPr>
        <p:grpSpPr>
          <a:xfrm>
            <a:off x="5474109" y="1911554"/>
            <a:ext cx="1002890" cy="300867"/>
            <a:chOff x="5474109" y="1911554"/>
            <a:chExt cx="1002890" cy="300867"/>
          </a:xfrm>
        </p:grpSpPr>
        <p:sp>
          <p:nvSpPr>
            <p:cNvPr id="205" name="任意形状 204">
              <a:extLst>
                <a:ext uri="{FF2B5EF4-FFF2-40B4-BE49-F238E27FC236}">
                  <a16:creationId xmlns:a16="http://schemas.microsoft.com/office/drawing/2014/main" id="{1D11BD1F-5704-DED0-906A-48E36F75D674}"/>
                </a:ext>
              </a:extLst>
            </p:cNvPr>
            <p:cNvSpPr/>
            <p:nvPr/>
          </p:nvSpPr>
          <p:spPr>
            <a:xfrm>
              <a:off x="5474109" y="1911554"/>
              <a:ext cx="1002890" cy="300867"/>
            </a:xfrm>
            <a:custGeom>
              <a:avLst/>
              <a:gdLst>
                <a:gd name="connsiteX0" fmla="*/ 969461 w 1002890"/>
                <a:gd name="connsiteY0" fmla="*/ 0 h 300867"/>
                <a:gd name="connsiteX1" fmla="*/ 1002890 w 1002890"/>
                <a:gd name="connsiteY1" fmla="*/ 0 h 300867"/>
                <a:gd name="connsiteX2" fmla="*/ 1002890 w 1002890"/>
                <a:gd name="connsiteY2" fmla="*/ 300867 h 300867"/>
                <a:gd name="connsiteX3" fmla="*/ 969461 w 1002890"/>
                <a:gd name="connsiteY3" fmla="*/ 300867 h 300867"/>
                <a:gd name="connsiteX4" fmla="*/ 33430 w 1002890"/>
                <a:gd name="connsiteY4" fmla="*/ 300867 h 300867"/>
                <a:gd name="connsiteX5" fmla="*/ 0 w 1002890"/>
                <a:gd name="connsiteY5" fmla="*/ 300867 h 300867"/>
                <a:gd name="connsiteX6" fmla="*/ 0 w 1002890"/>
                <a:gd name="connsiteY6" fmla="*/ 0 h 300867"/>
                <a:gd name="connsiteX7" fmla="*/ 33430 w 1002890"/>
                <a:gd name="connsiteY7" fmla="*/ 0 h 300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300867">
                  <a:moveTo>
                    <a:pt x="969461" y="0"/>
                  </a:moveTo>
                  <a:cubicBezTo>
                    <a:pt x="987924" y="0"/>
                    <a:pt x="1002890" y="0"/>
                    <a:pt x="1002890" y="0"/>
                  </a:cubicBezTo>
                  <a:lnTo>
                    <a:pt x="1002890" y="300867"/>
                  </a:lnTo>
                  <a:cubicBezTo>
                    <a:pt x="1002890" y="300867"/>
                    <a:pt x="987924" y="300867"/>
                    <a:pt x="969461" y="300867"/>
                  </a:cubicBezTo>
                  <a:lnTo>
                    <a:pt x="33430" y="300867"/>
                  </a:lnTo>
                  <a:cubicBezTo>
                    <a:pt x="14967" y="300867"/>
                    <a:pt x="0" y="300867"/>
                    <a:pt x="0" y="300867"/>
                  </a:cubicBezTo>
                  <a:lnTo>
                    <a:pt x="0" y="0"/>
                  </a:lnTo>
                  <a:cubicBezTo>
                    <a:pt x="0" y="0"/>
                    <a:pt x="14967" y="0"/>
                    <a:pt x="33430" y="0"/>
                  </a:cubicBezTo>
                  <a:close/>
                </a:path>
              </a:pathLst>
            </a:custGeom>
            <a:solidFill>
              <a:srgbClr val="FFFFFF"/>
            </a:solidFill>
            <a:ln w="4179" cap="flat">
              <a:solidFill>
                <a:srgbClr val="E53935"/>
              </a:solidFill>
              <a:prstDash val="solid"/>
              <a:miter/>
            </a:ln>
          </p:spPr>
          <p:txBody>
            <a:bodyPr rtlCol="0" anchor="ctr"/>
            <a:lstStyle/>
            <a:p>
              <a:endParaRPr lang="zh-CN" altLang="en-US"/>
            </a:p>
          </p:txBody>
        </p:sp>
        <p:sp>
          <p:nvSpPr>
            <p:cNvPr id="206" name="任意形状 205">
              <a:extLst>
                <a:ext uri="{FF2B5EF4-FFF2-40B4-BE49-F238E27FC236}">
                  <a16:creationId xmlns:a16="http://schemas.microsoft.com/office/drawing/2014/main" id="{B1CCC0DD-4C62-323F-EB16-7F02C59E0434}"/>
                </a:ext>
              </a:extLst>
            </p:cNvPr>
            <p:cNvSpPr/>
            <p:nvPr/>
          </p:nvSpPr>
          <p:spPr>
            <a:xfrm>
              <a:off x="5474109" y="1911554"/>
              <a:ext cx="1002890" cy="91931"/>
            </a:xfrm>
            <a:custGeom>
              <a:avLst/>
              <a:gdLst>
                <a:gd name="connsiteX0" fmla="*/ 969461 w 1002890"/>
                <a:gd name="connsiteY0" fmla="*/ 0 h 91931"/>
                <a:gd name="connsiteX1" fmla="*/ 1002890 w 1002890"/>
                <a:gd name="connsiteY1" fmla="*/ 0 h 91931"/>
                <a:gd name="connsiteX2" fmla="*/ 1002890 w 1002890"/>
                <a:gd name="connsiteY2" fmla="*/ 91932 h 91931"/>
                <a:gd name="connsiteX3" fmla="*/ 969461 w 1002890"/>
                <a:gd name="connsiteY3" fmla="*/ 91932 h 91931"/>
                <a:gd name="connsiteX4" fmla="*/ 33430 w 1002890"/>
                <a:gd name="connsiteY4" fmla="*/ 91932 h 91931"/>
                <a:gd name="connsiteX5" fmla="*/ 0 w 1002890"/>
                <a:gd name="connsiteY5" fmla="*/ 91932 h 91931"/>
                <a:gd name="connsiteX6" fmla="*/ 0 w 1002890"/>
                <a:gd name="connsiteY6" fmla="*/ 0 h 91931"/>
                <a:gd name="connsiteX7" fmla="*/ 33430 w 1002890"/>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91931">
                  <a:moveTo>
                    <a:pt x="969461" y="0"/>
                  </a:moveTo>
                  <a:cubicBezTo>
                    <a:pt x="987924" y="0"/>
                    <a:pt x="1002890" y="0"/>
                    <a:pt x="1002890" y="0"/>
                  </a:cubicBezTo>
                  <a:lnTo>
                    <a:pt x="1002890" y="91932"/>
                  </a:lnTo>
                  <a:cubicBezTo>
                    <a:pt x="1002890" y="91932"/>
                    <a:pt x="987924" y="91932"/>
                    <a:pt x="969461" y="91932"/>
                  </a:cubicBezTo>
                  <a:lnTo>
                    <a:pt x="33430" y="91932"/>
                  </a:lnTo>
                  <a:cubicBezTo>
                    <a:pt x="14967" y="91932"/>
                    <a:pt x="0" y="91932"/>
                    <a:pt x="0" y="91932"/>
                  </a:cubicBezTo>
                  <a:lnTo>
                    <a:pt x="0" y="0"/>
                  </a:lnTo>
                  <a:cubicBezTo>
                    <a:pt x="0" y="0"/>
                    <a:pt x="14967" y="0"/>
                    <a:pt x="33430" y="0"/>
                  </a:cubicBezTo>
                  <a:close/>
                </a:path>
              </a:pathLst>
            </a:custGeom>
            <a:solidFill>
              <a:srgbClr val="E53935"/>
            </a:solidFill>
            <a:ln w="4179" cap="flat">
              <a:noFill/>
              <a:prstDash val="solid"/>
              <a:miter/>
            </a:ln>
          </p:spPr>
          <p:txBody>
            <a:bodyPr rtlCol="0" anchor="ctr"/>
            <a:lstStyle/>
            <a:p>
              <a:endParaRPr lang="zh-CN" altLang="en-US"/>
            </a:p>
          </p:txBody>
        </p:sp>
        <p:sp>
          <p:nvSpPr>
            <p:cNvPr id="207" name="任意形状 206">
              <a:extLst>
                <a:ext uri="{FF2B5EF4-FFF2-40B4-BE49-F238E27FC236}">
                  <a16:creationId xmlns:a16="http://schemas.microsoft.com/office/drawing/2014/main" id="{4C75BC8B-12A8-51A7-F67F-E4F4CB0AC2EF}"/>
                </a:ext>
              </a:extLst>
            </p:cNvPr>
            <p:cNvSpPr/>
            <p:nvPr/>
          </p:nvSpPr>
          <p:spPr>
            <a:xfrm>
              <a:off x="5474109" y="1978414"/>
              <a:ext cx="1002890" cy="25072"/>
            </a:xfrm>
            <a:custGeom>
              <a:avLst/>
              <a:gdLst>
                <a:gd name="connsiteX0" fmla="*/ 0 w 1002890"/>
                <a:gd name="connsiteY0" fmla="*/ 0 h 25072"/>
                <a:gd name="connsiteX1" fmla="*/ 1002890 w 1002890"/>
                <a:gd name="connsiteY1" fmla="*/ 0 h 25072"/>
                <a:gd name="connsiteX2" fmla="*/ 1002890 w 1002890"/>
                <a:gd name="connsiteY2" fmla="*/ 25072 h 25072"/>
                <a:gd name="connsiteX3" fmla="*/ 0 w 1002890"/>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02890" h="25072">
                  <a:moveTo>
                    <a:pt x="0" y="0"/>
                  </a:moveTo>
                  <a:lnTo>
                    <a:pt x="1002890" y="0"/>
                  </a:lnTo>
                  <a:lnTo>
                    <a:pt x="1002890" y="25072"/>
                  </a:lnTo>
                  <a:lnTo>
                    <a:pt x="0" y="25072"/>
                  </a:lnTo>
                  <a:close/>
                </a:path>
              </a:pathLst>
            </a:custGeom>
            <a:solidFill>
              <a:srgbClr val="E53935"/>
            </a:solidFill>
            <a:ln w="4179" cap="flat">
              <a:noFill/>
              <a:prstDash val="solid"/>
              <a:miter/>
            </a:ln>
          </p:spPr>
          <p:txBody>
            <a:bodyPr rtlCol="0" anchor="ctr"/>
            <a:lstStyle/>
            <a:p>
              <a:endParaRPr lang="zh-CN" altLang="en-US"/>
            </a:p>
          </p:txBody>
        </p:sp>
        <p:sp>
          <p:nvSpPr>
            <p:cNvPr id="208" name="文本框 207">
              <a:extLst>
                <a:ext uri="{FF2B5EF4-FFF2-40B4-BE49-F238E27FC236}">
                  <a16:creationId xmlns:a16="http://schemas.microsoft.com/office/drawing/2014/main" id="{4FCFC171-A70D-E4CB-5B69-9863C689794A}"/>
                </a:ext>
              </a:extLst>
            </p:cNvPr>
            <p:cNvSpPr txBox="1"/>
            <p:nvPr/>
          </p:nvSpPr>
          <p:spPr>
            <a:xfrm>
              <a:off x="5693983" y="1886728"/>
              <a:ext cx="563142"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Adaptive Resilience</a:t>
              </a:r>
            </a:p>
          </p:txBody>
        </p:sp>
        <p:sp>
          <p:nvSpPr>
            <p:cNvPr id="209" name="文本框 208">
              <a:extLst>
                <a:ext uri="{FF2B5EF4-FFF2-40B4-BE49-F238E27FC236}">
                  <a16:creationId xmlns:a16="http://schemas.microsoft.com/office/drawing/2014/main" id="{5EFDF216-5485-24B0-E29C-C81FD45FA5C9}"/>
                </a:ext>
              </a:extLst>
            </p:cNvPr>
            <p:cNvSpPr txBox="1"/>
            <p:nvPr/>
          </p:nvSpPr>
          <p:spPr>
            <a:xfrm>
              <a:off x="5595783" y="1995374"/>
              <a:ext cx="759541"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Drone coordination: Makespan ↓16.3%</a:t>
              </a:r>
            </a:p>
          </p:txBody>
        </p:sp>
        <p:sp>
          <p:nvSpPr>
            <p:cNvPr id="210" name="文本框 209">
              <a:extLst>
                <a:ext uri="{FF2B5EF4-FFF2-40B4-BE49-F238E27FC236}">
                  <a16:creationId xmlns:a16="http://schemas.microsoft.com/office/drawing/2014/main" id="{33DBA495-B708-7D96-299F-49A331DF5537}"/>
                </a:ext>
              </a:extLst>
            </p:cNvPr>
            <p:cNvSpPr txBox="1"/>
            <p:nvPr/>
          </p:nvSpPr>
          <p:spPr>
            <a:xfrm>
              <a:off x="5568622" y="2053876"/>
              <a:ext cx="813865"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Subway emergency ops → evac. rate ×3.3</a:t>
              </a:r>
            </a:p>
          </p:txBody>
        </p:sp>
        <p:sp>
          <p:nvSpPr>
            <p:cNvPr id="211" name="文本框 210">
              <a:extLst>
                <a:ext uri="{FF2B5EF4-FFF2-40B4-BE49-F238E27FC236}">
                  <a16:creationId xmlns:a16="http://schemas.microsoft.com/office/drawing/2014/main" id="{10E486DD-7037-0D88-DAE8-486378F12C1C}"/>
                </a:ext>
              </a:extLst>
            </p:cNvPr>
            <p:cNvSpPr txBox="1"/>
            <p:nvPr/>
          </p:nvSpPr>
          <p:spPr>
            <a:xfrm>
              <a:off x="5656375" y="2112378"/>
              <a:ext cx="634180" cy="129048"/>
            </a:xfrm>
            <a:prstGeom prst="rect">
              <a:avLst/>
            </a:prstGeom>
            <a:noFill/>
          </p:spPr>
          <p:txBody>
            <a:bodyPr wrap="none" rtlCol="0">
              <a:spAutoFit/>
            </a:bodyPr>
            <a:lstStyle/>
            <a:p>
              <a:pPr algn="l"/>
              <a:r>
                <a:rPr lang="zh-CN" altLang="en-US" sz="600" spc="0" baseline="0">
                  <a:ln/>
                  <a:solidFill>
                    <a:srgbClr val="333333"/>
                  </a:solidFill>
                  <a:latin typeface="Arial"/>
                  <a:cs typeface="Arial"/>
                  <a:sym typeface="Arial"/>
                  <a:rtl val="0"/>
                </a:rPr>
                <a:t>Multi-modal synergy confirmed</a:t>
              </a:r>
            </a:p>
          </p:txBody>
        </p:sp>
      </p:grpSp>
      <p:grpSp>
        <p:nvGrpSpPr>
          <p:cNvPr id="212" name="图形 2">
            <a:extLst>
              <a:ext uri="{FF2B5EF4-FFF2-40B4-BE49-F238E27FC236}">
                <a16:creationId xmlns:a16="http://schemas.microsoft.com/office/drawing/2014/main" id="{232C932F-7D70-F6EA-71EC-1EB3583E4431}"/>
              </a:ext>
            </a:extLst>
          </p:cNvPr>
          <p:cNvGrpSpPr/>
          <p:nvPr/>
        </p:nvGrpSpPr>
        <p:grpSpPr>
          <a:xfrm>
            <a:off x="5474109" y="2275102"/>
            <a:ext cx="1002890" cy="417870"/>
            <a:chOff x="5474109" y="2275102"/>
            <a:chExt cx="1002890" cy="417870"/>
          </a:xfrm>
        </p:grpSpPr>
        <p:sp>
          <p:nvSpPr>
            <p:cNvPr id="213" name="任意形状 212">
              <a:extLst>
                <a:ext uri="{FF2B5EF4-FFF2-40B4-BE49-F238E27FC236}">
                  <a16:creationId xmlns:a16="http://schemas.microsoft.com/office/drawing/2014/main" id="{758CFA70-E536-67ED-353C-40198809011E}"/>
                </a:ext>
              </a:extLst>
            </p:cNvPr>
            <p:cNvSpPr/>
            <p:nvPr/>
          </p:nvSpPr>
          <p:spPr>
            <a:xfrm>
              <a:off x="5474109" y="2275102"/>
              <a:ext cx="1002890" cy="417870"/>
            </a:xfrm>
            <a:custGeom>
              <a:avLst/>
              <a:gdLst>
                <a:gd name="connsiteX0" fmla="*/ 969461 w 1002890"/>
                <a:gd name="connsiteY0" fmla="*/ 0 h 417870"/>
                <a:gd name="connsiteX1" fmla="*/ 1002890 w 1002890"/>
                <a:gd name="connsiteY1" fmla="*/ 0 h 417870"/>
                <a:gd name="connsiteX2" fmla="*/ 1002890 w 1002890"/>
                <a:gd name="connsiteY2" fmla="*/ 417871 h 417870"/>
                <a:gd name="connsiteX3" fmla="*/ 969461 w 1002890"/>
                <a:gd name="connsiteY3" fmla="*/ 417871 h 417870"/>
                <a:gd name="connsiteX4" fmla="*/ 33430 w 1002890"/>
                <a:gd name="connsiteY4" fmla="*/ 417871 h 417870"/>
                <a:gd name="connsiteX5" fmla="*/ 0 w 1002890"/>
                <a:gd name="connsiteY5" fmla="*/ 417871 h 417870"/>
                <a:gd name="connsiteX6" fmla="*/ 0 w 1002890"/>
                <a:gd name="connsiteY6" fmla="*/ 0 h 417870"/>
                <a:gd name="connsiteX7" fmla="*/ 33430 w 1002890"/>
                <a:gd name="connsiteY7" fmla="*/ 0 h 417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417870">
                  <a:moveTo>
                    <a:pt x="969461" y="0"/>
                  </a:moveTo>
                  <a:cubicBezTo>
                    <a:pt x="987924" y="0"/>
                    <a:pt x="1002890" y="0"/>
                    <a:pt x="1002890" y="0"/>
                  </a:cubicBezTo>
                  <a:lnTo>
                    <a:pt x="1002890" y="417871"/>
                  </a:lnTo>
                  <a:cubicBezTo>
                    <a:pt x="1002890" y="417871"/>
                    <a:pt x="987924" y="417871"/>
                    <a:pt x="969461" y="417871"/>
                  </a:cubicBezTo>
                  <a:lnTo>
                    <a:pt x="33430" y="417871"/>
                  </a:lnTo>
                  <a:cubicBezTo>
                    <a:pt x="14967" y="417871"/>
                    <a:pt x="0" y="417871"/>
                    <a:pt x="0" y="417871"/>
                  </a:cubicBezTo>
                  <a:lnTo>
                    <a:pt x="0" y="0"/>
                  </a:lnTo>
                  <a:cubicBezTo>
                    <a:pt x="0" y="0"/>
                    <a:pt x="14967" y="0"/>
                    <a:pt x="33430" y="0"/>
                  </a:cubicBezTo>
                  <a:close/>
                </a:path>
              </a:pathLst>
            </a:custGeom>
            <a:solidFill>
              <a:srgbClr val="FFFFFF"/>
            </a:solidFill>
            <a:ln w="3343" cap="flat">
              <a:solidFill>
                <a:srgbClr val="EF5350"/>
              </a:solidFill>
              <a:prstDash val="solid"/>
              <a:miter/>
            </a:ln>
          </p:spPr>
          <p:txBody>
            <a:bodyPr rtlCol="0" anchor="ctr"/>
            <a:lstStyle/>
            <a:p>
              <a:endParaRPr lang="zh-CN" altLang="en-US"/>
            </a:p>
          </p:txBody>
        </p:sp>
        <p:sp>
          <p:nvSpPr>
            <p:cNvPr id="214" name="任意形状 213">
              <a:extLst>
                <a:ext uri="{FF2B5EF4-FFF2-40B4-BE49-F238E27FC236}">
                  <a16:creationId xmlns:a16="http://schemas.microsoft.com/office/drawing/2014/main" id="{BC22C937-B451-341E-F625-78AE1998AEBE}"/>
                </a:ext>
              </a:extLst>
            </p:cNvPr>
            <p:cNvSpPr/>
            <p:nvPr/>
          </p:nvSpPr>
          <p:spPr>
            <a:xfrm>
              <a:off x="5474109" y="2275102"/>
              <a:ext cx="1002890" cy="91931"/>
            </a:xfrm>
            <a:custGeom>
              <a:avLst/>
              <a:gdLst>
                <a:gd name="connsiteX0" fmla="*/ 969461 w 1002890"/>
                <a:gd name="connsiteY0" fmla="*/ 0 h 91931"/>
                <a:gd name="connsiteX1" fmla="*/ 1002890 w 1002890"/>
                <a:gd name="connsiteY1" fmla="*/ 0 h 91931"/>
                <a:gd name="connsiteX2" fmla="*/ 1002890 w 1002890"/>
                <a:gd name="connsiteY2" fmla="*/ 91932 h 91931"/>
                <a:gd name="connsiteX3" fmla="*/ 969461 w 1002890"/>
                <a:gd name="connsiteY3" fmla="*/ 91932 h 91931"/>
                <a:gd name="connsiteX4" fmla="*/ 33430 w 1002890"/>
                <a:gd name="connsiteY4" fmla="*/ 91932 h 91931"/>
                <a:gd name="connsiteX5" fmla="*/ 0 w 1002890"/>
                <a:gd name="connsiteY5" fmla="*/ 91932 h 91931"/>
                <a:gd name="connsiteX6" fmla="*/ 0 w 1002890"/>
                <a:gd name="connsiteY6" fmla="*/ 0 h 91931"/>
                <a:gd name="connsiteX7" fmla="*/ 33430 w 1002890"/>
                <a:gd name="connsiteY7" fmla="*/ 0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91931">
                  <a:moveTo>
                    <a:pt x="969461" y="0"/>
                  </a:moveTo>
                  <a:cubicBezTo>
                    <a:pt x="987924" y="0"/>
                    <a:pt x="1002890" y="0"/>
                    <a:pt x="1002890" y="0"/>
                  </a:cubicBezTo>
                  <a:lnTo>
                    <a:pt x="1002890" y="91932"/>
                  </a:lnTo>
                  <a:cubicBezTo>
                    <a:pt x="1002890" y="91932"/>
                    <a:pt x="987924" y="91932"/>
                    <a:pt x="969461" y="91932"/>
                  </a:cubicBezTo>
                  <a:lnTo>
                    <a:pt x="33430" y="91932"/>
                  </a:lnTo>
                  <a:cubicBezTo>
                    <a:pt x="14967" y="91932"/>
                    <a:pt x="0" y="91932"/>
                    <a:pt x="0" y="91932"/>
                  </a:cubicBezTo>
                  <a:lnTo>
                    <a:pt x="0" y="0"/>
                  </a:lnTo>
                  <a:cubicBezTo>
                    <a:pt x="0" y="0"/>
                    <a:pt x="14967" y="0"/>
                    <a:pt x="33430" y="0"/>
                  </a:cubicBezTo>
                  <a:close/>
                </a:path>
              </a:pathLst>
            </a:custGeom>
            <a:solidFill>
              <a:srgbClr val="EF5350"/>
            </a:solidFill>
            <a:ln w="4179" cap="flat">
              <a:noFill/>
              <a:prstDash val="solid"/>
              <a:miter/>
            </a:ln>
          </p:spPr>
          <p:txBody>
            <a:bodyPr rtlCol="0" anchor="ctr"/>
            <a:lstStyle/>
            <a:p>
              <a:endParaRPr lang="zh-CN" altLang="en-US"/>
            </a:p>
          </p:txBody>
        </p:sp>
        <p:sp>
          <p:nvSpPr>
            <p:cNvPr id="215" name="任意形状 214">
              <a:extLst>
                <a:ext uri="{FF2B5EF4-FFF2-40B4-BE49-F238E27FC236}">
                  <a16:creationId xmlns:a16="http://schemas.microsoft.com/office/drawing/2014/main" id="{E4BF89D3-49B8-4F43-390A-ECB072E37B76}"/>
                </a:ext>
              </a:extLst>
            </p:cNvPr>
            <p:cNvSpPr/>
            <p:nvPr/>
          </p:nvSpPr>
          <p:spPr>
            <a:xfrm>
              <a:off x="5474109" y="2341961"/>
              <a:ext cx="1002890" cy="25072"/>
            </a:xfrm>
            <a:custGeom>
              <a:avLst/>
              <a:gdLst>
                <a:gd name="connsiteX0" fmla="*/ 0 w 1002890"/>
                <a:gd name="connsiteY0" fmla="*/ 0 h 25072"/>
                <a:gd name="connsiteX1" fmla="*/ 1002890 w 1002890"/>
                <a:gd name="connsiteY1" fmla="*/ 0 h 25072"/>
                <a:gd name="connsiteX2" fmla="*/ 1002890 w 1002890"/>
                <a:gd name="connsiteY2" fmla="*/ 25072 h 25072"/>
                <a:gd name="connsiteX3" fmla="*/ 0 w 1002890"/>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02890" h="25072">
                  <a:moveTo>
                    <a:pt x="0" y="0"/>
                  </a:moveTo>
                  <a:lnTo>
                    <a:pt x="1002890" y="0"/>
                  </a:lnTo>
                  <a:lnTo>
                    <a:pt x="1002890" y="25072"/>
                  </a:lnTo>
                  <a:lnTo>
                    <a:pt x="0" y="25072"/>
                  </a:lnTo>
                  <a:close/>
                </a:path>
              </a:pathLst>
            </a:custGeom>
            <a:solidFill>
              <a:srgbClr val="EF5350"/>
            </a:solidFill>
            <a:ln w="4179" cap="flat">
              <a:noFill/>
              <a:prstDash val="solid"/>
              <a:miter/>
            </a:ln>
          </p:spPr>
          <p:txBody>
            <a:bodyPr rtlCol="0" anchor="ctr"/>
            <a:lstStyle/>
            <a:p>
              <a:endParaRPr lang="zh-CN" altLang="en-US"/>
            </a:p>
          </p:txBody>
        </p:sp>
        <p:sp>
          <p:nvSpPr>
            <p:cNvPr id="216" name="文本框 215">
              <a:extLst>
                <a:ext uri="{FF2B5EF4-FFF2-40B4-BE49-F238E27FC236}">
                  <a16:creationId xmlns:a16="http://schemas.microsoft.com/office/drawing/2014/main" id="{A765B40C-54B1-16C0-32F4-E4C36C2ED1ED}"/>
                </a:ext>
              </a:extLst>
            </p:cNvPr>
            <p:cNvSpPr txBox="1"/>
            <p:nvPr/>
          </p:nvSpPr>
          <p:spPr>
            <a:xfrm>
              <a:off x="5677268" y="2250276"/>
              <a:ext cx="596572" cy="149941"/>
            </a:xfrm>
            <a:prstGeom prst="rect">
              <a:avLst/>
            </a:prstGeom>
            <a:noFill/>
          </p:spPr>
          <p:txBody>
            <a:bodyPr wrap="none" rtlCol="0">
              <a:spAutoFit/>
            </a:bodyPr>
            <a:lstStyle/>
            <a:p>
              <a:pPr algn="l"/>
              <a:r>
                <a:rPr lang="zh-CN" altLang="en-US" sz="750" b="1" spc="0" baseline="0">
                  <a:ln/>
                  <a:solidFill>
                    <a:srgbClr val="FFFFFF"/>
                  </a:solidFill>
                  <a:latin typeface="Segoe UI"/>
                  <a:cs typeface="Segoe UI"/>
                  <a:sym typeface="Segoe UI"/>
                  <a:rtl val="0"/>
                </a:rPr>
                <a:t>Scenario Comparison</a:t>
              </a:r>
            </a:p>
          </p:txBody>
        </p:sp>
        <p:sp>
          <p:nvSpPr>
            <p:cNvPr id="217" name="文本框 216">
              <a:extLst>
                <a:ext uri="{FF2B5EF4-FFF2-40B4-BE49-F238E27FC236}">
                  <a16:creationId xmlns:a16="http://schemas.microsoft.com/office/drawing/2014/main" id="{096CE4F4-42E9-CC38-A2CC-A32FCD5086EB}"/>
                </a:ext>
              </a:extLst>
            </p:cNvPr>
            <p:cNvSpPr txBox="1"/>
            <p:nvPr/>
          </p:nvSpPr>
          <p:spPr>
            <a:xfrm>
              <a:off x="5445350" y="2358922"/>
              <a:ext cx="81386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Supply: Truck-only 44.8 → Coordinated 37.5 min</a:t>
              </a:r>
            </a:p>
          </p:txBody>
        </p:sp>
        <p:sp>
          <p:nvSpPr>
            <p:cNvPr id="218" name="文本框 217">
              <a:extLst>
                <a:ext uri="{FF2B5EF4-FFF2-40B4-BE49-F238E27FC236}">
                  <a16:creationId xmlns:a16="http://schemas.microsoft.com/office/drawing/2014/main" id="{DC219779-E3B6-14B8-B878-4547D97028B0}"/>
                </a:ext>
              </a:extLst>
            </p:cNvPr>
            <p:cNvSpPr txBox="1"/>
            <p:nvPr/>
          </p:nvSpPr>
          <p:spPr>
            <a:xfrm>
              <a:off x="5445350" y="2417424"/>
              <a:ext cx="75118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Evac: Full resource 9.1% · No subway 2.8%</a:t>
              </a:r>
            </a:p>
          </p:txBody>
        </p:sp>
        <p:sp>
          <p:nvSpPr>
            <p:cNvPr id="219" name="文本框 218">
              <a:extLst>
                <a:ext uri="{FF2B5EF4-FFF2-40B4-BE49-F238E27FC236}">
                  <a16:creationId xmlns:a16="http://schemas.microsoft.com/office/drawing/2014/main" id="{59F846AC-B330-2313-49FB-F32F3C800EFF}"/>
                </a:ext>
              </a:extLst>
            </p:cNvPr>
            <p:cNvSpPr txBox="1"/>
            <p:nvPr/>
          </p:nvSpPr>
          <p:spPr>
            <a:xfrm>
              <a:off x="5445350" y="2475926"/>
              <a:ext cx="855652"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Evac: No helicopter 9.0% · Double ambulance 9.2%</a:t>
              </a:r>
            </a:p>
          </p:txBody>
        </p:sp>
        <p:sp>
          <p:nvSpPr>
            <p:cNvPr id="220" name="文本框 219">
              <a:extLst>
                <a:ext uri="{FF2B5EF4-FFF2-40B4-BE49-F238E27FC236}">
                  <a16:creationId xmlns:a16="http://schemas.microsoft.com/office/drawing/2014/main" id="{3E3F73CC-FA97-E945-41E0-22ED8A69D864}"/>
                </a:ext>
              </a:extLst>
            </p:cNvPr>
            <p:cNvSpPr txBox="1"/>
            <p:nvPr/>
          </p:nvSpPr>
          <p:spPr>
            <a:xfrm>
              <a:off x="5445350" y="2534428"/>
              <a:ext cx="65507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Drone-only: infeasible (payload limit)</a:t>
              </a:r>
            </a:p>
          </p:txBody>
        </p:sp>
        <p:sp>
          <p:nvSpPr>
            <p:cNvPr id="221" name="文本框 220">
              <a:extLst>
                <a:ext uri="{FF2B5EF4-FFF2-40B4-BE49-F238E27FC236}">
                  <a16:creationId xmlns:a16="http://schemas.microsoft.com/office/drawing/2014/main" id="{33810C1D-1C70-0AE2-D468-4FCEE82F24C0}"/>
                </a:ext>
              </a:extLst>
            </p:cNvPr>
            <p:cNvSpPr txBox="1"/>
            <p:nvPr/>
          </p:nvSpPr>
          <p:spPr>
            <a:xfrm>
              <a:off x="5445350" y="2592930"/>
              <a:ext cx="81386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Double drones: no marginal gain (not bottleneck)</a:t>
              </a:r>
            </a:p>
          </p:txBody>
        </p:sp>
      </p:grpSp>
      <p:grpSp>
        <p:nvGrpSpPr>
          <p:cNvPr id="222" name="图形 2">
            <a:extLst>
              <a:ext uri="{FF2B5EF4-FFF2-40B4-BE49-F238E27FC236}">
                <a16:creationId xmlns:a16="http://schemas.microsoft.com/office/drawing/2014/main" id="{5D669E40-E6AC-81CB-A919-B046A39E747F}"/>
              </a:ext>
            </a:extLst>
          </p:cNvPr>
          <p:cNvGrpSpPr/>
          <p:nvPr/>
        </p:nvGrpSpPr>
        <p:grpSpPr>
          <a:xfrm>
            <a:off x="6644148" y="1054919"/>
            <a:ext cx="1002890" cy="1638054"/>
            <a:chOff x="6644148" y="1054919"/>
            <a:chExt cx="1002890" cy="1638054"/>
          </a:xfrm>
        </p:grpSpPr>
        <p:sp>
          <p:nvSpPr>
            <p:cNvPr id="223" name="任意形状 222">
              <a:extLst>
                <a:ext uri="{FF2B5EF4-FFF2-40B4-BE49-F238E27FC236}">
                  <a16:creationId xmlns:a16="http://schemas.microsoft.com/office/drawing/2014/main" id="{4E6AF562-56DA-0E3D-2487-1DD415CCC6EF}"/>
                </a:ext>
              </a:extLst>
            </p:cNvPr>
            <p:cNvSpPr/>
            <p:nvPr/>
          </p:nvSpPr>
          <p:spPr>
            <a:xfrm>
              <a:off x="6644148" y="1054919"/>
              <a:ext cx="1002890" cy="1638054"/>
            </a:xfrm>
            <a:custGeom>
              <a:avLst/>
              <a:gdLst>
                <a:gd name="connsiteX0" fmla="*/ 961103 w 1002890"/>
                <a:gd name="connsiteY0" fmla="*/ 0 h 1638054"/>
                <a:gd name="connsiteX1" fmla="*/ 1002890 w 1002890"/>
                <a:gd name="connsiteY1" fmla="*/ 0 h 1638054"/>
                <a:gd name="connsiteX2" fmla="*/ 1002890 w 1002890"/>
                <a:gd name="connsiteY2" fmla="*/ 1638054 h 1638054"/>
                <a:gd name="connsiteX3" fmla="*/ 961103 w 1002890"/>
                <a:gd name="connsiteY3" fmla="*/ 1638054 h 1638054"/>
                <a:gd name="connsiteX4" fmla="*/ 41787 w 1002890"/>
                <a:gd name="connsiteY4" fmla="*/ 1638054 h 1638054"/>
                <a:gd name="connsiteX5" fmla="*/ 0 w 1002890"/>
                <a:gd name="connsiteY5" fmla="*/ 1638054 h 1638054"/>
                <a:gd name="connsiteX6" fmla="*/ 0 w 1002890"/>
                <a:gd name="connsiteY6" fmla="*/ 0 h 1638054"/>
                <a:gd name="connsiteX7" fmla="*/ 41787 w 1002890"/>
                <a:gd name="connsiteY7" fmla="*/ 0 h 1638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1638054">
                  <a:moveTo>
                    <a:pt x="961103" y="0"/>
                  </a:moveTo>
                  <a:cubicBezTo>
                    <a:pt x="984182" y="0"/>
                    <a:pt x="1002890" y="0"/>
                    <a:pt x="1002890" y="0"/>
                  </a:cubicBezTo>
                  <a:lnTo>
                    <a:pt x="1002890" y="1638054"/>
                  </a:lnTo>
                  <a:cubicBezTo>
                    <a:pt x="1002890" y="1638054"/>
                    <a:pt x="984182" y="1638054"/>
                    <a:pt x="961103" y="1638054"/>
                  </a:cubicBezTo>
                  <a:lnTo>
                    <a:pt x="41787" y="1638054"/>
                  </a:lnTo>
                  <a:cubicBezTo>
                    <a:pt x="18709" y="1638054"/>
                    <a:pt x="0" y="1638054"/>
                    <a:pt x="0" y="1638054"/>
                  </a:cubicBezTo>
                  <a:lnTo>
                    <a:pt x="0" y="0"/>
                  </a:lnTo>
                  <a:cubicBezTo>
                    <a:pt x="0" y="0"/>
                    <a:pt x="18709" y="0"/>
                    <a:pt x="41787" y="0"/>
                  </a:cubicBezTo>
                  <a:close/>
                </a:path>
              </a:pathLst>
            </a:custGeom>
            <a:solidFill>
              <a:srgbClr val="FFFFFF"/>
            </a:solidFill>
            <a:ln w="5014" cap="flat">
              <a:solidFill>
                <a:srgbClr val="4527A0"/>
              </a:solidFill>
              <a:prstDash val="solid"/>
              <a:miter/>
            </a:ln>
          </p:spPr>
          <p:txBody>
            <a:bodyPr rtlCol="0" anchor="ctr"/>
            <a:lstStyle/>
            <a:p>
              <a:endParaRPr lang="zh-CN" altLang="en-US"/>
            </a:p>
          </p:txBody>
        </p:sp>
        <p:sp>
          <p:nvSpPr>
            <p:cNvPr id="224" name="任意形状 223">
              <a:extLst>
                <a:ext uri="{FF2B5EF4-FFF2-40B4-BE49-F238E27FC236}">
                  <a16:creationId xmlns:a16="http://schemas.microsoft.com/office/drawing/2014/main" id="{5EC4ADF9-BB33-E370-27F2-A3E3B3EC1854}"/>
                </a:ext>
              </a:extLst>
            </p:cNvPr>
            <p:cNvSpPr/>
            <p:nvPr/>
          </p:nvSpPr>
          <p:spPr>
            <a:xfrm>
              <a:off x="6644148" y="1054919"/>
              <a:ext cx="1002890" cy="108646"/>
            </a:xfrm>
            <a:custGeom>
              <a:avLst/>
              <a:gdLst>
                <a:gd name="connsiteX0" fmla="*/ 961103 w 1002890"/>
                <a:gd name="connsiteY0" fmla="*/ 0 h 108646"/>
                <a:gd name="connsiteX1" fmla="*/ 1002890 w 1002890"/>
                <a:gd name="connsiteY1" fmla="*/ 0 h 108646"/>
                <a:gd name="connsiteX2" fmla="*/ 1002890 w 1002890"/>
                <a:gd name="connsiteY2" fmla="*/ 108646 h 108646"/>
                <a:gd name="connsiteX3" fmla="*/ 961103 w 1002890"/>
                <a:gd name="connsiteY3" fmla="*/ 108646 h 108646"/>
                <a:gd name="connsiteX4" fmla="*/ 41787 w 1002890"/>
                <a:gd name="connsiteY4" fmla="*/ 108646 h 108646"/>
                <a:gd name="connsiteX5" fmla="*/ 0 w 1002890"/>
                <a:gd name="connsiteY5" fmla="*/ 108646 h 108646"/>
                <a:gd name="connsiteX6" fmla="*/ 0 w 1002890"/>
                <a:gd name="connsiteY6" fmla="*/ 0 h 108646"/>
                <a:gd name="connsiteX7" fmla="*/ 41787 w 1002890"/>
                <a:gd name="connsiteY7" fmla="*/ 0 h 10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890" h="108646">
                  <a:moveTo>
                    <a:pt x="961103" y="0"/>
                  </a:moveTo>
                  <a:cubicBezTo>
                    <a:pt x="984182" y="0"/>
                    <a:pt x="1002890" y="0"/>
                    <a:pt x="1002890" y="0"/>
                  </a:cubicBezTo>
                  <a:lnTo>
                    <a:pt x="1002890" y="108646"/>
                  </a:lnTo>
                  <a:cubicBezTo>
                    <a:pt x="1002890" y="108646"/>
                    <a:pt x="984182" y="108646"/>
                    <a:pt x="961103" y="108646"/>
                  </a:cubicBezTo>
                  <a:lnTo>
                    <a:pt x="41787" y="108646"/>
                  </a:lnTo>
                  <a:cubicBezTo>
                    <a:pt x="18709" y="108646"/>
                    <a:pt x="0" y="108646"/>
                    <a:pt x="0" y="108646"/>
                  </a:cubicBezTo>
                  <a:lnTo>
                    <a:pt x="0" y="0"/>
                  </a:lnTo>
                  <a:cubicBezTo>
                    <a:pt x="0" y="0"/>
                    <a:pt x="18709" y="0"/>
                    <a:pt x="41787" y="0"/>
                  </a:cubicBezTo>
                  <a:close/>
                </a:path>
              </a:pathLst>
            </a:custGeom>
            <a:solidFill>
              <a:srgbClr val="4527A0"/>
            </a:solidFill>
            <a:ln w="4179" cap="flat">
              <a:noFill/>
              <a:prstDash val="solid"/>
              <a:miter/>
            </a:ln>
          </p:spPr>
          <p:txBody>
            <a:bodyPr rtlCol="0" anchor="ctr"/>
            <a:lstStyle/>
            <a:p>
              <a:endParaRPr lang="zh-CN" altLang="en-US"/>
            </a:p>
          </p:txBody>
        </p:sp>
        <p:sp>
          <p:nvSpPr>
            <p:cNvPr id="225" name="任意形状 224">
              <a:extLst>
                <a:ext uri="{FF2B5EF4-FFF2-40B4-BE49-F238E27FC236}">
                  <a16:creationId xmlns:a16="http://schemas.microsoft.com/office/drawing/2014/main" id="{CE614917-6102-54CA-BFFF-F9795829CD42}"/>
                </a:ext>
              </a:extLst>
            </p:cNvPr>
            <p:cNvSpPr/>
            <p:nvPr/>
          </p:nvSpPr>
          <p:spPr>
            <a:xfrm>
              <a:off x="6644148" y="1138493"/>
              <a:ext cx="1002890" cy="25072"/>
            </a:xfrm>
            <a:custGeom>
              <a:avLst/>
              <a:gdLst>
                <a:gd name="connsiteX0" fmla="*/ 0 w 1002890"/>
                <a:gd name="connsiteY0" fmla="*/ 0 h 25072"/>
                <a:gd name="connsiteX1" fmla="*/ 1002890 w 1002890"/>
                <a:gd name="connsiteY1" fmla="*/ 0 h 25072"/>
                <a:gd name="connsiteX2" fmla="*/ 1002890 w 1002890"/>
                <a:gd name="connsiteY2" fmla="*/ 25072 h 25072"/>
                <a:gd name="connsiteX3" fmla="*/ 0 w 1002890"/>
                <a:gd name="connsiteY3" fmla="*/ 25072 h 25072"/>
              </a:gdLst>
              <a:ahLst/>
              <a:cxnLst>
                <a:cxn ang="0">
                  <a:pos x="connsiteX0" y="connsiteY0"/>
                </a:cxn>
                <a:cxn ang="0">
                  <a:pos x="connsiteX1" y="connsiteY1"/>
                </a:cxn>
                <a:cxn ang="0">
                  <a:pos x="connsiteX2" y="connsiteY2"/>
                </a:cxn>
                <a:cxn ang="0">
                  <a:pos x="connsiteX3" y="connsiteY3"/>
                </a:cxn>
              </a:cxnLst>
              <a:rect l="l" t="t" r="r" b="b"/>
              <a:pathLst>
                <a:path w="1002890" h="25072">
                  <a:moveTo>
                    <a:pt x="0" y="0"/>
                  </a:moveTo>
                  <a:lnTo>
                    <a:pt x="1002890" y="0"/>
                  </a:lnTo>
                  <a:lnTo>
                    <a:pt x="1002890" y="25072"/>
                  </a:lnTo>
                  <a:lnTo>
                    <a:pt x="0" y="25072"/>
                  </a:lnTo>
                  <a:close/>
                </a:path>
              </a:pathLst>
            </a:custGeom>
            <a:solidFill>
              <a:srgbClr val="4527A0"/>
            </a:solidFill>
            <a:ln w="4179" cap="flat">
              <a:noFill/>
              <a:prstDash val="solid"/>
              <a:miter/>
            </a:ln>
          </p:spPr>
          <p:txBody>
            <a:bodyPr rtlCol="0" anchor="ctr"/>
            <a:lstStyle/>
            <a:p>
              <a:endParaRPr lang="zh-CN" altLang="en-US"/>
            </a:p>
          </p:txBody>
        </p:sp>
        <p:sp>
          <p:nvSpPr>
            <p:cNvPr id="226" name="文本框 225">
              <a:extLst>
                <a:ext uri="{FF2B5EF4-FFF2-40B4-BE49-F238E27FC236}">
                  <a16:creationId xmlns:a16="http://schemas.microsoft.com/office/drawing/2014/main" id="{683065C6-B333-463B-7350-3EABE562385F}"/>
                </a:ext>
              </a:extLst>
            </p:cNvPr>
            <p:cNvSpPr txBox="1"/>
            <p:nvPr/>
          </p:nvSpPr>
          <p:spPr>
            <a:xfrm>
              <a:off x="6730303" y="1038450"/>
              <a:ext cx="826401" cy="154120"/>
            </a:xfrm>
            <a:prstGeom prst="rect">
              <a:avLst/>
            </a:prstGeom>
            <a:noFill/>
          </p:spPr>
          <p:txBody>
            <a:bodyPr wrap="none" rtlCol="0">
              <a:spAutoFit/>
            </a:bodyPr>
            <a:lstStyle/>
            <a:p>
              <a:pPr algn="l"/>
              <a:r>
                <a:rPr lang="zh-CN" altLang="en-US" sz="825" b="1" spc="0" baseline="0">
                  <a:ln/>
                  <a:solidFill>
                    <a:srgbClr val="FFFFFF"/>
                  </a:solidFill>
                  <a:latin typeface="Segoe UI"/>
                  <a:cs typeface="Segoe UI"/>
                  <a:sym typeface="Segoe UI"/>
                  <a:rtl val="0"/>
                </a:rPr>
                <a:t>Policy Implications &amp; Outlook</a:t>
              </a:r>
            </a:p>
          </p:txBody>
        </p:sp>
        <p:sp>
          <p:nvSpPr>
            <p:cNvPr id="227" name="文本框 226">
              <a:extLst>
                <a:ext uri="{FF2B5EF4-FFF2-40B4-BE49-F238E27FC236}">
                  <a16:creationId xmlns:a16="http://schemas.microsoft.com/office/drawing/2014/main" id="{05CBDA2D-0CE7-ABB6-6950-8AD76B18CD65}"/>
                </a:ext>
              </a:extLst>
            </p:cNvPr>
            <p:cNvSpPr txBox="1"/>
            <p:nvPr/>
          </p:nvSpPr>
          <p:spPr>
            <a:xfrm>
              <a:off x="6615389" y="1155454"/>
              <a:ext cx="625823" cy="141584"/>
            </a:xfrm>
            <a:prstGeom prst="rect">
              <a:avLst/>
            </a:prstGeom>
            <a:noFill/>
          </p:spPr>
          <p:txBody>
            <a:bodyPr wrap="none" rtlCol="0">
              <a:spAutoFit/>
            </a:bodyPr>
            <a:lstStyle/>
            <a:p>
              <a:pPr algn="l"/>
              <a:r>
                <a:rPr lang="zh-CN" altLang="en-US" sz="675" b="1" spc="0" baseline="0">
                  <a:ln/>
                  <a:solidFill>
                    <a:srgbClr val="4527A0"/>
                  </a:solidFill>
                  <a:latin typeface="Segoe UI"/>
                  <a:cs typeface="Segoe UI"/>
                  <a:sym typeface="Segoe UI"/>
                  <a:rtl val="0"/>
                </a:rPr>
                <a:t>Policy Recommendations</a:t>
              </a:r>
            </a:p>
          </p:txBody>
        </p:sp>
        <p:sp>
          <p:nvSpPr>
            <p:cNvPr id="228" name="文本框 227">
              <a:extLst>
                <a:ext uri="{FF2B5EF4-FFF2-40B4-BE49-F238E27FC236}">
                  <a16:creationId xmlns:a16="http://schemas.microsoft.com/office/drawing/2014/main" id="{7BFB69B9-98E3-C5CD-7855-A438DE52D7CD}"/>
                </a:ext>
              </a:extLst>
            </p:cNvPr>
            <p:cNvSpPr txBox="1"/>
            <p:nvPr/>
          </p:nvSpPr>
          <p:spPr>
            <a:xfrm>
              <a:off x="6636282" y="1239028"/>
              <a:ext cx="726112" cy="124869"/>
            </a:xfrm>
            <a:prstGeom prst="rect">
              <a:avLst/>
            </a:prstGeom>
            <a:noFill/>
          </p:spPr>
          <p:txBody>
            <a:bodyPr wrap="none" rtlCol="0">
              <a:spAutoFit/>
            </a:bodyPr>
            <a:lstStyle/>
            <a:p>
              <a:pPr algn="l"/>
              <a:r>
                <a:rPr lang="zh-CN" altLang="en-US" sz="525" spc="0" baseline="0">
                  <a:ln/>
                  <a:solidFill>
                    <a:srgbClr val="333333"/>
                  </a:solidFill>
                  <a:latin typeface="Cambria Math"/>
                  <a:sym typeface="Cambria Math"/>
                  <a:rtl val="0"/>
                </a:rPr>
                <a:t>❶</a:t>
              </a:r>
              <a:r>
                <a:rPr lang="zh-CN" altLang="en-US" sz="525" spc="0" baseline="0">
                  <a:ln/>
                  <a:solidFill>
                    <a:srgbClr val="333333"/>
                  </a:solidFill>
                  <a:latin typeface="Arial"/>
                  <a:cs typeface="Arial"/>
                  <a:sym typeface="Arial"/>
                  <a:rtl val="0"/>
                </a:rPr>
                <a:t> Subway emergency operation protocol</a:t>
              </a:r>
            </a:p>
          </p:txBody>
        </p:sp>
        <p:sp>
          <p:nvSpPr>
            <p:cNvPr id="229" name="文本框 228">
              <a:extLst>
                <a:ext uri="{FF2B5EF4-FFF2-40B4-BE49-F238E27FC236}">
                  <a16:creationId xmlns:a16="http://schemas.microsoft.com/office/drawing/2014/main" id="{3CB78E6F-94C3-262C-696A-3E8B62B8B8B6}"/>
                </a:ext>
              </a:extLst>
            </p:cNvPr>
            <p:cNvSpPr txBox="1"/>
            <p:nvPr/>
          </p:nvSpPr>
          <p:spPr>
            <a:xfrm>
              <a:off x="6669712" y="1289172"/>
              <a:ext cx="604929" cy="120690"/>
            </a:xfrm>
            <a:prstGeom prst="rect">
              <a:avLst/>
            </a:prstGeom>
            <a:noFill/>
          </p:spPr>
          <p:txBody>
            <a:bodyPr wrap="none" rtlCol="0">
              <a:spAutoFit/>
            </a:bodyPr>
            <a:lstStyle/>
            <a:p>
              <a:pPr algn="l"/>
              <a:r>
                <a:rPr lang="zh-CN" altLang="en-US" sz="525" spc="0" baseline="0">
                  <a:ln/>
                  <a:solidFill>
                    <a:srgbClr val="666666"/>
                  </a:solidFill>
                  <a:latin typeface="Arial"/>
                  <a:cs typeface="Arial"/>
                  <a:sym typeface="Arial"/>
                  <a:rtl val="0"/>
                </a:rPr>
                <a:t>(contributes 69% evac. capacity)</a:t>
              </a:r>
            </a:p>
          </p:txBody>
        </p:sp>
        <p:sp>
          <p:nvSpPr>
            <p:cNvPr id="230" name="文本框 229">
              <a:extLst>
                <a:ext uri="{FF2B5EF4-FFF2-40B4-BE49-F238E27FC236}">
                  <a16:creationId xmlns:a16="http://schemas.microsoft.com/office/drawing/2014/main" id="{BD71538C-F1C2-6708-6DA1-ABEBF75A1B49}"/>
                </a:ext>
              </a:extLst>
            </p:cNvPr>
            <p:cNvSpPr txBox="1"/>
            <p:nvPr/>
          </p:nvSpPr>
          <p:spPr>
            <a:xfrm>
              <a:off x="6636282" y="1356032"/>
              <a:ext cx="592393" cy="124869"/>
            </a:xfrm>
            <a:prstGeom prst="rect">
              <a:avLst/>
            </a:prstGeom>
            <a:noFill/>
          </p:spPr>
          <p:txBody>
            <a:bodyPr wrap="none" rtlCol="0">
              <a:spAutoFit/>
            </a:bodyPr>
            <a:lstStyle/>
            <a:p>
              <a:pPr algn="l"/>
              <a:r>
                <a:rPr lang="zh-CN" altLang="en-US" sz="525" spc="0" baseline="0">
                  <a:ln/>
                  <a:solidFill>
                    <a:srgbClr val="333333"/>
                  </a:solidFill>
                  <a:latin typeface="Cambria Math"/>
                  <a:sym typeface="Cambria Math"/>
                  <a:rtl val="0"/>
                </a:rPr>
                <a:t>❷</a:t>
              </a:r>
              <a:r>
                <a:rPr lang="zh-CN" altLang="en-US" sz="525" spc="0" baseline="0">
                  <a:ln/>
                  <a:solidFill>
                    <a:srgbClr val="333333"/>
                  </a:solidFill>
                  <a:latin typeface="Arial"/>
                  <a:cs typeface="Arial"/>
                  <a:sym typeface="Arial"/>
                  <a:rtl val="0"/>
                </a:rPr>
                <a:t> Layered evacuation strategy</a:t>
              </a:r>
            </a:p>
          </p:txBody>
        </p:sp>
        <p:sp>
          <p:nvSpPr>
            <p:cNvPr id="231" name="文本框 230">
              <a:extLst>
                <a:ext uri="{FF2B5EF4-FFF2-40B4-BE49-F238E27FC236}">
                  <a16:creationId xmlns:a16="http://schemas.microsoft.com/office/drawing/2014/main" id="{24E36BD0-3F92-CDFD-3CBC-F7A2716B59FB}"/>
                </a:ext>
              </a:extLst>
            </p:cNvPr>
            <p:cNvSpPr txBox="1"/>
            <p:nvPr/>
          </p:nvSpPr>
          <p:spPr>
            <a:xfrm>
              <a:off x="6669712" y="1406176"/>
              <a:ext cx="747005" cy="120690"/>
            </a:xfrm>
            <a:prstGeom prst="rect">
              <a:avLst/>
            </a:prstGeom>
            <a:noFill/>
          </p:spPr>
          <p:txBody>
            <a:bodyPr wrap="none" rtlCol="0">
              <a:spAutoFit/>
            </a:bodyPr>
            <a:lstStyle/>
            <a:p>
              <a:pPr algn="l"/>
              <a:r>
                <a:rPr lang="zh-CN" altLang="en-US" sz="525" spc="0" baseline="0">
                  <a:ln/>
                  <a:solidFill>
                    <a:srgbClr val="666666"/>
                  </a:solidFill>
                  <a:latin typeface="Arial"/>
                  <a:cs typeface="Arial"/>
                  <a:sym typeface="Arial"/>
                  <a:rtl val="0"/>
                </a:rPr>
                <a:t>(1km forced evac. + 1-3km shelter-in-place)</a:t>
              </a:r>
            </a:p>
          </p:txBody>
        </p:sp>
        <p:sp>
          <p:nvSpPr>
            <p:cNvPr id="232" name="文本框 231">
              <a:extLst>
                <a:ext uri="{FF2B5EF4-FFF2-40B4-BE49-F238E27FC236}">
                  <a16:creationId xmlns:a16="http://schemas.microsoft.com/office/drawing/2014/main" id="{3AF7E2FF-C5C9-D71C-271D-E3455F0F121E}"/>
                </a:ext>
              </a:extLst>
            </p:cNvPr>
            <p:cNvSpPr txBox="1"/>
            <p:nvPr/>
          </p:nvSpPr>
          <p:spPr>
            <a:xfrm>
              <a:off x="6636282" y="1473036"/>
              <a:ext cx="805507" cy="124869"/>
            </a:xfrm>
            <a:prstGeom prst="rect">
              <a:avLst/>
            </a:prstGeom>
            <a:noFill/>
          </p:spPr>
          <p:txBody>
            <a:bodyPr wrap="none" rtlCol="0">
              <a:spAutoFit/>
            </a:bodyPr>
            <a:lstStyle/>
            <a:p>
              <a:pPr algn="l"/>
              <a:r>
                <a:rPr lang="zh-CN" altLang="en-US" sz="525" spc="0" baseline="0">
                  <a:ln/>
                  <a:solidFill>
                    <a:srgbClr val="333333"/>
                  </a:solidFill>
                  <a:latin typeface="Cambria Math"/>
                  <a:sym typeface="Cambria Math"/>
                  <a:rtl val="0"/>
                </a:rPr>
                <a:t>❸</a:t>
              </a:r>
              <a:r>
                <a:rPr lang="zh-CN" altLang="en-US" sz="525" spc="0" baseline="0">
                  <a:ln/>
                  <a:solidFill>
                    <a:srgbClr val="333333"/>
                  </a:solidFill>
                  <a:latin typeface="Arial"/>
                  <a:cs typeface="Arial"/>
                  <a:sym typeface="Arial"/>
                  <a:rtl val="0"/>
                </a:rPr>
                <a:t> Pre-position helicopters at high-risk corridors</a:t>
              </a:r>
            </a:p>
          </p:txBody>
        </p:sp>
        <p:sp>
          <p:nvSpPr>
            <p:cNvPr id="233" name="文本框 232">
              <a:extLst>
                <a:ext uri="{FF2B5EF4-FFF2-40B4-BE49-F238E27FC236}">
                  <a16:creationId xmlns:a16="http://schemas.microsoft.com/office/drawing/2014/main" id="{F32ABE01-7CA6-2805-57CC-D5DC59539CA9}"/>
                </a:ext>
              </a:extLst>
            </p:cNvPr>
            <p:cNvSpPr txBox="1"/>
            <p:nvPr/>
          </p:nvSpPr>
          <p:spPr>
            <a:xfrm>
              <a:off x="6669712" y="1523180"/>
              <a:ext cx="558963" cy="120690"/>
            </a:xfrm>
            <a:prstGeom prst="rect">
              <a:avLst/>
            </a:prstGeom>
            <a:noFill/>
          </p:spPr>
          <p:txBody>
            <a:bodyPr wrap="none" rtlCol="0">
              <a:spAutoFit/>
            </a:bodyPr>
            <a:lstStyle/>
            <a:p>
              <a:pPr algn="l"/>
              <a:r>
                <a:rPr lang="zh-CN" altLang="en-US" sz="525" spc="0" baseline="0">
                  <a:ln/>
                  <a:solidFill>
                    <a:srgbClr val="666666"/>
                  </a:solidFill>
                  <a:latin typeface="Arial"/>
                  <a:cs typeface="Arial"/>
                  <a:sym typeface="Arial"/>
                  <a:rtl val="0"/>
                </a:rPr>
                <a:t>(rapid critical patient transfer)</a:t>
              </a:r>
            </a:p>
          </p:txBody>
        </p:sp>
        <p:sp>
          <p:nvSpPr>
            <p:cNvPr id="234" name="文本框 233">
              <a:extLst>
                <a:ext uri="{FF2B5EF4-FFF2-40B4-BE49-F238E27FC236}">
                  <a16:creationId xmlns:a16="http://schemas.microsoft.com/office/drawing/2014/main" id="{B179743C-385F-BF3A-C7FC-15984C5A0473}"/>
                </a:ext>
              </a:extLst>
            </p:cNvPr>
            <p:cNvSpPr txBox="1"/>
            <p:nvPr/>
          </p:nvSpPr>
          <p:spPr>
            <a:xfrm>
              <a:off x="6636282" y="1590039"/>
              <a:ext cx="579857" cy="124869"/>
            </a:xfrm>
            <a:prstGeom prst="rect">
              <a:avLst/>
            </a:prstGeom>
            <a:noFill/>
          </p:spPr>
          <p:txBody>
            <a:bodyPr wrap="none" rtlCol="0">
              <a:spAutoFit/>
            </a:bodyPr>
            <a:lstStyle/>
            <a:p>
              <a:pPr algn="l"/>
              <a:r>
                <a:rPr lang="zh-CN" altLang="en-US" sz="525" spc="0" baseline="0">
                  <a:ln/>
                  <a:solidFill>
                    <a:srgbClr val="333333"/>
                  </a:solidFill>
                  <a:latin typeface="Cambria Math"/>
                  <a:sym typeface="Cambria Math"/>
                  <a:rtl val="0"/>
                </a:rPr>
                <a:t>❹</a:t>
              </a:r>
              <a:r>
                <a:rPr lang="zh-CN" altLang="en-US" sz="525" spc="0" baseline="0">
                  <a:ln/>
                  <a:solidFill>
                    <a:srgbClr val="333333"/>
                  </a:solidFill>
                  <a:latin typeface="Arial"/>
                  <a:cs typeface="Arial"/>
                  <a:sym typeface="Arial"/>
                  <a:rtl val="0"/>
                </a:rPr>
                <a:t> Invest in UAV infrastructure</a:t>
              </a:r>
            </a:p>
          </p:txBody>
        </p:sp>
        <p:sp>
          <p:nvSpPr>
            <p:cNvPr id="235" name="文本框 234">
              <a:extLst>
                <a:ext uri="{FF2B5EF4-FFF2-40B4-BE49-F238E27FC236}">
                  <a16:creationId xmlns:a16="http://schemas.microsoft.com/office/drawing/2014/main" id="{A99B0695-549D-5DF6-C30E-1B317876DF95}"/>
                </a:ext>
              </a:extLst>
            </p:cNvPr>
            <p:cNvSpPr txBox="1"/>
            <p:nvPr/>
          </p:nvSpPr>
          <p:spPr>
            <a:xfrm>
              <a:off x="6669712" y="1640184"/>
              <a:ext cx="717754" cy="120690"/>
            </a:xfrm>
            <a:prstGeom prst="rect">
              <a:avLst/>
            </a:prstGeom>
            <a:noFill/>
          </p:spPr>
          <p:txBody>
            <a:bodyPr wrap="none" rtlCol="0">
              <a:spAutoFit/>
            </a:bodyPr>
            <a:lstStyle/>
            <a:p>
              <a:pPr algn="l"/>
              <a:r>
                <a:rPr lang="zh-CN" altLang="en-US" sz="525" spc="0" baseline="0">
                  <a:ln/>
                  <a:solidFill>
                    <a:srgbClr val="666666"/>
                  </a:solidFill>
                  <a:latin typeface="Arial"/>
                  <a:cs typeface="Arial"/>
                  <a:sym typeface="Arial"/>
                  <a:rtl val="0"/>
                </a:rPr>
                <a:t>(advantage grows with larger disruptions)</a:t>
              </a:r>
            </a:p>
          </p:txBody>
        </p:sp>
        <p:sp>
          <p:nvSpPr>
            <p:cNvPr id="236" name="文本框 235">
              <a:extLst>
                <a:ext uri="{FF2B5EF4-FFF2-40B4-BE49-F238E27FC236}">
                  <a16:creationId xmlns:a16="http://schemas.microsoft.com/office/drawing/2014/main" id="{D172425F-B135-F91B-2243-3A3D5A88D2EA}"/>
                </a:ext>
              </a:extLst>
            </p:cNvPr>
            <p:cNvSpPr txBox="1"/>
            <p:nvPr/>
          </p:nvSpPr>
          <p:spPr>
            <a:xfrm>
              <a:off x="6636282" y="1707043"/>
              <a:ext cx="675967" cy="124869"/>
            </a:xfrm>
            <a:prstGeom prst="rect">
              <a:avLst/>
            </a:prstGeom>
            <a:noFill/>
          </p:spPr>
          <p:txBody>
            <a:bodyPr wrap="none" rtlCol="0">
              <a:spAutoFit/>
            </a:bodyPr>
            <a:lstStyle/>
            <a:p>
              <a:pPr algn="l"/>
              <a:r>
                <a:rPr lang="zh-CN" altLang="en-US" sz="525" spc="0" baseline="0">
                  <a:ln/>
                  <a:solidFill>
                    <a:srgbClr val="333333"/>
                  </a:solidFill>
                  <a:latin typeface="Cambria Math"/>
                  <a:sym typeface="Cambria Math"/>
                  <a:rtl val="0"/>
                </a:rPr>
                <a:t>❺</a:t>
              </a:r>
              <a:r>
                <a:rPr lang="zh-CN" altLang="en-US" sz="525" spc="0" baseline="0">
                  <a:ln/>
                  <a:solidFill>
                    <a:srgbClr val="333333"/>
                  </a:solidFill>
                  <a:latin typeface="Arial"/>
                  <a:cs typeface="Arial"/>
                  <a:sym typeface="Arial"/>
                  <a:rtl val="0"/>
                </a:rPr>
                <a:t> Integrate real-time wind monitoring</a:t>
              </a:r>
            </a:p>
          </p:txBody>
        </p:sp>
        <p:sp>
          <p:nvSpPr>
            <p:cNvPr id="237" name="文本框 236">
              <a:extLst>
                <a:ext uri="{FF2B5EF4-FFF2-40B4-BE49-F238E27FC236}">
                  <a16:creationId xmlns:a16="http://schemas.microsoft.com/office/drawing/2014/main" id="{8B9FC420-0E20-4E98-FDDA-A99314615BAC}"/>
                </a:ext>
              </a:extLst>
            </p:cNvPr>
            <p:cNvSpPr txBox="1"/>
            <p:nvPr/>
          </p:nvSpPr>
          <p:spPr>
            <a:xfrm>
              <a:off x="6669712" y="1757188"/>
              <a:ext cx="592393" cy="120690"/>
            </a:xfrm>
            <a:prstGeom prst="rect">
              <a:avLst/>
            </a:prstGeom>
            <a:noFill/>
          </p:spPr>
          <p:txBody>
            <a:bodyPr wrap="none" rtlCol="0">
              <a:spAutoFit/>
            </a:bodyPr>
            <a:lstStyle/>
            <a:p>
              <a:pPr algn="l"/>
              <a:r>
                <a:rPr lang="zh-CN" altLang="en-US" sz="525" spc="0" baseline="0">
                  <a:ln/>
                  <a:solidFill>
                    <a:srgbClr val="666666"/>
                  </a:solidFill>
                  <a:latin typeface="Arial"/>
                  <a:cs typeface="Arial"/>
                  <a:sym typeface="Arial"/>
                  <a:rtl val="0"/>
                </a:rPr>
                <a:t>(dynamic hazard zone updates)</a:t>
              </a:r>
            </a:p>
          </p:txBody>
        </p:sp>
        <p:sp>
          <p:nvSpPr>
            <p:cNvPr id="238" name="任意形状 237">
              <a:extLst>
                <a:ext uri="{FF2B5EF4-FFF2-40B4-BE49-F238E27FC236}">
                  <a16:creationId xmlns:a16="http://schemas.microsoft.com/office/drawing/2014/main" id="{51D93FAE-123D-E5B2-C29B-556A3950CEAD}"/>
                </a:ext>
              </a:extLst>
            </p:cNvPr>
            <p:cNvSpPr/>
            <p:nvPr/>
          </p:nvSpPr>
          <p:spPr>
            <a:xfrm>
              <a:off x="6727722" y="1890661"/>
              <a:ext cx="835741" cy="4178"/>
            </a:xfrm>
            <a:custGeom>
              <a:avLst/>
              <a:gdLst>
                <a:gd name="connsiteX0" fmla="*/ 0 w 835741"/>
                <a:gd name="connsiteY0" fmla="*/ 0 h 4178"/>
                <a:gd name="connsiteX1" fmla="*/ 835742 w 835741"/>
                <a:gd name="connsiteY1" fmla="*/ 0 h 4178"/>
              </a:gdLst>
              <a:ahLst/>
              <a:cxnLst>
                <a:cxn ang="0">
                  <a:pos x="connsiteX0" y="connsiteY0"/>
                </a:cxn>
                <a:cxn ang="0">
                  <a:pos x="connsiteX1" y="connsiteY1"/>
                </a:cxn>
              </a:cxnLst>
              <a:rect l="l" t="t" r="r" b="b"/>
              <a:pathLst>
                <a:path w="835741" h="4178">
                  <a:moveTo>
                    <a:pt x="0" y="0"/>
                  </a:moveTo>
                  <a:lnTo>
                    <a:pt x="835742" y="0"/>
                  </a:lnTo>
                </a:path>
              </a:pathLst>
            </a:custGeom>
            <a:ln w="2089" cap="flat">
              <a:solidFill>
                <a:srgbClr val="D1C4E9"/>
              </a:solidFill>
              <a:prstDash val="solid"/>
              <a:miter/>
            </a:ln>
          </p:spPr>
          <p:txBody>
            <a:bodyPr rtlCol="0" anchor="ctr"/>
            <a:lstStyle/>
            <a:p>
              <a:endParaRPr lang="zh-CN" altLang="en-US"/>
            </a:p>
          </p:txBody>
        </p:sp>
        <p:sp>
          <p:nvSpPr>
            <p:cNvPr id="239" name="文本框 238">
              <a:extLst>
                <a:ext uri="{FF2B5EF4-FFF2-40B4-BE49-F238E27FC236}">
                  <a16:creationId xmlns:a16="http://schemas.microsoft.com/office/drawing/2014/main" id="{B6F99466-32D2-D00A-0120-89A4104F2749}"/>
                </a:ext>
              </a:extLst>
            </p:cNvPr>
            <p:cNvSpPr txBox="1"/>
            <p:nvPr/>
          </p:nvSpPr>
          <p:spPr>
            <a:xfrm>
              <a:off x="6615389" y="1874192"/>
              <a:ext cx="379279" cy="141584"/>
            </a:xfrm>
            <a:prstGeom prst="rect">
              <a:avLst/>
            </a:prstGeom>
            <a:noFill/>
          </p:spPr>
          <p:txBody>
            <a:bodyPr wrap="none" rtlCol="0">
              <a:spAutoFit/>
            </a:bodyPr>
            <a:lstStyle/>
            <a:p>
              <a:pPr algn="l"/>
              <a:r>
                <a:rPr lang="zh-CN" altLang="en-US" sz="675" b="1" spc="0" baseline="0">
                  <a:ln/>
                  <a:solidFill>
                    <a:srgbClr val="4527A0"/>
                  </a:solidFill>
                  <a:latin typeface="Segoe UI"/>
                  <a:cs typeface="Segoe UI"/>
                  <a:sym typeface="Segoe UI"/>
                  <a:rtl val="0"/>
                </a:rPr>
                <a:t>Limitations</a:t>
              </a:r>
            </a:p>
          </p:txBody>
        </p:sp>
        <p:sp>
          <p:nvSpPr>
            <p:cNvPr id="240" name="文本框 239">
              <a:extLst>
                <a:ext uri="{FF2B5EF4-FFF2-40B4-BE49-F238E27FC236}">
                  <a16:creationId xmlns:a16="http://schemas.microsoft.com/office/drawing/2014/main" id="{EEA0D936-D551-94EB-221B-20420D34E654}"/>
                </a:ext>
              </a:extLst>
            </p:cNvPr>
            <p:cNvSpPr txBox="1"/>
            <p:nvPr/>
          </p:nvSpPr>
          <p:spPr>
            <a:xfrm>
              <a:off x="6636282" y="1957766"/>
              <a:ext cx="684325"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Greedy heuristic: no global optimality</a:t>
              </a:r>
            </a:p>
          </p:txBody>
        </p:sp>
        <p:sp>
          <p:nvSpPr>
            <p:cNvPr id="241" name="文本框 240">
              <a:extLst>
                <a:ext uri="{FF2B5EF4-FFF2-40B4-BE49-F238E27FC236}">
                  <a16:creationId xmlns:a16="http://schemas.microsoft.com/office/drawing/2014/main" id="{2ED5C52D-6700-667E-857F-FC4F68236880}"/>
                </a:ext>
              </a:extLst>
            </p:cNvPr>
            <p:cNvSpPr txBox="1"/>
            <p:nvPr/>
          </p:nvSpPr>
          <p:spPr>
            <a:xfrm>
              <a:off x="6636282" y="2016268"/>
              <a:ext cx="675967"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Uniform age structure at district level</a:t>
              </a:r>
            </a:p>
          </p:txBody>
        </p:sp>
        <p:sp>
          <p:nvSpPr>
            <p:cNvPr id="242" name="文本框 241">
              <a:extLst>
                <a:ext uri="{FF2B5EF4-FFF2-40B4-BE49-F238E27FC236}">
                  <a16:creationId xmlns:a16="http://schemas.microsoft.com/office/drawing/2014/main" id="{98068D81-1DE8-4A1B-DB98-480CFD2E5CF5}"/>
                </a:ext>
              </a:extLst>
            </p:cNvPr>
            <p:cNvSpPr txBox="1"/>
            <p:nvPr/>
          </p:nvSpPr>
          <p:spPr>
            <a:xfrm>
              <a:off x="6636282" y="2074770"/>
              <a:ext cx="630001"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Static Gaussian plume (not CFD)</a:t>
              </a:r>
            </a:p>
          </p:txBody>
        </p:sp>
        <p:sp>
          <p:nvSpPr>
            <p:cNvPr id="243" name="文本框 242">
              <a:extLst>
                <a:ext uri="{FF2B5EF4-FFF2-40B4-BE49-F238E27FC236}">
                  <a16:creationId xmlns:a16="http://schemas.microsoft.com/office/drawing/2014/main" id="{EBE024ED-FE80-7350-9B83-978C2C5DF9C0}"/>
                </a:ext>
              </a:extLst>
            </p:cNvPr>
            <p:cNvSpPr txBox="1"/>
            <p:nvPr/>
          </p:nvSpPr>
          <p:spPr>
            <a:xfrm>
              <a:off x="6636282" y="2133272"/>
              <a:ext cx="734469"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BPR static congestion (no DTA feedback)</a:t>
              </a:r>
            </a:p>
          </p:txBody>
        </p:sp>
        <p:sp>
          <p:nvSpPr>
            <p:cNvPr id="244" name="任意形状 243">
              <a:extLst>
                <a:ext uri="{FF2B5EF4-FFF2-40B4-BE49-F238E27FC236}">
                  <a16:creationId xmlns:a16="http://schemas.microsoft.com/office/drawing/2014/main" id="{9F748496-6EE6-100D-2852-94533C6FE80D}"/>
                </a:ext>
              </a:extLst>
            </p:cNvPr>
            <p:cNvSpPr/>
            <p:nvPr/>
          </p:nvSpPr>
          <p:spPr>
            <a:xfrm>
              <a:off x="6727722" y="2254208"/>
              <a:ext cx="835741" cy="4178"/>
            </a:xfrm>
            <a:custGeom>
              <a:avLst/>
              <a:gdLst>
                <a:gd name="connsiteX0" fmla="*/ 0 w 835741"/>
                <a:gd name="connsiteY0" fmla="*/ 0 h 4178"/>
                <a:gd name="connsiteX1" fmla="*/ 835742 w 835741"/>
                <a:gd name="connsiteY1" fmla="*/ 0 h 4178"/>
              </a:gdLst>
              <a:ahLst/>
              <a:cxnLst>
                <a:cxn ang="0">
                  <a:pos x="connsiteX0" y="connsiteY0"/>
                </a:cxn>
                <a:cxn ang="0">
                  <a:pos x="connsiteX1" y="connsiteY1"/>
                </a:cxn>
              </a:cxnLst>
              <a:rect l="l" t="t" r="r" b="b"/>
              <a:pathLst>
                <a:path w="835741" h="4178">
                  <a:moveTo>
                    <a:pt x="0" y="0"/>
                  </a:moveTo>
                  <a:lnTo>
                    <a:pt x="835742" y="0"/>
                  </a:lnTo>
                </a:path>
              </a:pathLst>
            </a:custGeom>
            <a:ln w="2089" cap="flat">
              <a:solidFill>
                <a:srgbClr val="D1C4E9"/>
              </a:solidFill>
              <a:prstDash val="solid"/>
              <a:miter/>
            </a:ln>
          </p:spPr>
          <p:txBody>
            <a:bodyPr rtlCol="0" anchor="ctr"/>
            <a:lstStyle/>
            <a:p>
              <a:endParaRPr lang="zh-CN" altLang="en-US"/>
            </a:p>
          </p:txBody>
        </p:sp>
        <p:sp>
          <p:nvSpPr>
            <p:cNvPr id="245" name="文本框 244">
              <a:extLst>
                <a:ext uri="{FF2B5EF4-FFF2-40B4-BE49-F238E27FC236}">
                  <a16:creationId xmlns:a16="http://schemas.microsoft.com/office/drawing/2014/main" id="{CFD3CBED-0FC8-C3D4-8CB2-6DA6D5FBCD6D}"/>
                </a:ext>
              </a:extLst>
            </p:cNvPr>
            <p:cNvSpPr txBox="1"/>
            <p:nvPr/>
          </p:nvSpPr>
          <p:spPr>
            <a:xfrm>
              <a:off x="6615389" y="2233561"/>
              <a:ext cx="487925" cy="141584"/>
            </a:xfrm>
            <a:prstGeom prst="rect">
              <a:avLst/>
            </a:prstGeom>
            <a:noFill/>
          </p:spPr>
          <p:txBody>
            <a:bodyPr wrap="none" rtlCol="0">
              <a:spAutoFit/>
            </a:bodyPr>
            <a:lstStyle/>
            <a:p>
              <a:pPr algn="l"/>
              <a:r>
                <a:rPr lang="zh-CN" altLang="en-US" sz="675" b="1" spc="0" baseline="0">
                  <a:ln/>
                  <a:solidFill>
                    <a:srgbClr val="4527A0"/>
                  </a:solidFill>
                  <a:latin typeface="Segoe UI"/>
                  <a:cs typeface="Segoe UI"/>
                  <a:sym typeface="Segoe UI"/>
                  <a:rtl val="0"/>
                </a:rPr>
                <a:t>Future Directions</a:t>
              </a:r>
            </a:p>
          </p:txBody>
        </p:sp>
        <p:sp>
          <p:nvSpPr>
            <p:cNvPr id="246" name="文本框 245">
              <a:extLst>
                <a:ext uri="{FF2B5EF4-FFF2-40B4-BE49-F238E27FC236}">
                  <a16:creationId xmlns:a16="http://schemas.microsoft.com/office/drawing/2014/main" id="{DA6FBCFA-23C7-2FAF-257F-EFEB6E7661B9}"/>
                </a:ext>
              </a:extLst>
            </p:cNvPr>
            <p:cNvSpPr txBox="1"/>
            <p:nvPr/>
          </p:nvSpPr>
          <p:spPr>
            <a:xfrm>
              <a:off x="6636282" y="2317135"/>
              <a:ext cx="734469"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MIP exact methods / ALNS metaheuristic</a:t>
              </a:r>
            </a:p>
          </p:txBody>
        </p:sp>
        <p:sp>
          <p:nvSpPr>
            <p:cNvPr id="247" name="文本框 246">
              <a:extLst>
                <a:ext uri="{FF2B5EF4-FFF2-40B4-BE49-F238E27FC236}">
                  <a16:creationId xmlns:a16="http://schemas.microsoft.com/office/drawing/2014/main" id="{27F51A2D-78E2-DC1A-AD7F-D2224A4F019A}"/>
                </a:ext>
              </a:extLst>
            </p:cNvPr>
            <p:cNvSpPr txBox="1"/>
            <p:nvPr/>
          </p:nvSpPr>
          <p:spPr>
            <a:xfrm>
              <a:off x="6636282" y="2375637"/>
              <a:ext cx="655074"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CFD-coupled dispersion simulation</a:t>
              </a:r>
            </a:p>
          </p:txBody>
        </p:sp>
        <p:sp>
          <p:nvSpPr>
            <p:cNvPr id="248" name="文本框 247">
              <a:extLst>
                <a:ext uri="{FF2B5EF4-FFF2-40B4-BE49-F238E27FC236}">
                  <a16:creationId xmlns:a16="http://schemas.microsoft.com/office/drawing/2014/main" id="{4C60A373-FA25-6383-7B68-CFDFC6E1C609}"/>
                </a:ext>
              </a:extLst>
            </p:cNvPr>
            <p:cNvSpPr txBox="1"/>
            <p:nvPr/>
          </p:nvSpPr>
          <p:spPr>
            <a:xfrm>
              <a:off x="6636282" y="2434139"/>
              <a:ext cx="688503"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Meso/micro traffic simulation coupling</a:t>
              </a:r>
            </a:p>
          </p:txBody>
        </p:sp>
        <p:sp>
          <p:nvSpPr>
            <p:cNvPr id="249" name="文本框 248">
              <a:extLst>
                <a:ext uri="{FF2B5EF4-FFF2-40B4-BE49-F238E27FC236}">
                  <a16:creationId xmlns:a16="http://schemas.microsoft.com/office/drawing/2014/main" id="{DC56742F-DC61-3B33-C5DF-3E556119F4A6}"/>
                </a:ext>
              </a:extLst>
            </p:cNvPr>
            <p:cNvSpPr txBox="1"/>
            <p:nvPr/>
          </p:nvSpPr>
          <p:spPr>
            <a:xfrm>
              <a:off x="6636282" y="2492641"/>
              <a:ext cx="609108"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Building-level population model</a:t>
              </a:r>
            </a:p>
          </p:txBody>
        </p:sp>
        <p:sp>
          <p:nvSpPr>
            <p:cNvPr id="250" name="文本框 249">
              <a:extLst>
                <a:ext uri="{FF2B5EF4-FFF2-40B4-BE49-F238E27FC236}">
                  <a16:creationId xmlns:a16="http://schemas.microsoft.com/office/drawing/2014/main" id="{B6314FB3-6247-979D-1B84-73E1CA523345}"/>
                </a:ext>
              </a:extLst>
            </p:cNvPr>
            <p:cNvSpPr txBox="1"/>
            <p:nvPr/>
          </p:nvSpPr>
          <p:spPr>
            <a:xfrm>
              <a:off x="6636282" y="2551143"/>
              <a:ext cx="692682" cy="120690"/>
            </a:xfrm>
            <a:prstGeom prst="rect">
              <a:avLst/>
            </a:prstGeom>
            <a:noFill/>
          </p:spPr>
          <p:txBody>
            <a:bodyPr wrap="none" rtlCol="0">
              <a:spAutoFit/>
            </a:bodyPr>
            <a:lstStyle/>
            <a:p>
              <a:pPr algn="l"/>
              <a:r>
                <a:rPr lang="zh-CN" altLang="en-US" sz="525" spc="0" baseline="0">
                  <a:ln/>
                  <a:solidFill>
                    <a:srgbClr val="333333"/>
                  </a:solidFill>
                  <a:latin typeface="Arial"/>
                  <a:cs typeface="Arial"/>
                  <a:sym typeface="Arial"/>
                  <a:rtl val="0"/>
                </a:rPr>
                <a:t>• Calibration with real emergency plans</a:t>
              </a:r>
            </a:p>
          </p:txBody>
        </p:sp>
      </p:grpSp>
      <p:sp>
        <p:nvSpPr>
          <p:cNvPr id="251" name="任意形状 250">
            <a:extLst>
              <a:ext uri="{FF2B5EF4-FFF2-40B4-BE49-F238E27FC236}">
                <a16:creationId xmlns:a16="http://schemas.microsoft.com/office/drawing/2014/main" id="{8094D026-CB3A-4954-B641-52BF90D3F7FD}"/>
              </a:ext>
            </a:extLst>
          </p:cNvPr>
          <p:cNvSpPr/>
          <p:nvPr/>
        </p:nvSpPr>
        <p:spPr>
          <a:xfrm>
            <a:off x="1608803" y="2120490"/>
            <a:ext cx="96110" cy="4178"/>
          </a:xfrm>
          <a:custGeom>
            <a:avLst/>
            <a:gdLst>
              <a:gd name="connsiteX0" fmla="*/ 0 w 96110"/>
              <a:gd name="connsiteY0" fmla="*/ 0 h 4178"/>
              <a:gd name="connsiteX1" fmla="*/ 96110 w 96110"/>
              <a:gd name="connsiteY1" fmla="*/ 0 h 4178"/>
            </a:gdLst>
            <a:ahLst/>
            <a:cxnLst>
              <a:cxn ang="0">
                <a:pos x="connsiteX0" y="connsiteY0"/>
              </a:cxn>
              <a:cxn ang="0">
                <a:pos x="connsiteX1" y="connsiteY1"/>
              </a:cxn>
            </a:cxnLst>
            <a:rect l="l" t="t" r="r" b="b"/>
            <a:pathLst>
              <a:path w="96110" h="4178">
                <a:moveTo>
                  <a:pt x="0" y="0"/>
                </a:moveTo>
                <a:lnTo>
                  <a:pt x="96110" y="0"/>
                </a:lnTo>
              </a:path>
            </a:pathLst>
          </a:custGeom>
          <a:ln w="6268" cap="flat">
            <a:solidFill>
              <a:srgbClr val="455A64"/>
            </a:solidFill>
            <a:prstDash val="solid"/>
            <a:miter/>
          </a:ln>
        </p:spPr>
        <p:txBody>
          <a:bodyPr rtlCol="0" anchor="ctr"/>
          <a:lstStyle/>
          <a:p>
            <a:endParaRPr lang="zh-CN" altLang="en-US"/>
          </a:p>
        </p:txBody>
      </p:sp>
      <p:sp>
        <p:nvSpPr>
          <p:cNvPr id="252" name="任意形状 251">
            <a:extLst>
              <a:ext uri="{FF2B5EF4-FFF2-40B4-BE49-F238E27FC236}">
                <a16:creationId xmlns:a16="http://schemas.microsoft.com/office/drawing/2014/main" id="{427306EF-6019-227A-AF95-BD4C1B04B06A}"/>
              </a:ext>
            </a:extLst>
          </p:cNvPr>
          <p:cNvSpPr/>
          <p:nvPr/>
        </p:nvSpPr>
        <p:spPr>
          <a:xfrm>
            <a:off x="2757948" y="1493683"/>
            <a:ext cx="158790" cy="83574"/>
          </a:xfrm>
          <a:custGeom>
            <a:avLst/>
            <a:gdLst>
              <a:gd name="connsiteX0" fmla="*/ 0 w 158790"/>
              <a:gd name="connsiteY0" fmla="*/ 83574 h 83574"/>
              <a:gd name="connsiteX1" fmla="*/ 104468 w 158790"/>
              <a:gd name="connsiteY1" fmla="*/ 83574 h 83574"/>
              <a:gd name="connsiteX2" fmla="*/ 104468 w 158790"/>
              <a:gd name="connsiteY2" fmla="*/ 0 h 83574"/>
              <a:gd name="connsiteX3" fmla="*/ 158791 w 158790"/>
              <a:gd name="connsiteY3" fmla="*/ 0 h 83574"/>
            </a:gdLst>
            <a:ahLst/>
            <a:cxnLst>
              <a:cxn ang="0">
                <a:pos x="connsiteX0" y="connsiteY0"/>
              </a:cxn>
              <a:cxn ang="0">
                <a:pos x="connsiteX1" y="connsiteY1"/>
              </a:cxn>
              <a:cxn ang="0">
                <a:pos x="connsiteX2" y="connsiteY2"/>
              </a:cxn>
              <a:cxn ang="0">
                <a:pos x="connsiteX3" y="connsiteY3"/>
              </a:cxn>
            </a:cxnLst>
            <a:rect l="l" t="t" r="r" b="b"/>
            <a:pathLst>
              <a:path w="158790" h="83574">
                <a:moveTo>
                  <a:pt x="0" y="83574"/>
                </a:moveTo>
                <a:lnTo>
                  <a:pt x="104468" y="83574"/>
                </a:lnTo>
                <a:lnTo>
                  <a:pt x="104468" y="0"/>
                </a:lnTo>
                <a:lnTo>
                  <a:pt x="158791" y="0"/>
                </a:lnTo>
              </a:path>
            </a:pathLst>
          </a:custGeom>
          <a:noFill/>
          <a:ln w="6268" cap="flat">
            <a:solidFill>
              <a:srgbClr val="2E7D32"/>
            </a:solidFill>
            <a:prstDash val="solid"/>
            <a:miter/>
          </a:ln>
        </p:spPr>
        <p:txBody>
          <a:bodyPr rtlCol="0" anchor="ctr"/>
          <a:lstStyle/>
          <a:p>
            <a:endParaRPr lang="zh-CN" altLang="en-US"/>
          </a:p>
        </p:txBody>
      </p:sp>
      <p:sp>
        <p:nvSpPr>
          <p:cNvPr id="253" name="任意形状 252">
            <a:extLst>
              <a:ext uri="{FF2B5EF4-FFF2-40B4-BE49-F238E27FC236}">
                <a16:creationId xmlns:a16="http://schemas.microsoft.com/office/drawing/2014/main" id="{B3B4FDA2-6B79-B38E-1B4F-7561B1F9222A}"/>
              </a:ext>
            </a:extLst>
          </p:cNvPr>
          <p:cNvSpPr/>
          <p:nvPr/>
        </p:nvSpPr>
        <p:spPr>
          <a:xfrm>
            <a:off x="2757948" y="2371212"/>
            <a:ext cx="158790" cy="41787"/>
          </a:xfrm>
          <a:custGeom>
            <a:avLst/>
            <a:gdLst>
              <a:gd name="connsiteX0" fmla="*/ 0 w 158790"/>
              <a:gd name="connsiteY0" fmla="*/ 41787 h 41787"/>
              <a:gd name="connsiteX1" fmla="*/ 104468 w 158790"/>
              <a:gd name="connsiteY1" fmla="*/ 41787 h 41787"/>
              <a:gd name="connsiteX2" fmla="*/ 104468 w 158790"/>
              <a:gd name="connsiteY2" fmla="*/ 0 h 41787"/>
              <a:gd name="connsiteX3" fmla="*/ 158791 w 158790"/>
              <a:gd name="connsiteY3" fmla="*/ 0 h 41787"/>
            </a:gdLst>
            <a:ahLst/>
            <a:cxnLst>
              <a:cxn ang="0">
                <a:pos x="connsiteX0" y="connsiteY0"/>
              </a:cxn>
              <a:cxn ang="0">
                <a:pos x="connsiteX1" y="connsiteY1"/>
              </a:cxn>
              <a:cxn ang="0">
                <a:pos x="connsiteX2" y="connsiteY2"/>
              </a:cxn>
              <a:cxn ang="0">
                <a:pos x="connsiteX3" y="connsiteY3"/>
              </a:cxn>
            </a:cxnLst>
            <a:rect l="l" t="t" r="r" b="b"/>
            <a:pathLst>
              <a:path w="158790" h="41787">
                <a:moveTo>
                  <a:pt x="0" y="41787"/>
                </a:moveTo>
                <a:lnTo>
                  <a:pt x="104468" y="41787"/>
                </a:lnTo>
                <a:lnTo>
                  <a:pt x="104468" y="0"/>
                </a:lnTo>
                <a:lnTo>
                  <a:pt x="158791" y="0"/>
                </a:lnTo>
              </a:path>
            </a:pathLst>
          </a:custGeom>
          <a:noFill/>
          <a:ln w="6268" cap="flat">
            <a:solidFill>
              <a:srgbClr val="4527A0"/>
            </a:solidFill>
            <a:prstDash val="solid"/>
            <a:miter/>
          </a:ln>
        </p:spPr>
        <p:txBody>
          <a:bodyPr rtlCol="0" anchor="ctr"/>
          <a:lstStyle/>
          <a:p>
            <a:endParaRPr lang="zh-CN" altLang="en-US"/>
          </a:p>
        </p:txBody>
      </p:sp>
      <p:sp>
        <p:nvSpPr>
          <p:cNvPr id="254" name="任意形状 253">
            <a:extLst>
              <a:ext uri="{FF2B5EF4-FFF2-40B4-BE49-F238E27FC236}">
                <a16:creationId xmlns:a16="http://schemas.microsoft.com/office/drawing/2014/main" id="{A0F26A23-32C3-27C8-058C-1EA6848EDDC6}"/>
              </a:ext>
            </a:extLst>
          </p:cNvPr>
          <p:cNvSpPr/>
          <p:nvPr/>
        </p:nvSpPr>
        <p:spPr>
          <a:xfrm>
            <a:off x="5315318" y="1577257"/>
            <a:ext cx="150433" cy="4178"/>
          </a:xfrm>
          <a:custGeom>
            <a:avLst/>
            <a:gdLst>
              <a:gd name="connsiteX0" fmla="*/ 0 w 150433"/>
              <a:gd name="connsiteY0" fmla="*/ 0 h 4178"/>
              <a:gd name="connsiteX1" fmla="*/ 150434 w 150433"/>
              <a:gd name="connsiteY1" fmla="*/ 0 h 4178"/>
            </a:gdLst>
            <a:ahLst/>
            <a:cxnLst>
              <a:cxn ang="0">
                <a:pos x="connsiteX0" y="connsiteY0"/>
              </a:cxn>
              <a:cxn ang="0">
                <a:pos x="connsiteX1" y="connsiteY1"/>
              </a:cxn>
            </a:cxnLst>
            <a:rect l="l" t="t" r="r" b="b"/>
            <a:pathLst>
              <a:path w="150433" h="4178">
                <a:moveTo>
                  <a:pt x="0" y="0"/>
                </a:moveTo>
                <a:lnTo>
                  <a:pt x="150434" y="0"/>
                </a:lnTo>
              </a:path>
            </a:pathLst>
          </a:custGeom>
          <a:ln w="6268" cap="flat">
            <a:solidFill>
              <a:srgbClr val="C62828"/>
            </a:solidFill>
            <a:prstDash val="solid"/>
            <a:miter/>
          </a:ln>
        </p:spPr>
        <p:txBody>
          <a:bodyPr rtlCol="0" anchor="ctr"/>
          <a:lstStyle/>
          <a:p>
            <a:endParaRPr lang="zh-CN" altLang="en-US"/>
          </a:p>
        </p:txBody>
      </p:sp>
      <p:sp>
        <p:nvSpPr>
          <p:cNvPr id="255" name="任意形状 254">
            <a:extLst>
              <a:ext uri="{FF2B5EF4-FFF2-40B4-BE49-F238E27FC236}">
                <a16:creationId xmlns:a16="http://schemas.microsoft.com/office/drawing/2014/main" id="{7EF4A48A-5F5F-9B7A-D7EF-16A958D458C4}"/>
              </a:ext>
            </a:extLst>
          </p:cNvPr>
          <p:cNvSpPr/>
          <p:nvPr/>
        </p:nvSpPr>
        <p:spPr>
          <a:xfrm>
            <a:off x="5315318" y="2204064"/>
            <a:ext cx="150433" cy="208935"/>
          </a:xfrm>
          <a:custGeom>
            <a:avLst/>
            <a:gdLst>
              <a:gd name="connsiteX0" fmla="*/ 0 w 150433"/>
              <a:gd name="connsiteY0" fmla="*/ 208935 h 208935"/>
              <a:gd name="connsiteX1" fmla="*/ 75217 w 150433"/>
              <a:gd name="connsiteY1" fmla="*/ 208935 h 208935"/>
              <a:gd name="connsiteX2" fmla="*/ 75217 w 150433"/>
              <a:gd name="connsiteY2" fmla="*/ 0 h 208935"/>
              <a:gd name="connsiteX3" fmla="*/ 150434 w 150433"/>
              <a:gd name="connsiteY3" fmla="*/ 0 h 208935"/>
            </a:gdLst>
            <a:ahLst/>
            <a:cxnLst>
              <a:cxn ang="0">
                <a:pos x="connsiteX0" y="connsiteY0"/>
              </a:cxn>
              <a:cxn ang="0">
                <a:pos x="connsiteX1" y="connsiteY1"/>
              </a:cxn>
              <a:cxn ang="0">
                <a:pos x="connsiteX2" y="connsiteY2"/>
              </a:cxn>
              <a:cxn ang="0">
                <a:pos x="connsiteX3" y="connsiteY3"/>
              </a:cxn>
            </a:cxnLst>
            <a:rect l="l" t="t" r="r" b="b"/>
            <a:pathLst>
              <a:path w="150433" h="208935">
                <a:moveTo>
                  <a:pt x="0" y="208935"/>
                </a:moveTo>
                <a:lnTo>
                  <a:pt x="75217" y="208935"/>
                </a:lnTo>
                <a:lnTo>
                  <a:pt x="75217" y="0"/>
                </a:lnTo>
                <a:lnTo>
                  <a:pt x="150434" y="0"/>
                </a:lnTo>
              </a:path>
            </a:pathLst>
          </a:custGeom>
          <a:noFill/>
          <a:ln w="6268" cap="flat">
            <a:solidFill>
              <a:srgbClr val="C62828"/>
            </a:solidFill>
            <a:prstDash val="solid"/>
            <a:miter/>
          </a:ln>
        </p:spPr>
        <p:txBody>
          <a:bodyPr rtlCol="0" anchor="ctr"/>
          <a:lstStyle/>
          <a:p>
            <a:endParaRPr lang="zh-CN" altLang="en-US"/>
          </a:p>
        </p:txBody>
      </p:sp>
      <p:sp>
        <p:nvSpPr>
          <p:cNvPr id="256" name="任意形状 255">
            <a:extLst>
              <a:ext uri="{FF2B5EF4-FFF2-40B4-BE49-F238E27FC236}">
                <a16:creationId xmlns:a16="http://schemas.microsoft.com/office/drawing/2014/main" id="{653274B7-EAAB-918A-F434-A74B16071EF1}"/>
              </a:ext>
            </a:extLst>
          </p:cNvPr>
          <p:cNvSpPr/>
          <p:nvPr/>
        </p:nvSpPr>
        <p:spPr>
          <a:xfrm>
            <a:off x="6485357" y="1995128"/>
            <a:ext cx="150433" cy="4178"/>
          </a:xfrm>
          <a:custGeom>
            <a:avLst/>
            <a:gdLst>
              <a:gd name="connsiteX0" fmla="*/ 0 w 150433"/>
              <a:gd name="connsiteY0" fmla="*/ 0 h 4178"/>
              <a:gd name="connsiteX1" fmla="*/ 150434 w 150433"/>
              <a:gd name="connsiteY1" fmla="*/ 0 h 4178"/>
            </a:gdLst>
            <a:ahLst/>
            <a:cxnLst>
              <a:cxn ang="0">
                <a:pos x="connsiteX0" y="connsiteY0"/>
              </a:cxn>
              <a:cxn ang="0">
                <a:pos x="connsiteX1" y="connsiteY1"/>
              </a:cxn>
            </a:cxnLst>
            <a:rect l="l" t="t" r="r" b="b"/>
            <a:pathLst>
              <a:path w="150433" h="4178">
                <a:moveTo>
                  <a:pt x="0" y="0"/>
                </a:moveTo>
                <a:lnTo>
                  <a:pt x="150434" y="0"/>
                </a:lnTo>
              </a:path>
            </a:pathLst>
          </a:custGeom>
          <a:ln w="6268" cap="flat">
            <a:solidFill>
              <a:srgbClr val="4527A0"/>
            </a:solidFill>
            <a:prstDash val="solid"/>
            <a:miter/>
          </a:ln>
        </p:spPr>
        <p:txBody>
          <a:bodyPr rtlCol="0" anchor="ctr"/>
          <a:lstStyle/>
          <a:p>
            <a:endParaRPr lang="zh-CN" altLang="en-US"/>
          </a:p>
        </p:txBody>
      </p:sp>
      <p:sp>
        <p:nvSpPr>
          <p:cNvPr id="257" name="任意形状 256">
            <a:extLst>
              <a:ext uri="{FF2B5EF4-FFF2-40B4-BE49-F238E27FC236}">
                <a16:creationId xmlns:a16="http://schemas.microsoft.com/office/drawing/2014/main" id="{320B6A26-5E6E-B1F5-583A-84D134F7C975}"/>
              </a:ext>
            </a:extLst>
          </p:cNvPr>
          <p:cNvSpPr/>
          <p:nvPr/>
        </p:nvSpPr>
        <p:spPr>
          <a:xfrm>
            <a:off x="459658" y="1288926"/>
            <a:ext cx="4178" cy="50144"/>
          </a:xfrm>
          <a:custGeom>
            <a:avLst/>
            <a:gdLst>
              <a:gd name="connsiteX0" fmla="*/ 0 w 4178"/>
              <a:gd name="connsiteY0" fmla="*/ 0 h 50144"/>
              <a:gd name="connsiteX1" fmla="*/ 0 w 4178"/>
              <a:gd name="connsiteY1" fmla="*/ 50145 h 50144"/>
            </a:gdLst>
            <a:ahLst/>
            <a:cxnLst>
              <a:cxn ang="0">
                <a:pos x="connsiteX0" y="connsiteY0"/>
              </a:cxn>
              <a:cxn ang="0">
                <a:pos x="connsiteX1" y="connsiteY1"/>
              </a:cxn>
            </a:cxnLst>
            <a:rect l="l" t="t" r="r" b="b"/>
            <a:pathLst>
              <a:path w="4178" h="50144">
                <a:moveTo>
                  <a:pt x="0" y="0"/>
                </a:moveTo>
                <a:lnTo>
                  <a:pt x="0" y="50145"/>
                </a:lnTo>
              </a:path>
            </a:pathLst>
          </a:custGeom>
          <a:ln w="2507" cap="flat">
            <a:solidFill>
              <a:srgbClr val="90CAF9"/>
            </a:solidFill>
            <a:prstDash val="solid"/>
            <a:miter/>
          </a:ln>
        </p:spPr>
        <p:txBody>
          <a:bodyPr rtlCol="0" anchor="ctr"/>
          <a:lstStyle/>
          <a:p>
            <a:endParaRPr lang="zh-CN" altLang="en-US"/>
          </a:p>
        </p:txBody>
      </p:sp>
      <p:sp>
        <p:nvSpPr>
          <p:cNvPr id="258" name="任意形状 257">
            <a:extLst>
              <a:ext uri="{FF2B5EF4-FFF2-40B4-BE49-F238E27FC236}">
                <a16:creationId xmlns:a16="http://schemas.microsoft.com/office/drawing/2014/main" id="{A395D9D1-60EC-8CD2-B40C-C580181EF2A9}"/>
              </a:ext>
            </a:extLst>
          </p:cNvPr>
          <p:cNvSpPr/>
          <p:nvPr/>
        </p:nvSpPr>
        <p:spPr>
          <a:xfrm>
            <a:off x="1211825" y="1288926"/>
            <a:ext cx="4178" cy="50144"/>
          </a:xfrm>
          <a:custGeom>
            <a:avLst/>
            <a:gdLst>
              <a:gd name="connsiteX0" fmla="*/ 0 w 4178"/>
              <a:gd name="connsiteY0" fmla="*/ 0 h 50144"/>
              <a:gd name="connsiteX1" fmla="*/ 0 w 4178"/>
              <a:gd name="connsiteY1" fmla="*/ 50145 h 50144"/>
            </a:gdLst>
            <a:ahLst/>
            <a:cxnLst>
              <a:cxn ang="0">
                <a:pos x="connsiteX0" y="connsiteY0"/>
              </a:cxn>
              <a:cxn ang="0">
                <a:pos x="connsiteX1" y="connsiteY1"/>
              </a:cxn>
            </a:cxnLst>
            <a:rect l="l" t="t" r="r" b="b"/>
            <a:pathLst>
              <a:path w="4178" h="50144">
                <a:moveTo>
                  <a:pt x="0" y="0"/>
                </a:moveTo>
                <a:lnTo>
                  <a:pt x="0" y="50145"/>
                </a:lnTo>
              </a:path>
            </a:pathLst>
          </a:custGeom>
          <a:ln w="2507" cap="flat">
            <a:solidFill>
              <a:srgbClr val="90CAF9"/>
            </a:solidFill>
            <a:prstDash val="solid"/>
            <a:miter/>
          </a:ln>
        </p:spPr>
        <p:txBody>
          <a:bodyPr rtlCol="0" anchor="ctr"/>
          <a:lstStyle/>
          <a:p>
            <a:endParaRPr lang="zh-CN" altLang="en-US"/>
          </a:p>
        </p:txBody>
      </p:sp>
      <p:sp>
        <p:nvSpPr>
          <p:cNvPr id="259" name="任意形状 258">
            <a:extLst>
              <a:ext uri="{FF2B5EF4-FFF2-40B4-BE49-F238E27FC236}">
                <a16:creationId xmlns:a16="http://schemas.microsoft.com/office/drawing/2014/main" id="{8B8D9C1C-41D8-A60F-2582-55F149D123C0}"/>
              </a:ext>
            </a:extLst>
          </p:cNvPr>
          <p:cNvSpPr/>
          <p:nvPr/>
        </p:nvSpPr>
        <p:spPr>
          <a:xfrm>
            <a:off x="459658" y="1581436"/>
            <a:ext cx="4178" cy="50144"/>
          </a:xfrm>
          <a:custGeom>
            <a:avLst/>
            <a:gdLst>
              <a:gd name="connsiteX0" fmla="*/ 0 w 4178"/>
              <a:gd name="connsiteY0" fmla="*/ 0 h 50144"/>
              <a:gd name="connsiteX1" fmla="*/ 0 w 4178"/>
              <a:gd name="connsiteY1" fmla="*/ 50145 h 50144"/>
            </a:gdLst>
            <a:ahLst/>
            <a:cxnLst>
              <a:cxn ang="0">
                <a:pos x="connsiteX0" y="connsiteY0"/>
              </a:cxn>
              <a:cxn ang="0">
                <a:pos x="connsiteX1" y="connsiteY1"/>
              </a:cxn>
            </a:cxnLst>
            <a:rect l="l" t="t" r="r" b="b"/>
            <a:pathLst>
              <a:path w="4178" h="50144">
                <a:moveTo>
                  <a:pt x="0" y="0"/>
                </a:moveTo>
                <a:lnTo>
                  <a:pt x="0" y="50145"/>
                </a:lnTo>
              </a:path>
            </a:pathLst>
          </a:custGeom>
          <a:ln w="2507" cap="flat">
            <a:solidFill>
              <a:srgbClr val="90CAF9"/>
            </a:solidFill>
            <a:prstDash val="solid"/>
            <a:miter/>
          </a:ln>
        </p:spPr>
        <p:txBody>
          <a:bodyPr rtlCol="0" anchor="ctr"/>
          <a:lstStyle/>
          <a:p>
            <a:endParaRPr lang="zh-CN" altLang="en-US"/>
          </a:p>
        </p:txBody>
      </p:sp>
      <p:sp>
        <p:nvSpPr>
          <p:cNvPr id="260" name="任意形状 259">
            <a:extLst>
              <a:ext uri="{FF2B5EF4-FFF2-40B4-BE49-F238E27FC236}">
                <a16:creationId xmlns:a16="http://schemas.microsoft.com/office/drawing/2014/main" id="{2C9C2E1F-5DB0-B33A-8FAC-847009173C15}"/>
              </a:ext>
            </a:extLst>
          </p:cNvPr>
          <p:cNvSpPr/>
          <p:nvPr/>
        </p:nvSpPr>
        <p:spPr>
          <a:xfrm>
            <a:off x="1211825" y="1581436"/>
            <a:ext cx="4178" cy="50144"/>
          </a:xfrm>
          <a:custGeom>
            <a:avLst/>
            <a:gdLst>
              <a:gd name="connsiteX0" fmla="*/ 0 w 4178"/>
              <a:gd name="connsiteY0" fmla="*/ 0 h 50144"/>
              <a:gd name="connsiteX1" fmla="*/ 0 w 4178"/>
              <a:gd name="connsiteY1" fmla="*/ 50145 h 50144"/>
            </a:gdLst>
            <a:ahLst/>
            <a:cxnLst>
              <a:cxn ang="0">
                <a:pos x="connsiteX0" y="connsiteY0"/>
              </a:cxn>
              <a:cxn ang="0">
                <a:pos x="connsiteX1" y="connsiteY1"/>
              </a:cxn>
            </a:cxnLst>
            <a:rect l="l" t="t" r="r" b="b"/>
            <a:pathLst>
              <a:path w="4178" h="50144">
                <a:moveTo>
                  <a:pt x="0" y="0"/>
                </a:moveTo>
                <a:lnTo>
                  <a:pt x="0" y="50145"/>
                </a:lnTo>
              </a:path>
            </a:pathLst>
          </a:custGeom>
          <a:ln w="2507" cap="flat">
            <a:solidFill>
              <a:srgbClr val="90CAF9"/>
            </a:solidFill>
            <a:prstDash val="solid"/>
            <a:miter/>
          </a:ln>
        </p:spPr>
        <p:txBody>
          <a:bodyPr rtlCol="0" anchor="ctr"/>
          <a:lstStyle/>
          <a:p>
            <a:endParaRPr lang="zh-CN" altLang="en-US"/>
          </a:p>
        </p:txBody>
      </p:sp>
      <p:sp>
        <p:nvSpPr>
          <p:cNvPr id="261" name="任意形状 260">
            <a:extLst>
              <a:ext uri="{FF2B5EF4-FFF2-40B4-BE49-F238E27FC236}">
                <a16:creationId xmlns:a16="http://schemas.microsoft.com/office/drawing/2014/main" id="{F778778C-F706-7523-8D04-C419B1A4396C}"/>
              </a:ext>
            </a:extLst>
          </p:cNvPr>
          <p:cNvSpPr/>
          <p:nvPr/>
        </p:nvSpPr>
        <p:spPr>
          <a:xfrm>
            <a:off x="835741" y="1873946"/>
            <a:ext cx="4178" cy="71038"/>
          </a:xfrm>
          <a:custGeom>
            <a:avLst/>
            <a:gdLst>
              <a:gd name="connsiteX0" fmla="*/ 0 w 4178"/>
              <a:gd name="connsiteY0" fmla="*/ 0 h 71038"/>
              <a:gd name="connsiteX1" fmla="*/ 0 w 4178"/>
              <a:gd name="connsiteY1" fmla="*/ 71038 h 71038"/>
            </a:gdLst>
            <a:ahLst/>
            <a:cxnLst>
              <a:cxn ang="0">
                <a:pos x="connsiteX0" y="connsiteY0"/>
              </a:cxn>
              <a:cxn ang="0">
                <a:pos x="connsiteX1" y="connsiteY1"/>
              </a:cxn>
            </a:cxnLst>
            <a:rect l="l" t="t" r="r" b="b"/>
            <a:pathLst>
              <a:path w="4178" h="71038">
                <a:moveTo>
                  <a:pt x="0" y="0"/>
                </a:moveTo>
                <a:lnTo>
                  <a:pt x="0" y="71038"/>
                </a:lnTo>
              </a:path>
            </a:pathLst>
          </a:custGeom>
          <a:ln w="4179" cap="flat">
            <a:solidFill>
              <a:srgbClr val="1565C0"/>
            </a:solidFill>
            <a:prstDash val="solid"/>
            <a:miter/>
          </a:ln>
        </p:spPr>
        <p:txBody>
          <a:bodyPr rtlCol="0" anchor="ctr"/>
          <a:lstStyle/>
          <a:p>
            <a:endParaRPr lang="zh-CN" altLang="en-US"/>
          </a:p>
        </p:txBody>
      </p:sp>
      <p:sp>
        <p:nvSpPr>
          <p:cNvPr id="262" name="任意形状 261">
            <a:extLst>
              <a:ext uri="{FF2B5EF4-FFF2-40B4-BE49-F238E27FC236}">
                <a16:creationId xmlns:a16="http://schemas.microsoft.com/office/drawing/2014/main" id="{9BC55E32-ABE4-5EB3-B982-074FFA61A1D4}"/>
              </a:ext>
            </a:extLst>
          </p:cNvPr>
          <p:cNvSpPr/>
          <p:nvPr/>
        </p:nvSpPr>
        <p:spPr>
          <a:xfrm>
            <a:off x="856635" y="2371212"/>
            <a:ext cx="4178" cy="54323"/>
          </a:xfrm>
          <a:custGeom>
            <a:avLst/>
            <a:gdLst>
              <a:gd name="connsiteX0" fmla="*/ 0 w 4178"/>
              <a:gd name="connsiteY0" fmla="*/ 0 h 54323"/>
              <a:gd name="connsiteX1" fmla="*/ 0 w 4178"/>
              <a:gd name="connsiteY1" fmla="*/ 54323 h 54323"/>
            </a:gdLst>
            <a:ahLst/>
            <a:cxnLst>
              <a:cxn ang="0">
                <a:pos x="connsiteX0" y="connsiteY0"/>
              </a:cxn>
              <a:cxn ang="0">
                <a:pos x="connsiteX1" y="connsiteY1"/>
              </a:cxn>
            </a:cxnLst>
            <a:rect l="l" t="t" r="r" b="b"/>
            <a:pathLst>
              <a:path w="4178" h="54323">
                <a:moveTo>
                  <a:pt x="0" y="0"/>
                </a:moveTo>
                <a:lnTo>
                  <a:pt x="0" y="54323"/>
                </a:lnTo>
              </a:path>
            </a:pathLst>
          </a:custGeom>
          <a:ln w="4179" cap="flat">
            <a:solidFill>
              <a:srgbClr val="0D47A1"/>
            </a:solidFill>
            <a:prstDash val="solid"/>
            <a:miter/>
          </a:ln>
        </p:spPr>
        <p:txBody>
          <a:bodyPr rtlCol="0" anchor="ctr"/>
          <a:lstStyle/>
          <a:p>
            <a:endParaRPr lang="zh-CN" altLang="en-US"/>
          </a:p>
        </p:txBody>
      </p:sp>
      <p:grpSp>
        <p:nvGrpSpPr>
          <p:cNvPr id="263" name="图形 2">
            <a:extLst>
              <a:ext uri="{FF2B5EF4-FFF2-40B4-BE49-F238E27FC236}">
                <a16:creationId xmlns:a16="http://schemas.microsoft.com/office/drawing/2014/main" id="{2B9E8B11-AD5E-DB61-E5B5-46BFC13CD6C8}"/>
              </a:ext>
            </a:extLst>
          </p:cNvPr>
          <p:cNvGrpSpPr/>
          <p:nvPr/>
        </p:nvGrpSpPr>
        <p:grpSpPr>
          <a:xfrm>
            <a:off x="125361" y="3060699"/>
            <a:ext cx="7563464" cy="225650"/>
            <a:chOff x="125361" y="3060699"/>
            <a:chExt cx="7563464" cy="225650"/>
          </a:xfrm>
        </p:grpSpPr>
        <p:sp>
          <p:nvSpPr>
            <p:cNvPr id="264" name="任意形状 263">
              <a:extLst>
                <a:ext uri="{FF2B5EF4-FFF2-40B4-BE49-F238E27FC236}">
                  <a16:creationId xmlns:a16="http://schemas.microsoft.com/office/drawing/2014/main" id="{BFA212F2-6CF7-DBF5-4CC8-645E25A07438}"/>
                </a:ext>
              </a:extLst>
            </p:cNvPr>
            <p:cNvSpPr/>
            <p:nvPr/>
          </p:nvSpPr>
          <p:spPr>
            <a:xfrm>
              <a:off x="125361" y="3060699"/>
              <a:ext cx="7563464" cy="225650"/>
            </a:xfrm>
            <a:custGeom>
              <a:avLst/>
              <a:gdLst>
                <a:gd name="connsiteX0" fmla="*/ 7530035 w 7563464"/>
                <a:gd name="connsiteY0" fmla="*/ 0 h 225650"/>
                <a:gd name="connsiteX1" fmla="*/ 7563465 w 7563464"/>
                <a:gd name="connsiteY1" fmla="*/ 0 h 225650"/>
                <a:gd name="connsiteX2" fmla="*/ 7563465 w 7563464"/>
                <a:gd name="connsiteY2" fmla="*/ 225650 h 225650"/>
                <a:gd name="connsiteX3" fmla="*/ 7530035 w 7563464"/>
                <a:gd name="connsiteY3" fmla="*/ 225650 h 225650"/>
                <a:gd name="connsiteX4" fmla="*/ 33430 w 7563464"/>
                <a:gd name="connsiteY4" fmla="*/ 225650 h 225650"/>
                <a:gd name="connsiteX5" fmla="*/ 0 w 7563464"/>
                <a:gd name="connsiteY5" fmla="*/ 225650 h 225650"/>
                <a:gd name="connsiteX6" fmla="*/ 0 w 7563464"/>
                <a:gd name="connsiteY6" fmla="*/ 0 h 225650"/>
                <a:gd name="connsiteX7" fmla="*/ 33430 w 7563464"/>
                <a:gd name="connsiteY7" fmla="*/ 0 h 22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3464" h="225650">
                  <a:moveTo>
                    <a:pt x="7530035" y="0"/>
                  </a:moveTo>
                  <a:cubicBezTo>
                    <a:pt x="7548498" y="0"/>
                    <a:pt x="7563465" y="0"/>
                    <a:pt x="7563465" y="0"/>
                  </a:cubicBezTo>
                  <a:lnTo>
                    <a:pt x="7563465" y="225650"/>
                  </a:lnTo>
                  <a:cubicBezTo>
                    <a:pt x="7563465" y="225650"/>
                    <a:pt x="7548498" y="225650"/>
                    <a:pt x="7530035" y="225650"/>
                  </a:cubicBezTo>
                  <a:lnTo>
                    <a:pt x="33430" y="225650"/>
                  </a:lnTo>
                  <a:cubicBezTo>
                    <a:pt x="14967" y="225650"/>
                    <a:pt x="0" y="225650"/>
                    <a:pt x="0" y="225650"/>
                  </a:cubicBezTo>
                  <a:lnTo>
                    <a:pt x="0" y="0"/>
                  </a:lnTo>
                  <a:cubicBezTo>
                    <a:pt x="0" y="0"/>
                    <a:pt x="14967" y="0"/>
                    <a:pt x="33430" y="0"/>
                  </a:cubicBezTo>
                  <a:close/>
                </a:path>
              </a:pathLst>
            </a:custGeom>
            <a:solidFill>
              <a:srgbClr val="ECEFF1"/>
            </a:solidFill>
            <a:ln w="2089" cap="flat">
              <a:solidFill>
                <a:srgbClr val="78909C"/>
              </a:solidFill>
              <a:prstDash val="solid"/>
              <a:miter/>
            </a:ln>
          </p:spPr>
          <p:txBody>
            <a:bodyPr rtlCol="0" anchor="ctr"/>
            <a:lstStyle/>
            <a:p>
              <a:endParaRPr lang="zh-CN" altLang="en-US"/>
            </a:p>
          </p:txBody>
        </p:sp>
        <p:sp>
          <p:nvSpPr>
            <p:cNvPr id="265" name="文本框 264">
              <a:extLst>
                <a:ext uri="{FF2B5EF4-FFF2-40B4-BE49-F238E27FC236}">
                  <a16:creationId xmlns:a16="http://schemas.microsoft.com/office/drawing/2014/main" id="{9E8A3392-480F-80BA-4EB2-4ABA18596091}"/>
                </a:ext>
              </a:extLst>
            </p:cNvPr>
            <p:cNvSpPr txBox="1"/>
            <p:nvPr/>
          </p:nvSpPr>
          <p:spPr>
            <a:xfrm>
              <a:off x="117495" y="3060945"/>
              <a:ext cx="437781" cy="141584"/>
            </a:xfrm>
            <a:prstGeom prst="rect">
              <a:avLst/>
            </a:prstGeom>
            <a:noFill/>
          </p:spPr>
          <p:txBody>
            <a:bodyPr wrap="none" rtlCol="0">
              <a:spAutoFit/>
            </a:bodyPr>
            <a:lstStyle/>
            <a:p>
              <a:pPr algn="l"/>
              <a:r>
                <a:rPr lang="zh-CN" altLang="en-US" sz="675" b="1" spc="0" baseline="0">
                  <a:ln/>
                  <a:solidFill>
                    <a:srgbClr val="37474F"/>
                  </a:solidFill>
                  <a:latin typeface="Segoe UI"/>
                  <a:cs typeface="Segoe UI"/>
                  <a:sym typeface="Segoe UI"/>
                  <a:rtl val="0"/>
                </a:rPr>
                <a:t>Study Context</a:t>
              </a:r>
            </a:p>
          </p:txBody>
        </p:sp>
        <p:sp>
          <p:nvSpPr>
            <p:cNvPr id="266" name="文本框 265">
              <a:extLst>
                <a:ext uri="{FF2B5EF4-FFF2-40B4-BE49-F238E27FC236}">
                  <a16:creationId xmlns:a16="http://schemas.microsoft.com/office/drawing/2014/main" id="{BFE3B5B4-FA14-B86B-5CEF-902D5CE0C6E7}"/>
                </a:ext>
              </a:extLst>
            </p:cNvPr>
            <p:cNvSpPr txBox="1"/>
            <p:nvPr/>
          </p:nvSpPr>
          <p:spPr>
            <a:xfrm>
              <a:off x="514472" y="3073481"/>
              <a:ext cx="2259698"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Coordinated Emergency Supply Distribution and Multi-Type Personnel Evacuation Optimization for HazMat Incidents on Urban Expressways</a:t>
              </a:r>
            </a:p>
          </p:txBody>
        </p:sp>
        <p:sp>
          <p:nvSpPr>
            <p:cNvPr id="267" name="文本框 266">
              <a:extLst>
                <a:ext uri="{FF2B5EF4-FFF2-40B4-BE49-F238E27FC236}">
                  <a16:creationId xmlns:a16="http://schemas.microsoft.com/office/drawing/2014/main" id="{02CBFF6A-EB39-C395-1C07-077EF035C62E}"/>
                </a:ext>
              </a:extLst>
            </p:cNvPr>
            <p:cNvSpPr txBox="1"/>
            <p:nvPr/>
          </p:nvSpPr>
          <p:spPr>
            <a:xfrm>
              <a:off x="117495" y="3157056"/>
              <a:ext cx="2702641"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Incident: Taipingqiao interchange, 6th Ring Rd (116.494°E, 39.736°N) · Agent: Cl</a:t>
              </a:r>
              <a:r>
                <a:rPr lang="zh-CN" altLang="en-US" sz="600" spc="0" baseline="0">
                  <a:ln/>
                  <a:solidFill>
                    <a:srgbClr val="555555"/>
                  </a:solidFill>
                  <a:latin typeface="Cambria Math"/>
                  <a:cs typeface="Arial"/>
                  <a:sym typeface="Cambria Math"/>
                  <a:rtl val="0"/>
                </a:rPr>
                <a:t>₂</a:t>
              </a:r>
              <a:r>
                <a:rPr lang="zh-CN" altLang="en-US" sz="600" spc="0" baseline="0">
                  <a:ln/>
                  <a:solidFill>
                    <a:srgbClr val="555555"/>
                  </a:solidFill>
                  <a:latin typeface="Arial"/>
                  <a:cs typeface="Arial"/>
                  <a:sym typeface="Arial"/>
                  <a:rtl val="0"/>
                </a:rPr>
                <a:t> · Study area: 15km buffer (707 km²) · Core: Yizhuang Economic-Technological Dev. Area</a:t>
              </a:r>
            </a:p>
          </p:txBody>
        </p:sp>
      </p:grpSp>
      <p:grpSp>
        <p:nvGrpSpPr>
          <p:cNvPr id="268" name="图形 2">
            <a:extLst>
              <a:ext uri="{FF2B5EF4-FFF2-40B4-BE49-F238E27FC236}">
                <a16:creationId xmlns:a16="http://schemas.microsoft.com/office/drawing/2014/main" id="{173E9D81-31CE-5B3A-ECBE-7CDC07F6EA1F}"/>
              </a:ext>
            </a:extLst>
          </p:cNvPr>
          <p:cNvGrpSpPr/>
          <p:nvPr/>
        </p:nvGrpSpPr>
        <p:grpSpPr>
          <a:xfrm>
            <a:off x="125361" y="3349030"/>
            <a:ext cx="2469617" cy="58501"/>
            <a:chOff x="125361" y="3349030"/>
            <a:chExt cx="2469617" cy="58501"/>
          </a:xfrm>
        </p:grpSpPr>
        <p:sp>
          <p:nvSpPr>
            <p:cNvPr id="269" name="文本框 268">
              <a:extLst>
                <a:ext uri="{FF2B5EF4-FFF2-40B4-BE49-F238E27FC236}">
                  <a16:creationId xmlns:a16="http://schemas.microsoft.com/office/drawing/2014/main" id="{1CCC2A7D-47B2-3BDC-84C8-CA2DC8F35092}"/>
                </a:ext>
              </a:extLst>
            </p:cNvPr>
            <p:cNvSpPr txBox="1"/>
            <p:nvPr/>
          </p:nvSpPr>
          <p:spPr>
            <a:xfrm>
              <a:off x="33921" y="3307489"/>
              <a:ext cx="304062" cy="141584"/>
            </a:xfrm>
            <a:prstGeom prst="rect">
              <a:avLst/>
            </a:prstGeom>
            <a:noFill/>
          </p:spPr>
          <p:txBody>
            <a:bodyPr wrap="none" rtlCol="0">
              <a:spAutoFit/>
            </a:bodyPr>
            <a:lstStyle/>
            <a:p>
              <a:pPr algn="l"/>
              <a:r>
                <a:rPr lang="zh-CN" altLang="en-US" sz="675" spc="0" baseline="0">
                  <a:ln/>
                  <a:solidFill>
                    <a:srgbClr val="78909C"/>
                  </a:solidFill>
                  <a:latin typeface="Segoe UI"/>
                  <a:cs typeface="Segoe UI"/>
                  <a:sym typeface="Segoe UI"/>
                  <a:rtl val="0"/>
                </a:rPr>
                <a:t>Legend</a:t>
              </a:r>
            </a:p>
          </p:txBody>
        </p:sp>
        <p:sp>
          <p:nvSpPr>
            <p:cNvPr id="270" name="任意形状 269">
              <a:extLst>
                <a:ext uri="{FF2B5EF4-FFF2-40B4-BE49-F238E27FC236}">
                  <a16:creationId xmlns:a16="http://schemas.microsoft.com/office/drawing/2014/main" id="{F3B9BF16-5365-C9D3-AE0B-61D8A7DC2317}"/>
                </a:ext>
              </a:extLst>
            </p:cNvPr>
            <p:cNvSpPr/>
            <p:nvPr/>
          </p:nvSpPr>
          <p:spPr>
            <a:xfrm>
              <a:off x="292509" y="3349030"/>
              <a:ext cx="125361" cy="58501"/>
            </a:xfrm>
            <a:custGeom>
              <a:avLst/>
              <a:gdLst>
                <a:gd name="connsiteX0" fmla="*/ 112825 w 125361"/>
                <a:gd name="connsiteY0" fmla="*/ 0 h 58501"/>
                <a:gd name="connsiteX1" fmla="*/ 125361 w 125361"/>
                <a:gd name="connsiteY1" fmla="*/ 0 h 58501"/>
                <a:gd name="connsiteX2" fmla="*/ 125361 w 125361"/>
                <a:gd name="connsiteY2" fmla="*/ 58502 h 58501"/>
                <a:gd name="connsiteX3" fmla="*/ 112825 w 125361"/>
                <a:gd name="connsiteY3" fmla="*/ 58502 h 58501"/>
                <a:gd name="connsiteX4" fmla="*/ 12536 w 125361"/>
                <a:gd name="connsiteY4" fmla="*/ 58502 h 58501"/>
                <a:gd name="connsiteX5" fmla="*/ 0 w 125361"/>
                <a:gd name="connsiteY5" fmla="*/ 58502 h 58501"/>
                <a:gd name="connsiteX6" fmla="*/ 0 w 125361"/>
                <a:gd name="connsiteY6" fmla="*/ 0 h 58501"/>
                <a:gd name="connsiteX7" fmla="*/ 12536 w 125361"/>
                <a:gd name="connsiteY7" fmla="*/ 0 h 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361" h="58501">
                  <a:moveTo>
                    <a:pt x="112825" y="0"/>
                  </a:moveTo>
                  <a:cubicBezTo>
                    <a:pt x="119749" y="0"/>
                    <a:pt x="125361" y="0"/>
                    <a:pt x="125361" y="0"/>
                  </a:cubicBezTo>
                  <a:lnTo>
                    <a:pt x="125361" y="58502"/>
                  </a:lnTo>
                  <a:cubicBezTo>
                    <a:pt x="125361" y="58502"/>
                    <a:pt x="119749" y="58502"/>
                    <a:pt x="112825" y="58502"/>
                  </a:cubicBezTo>
                  <a:lnTo>
                    <a:pt x="12536" y="58502"/>
                  </a:lnTo>
                  <a:cubicBezTo>
                    <a:pt x="5613" y="58502"/>
                    <a:pt x="0" y="58502"/>
                    <a:pt x="0" y="58502"/>
                  </a:cubicBezTo>
                  <a:lnTo>
                    <a:pt x="0" y="0"/>
                  </a:lnTo>
                  <a:cubicBezTo>
                    <a:pt x="0" y="0"/>
                    <a:pt x="5613" y="0"/>
                    <a:pt x="12536" y="0"/>
                  </a:cubicBezTo>
                  <a:close/>
                </a:path>
              </a:pathLst>
            </a:custGeom>
            <a:solidFill>
              <a:srgbClr val="1565C0">
                <a:alpha val="80000"/>
              </a:srgbClr>
            </a:solidFill>
            <a:ln w="4179" cap="flat">
              <a:noFill/>
              <a:prstDash val="solid"/>
              <a:miter/>
            </a:ln>
          </p:spPr>
          <p:txBody>
            <a:bodyPr rtlCol="0" anchor="ctr"/>
            <a:lstStyle/>
            <a:p>
              <a:endParaRPr lang="zh-CN" altLang="en-US"/>
            </a:p>
          </p:txBody>
        </p:sp>
        <p:sp>
          <p:nvSpPr>
            <p:cNvPr id="271" name="文本框 270">
              <a:extLst>
                <a:ext uri="{FF2B5EF4-FFF2-40B4-BE49-F238E27FC236}">
                  <a16:creationId xmlns:a16="http://schemas.microsoft.com/office/drawing/2014/main" id="{43366C68-BADA-62CC-31D0-0AC381726206}"/>
                </a:ext>
              </a:extLst>
            </p:cNvPr>
            <p:cNvSpPr txBox="1"/>
            <p:nvPr/>
          </p:nvSpPr>
          <p:spPr>
            <a:xfrm>
              <a:off x="347324" y="3320025"/>
              <a:ext cx="249739"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Data</a:t>
              </a:r>
            </a:p>
          </p:txBody>
        </p:sp>
        <p:sp>
          <p:nvSpPr>
            <p:cNvPr id="272" name="任意形状 271">
              <a:extLst>
                <a:ext uri="{FF2B5EF4-FFF2-40B4-BE49-F238E27FC236}">
                  <a16:creationId xmlns:a16="http://schemas.microsoft.com/office/drawing/2014/main" id="{B5C1799B-5DC1-A727-99D2-D9F53768FCE0}"/>
                </a:ext>
              </a:extLst>
            </p:cNvPr>
            <p:cNvSpPr/>
            <p:nvPr/>
          </p:nvSpPr>
          <p:spPr>
            <a:xfrm>
              <a:off x="543232" y="3349030"/>
              <a:ext cx="125361" cy="58501"/>
            </a:xfrm>
            <a:custGeom>
              <a:avLst/>
              <a:gdLst>
                <a:gd name="connsiteX0" fmla="*/ 112825 w 125361"/>
                <a:gd name="connsiteY0" fmla="*/ 0 h 58501"/>
                <a:gd name="connsiteX1" fmla="*/ 125361 w 125361"/>
                <a:gd name="connsiteY1" fmla="*/ 0 h 58501"/>
                <a:gd name="connsiteX2" fmla="*/ 125361 w 125361"/>
                <a:gd name="connsiteY2" fmla="*/ 58502 h 58501"/>
                <a:gd name="connsiteX3" fmla="*/ 112825 w 125361"/>
                <a:gd name="connsiteY3" fmla="*/ 58502 h 58501"/>
                <a:gd name="connsiteX4" fmla="*/ 12536 w 125361"/>
                <a:gd name="connsiteY4" fmla="*/ 58502 h 58501"/>
                <a:gd name="connsiteX5" fmla="*/ 0 w 125361"/>
                <a:gd name="connsiteY5" fmla="*/ 58502 h 58501"/>
                <a:gd name="connsiteX6" fmla="*/ 0 w 125361"/>
                <a:gd name="connsiteY6" fmla="*/ 0 h 58501"/>
                <a:gd name="connsiteX7" fmla="*/ 12536 w 125361"/>
                <a:gd name="connsiteY7" fmla="*/ 0 h 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361" h="58501">
                  <a:moveTo>
                    <a:pt x="112825" y="0"/>
                  </a:moveTo>
                  <a:cubicBezTo>
                    <a:pt x="119749" y="0"/>
                    <a:pt x="125361" y="0"/>
                    <a:pt x="125361" y="0"/>
                  </a:cubicBezTo>
                  <a:lnTo>
                    <a:pt x="125361" y="58502"/>
                  </a:lnTo>
                  <a:cubicBezTo>
                    <a:pt x="125361" y="58502"/>
                    <a:pt x="119749" y="58502"/>
                    <a:pt x="112825" y="58502"/>
                  </a:cubicBezTo>
                  <a:lnTo>
                    <a:pt x="12536" y="58502"/>
                  </a:lnTo>
                  <a:cubicBezTo>
                    <a:pt x="5613" y="58502"/>
                    <a:pt x="0" y="58502"/>
                    <a:pt x="0" y="58502"/>
                  </a:cubicBezTo>
                  <a:lnTo>
                    <a:pt x="0" y="0"/>
                  </a:lnTo>
                  <a:cubicBezTo>
                    <a:pt x="0" y="0"/>
                    <a:pt x="5613" y="0"/>
                    <a:pt x="12536" y="0"/>
                  </a:cubicBezTo>
                  <a:close/>
                </a:path>
              </a:pathLst>
            </a:custGeom>
            <a:solidFill>
              <a:srgbClr val="E65100">
                <a:alpha val="80000"/>
              </a:srgbClr>
            </a:solidFill>
            <a:ln w="4179" cap="flat">
              <a:noFill/>
              <a:prstDash val="solid"/>
              <a:miter/>
            </a:ln>
          </p:spPr>
          <p:txBody>
            <a:bodyPr rtlCol="0" anchor="ctr"/>
            <a:lstStyle/>
            <a:p>
              <a:endParaRPr lang="zh-CN" altLang="en-US"/>
            </a:p>
          </p:txBody>
        </p:sp>
        <p:sp>
          <p:nvSpPr>
            <p:cNvPr id="273" name="文本框 272">
              <a:extLst>
                <a:ext uri="{FF2B5EF4-FFF2-40B4-BE49-F238E27FC236}">
                  <a16:creationId xmlns:a16="http://schemas.microsoft.com/office/drawing/2014/main" id="{2D72147D-7B9D-328A-6949-A0B5E9A88941}"/>
                </a:ext>
              </a:extLst>
            </p:cNvPr>
            <p:cNvSpPr txBox="1"/>
            <p:nvPr/>
          </p:nvSpPr>
          <p:spPr>
            <a:xfrm>
              <a:off x="598047" y="3320025"/>
              <a:ext cx="312420"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Scenario</a:t>
              </a:r>
            </a:p>
          </p:txBody>
        </p:sp>
        <p:sp>
          <p:nvSpPr>
            <p:cNvPr id="274" name="任意形状 273">
              <a:extLst>
                <a:ext uri="{FF2B5EF4-FFF2-40B4-BE49-F238E27FC236}">
                  <a16:creationId xmlns:a16="http://schemas.microsoft.com/office/drawing/2014/main" id="{E40B08A2-A7EE-A12A-B12C-7A27DA1307C9}"/>
                </a:ext>
              </a:extLst>
            </p:cNvPr>
            <p:cNvSpPr/>
            <p:nvPr/>
          </p:nvSpPr>
          <p:spPr>
            <a:xfrm>
              <a:off x="877529" y="3349030"/>
              <a:ext cx="125361" cy="58501"/>
            </a:xfrm>
            <a:custGeom>
              <a:avLst/>
              <a:gdLst>
                <a:gd name="connsiteX0" fmla="*/ 112825 w 125361"/>
                <a:gd name="connsiteY0" fmla="*/ 0 h 58501"/>
                <a:gd name="connsiteX1" fmla="*/ 125361 w 125361"/>
                <a:gd name="connsiteY1" fmla="*/ 0 h 58501"/>
                <a:gd name="connsiteX2" fmla="*/ 125361 w 125361"/>
                <a:gd name="connsiteY2" fmla="*/ 58502 h 58501"/>
                <a:gd name="connsiteX3" fmla="*/ 112825 w 125361"/>
                <a:gd name="connsiteY3" fmla="*/ 58502 h 58501"/>
                <a:gd name="connsiteX4" fmla="*/ 12536 w 125361"/>
                <a:gd name="connsiteY4" fmla="*/ 58502 h 58501"/>
                <a:gd name="connsiteX5" fmla="*/ 0 w 125361"/>
                <a:gd name="connsiteY5" fmla="*/ 58502 h 58501"/>
                <a:gd name="connsiteX6" fmla="*/ 0 w 125361"/>
                <a:gd name="connsiteY6" fmla="*/ 0 h 58501"/>
                <a:gd name="connsiteX7" fmla="*/ 12536 w 125361"/>
                <a:gd name="connsiteY7" fmla="*/ 0 h 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361" h="58501">
                  <a:moveTo>
                    <a:pt x="112825" y="0"/>
                  </a:moveTo>
                  <a:cubicBezTo>
                    <a:pt x="119749" y="0"/>
                    <a:pt x="125361" y="0"/>
                    <a:pt x="125361" y="0"/>
                  </a:cubicBezTo>
                  <a:lnTo>
                    <a:pt x="125361" y="58502"/>
                  </a:lnTo>
                  <a:cubicBezTo>
                    <a:pt x="125361" y="58502"/>
                    <a:pt x="119749" y="58502"/>
                    <a:pt x="112825" y="58502"/>
                  </a:cubicBezTo>
                  <a:lnTo>
                    <a:pt x="12536" y="58502"/>
                  </a:lnTo>
                  <a:cubicBezTo>
                    <a:pt x="5613" y="58502"/>
                    <a:pt x="0" y="58502"/>
                    <a:pt x="0" y="58502"/>
                  </a:cubicBezTo>
                  <a:lnTo>
                    <a:pt x="0" y="0"/>
                  </a:lnTo>
                  <a:cubicBezTo>
                    <a:pt x="0" y="0"/>
                    <a:pt x="5613" y="0"/>
                    <a:pt x="12536" y="0"/>
                  </a:cubicBezTo>
                  <a:close/>
                </a:path>
              </a:pathLst>
            </a:custGeom>
            <a:solidFill>
              <a:srgbClr val="2E7D32">
                <a:alpha val="80000"/>
              </a:srgbClr>
            </a:solidFill>
            <a:ln w="4179" cap="flat">
              <a:noFill/>
              <a:prstDash val="solid"/>
              <a:miter/>
            </a:ln>
          </p:spPr>
          <p:txBody>
            <a:bodyPr rtlCol="0" anchor="ctr"/>
            <a:lstStyle/>
            <a:p>
              <a:endParaRPr lang="zh-CN" altLang="en-US"/>
            </a:p>
          </p:txBody>
        </p:sp>
        <p:sp>
          <p:nvSpPr>
            <p:cNvPr id="275" name="文本框 274">
              <a:extLst>
                <a:ext uri="{FF2B5EF4-FFF2-40B4-BE49-F238E27FC236}">
                  <a16:creationId xmlns:a16="http://schemas.microsoft.com/office/drawing/2014/main" id="{ACCF008F-064D-C53E-2DF1-A98C451F4BF4}"/>
                </a:ext>
              </a:extLst>
            </p:cNvPr>
            <p:cNvSpPr txBox="1"/>
            <p:nvPr/>
          </p:nvSpPr>
          <p:spPr>
            <a:xfrm>
              <a:off x="932343" y="3320025"/>
              <a:ext cx="283169"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Supply</a:t>
              </a:r>
            </a:p>
          </p:txBody>
        </p:sp>
        <p:sp>
          <p:nvSpPr>
            <p:cNvPr id="276" name="任意形状 275">
              <a:extLst>
                <a:ext uri="{FF2B5EF4-FFF2-40B4-BE49-F238E27FC236}">
                  <a16:creationId xmlns:a16="http://schemas.microsoft.com/office/drawing/2014/main" id="{DF152A95-F8C8-2C3C-5AAD-649EC34E4A2E}"/>
                </a:ext>
              </a:extLst>
            </p:cNvPr>
            <p:cNvSpPr/>
            <p:nvPr/>
          </p:nvSpPr>
          <p:spPr>
            <a:xfrm>
              <a:off x="1190932" y="3349030"/>
              <a:ext cx="125361" cy="58501"/>
            </a:xfrm>
            <a:custGeom>
              <a:avLst/>
              <a:gdLst>
                <a:gd name="connsiteX0" fmla="*/ 112825 w 125361"/>
                <a:gd name="connsiteY0" fmla="*/ 0 h 58501"/>
                <a:gd name="connsiteX1" fmla="*/ 125361 w 125361"/>
                <a:gd name="connsiteY1" fmla="*/ 0 h 58501"/>
                <a:gd name="connsiteX2" fmla="*/ 125361 w 125361"/>
                <a:gd name="connsiteY2" fmla="*/ 58502 h 58501"/>
                <a:gd name="connsiteX3" fmla="*/ 112825 w 125361"/>
                <a:gd name="connsiteY3" fmla="*/ 58502 h 58501"/>
                <a:gd name="connsiteX4" fmla="*/ 12536 w 125361"/>
                <a:gd name="connsiteY4" fmla="*/ 58502 h 58501"/>
                <a:gd name="connsiteX5" fmla="*/ 0 w 125361"/>
                <a:gd name="connsiteY5" fmla="*/ 58502 h 58501"/>
                <a:gd name="connsiteX6" fmla="*/ 0 w 125361"/>
                <a:gd name="connsiteY6" fmla="*/ 0 h 58501"/>
                <a:gd name="connsiteX7" fmla="*/ 12536 w 125361"/>
                <a:gd name="connsiteY7" fmla="*/ 0 h 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361" h="58501">
                  <a:moveTo>
                    <a:pt x="112825" y="0"/>
                  </a:moveTo>
                  <a:cubicBezTo>
                    <a:pt x="119749" y="0"/>
                    <a:pt x="125361" y="0"/>
                    <a:pt x="125361" y="0"/>
                  </a:cubicBezTo>
                  <a:lnTo>
                    <a:pt x="125361" y="58502"/>
                  </a:lnTo>
                  <a:cubicBezTo>
                    <a:pt x="125361" y="58502"/>
                    <a:pt x="119749" y="58502"/>
                    <a:pt x="112825" y="58502"/>
                  </a:cubicBezTo>
                  <a:lnTo>
                    <a:pt x="12536" y="58502"/>
                  </a:lnTo>
                  <a:cubicBezTo>
                    <a:pt x="5613" y="58502"/>
                    <a:pt x="0" y="58502"/>
                    <a:pt x="0" y="58502"/>
                  </a:cubicBezTo>
                  <a:lnTo>
                    <a:pt x="0" y="0"/>
                  </a:lnTo>
                  <a:cubicBezTo>
                    <a:pt x="0" y="0"/>
                    <a:pt x="5613" y="0"/>
                    <a:pt x="12536" y="0"/>
                  </a:cubicBezTo>
                  <a:close/>
                </a:path>
              </a:pathLst>
            </a:custGeom>
            <a:solidFill>
              <a:srgbClr val="4527A0">
                <a:alpha val="80000"/>
              </a:srgbClr>
            </a:solidFill>
            <a:ln w="4179" cap="flat">
              <a:noFill/>
              <a:prstDash val="solid"/>
              <a:miter/>
            </a:ln>
          </p:spPr>
          <p:txBody>
            <a:bodyPr rtlCol="0" anchor="ctr"/>
            <a:lstStyle/>
            <a:p>
              <a:endParaRPr lang="zh-CN" altLang="en-US"/>
            </a:p>
          </p:txBody>
        </p:sp>
        <p:sp>
          <p:nvSpPr>
            <p:cNvPr id="277" name="文本框 276">
              <a:extLst>
                <a:ext uri="{FF2B5EF4-FFF2-40B4-BE49-F238E27FC236}">
                  <a16:creationId xmlns:a16="http://schemas.microsoft.com/office/drawing/2014/main" id="{CBCCDCD6-0A92-C460-EE97-A920C149B141}"/>
                </a:ext>
              </a:extLst>
            </p:cNvPr>
            <p:cNvSpPr txBox="1"/>
            <p:nvPr/>
          </p:nvSpPr>
          <p:spPr>
            <a:xfrm>
              <a:off x="1245747" y="3320025"/>
              <a:ext cx="345849"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Evacuation</a:t>
              </a:r>
            </a:p>
          </p:txBody>
        </p:sp>
        <p:sp>
          <p:nvSpPr>
            <p:cNvPr id="278" name="任意形状 277">
              <a:extLst>
                <a:ext uri="{FF2B5EF4-FFF2-40B4-BE49-F238E27FC236}">
                  <a16:creationId xmlns:a16="http://schemas.microsoft.com/office/drawing/2014/main" id="{4FA064F6-D1D0-E40A-C77D-AF09E7AE2551}"/>
                </a:ext>
              </a:extLst>
            </p:cNvPr>
            <p:cNvSpPr/>
            <p:nvPr/>
          </p:nvSpPr>
          <p:spPr>
            <a:xfrm>
              <a:off x="1587909" y="3349030"/>
              <a:ext cx="125361" cy="58501"/>
            </a:xfrm>
            <a:custGeom>
              <a:avLst/>
              <a:gdLst>
                <a:gd name="connsiteX0" fmla="*/ 112825 w 125361"/>
                <a:gd name="connsiteY0" fmla="*/ 0 h 58501"/>
                <a:gd name="connsiteX1" fmla="*/ 125361 w 125361"/>
                <a:gd name="connsiteY1" fmla="*/ 0 h 58501"/>
                <a:gd name="connsiteX2" fmla="*/ 125361 w 125361"/>
                <a:gd name="connsiteY2" fmla="*/ 58502 h 58501"/>
                <a:gd name="connsiteX3" fmla="*/ 112825 w 125361"/>
                <a:gd name="connsiteY3" fmla="*/ 58502 h 58501"/>
                <a:gd name="connsiteX4" fmla="*/ 12536 w 125361"/>
                <a:gd name="connsiteY4" fmla="*/ 58502 h 58501"/>
                <a:gd name="connsiteX5" fmla="*/ 0 w 125361"/>
                <a:gd name="connsiteY5" fmla="*/ 58502 h 58501"/>
                <a:gd name="connsiteX6" fmla="*/ 0 w 125361"/>
                <a:gd name="connsiteY6" fmla="*/ 0 h 58501"/>
                <a:gd name="connsiteX7" fmla="*/ 12536 w 125361"/>
                <a:gd name="connsiteY7" fmla="*/ 0 h 58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361" h="58501">
                  <a:moveTo>
                    <a:pt x="112825" y="0"/>
                  </a:moveTo>
                  <a:cubicBezTo>
                    <a:pt x="119749" y="0"/>
                    <a:pt x="125361" y="0"/>
                    <a:pt x="125361" y="0"/>
                  </a:cubicBezTo>
                  <a:lnTo>
                    <a:pt x="125361" y="58502"/>
                  </a:lnTo>
                  <a:cubicBezTo>
                    <a:pt x="125361" y="58502"/>
                    <a:pt x="119749" y="58502"/>
                    <a:pt x="112825" y="58502"/>
                  </a:cubicBezTo>
                  <a:lnTo>
                    <a:pt x="12536" y="58502"/>
                  </a:lnTo>
                  <a:cubicBezTo>
                    <a:pt x="5613" y="58502"/>
                    <a:pt x="0" y="58502"/>
                    <a:pt x="0" y="58502"/>
                  </a:cubicBezTo>
                  <a:lnTo>
                    <a:pt x="0" y="0"/>
                  </a:lnTo>
                  <a:cubicBezTo>
                    <a:pt x="0" y="0"/>
                    <a:pt x="5613" y="0"/>
                    <a:pt x="12536" y="0"/>
                  </a:cubicBezTo>
                  <a:close/>
                </a:path>
              </a:pathLst>
            </a:custGeom>
            <a:solidFill>
              <a:srgbClr val="C62828">
                <a:alpha val="80000"/>
              </a:srgbClr>
            </a:solidFill>
            <a:ln w="4179" cap="flat">
              <a:noFill/>
              <a:prstDash val="solid"/>
              <a:miter/>
            </a:ln>
          </p:spPr>
          <p:txBody>
            <a:bodyPr rtlCol="0" anchor="ctr"/>
            <a:lstStyle/>
            <a:p>
              <a:endParaRPr lang="zh-CN" altLang="en-US"/>
            </a:p>
          </p:txBody>
        </p:sp>
        <p:sp>
          <p:nvSpPr>
            <p:cNvPr id="279" name="文本框 278">
              <a:extLst>
                <a:ext uri="{FF2B5EF4-FFF2-40B4-BE49-F238E27FC236}">
                  <a16:creationId xmlns:a16="http://schemas.microsoft.com/office/drawing/2014/main" id="{5E0415CB-75FC-CCFC-38A0-A2F316F0A85E}"/>
                </a:ext>
              </a:extLst>
            </p:cNvPr>
            <p:cNvSpPr txBox="1"/>
            <p:nvPr/>
          </p:nvSpPr>
          <p:spPr>
            <a:xfrm>
              <a:off x="1642724" y="3320025"/>
              <a:ext cx="333313"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Resilience</a:t>
              </a:r>
            </a:p>
          </p:txBody>
        </p:sp>
        <p:sp>
          <p:nvSpPr>
            <p:cNvPr id="280" name="任意形状 279">
              <a:extLst>
                <a:ext uri="{FF2B5EF4-FFF2-40B4-BE49-F238E27FC236}">
                  <a16:creationId xmlns:a16="http://schemas.microsoft.com/office/drawing/2014/main" id="{282AC468-B2C4-AFD0-344A-C3571D05C100}"/>
                </a:ext>
              </a:extLst>
            </p:cNvPr>
            <p:cNvSpPr/>
            <p:nvPr/>
          </p:nvSpPr>
          <p:spPr>
            <a:xfrm>
              <a:off x="1922206" y="3378281"/>
              <a:ext cx="125361" cy="4178"/>
            </a:xfrm>
            <a:custGeom>
              <a:avLst/>
              <a:gdLst>
                <a:gd name="connsiteX0" fmla="*/ 0 w 125361"/>
                <a:gd name="connsiteY0" fmla="*/ 0 h 4178"/>
                <a:gd name="connsiteX1" fmla="*/ 125361 w 125361"/>
                <a:gd name="connsiteY1" fmla="*/ 0 h 4178"/>
              </a:gdLst>
              <a:ahLst/>
              <a:cxnLst>
                <a:cxn ang="0">
                  <a:pos x="connsiteX0" y="connsiteY0"/>
                </a:cxn>
                <a:cxn ang="0">
                  <a:pos x="connsiteX1" y="connsiteY1"/>
                </a:cxn>
              </a:cxnLst>
              <a:rect l="l" t="t" r="r" b="b"/>
              <a:pathLst>
                <a:path w="125361" h="4178">
                  <a:moveTo>
                    <a:pt x="0" y="0"/>
                  </a:moveTo>
                  <a:lnTo>
                    <a:pt x="125361" y="0"/>
                  </a:lnTo>
                </a:path>
              </a:pathLst>
            </a:custGeom>
            <a:ln w="6268" cap="flat">
              <a:solidFill>
                <a:srgbClr val="455A64"/>
              </a:solidFill>
              <a:prstDash val="solid"/>
              <a:miter/>
            </a:ln>
          </p:spPr>
          <p:txBody>
            <a:bodyPr rtlCol="0" anchor="ctr"/>
            <a:lstStyle/>
            <a:p>
              <a:endParaRPr lang="zh-CN" altLang="en-US"/>
            </a:p>
          </p:txBody>
        </p:sp>
        <p:sp>
          <p:nvSpPr>
            <p:cNvPr id="281" name="文本框 280">
              <a:extLst>
                <a:ext uri="{FF2B5EF4-FFF2-40B4-BE49-F238E27FC236}">
                  <a16:creationId xmlns:a16="http://schemas.microsoft.com/office/drawing/2014/main" id="{3ABE21AA-3075-CAC2-5D84-C40BE0A35653}"/>
                </a:ext>
              </a:extLst>
            </p:cNvPr>
            <p:cNvSpPr txBox="1"/>
            <p:nvPr/>
          </p:nvSpPr>
          <p:spPr>
            <a:xfrm>
              <a:off x="1977021" y="3320025"/>
              <a:ext cx="375100"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Analysis flow</a:t>
              </a:r>
            </a:p>
          </p:txBody>
        </p:sp>
        <p:sp>
          <p:nvSpPr>
            <p:cNvPr id="282" name="任意形状 281">
              <a:extLst>
                <a:ext uri="{FF2B5EF4-FFF2-40B4-BE49-F238E27FC236}">
                  <a16:creationId xmlns:a16="http://schemas.microsoft.com/office/drawing/2014/main" id="{86AFC405-480E-63A8-450B-9B3FBC3B7955}"/>
                </a:ext>
              </a:extLst>
            </p:cNvPr>
            <p:cNvSpPr/>
            <p:nvPr/>
          </p:nvSpPr>
          <p:spPr>
            <a:xfrm>
              <a:off x="2319183" y="3378281"/>
              <a:ext cx="125361" cy="4178"/>
            </a:xfrm>
            <a:custGeom>
              <a:avLst/>
              <a:gdLst>
                <a:gd name="connsiteX0" fmla="*/ 0 w 125361"/>
                <a:gd name="connsiteY0" fmla="*/ 0 h 4178"/>
                <a:gd name="connsiteX1" fmla="*/ 125361 w 125361"/>
                <a:gd name="connsiteY1" fmla="*/ 0 h 4178"/>
              </a:gdLst>
              <a:ahLst/>
              <a:cxnLst>
                <a:cxn ang="0">
                  <a:pos x="connsiteX0" y="connsiteY0"/>
                </a:cxn>
                <a:cxn ang="0">
                  <a:pos x="connsiteX1" y="connsiteY1"/>
                </a:cxn>
              </a:cxnLst>
              <a:rect l="l" t="t" r="r" b="b"/>
              <a:pathLst>
                <a:path w="125361" h="4178">
                  <a:moveTo>
                    <a:pt x="0" y="0"/>
                  </a:moveTo>
                  <a:lnTo>
                    <a:pt x="125361" y="0"/>
                  </a:lnTo>
                </a:path>
              </a:pathLst>
            </a:custGeom>
            <a:ln w="4179" cap="flat">
              <a:solidFill>
                <a:srgbClr val="455A64"/>
              </a:solidFill>
              <a:custDash>
                <a:ds d="300000" sp="150000"/>
              </a:custDash>
              <a:miter/>
            </a:ln>
          </p:spPr>
          <p:txBody>
            <a:bodyPr rtlCol="0" anchor="ctr"/>
            <a:lstStyle/>
            <a:p>
              <a:endParaRPr lang="zh-CN" altLang="en-US"/>
            </a:p>
          </p:txBody>
        </p:sp>
        <p:sp>
          <p:nvSpPr>
            <p:cNvPr id="283" name="文本框 282">
              <a:extLst>
                <a:ext uri="{FF2B5EF4-FFF2-40B4-BE49-F238E27FC236}">
                  <a16:creationId xmlns:a16="http://schemas.microsoft.com/office/drawing/2014/main" id="{50FD55A6-494E-3FA6-91ED-1250AE0BD8ED}"/>
                </a:ext>
              </a:extLst>
            </p:cNvPr>
            <p:cNvSpPr txBox="1"/>
            <p:nvPr/>
          </p:nvSpPr>
          <p:spPr>
            <a:xfrm>
              <a:off x="2373998" y="3320025"/>
              <a:ext cx="312420" cy="129048"/>
            </a:xfrm>
            <a:prstGeom prst="rect">
              <a:avLst/>
            </a:prstGeom>
            <a:noFill/>
          </p:spPr>
          <p:txBody>
            <a:bodyPr wrap="none" rtlCol="0">
              <a:spAutoFit/>
            </a:bodyPr>
            <a:lstStyle/>
            <a:p>
              <a:pPr algn="l"/>
              <a:r>
                <a:rPr lang="zh-CN" altLang="en-US" sz="600" spc="0" baseline="0">
                  <a:ln/>
                  <a:solidFill>
                    <a:srgbClr val="555555"/>
                  </a:solidFill>
                  <a:latin typeface="Arial"/>
                  <a:cs typeface="Arial"/>
                  <a:sym typeface="Arial"/>
                  <a:rtl val="0"/>
                </a:rPr>
                <a:t>Coupling</a:t>
              </a:r>
            </a:p>
          </p:txBody>
        </p:sp>
      </p:grpSp>
      <p:grpSp>
        <p:nvGrpSpPr>
          <p:cNvPr id="284" name="图形 2">
            <a:extLst>
              <a:ext uri="{FF2B5EF4-FFF2-40B4-BE49-F238E27FC236}">
                <a16:creationId xmlns:a16="http://schemas.microsoft.com/office/drawing/2014/main" id="{A7FE27A9-860D-DAFE-F126-670944545B56}"/>
              </a:ext>
            </a:extLst>
          </p:cNvPr>
          <p:cNvGrpSpPr/>
          <p:nvPr/>
        </p:nvGrpSpPr>
        <p:grpSpPr>
          <a:xfrm>
            <a:off x="125361" y="3466034"/>
            <a:ext cx="3990667" cy="75216"/>
            <a:chOff x="125361" y="3466034"/>
            <a:chExt cx="3990667" cy="75216"/>
          </a:xfrm>
        </p:grpSpPr>
        <p:sp>
          <p:nvSpPr>
            <p:cNvPr id="285" name="文本框 284">
              <a:extLst>
                <a:ext uri="{FF2B5EF4-FFF2-40B4-BE49-F238E27FC236}">
                  <a16:creationId xmlns:a16="http://schemas.microsoft.com/office/drawing/2014/main" id="{B383FB09-B152-A03E-F2D0-98789659BB72}"/>
                </a:ext>
              </a:extLst>
            </p:cNvPr>
            <p:cNvSpPr txBox="1"/>
            <p:nvPr/>
          </p:nvSpPr>
          <p:spPr>
            <a:xfrm>
              <a:off x="33921" y="3432850"/>
              <a:ext cx="400172" cy="141584"/>
            </a:xfrm>
            <a:prstGeom prst="rect">
              <a:avLst/>
            </a:prstGeom>
            <a:noFill/>
          </p:spPr>
          <p:txBody>
            <a:bodyPr wrap="none" rtlCol="0">
              <a:spAutoFit/>
            </a:bodyPr>
            <a:lstStyle/>
            <a:p>
              <a:pPr algn="l"/>
              <a:r>
                <a:rPr lang="zh-CN" altLang="en-US" sz="675" spc="0" baseline="0">
                  <a:ln/>
                  <a:solidFill>
                    <a:srgbClr val="78909C"/>
                  </a:solidFill>
                  <a:latin typeface="Segoe UI"/>
                  <a:cs typeface="Segoe UI"/>
                  <a:sym typeface="Segoe UI"/>
                  <a:rtl val="0"/>
                </a:rPr>
                <a:t>Key Methods</a:t>
              </a:r>
            </a:p>
          </p:txBody>
        </p:sp>
        <p:sp>
          <p:nvSpPr>
            <p:cNvPr id="286" name="任意形状 285">
              <a:extLst>
                <a:ext uri="{FF2B5EF4-FFF2-40B4-BE49-F238E27FC236}">
                  <a16:creationId xmlns:a16="http://schemas.microsoft.com/office/drawing/2014/main" id="{74300954-77D0-6A88-6E87-51A7411CAAAB}"/>
                </a:ext>
              </a:extLst>
            </p:cNvPr>
            <p:cNvSpPr/>
            <p:nvPr/>
          </p:nvSpPr>
          <p:spPr>
            <a:xfrm>
              <a:off x="459658" y="3466034"/>
              <a:ext cx="417870" cy="75216"/>
            </a:xfrm>
            <a:custGeom>
              <a:avLst/>
              <a:gdLst>
                <a:gd name="connsiteX0" fmla="*/ 380263 w 417870"/>
                <a:gd name="connsiteY0" fmla="*/ 0 h 75216"/>
                <a:gd name="connsiteX1" fmla="*/ 417871 w 417870"/>
                <a:gd name="connsiteY1" fmla="*/ 0 h 75216"/>
                <a:gd name="connsiteX2" fmla="*/ 417871 w 417870"/>
                <a:gd name="connsiteY2" fmla="*/ 75217 h 75216"/>
                <a:gd name="connsiteX3" fmla="*/ 380263 w 417870"/>
                <a:gd name="connsiteY3" fmla="*/ 75217 h 75216"/>
                <a:gd name="connsiteX4" fmla="*/ 37608 w 417870"/>
                <a:gd name="connsiteY4" fmla="*/ 75217 h 75216"/>
                <a:gd name="connsiteX5" fmla="*/ 0 w 417870"/>
                <a:gd name="connsiteY5" fmla="*/ 75217 h 75216"/>
                <a:gd name="connsiteX6" fmla="*/ 0 w 417870"/>
                <a:gd name="connsiteY6" fmla="*/ 0 h 75216"/>
                <a:gd name="connsiteX7" fmla="*/ 37608 w 417870"/>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870" h="75216">
                  <a:moveTo>
                    <a:pt x="380263" y="0"/>
                  </a:moveTo>
                  <a:cubicBezTo>
                    <a:pt x="401033" y="0"/>
                    <a:pt x="417871" y="0"/>
                    <a:pt x="417871" y="0"/>
                  </a:cubicBezTo>
                  <a:lnTo>
                    <a:pt x="417871" y="75217"/>
                  </a:lnTo>
                  <a:cubicBezTo>
                    <a:pt x="417871" y="75217"/>
                    <a:pt x="401033" y="75217"/>
                    <a:pt x="380263"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1565C0"/>
              </a:solidFill>
              <a:prstDash val="solid"/>
              <a:miter/>
            </a:ln>
          </p:spPr>
          <p:txBody>
            <a:bodyPr rtlCol="0" anchor="ctr"/>
            <a:lstStyle/>
            <a:p>
              <a:endParaRPr lang="zh-CN" altLang="en-US"/>
            </a:p>
          </p:txBody>
        </p:sp>
        <p:sp>
          <p:nvSpPr>
            <p:cNvPr id="287" name="文本框 286">
              <a:extLst>
                <a:ext uri="{FF2B5EF4-FFF2-40B4-BE49-F238E27FC236}">
                  <a16:creationId xmlns:a16="http://schemas.microsoft.com/office/drawing/2014/main" id="{77830B9E-02F9-0EFE-D7A1-A8E37FC71D01}"/>
                </a:ext>
              </a:extLst>
            </p:cNvPr>
            <p:cNvSpPr txBox="1"/>
            <p:nvPr/>
          </p:nvSpPr>
          <p:spPr>
            <a:xfrm>
              <a:off x="474775" y="3445387"/>
              <a:ext cx="387636" cy="120690"/>
            </a:xfrm>
            <a:prstGeom prst="rect">
              <a:avLst/>
            </a:prstGeom>
            <a:noFill/>
          </p:spPr>
          <p:txBody>
            <a:bodyPr wrap="none" rtlCol="0">
              <a:spAutoFit/>
            </a:bodyPr>
            <a:lstStyle/>
            <a:p>
              <a:pPr algn="l"/>
              <a:r>
                <a:rPr lang="zh-CN" altLang="en-US" sz="525" spc="0" baseline="0">
                  <a:ln/>
                  <a:solidFill>
                    <a:srgbClr val="1565C0"/>
                  </a:solidFill>
                  <a:latin typeface="Arial"/>
                  <a:cs typeface="Arial"/>
                  <a:sym typeface="Arial"/>
                  <a:rtl val="0"/>
                </a:rPr>
                <a:t>BD09→WGS84</a:t>
              </a:r>
            </a:p>
          </p:txBody>
        </p:sp>
        <p:sp>
          <p:nvSpPr>
            <p:cNvPr id="288" name="任意形状 287">
              <a:extLst>
                <a:ext uri="{FF2B5EF4-FFF2-40B4-BE49-F238E27FC236}">
                  <a16:creationId xmlns:a16="http://schemas.microsoft.com/office/drawing/2014/main" id="{332CE94A-0793-07D3-2E50-985F64D2B088}"/>
                </a:ext>
              </a:extLst>
            </p:cNvPr>
            <p:cNvSpPr/>
            <p:nvPr/>
          </p:nvSpPr>
          <p:spPr>
            <a:xfrm>
              <a:off x="919316" y="3466034"/>
              <a:ext cx="334296" cy="75216"/>
            </a:xfrm>
            <a:custGeom>
              <a:avLst/>
              <a:gdLst>
                <a:gd name="connsiteX0" fmla="*/ 296688 w 334296"/>
                <a:gd name="connsiteY0" fmla="*/ 0 h 75216"/>
                <a:gd name="connsiteX1" fmla="*/ 334297 w 334296"/>
                <a:gd name="connsiteY1" fmla="*/ 0 h 75216"/>
                <a:gd name="connsiteX2" fmla="*/ 334297 w 334296"/>
                <a:gd name="connsiteY2" fmla="*/ 75217 h 75216"/>
                <a:gd name="connsiteX3" fmla="*/ 296688 w 334296"/>
                <a:gd name="connsiteY3" fmla="*/ 75217 h 75216"/>
                <a:gd name="connsiteX4" fmla="*/ 37608 w 334296"/>
                <a:gd name="connsiteY4" fmla="*/ 75217 h 75216"/>
                <a:gd name="connsiteX5" fmla="*/ 0 w 334296"/>
                <a:gd name="connsiteY5" fmla="*/ 75217 h 75216"/>
                <a:gd name="connsiteX6" fmla="*/ 0 w 334296"/>
                <a:gd name="connsiteY6" fmla="*/ 0 h 75216"/>
                <a:gd name="connsiteX7" fmla="*/ 37608 w 334296"/>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296" h="75216">
                  <a:moveTo>
                    <a:pt x="296688" y="0"/>
                  </a:moveTo>
                  <a:cubicBezTo>
                    <a:pt x="317459" y="0"/>
                    <a:pt x="334297" y="0"/>
                    <a:pt x="334297" y="0"/>
                  </a:cubicBezTo>
                  <a:lnTo>
                    <a:pt x="334297" y="75217"/>
                  </a:lnTo>
                  <a:cubicBezTo>
                    <a:pt x="334297" y="75217"/>
                    <a:pt x="317459" y="75217"/>
                    <a:pt x="296688"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1565C0"/>
              </a:solidFill>
              <a:prstDash val="solid"/>
              <a:miter/>
            </a:ln>
          </p:spPr>
          <p:txBody>
            <a:bodyPr rtlCol="0" anchor="ctr"/>
            <a:lstStyle/>
            <a:p>
              <a:endParaRPr lang="zh-CN" altLang="en-US"/>
            </a:p>
          </p:txBody>
        </p:sp>
        <p:sp>
          <p:nvSpPr>
            <p:cNvPr id="289" name="文本框 288">
              <a:extLst>
                <a:ext uri="{FF2B5EF4-FFF2-40B4-BE49-F238E27FC236}">
                  <a16:creationId xmlns:a16="http://schemas.microsoft.com/office/drawing/2014/main" id="{DC28093F-6588-BEF2-24C3-9719AD6F9065}"/>
                </a:ext>
              </a:extLst>
            </p:cNvPr>
            <p:cNvSpPr txBox="1"/>
            <p:nvPr/>
          </p:nvSpPr>
          <p:spPr>
            <a:xfrm>
              <a:off x="932343" y="3445387"/>
              <a:ext cx="312420" cy="120690"/>
            </a:xfrm>
            <a:prstGeom prst="rect">
              <a:avLst/>
            </a:prstGeom>
            <a:noFill/>
          </p:spPr>
          <p:txBody>
            <a:bodyPr wrap="none" rtlCol="0">
              <a:spAutoFit/>
            </a:bodyPr>
            <a:lstStyle/>
            <a:p>
              <a:pPr algn="l"/>
              <a:r>
                <a:rPr lang="zh-CN" altLang="en-US" sz="525" spc="0" baseline="0">
                  <a:ln/>
                  <a:solidFill>
                    <a:srgbClr val="1565C0"/>
                  </a:solidFill>
                  <a:latin typeface="Arial"/>
                  <a:cs typeface="Arial"/>
                  <a:sym typeface="Arial"/>
                  <a:rtl val="0"/>
                </a:rPr>
                <a:t>NetworkX</a:t>
              </a:r>
            </a:p>
          </p:txBody>
        </p:sp>
        <p:sp>
          <p:nvSpPr>
            <p:cNvPr id="290" name="任意形状 289">
              <a:extLst>
                <a:ext uri="{FF2B5EF4-FFF2-40B4-BE49-F238E27FC236}">
                  <a16:creationId xmlns:a16="http://schemas.microsoft.com/office/drawing/2014/main" id="{FBA0D9BA-520B-233E-1BE2-AA7DB3388526}"/>
                </a:ext>
              </a:extLst>
            </p:cNvPr>
            <p:cNvSpPr/>
            <p:nvPr/>
          </p:nvSpPr>
          <p:spPr>
            <a:xfrm>
              <a:off x="1295400" y="3466034"/>
              <a:ext cx="417870" cy="75216"/>
            </a:xfrm>
            <a:custGeom>
              <a:avLst/>
              <a:gdLst>
                <a:gd name="connsiteX0" fmla="*/ 380263 w 417870"/>
                <a:gd name="connsiteY0" fmla="*/ 0 h 75216"/>
                <a:gd name="connsiteX1" fmla="*/ 417871 w 417870"/>
                <a:gd name="connsiteY1" fmla="*/ 0 h 75216"/>
                <a:gd name="connsiteX2" fmla="*/ 417871 w 417870"/>
                <a:gd name="connsiteY2" fmla="*/ 75217 h 75216"/>
                <a:gd name="connsiteX3" fmla="*/ 380263 w 417870"/>
                <a:gd name="connsiteY3" fmla="*/ 75217 h 75216"/>
                <a:gd name="connsiteX4" fmla="*/ 37608 w 417870"/>
                <a:gd name="connsiteY4" fmla="*/ 75217 h 75216"/>
                <a:gd name="connsiteX5" fmla="*/ 0 w 417870"/>
                <a:gd name="connsiteY5" fmla="*/ 75217 h 75216"/>
                <a:gd name="connsiteX6" fmla="*/ 0 w 417870"/>
                <a:gd name="connsiteY6" fmla="*/ 0 h 75216"/>
                <a:gd name="connsiteX7" fmla="*/ 37608 w 417870"/>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870" h="75216">
                  <a:moveTo>
                    <a:pt x="380263" y="0"/>
                  </a:moveTo>
                  <a:cubicBezTo>
                    <a:pt x="401033" y="0"/>
                    <a:pt x="417871" y="0"/>
                    <a:pt x="417871" y="0"/>
                  </a:cubicBezTo>
                  <a:lnTo>
                    <a:pt x="417871" y="75217"/>
                  </a:lnTo>
                  <a:cubicBezTo>
                    <a:pt x="417871" y="75217"/>
                    <a:pt x="401033" y="75217"/>
                    <a:pt x="380263"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E65100"/>
              </a:solidFill>
              <a:prstDash val="solid"/>
              <a:miter/>
            </a:ln>
          </p:spPr>
          <p:txBody>
            <a:bodyPr rtlCol="0" anchor="ctr"/>
            <a:lstStyle/>
            <a:p>
              <a:endParaRPr lang="zh-CN" altLang="en-US"/>
            </a:p>
          </p:txBody>
        </p:sp>
        <p:sp>
          <p:nvSpPr>
            <p:cNvPr id="291" name="文本框 290">
              <a:extLst>
                <a:ext uri="{FF2B5EF4-FFF2-40B4-BE49-F238E27FC236}">
                  <a16:creationId xmlns:a16="http://schemas.microsoft.com/office/drawing/2014/main" id="{CCB144CD-1414-173C-4CE9-8718DCD5B640}"/>
                </a:ext>
              </a:extLst>
            </p:cNvPr>
            <p:cNvSpPr txBox="1"/>
            <p:nvPr/>
          </p:nvSpPr>
          <p:spPr>
            <a:xfrm>
              <a:off x="1306338" y="3445387"/>
              <a:ext cx="395994" cy="120690"/>
            </a:xfrm>
            <a:prstGeom prst="rect">
              <a:avLst/>
            </a:prstGeom>
            <a:noFill/>
          </p:spPr>
          <p:txBody>
            <a:bodyPr wrap="none" rtlCol="0">
              <a:spAutoFit/>
            </a:bodyPr>
            <a:lstStyle/>
            <a:p>
              <a:pPr algn="l"/>
              <a:r>
                <a:rPr lang="zh-CN" altLang="en-US" sz="525" spc="0" baseline="0">
                  <a:ln/>
                  <a:solidFill>
                    <a:srgbClr val="E65100"/>
                  </a:solidFill>
                  <a:latin typeface="Arial"/>
                  <a:cs typeface="Arial"/>
                  <a:sym typeface="Arial"/>
                  <a:rtl val="0"/>
                </a:rPr>
                <a:t>Gaussian Plume</a:t>
              </a:r>
            </a:p>
          </p:txBody>
        </p:sp>
        <p:sp>
          <p:nvSpPr>
            <p:cNvPr id="292" name="任意形状 291">
              <a:extLst>
                <a:ext uri="{FF2B5EF4-FFF2-40B4-BE49-F238E27FC236}">
                  <a16:creationId xmlns:a16="http://schemas.microsoft.com/office/drawing/2014/main" id="{E33E86AE-0564-B149-805F-BB8C73BDB45B}"/>
                </a:ext>
              </a:extLst>
            </p:cNvPr>
            <p:cNvSpPr/>
            <p:nvPr/>
          </p:nvSpPr>
          <p:spPr>
            <a:xfrm>
              <a:off x="1755058" y="3466034"/>
              <a:ext cx="271616" cy="75216"/>
            </a:xfrm>
            <a:custGeom>
              <a:avLst/>
              <a:gdLst>
                <a:gd name="connsiteX0" fmla="*/ 234008 w 271616"/>
                <a:gd name="connsiteY0" fmla="*/ 0 h 75216"/>
                <a:gd name="connsiteX1" fmla="*/ 271616 w 271616"/>
                <a:gd name="connsiteY1" fmla="*/ 0 h 75216"/>
                <a:gd name="connsiteX2" fmla="*/ 271616 w 271616"/>
                <a:gd name="connsiteY2" fmla="*/ 75217 h 75216"/>
                <a:gd name="connsiteX3" fmla="*/ 234008 w 271616"/>
                <a:gd name="connsiteY3" fmla="*/ 75217 h 75216"/>
                <a:gd name="connsiteX4" fmla="*/ 37608 w 271616"/>
                <a:gd name="connsiteY4" fmla="*/ 75217 h 75216"/>
                <a:gd name="connsiteX5" fmla="*/ 0 w 271616"/>
                <a:gd name="connsiteY5" fmla="*/ 75217 h 75216"/>
                <a:gd name="connsiteX6" fmla="*/ 0 w 271616"/>
                <a:gd name="connsiteY6" fmla="*/ 0 h 75216"/>
                <a:gd name="connsiteX7" fmla="*/ 37608 w 271616"/>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616" h="75216">
                  <a:moveTo>
                    <a:pt x="234008" y="0"/>
                  </a:moveTo>
                  <a:cubicBezTo>
                    <a:pt x="254778" y="0"/>
                    <a:pt x="271616" y="0"/>
                    <a:pt x="271616" y="0"/>
                  </a:cubicBezTo>
                  <a:lnTo>
                    <a:pt x="271616" y="75217"/>
                  </a:lnTo>
                  <a:cubicBezTo>
                    <a:pt x="271616" y="75217"/>
                    <a:pt x="254778" y="75217"/>
                    <a:pt x="234008"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E65100"/>
              </a:solidFill>
              <a:prstDash val="solid"/>
              <a:miter/>
            </a:ln>
          </p:spPr>
          <p:txBody>
            <a:bodyPr rtlCol="0" anchor="ctr"/>
            <a:lstStyle/>
            <a:p>
              <a:endParaRPr lang="zh-CN" altLang="en-US"/>
            </a:p>
          </p:txBody>
        </p:sp>
        <p:sp>
          <p:nvSpPr>
            <p:cNvPr id="293" name="文本框 292">
              <a:extLst>
                <a:ext uri="{FF2B5EF4-FFF2-40B4-BE49-F238E27FC236}">
                  <a16:creationId xmlns:a16="http://schemas.microsoft.com/office/drawing/2014/main" id="{A57E53DB-92FB-62C3-C2B6-BAD64ABFAD39}"/>
                </a:ext>
              </a:extLst>
            </p:cNvPr>
            <p:cNvSpPr txBox="1"/>
            <p:nvPr/>
          </p:nvSpPr>
          <p:spPr>
            <a:xfrm>
              <a:off x="1755549" y="3445387"/>
              <a:ext cx="262275" cy="120690"/>
            </a:xfrm>
            <a:prstGeom prst="rect">
              <a:avLst/>
            </a:prstGeom>
            <a:noFill/>
          </p:spPr>
          <p:txBody>
            <a:bodyPr wrap="none" rtlCol="0">
              <a:spAutoFit/>
            </a:bodyPr>
            <a:lstStyle/>
            <a:p>
              <a:pPr algn="l"/>
              <a:r>
                <a:rPr lang="zh-CN" altLang="en-US" sz="525" spc="0" baseline="0">
                  <a:ln/>
                  <a:solidFill>
                    <a:srgbClr val="E65100"/>
                  </a:solidFill>
                  <a:latin typeface="Arial"/>
                  <a:cs typeface="Arial"/>
                  <a:sym typeface="Arial"/>
                  <a:rtl val="0"/>
                </a:rPr>
                <a:t>ERPG</a:t>
              </a:r>
            </a:p>
          </p:txBody>
        </p:sp>
        <p:sp>
          <p:nvSpPr>
            <p:cNvPr id="294" name="任意形状 293">
              <a:extLst>
                <a:ext uri="{FF2B5EF4-FFF2-40B4-BE49-F238E27FC236}">
                  <a16:creationId xmlns:a16="http://schemas.microsoft.com/office/drawing/2014/main" id="{FEC9757C-466B-3E2B-47D4-8E2F1C452992}"/>
                </a:ext>
              </a:extLst>
            </p:cNvPr>
            <p:cNvSpPr/>
            <p:nvPr/>
          </p:nvSpPr>
          <p:spPr>
            <a:xfrm>
              <a:off x="2068461" y="3466034"/>
              <a:ext cx="313403" cy="75216"/>
            </a:xfrm>
            <a:custGeom>
              <a:avLst/>
              <a:gdLst>
                <a:gd name="connsiteX0" fmla="*/ 275795 w 313403"/>
                <a:gd name="connsiteY0" fmla="*/ 0 h 75216"/>
                <a:gd name="connsiteX1" fmla="*/ 313403 w 313403"/>
                <a:gd name="connsiteY1" fmla="*/ 0 h 75216"/>
                <a:gd name="connsiteX2" fmla="*/ 313403 w 313403"/>
                <a:gd name="connsiteY2" fmla="*/ 75217 h 75216"/>
                <a:gd name="connsiteX3" fmla="*/ 275795 w 313403"/>
                <a:gd name="connsiteY3" fmla="*/ 75217 h 75216"/>
                <a:gd name="connsiteX4" fmla="*/ 37608 w 313403"/>
                <a:gd name="connsiteY4" fmla="*/ 75217 h 75216"/>
                <a:gd name="connsiteX5" fmla="*/ 0 w 313403"/>
                <a:gd name="connsiteY5" fmla="*/ 75217 h 75216"/>
                <a:gd name="connsiteX6" fmla="*/ 0 w 313403"/>
                <a:gd name="connsiteY6" fmla="*/ 0 h 75216"/>
                <a:gd name="connsiteX7" fmla="*/ 37608 w 31340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403" h="75216">
                  <a:moveTo>
                    <a:pt x="275795" y="0"/>
                  </a:moveTo>
                  <a:cubicBezTo>
                    <a:pt x="296565" y="0"/>
                    <a:pt x="313403" y="0"/>
                    <a:pt x="313403" y="0"/>
                  </a:cubicBezTo>
                  <a:lnTo>
                    <a:pt x="313403" y="75217"/>
                  </a:lnTo>
                  <a:cubicBezTo>
                    <a:pt x="313403" y="75217"/>
                    <a:pt x="296565" y="75217"/>
                    <a:pt x="275795"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2E7D32"/>
              </a:solidFill>
              <a:prstDash val="solid"/>
              <a:miter/>
            </a:ln>
          </p:spPr>
          <p:txBody>
            <a:bodyPr rtlCol="0" anchor="ctr"/>
            <a:lstStyle/>
            <a:p>
              <a:endParaRPr lang="zh-CN" altLang="en-US"/>
            </a:p>
          </p:txBody>
        </p:sp>
        <p:sp>
          <p:nvSpPr>
            <p:cNvPr id="295" name="文本框 294">
              <a:extLst>
                <a:ext uri="{FF2B5EF4-FFF2-40B4-BE49-F238E27FC236}">
                  <a16:creationId xmlns:a16="http://schemas.microsoft.com/office/drawing/2014/main" id="{DA09FA00-4F6C-0394-91D0-E7990572338B}"/>
                </a:ext>
              </a:extLst>
            </p:cNvPr>
            <p:cNvSpPr txBox="1"/>
            <p:nvPr/>
          </p:nvSpPr>
          <p:spPr>
            <a:xfrm>
              <a:off x="2041791" y="3445387"/>
              <a:ext cx="362564" cy="120690"/>
            </a:xfrm>
            <a:prstGeom prst="rect">
              <a:avLst/>
            </a:prstGeom>
            <a:noFill/>
          </p:spPr>
          <p:txBody>
            <a:bodyPr wrap="none" rtlCol="0">
              <a:spAutoFit/>
            </a:bodyPr>
            <a:lstStyle/>
            <a:p>
              <a:pPr algn="l"/>
              <a:r>
                <a:rPr lang="zh-CN" altLang="en-US" sz="525" spc="0" baseline="0">
                  <a:ln/>
                  <a:solidFill>
                    <a:srgbClr val="2E7D32"/>
                  </a:solidFill>
                  <a:latin typeface="Arial"/>
                  <a:cs typeface="Arial"/>
                  <a:sym typeface="Arial"/>
                  <a:rtl val="0"/>
                </a:rPr>
                <a:t>BPR Function</a:t>
              </a:r>
            </a:p>
          </p:txBody>
        </p:sp>
        <p:sp>
          <p:nvSpPr>
            <p:cNvPr id="296" name="任意形状 295">
              <a:extLst>
                <a:ext uri="{FF2B5EF4-FFF2-40B4-BE49-F238E27FC236}">
                  <a16:creationId xmlns:a16="http://schemas.microsoft.com/office/drawing/2014/main" id="{645319F8-DCD5-83D0-C1E9-5C3D4075CAE1}"/>
                </a:ext>
              </a:extLst>
            </p:cNvPr>
            <p:cNvSpPr/>
            <p:nvPr/>
          </p:nvSpPr>
          <p:spPr>
            <a:xfrm>
              <a:off x="2423651" y="3466034"/>
              <a:ext cx="313403" cy="75216"/>
            </a:xfrm>
            <a:custGeom>
              <a:avLst/>
              <a:gdLst>
                <a:gd name="connsiteX0" fmla="*/ 275795 w 313403"/>
                <a:gd name="connsiteY0" fmla="*/ 0 h 75216"/>
                <a:gd name="connsiteX1" fmla="*/ 313403 w 313403"/>
                <a:gd name="connsiteY1" fmla="*/ 0 h 75216"/>
                <a:gd name="connsiteX2" fmla="*/ 313403 w 313403"/>
                <a:gd name="connsiteY2" fmla="*/ 75217 h 75216"/>
                <a:gd name="connsiteX3" fmla="*/ 275795 w 313403"/>
                <a:gd name="connsiteY3" fmla="*/ 75217 h 75216"/>
                <a:gd name="connsiteX4" fmla="*/ 37608 w 313403"/>
                <a:gd name="connsiteY4" fmla="*/ 75217 h 75216"/>
                <a:gd name="connsiteX5" fmla="*/ 0 w 313403"/>
                <a:gd name="connsiteY5" fmla="*/ 75217 h 75216"/>
                <a:gd name="connsiteX6" fmla="*/ 0 w 313403"/>
                <a:gd name="connsiteY6" fmla="*/ 0 h 75216"/>
                <a:gd name="connsiteX7" fmla="*/ 37608 w 313403"/>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403" h="75216">
                  <a:moveTo>
                    <a:pt x="275795" y="0"/>
                  </a:moveTo>
                  <a:cubicBezTo>
                    <a:pt x="296565" y="0"/>
                    <a:pt x="313403" y="0"/>
                    <a:pt x="313403" y="0"/>
                  </a:cubicBezTo>
                  <a:lnTo>
                    <a:pt x="313403" y="75217"/>
                  </a:lnTo>
                  <a:cubicBezTo>
                    <a:pt x="313403" y="75217"/>
                    <a:pt x="296565" y="75217"/>
                    <a:pt x="275795"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2E7D32"/>
              </a:solidFill>
              <a:prstDash val="solid"/>
              <a:miter/>
            </a:ln>
          </p:spPr>
          <p:txBody>
            <a:bodyPr rtlCol="0" anchor="ctr"/>
            <a:lstStyle/>
            <a:p>
              <a:endParaRPr lang="zh-CN" altLang="en-US"/>
            </a:p>
          </p:txBody>
        </p:sp>
        <p:sp>
          <p:nvSpPr>
            <p:cNvPr id="297" name="文本框 296">
              <a:extLst>
                <a:ext uri="{FF2B5EF4-FFF2-40B4-BE49-F238E27FC236}">
                  <a16:creationId xmlns:a16="http://schemas.microsoft.com/office/drawing/2014/main" id="{EED4C1F1-CBE7-5BD3-7FAC-830005658E23}"/>
                </a:ext>
              </a:extLst>
            </p:cNvPr>
            <p:cNvSpPr txBox="1"/>
            <p:nvPr/>
          </p:nvSpPr>
          <p:spPr>
            <a:xfrm>
              <a:off x="2413696" y="3445387"/>
              <a:ext cx="329134" cy="120690"/>
            </a:xfrm>
            <a:prstGeom prst="rect">
              <a:avLst/>
            </a:prstGeom>
            <a:noFill/>
          </p:spPr>
          <p:txBody>
            <a:bodyPr wrap="none" rtlCol="0">
              <a:spAutoFit/>
            </a:bodyPr>
            <a:lstStyle/>
            <a:p>
              <a:pPr algn="l"/>
              <a:r>
                <a:rPr lang="zh-CN" altLang="en-US" sz="525" spc="0" baseline="0">
                  <a:ln/>
                  <a:solidFill>
                    <a:srgbClr val="2E7D32"/>
                  </a:solidFill>
                  <a:latin typeface="Arial"/>
                  <a:cs typeface="Arial"/>
                  <a:sym typeface="Arial"/>
                  <a:rtl val="0"/>
                </a:rPr>
                <a:t>Dijkstra SP</a:t>
              </a:r>
            </a:p>
          </p:txBody>
        </p:sp>
        <p:sp>
          <p:nvSpPr>
            <p:cNvPr id="298" name="任意形状 297">
              <a:extLst>
                <a:ext uri="{FF2B5EF4-FFF2-40B4-BE49-F238E27FC236}">
                  <a16:creationId xmlns:a16="http://schemas.microsoft.com/office/drawing/2014/main" id="{6D51307D-0B4E-0445-B1E3-22E5C4408EFF}"/>
                </a:ext>
              </a:extLst>
            </p:cNvPr>
            <p:cNvSpPr/>
            <p:nvPr/>
          </p:nvSpPr>
          <p:spPr>
            <a:xfrm>
              <a:off x="2778841" y="3466034"/>
              <a:ext cx="355190" cy="75216"/>
            </a:xfrm>
            <a:custGeom>
              <a:avLst/>
              <a:gdLst>
                <a:gd name="connsiteX0" fmla="*/ 317582 w 355190"/>
                <a:gd name="connsiteY0" fmla="*/ 0 h 75216"/>
                <a:gd name="connsiteX1" fmla="*/ 355190 w 355190"/>
                <a:gd name="connsiteY1" fmla="*/ 0 h 75216"/>
                <a:gd name="connsiteX2" fmla="*/ 355190 w 355190"/>
                <a:gd name="connsiteY2" fmla="*/ 75217 h 75216"/>
                <a:gd name="connsiteX3" fmla="*/ 317582 w 355190"/>
                <a:gd name="connsiteY3" fmla="*/ 75217 h 75216"/>
                <a:gd name="connsiteX4" fmla="*/ 37608 w 355190"/>
                <a:gd name="connsiteY4" fmla="*/ 75217 h 75216"/>
                <a:gd name="connsiteX5" fmla="*/ 0 w 355190"/>
                <a:gd name="connsiteY5" fmla="*/ 75217 h 75216"/>
                <a:gd name="connsiteX6" fmla="*/ 0 w 355190"/>
                <a:gd name="connsiteY6" fmla="*/ 0 h 75216"/>
                <a:gd name="connsiteX7" fmla="*/ 37608 w 355190"/>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190" h="75216">
                  <a:moveTo>
                    <a:pt x="317582" y="0"/>
                  </a:moveTo>
                  <a:cubicBezTo>
                    <a:pt x="338353" y="0"/>
                    <a:pt x="355190" y="0"/>
                    <a:pt x="355190" y="0"/>
                  </a:cubicBezTo>
                  <a:lnTo>
                    <a:pt x="355190" y="75217"/>
                  </a:lnTo>
                  <a:cubicBezTo>
                    <a:pt x="355190" y="75217"/>
                    <a:pt x="338353" y="75217"/>
                    <a:pt x="317582"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2E7D32"/>
              </a:solidFill>
              <a:prstDash val="solid"/>
              <a:miter/>
            </a:ln>
          </p:spPr>
          <p:txBody>
            <a:bodyPr rtlCol="0" anchor="ctr"/>
            <a:lstStyle/>
            <a:p>
              <a:endParaRPr lang="zh-CN" altLang="en-US"/>
            </a:p>
          </p:txBody>
        </p:sp>
        <p:sp>
          <p:nvSpPr>
            <p:cNvPr id="299" name="文本框 298">
              <a:extLst>
                <a:ext uri="{FF2B5EF4-FFF2-40B4-BE49-F238E27FC236}">
                  <a16:creationId xmlns:a16="http://schemas.microsoft.com/office/drawing/2014/main" id="{039F9613-5D18-E10F-D5F7-0C588CA7BFDE}"/>
                </a:ext>
              </a:extLst>
            </p:cNvPr>
            <p:cNvSpPr txBox="1"/>
            <p:nvPr/>
          </p:nvSpPr>
          <p:spPr>
            <a:xfrm>
              <a:off x="2764708" y="3445387"/>
              <a:ext cx="379279" cy="120690"/>
            </a:xfrm>
            <a:prstGeom prst="rect">
              <a:avLst/>
            </a:prstGeom>
            <a:noFill/>
          </p:spPr>
          <p:txBody>
            <a:bodyPr wrap="none" rtlCol="0">
              <a:spAutoFit/>
            </a:bodyPr>
            <a:lstStyle/>
            <a:p>
              <a:pPr algn="l"/>
              <a:r>
                <a:rPr lang="zh-CN" altLang="en-US" sz="525" spc="0" baseline="0">
                  <a:ln/>
                  <a:solidFill>
                    <a:srgbClr val="2E7D32"/>
                  </a:solidFill>
                  <a:latin typeface="Arial"/>
                  <a:cs typeface="Arial"/>
                  <a:sym typeface="Arial"/>
                  <a:rtl val="0"/>
                </a:rPr>
                <a:t>Greedy + 2-opt</a:t>
              </a:r>
            </a:p>
          </p:txBody>
        </p:sp>
        <p:sp>
          <p:nvSpPr>
            <p:cNvPr id="300" name="任意形状 299">
              <a:extLst>
                <a:ext uri="{FF2B5EF4-FFF2-40B4-BE49-F238E27FC236}">
                  <a16:creationId xmlns:a16="http://schemas.microsoft.com/office/drawing/2014/main" id="{B9FDE990-FC6E-9387-7D66-8B1A03CBC3A2}"/>
                </a:ext>
              </a:extLst>
            </p:cNvPr>
            <p:cNvSpPr/>
            <p:nvPr/>
          </p:nvSpPr>
          <p:spPr>
            <a:xfrm>
              <a:off x="3175819" y="3466034"/>
              <a:ext cx="438764" cy="75216"/>
            </a:xfrm>
            <a:custGeom>
              <a:avLst/>
              <a:gdLst>
                <a:gd name="connsiteX0" fmla="*/ 401156 w 438764"/>
                <a:gd name="connsiteY0" fmla="*/ 0 h 75216"/>
                <a:gd name="connsiteX1" fmla="*/ 438765 w 438764"/>
                <a:gd name="connsiteY1" fmla="*/ 0 h 75216"/>
                <a:gd name="connsiteX2" fmla="*/ 438765 w 438764"/>
                <a:gd name="connsiteY2" fmla="*/ 75217 h 75216"/>
                <a:gd name="connsiteX3" fmla="*/ 401156 w 438764"/>
                <a:gd name="connsiteY3" fmla="*/ 75217 h 75216"/>
                <a:gd name="connsiteX4" fmla="*/ 37608 w 438764"/>
                <a:gd name="connsiteY4" fmla="*/ 75217 h 75216"/>
                <a:gd name="connsiteX5" fmla="*/ 0 w 438764"/>
                <a:gd name="connsiteY5" fmla="*/ 75217 h 75216"/>
                <a:gd name="connsiteX6" fmla="*/ 0 w 438764"/>
                <a:gd name="connsiteY6" fmla="*/ 0 h 75216"/>
                <a:gd name="connsiteX7" fmla="*/ 37608 w 438764"/>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764" h="75216">
                  <a:moveTo>
                    <a:pt x="401156" y="0"/>
                  </a:moveTo>
                  <a:cubicBezTo>
                    <a:pt x="421927" y="0"/>
                    <a:pt x="438765" y="0"/>
                    <a:pt x="438765" y="0"/>
                  </a:cubicBezTo>
                  <a:lnTo>
                    <a:pt x="438765" y="75217"/>
                  </a:lnTo>
                  <a:cubicBezTo>
                    <a:pt x="438765" y="75217"/>
                    <a:pt x="421927" y="75217"/>
                    <a:pt x="401156"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4527A0"/>
              </a:solidFill>
              <a:prstDash val="solid"/>
              <a:miter/>
            </a:ln>
          </p:spPr>
          <p:txBody>
            <a:bodyPr rtlCol="0" anchor="ctr"/>
            <a:lstStyle/>
            <a:p>
              <a:endParaRPr lang="zh-CN" altLang="en-US"/>
            </a:p>
          </p:txBody>
        </p:sp>
        <p:sp>
          <p:nvSpPr>
            <p:cNvPr id="301" name="文本框 300">
              <a:extLst>
                <a:ext uri="{FF2B5EF4-FFF2-40B4-BE49-F238E27FC236}">
                  <a16:creationId xmlns:a16="http://schemas.microsoft.com/office/drawing/2014/main" id="{4767ADC0-8D74-2ECA-31BD-404D9C564C9F}"/>
                </a:ext>
              </a:extLst>
            </p:cNvPr>
            <p:cNvSpPr txBox="1"/>
            <p:nvPr/>
          </p:nvSpPr>
          <p:spPr>
            <a:xfrm>
              <a:off x="3174221" y="3445387"/>
              <a:ext cx="437781" cy="120690"/>
            </a:xfrm>
            <a:prstGeom prst="rect">
              <a:avLst/>
            </a:prstGeom>
            <a:noFill/>
          </p:spPr>
          <p:txBody>
            <a:bodyPr wrap="none" rtlCol="0">
              <a:spAutoFit/>
            </a:bodyPr>
            <a:lstStyle/>
            <a:p>
              <a:pPr algn="l"/>
              <a:r>
                <a:rPr lang="zh-CN" altLang="en-US" sz="525" spc="0" baseline="0">
                  <a:ln/>
                  <a:solidFill>
                    <a:srgbClr val="4527A0"/>
                  </a:solidFill>
                  <a:latin typeface="Arial"/>
                  <a:cs typeface="Arial"/>
                  <a:sym typeface="Arial"/>
                  <a:rtl val="0"/>
                </a:rPr>
                <a:t>Time-Step Dispatch</a:t>
              </a:r>
            </a:p>
          </p:txBody>
        </p:sp>
        <p:sp>
          <p:nvSpPr>
            <p:cNvPr id="302" name="任意形状 301">
              <a:extLst>
                <a:ext uri="{FF2B5EF4-FFF2-40B4-BE49-F238E27FC236}">
                  <a16:creationId xmlns:a16="http://schemas.microsoft.com/office/drawing/2014/main" id="{95FD9E75-6F56-5B47-1646-6648CFC00DA0}"/>
                </a:ext>
              </a:extLst>
            </p:cNvPr>
            <p:cNvSpPr/>
            <p:nvPr/>
          </p:nvSpPr>
          <p:spPr>
            <a:xfrm>
              <a:off x="3656370" y="3466034"/>
              <a:ext cx="459658" cy="75216"/>
            </a:xfrm>
            <a:custGeom>
              <a:avLst/>
              <a:gdLst>
                <a:gd name="connsiteX0" fmla="*/ 422050 w 459658"/>
                <a:gd name="connsiteY0" fmla="*/ 0 h 75216"/>
                <a:gd name="connsiteX1" fmla="*/ 459658 w 459658"/>
                <a:gd name="connsiteY1" fmla="*/ 0 h 75216"/>
                <a:gd name="connsiteX2" fmla="*/ 459658 w 459658"/>
                <a:gd name="connsiteY2" fmla="*/ 75217 h 75216"/>
                <a:gd name="connsiteX3" fmla="*/ 422050 w 459658"/>
                <a:gd name="connsiteY3" fmla="*/ 75217 h 75216"/>
                <a:gd name="connsiteX4" fmla="*/ 37608 w 459658"/>
                <a:gd name="connsiteY4" fmla="*/ 75217 h 75216"/>
                <a:gd name="connsiteX5" fmla="*/ 0 w 459658"/>
                <a:gd name="connsiteY5" fmla="*/ 75217 h 75216"/>
                <a:gd name="connsiteX6" fmla="*/ 0 w 459658"/>
                <a:gd name="connsiteY6" fmla="*/ 0 h 75216"/>
                <a:gd name="connsiteX7" fmla="*/ 37608 w 459658"/>
                <a:gd name="connsiteY7" fmla="*/ 0 h 7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658" h="75216">
                  <a:moveTo>
                    <a:pt x="422050" y="0"/>
                  </a:moveTo>
                  <a:cubicBezTo>
                    <a:pt x="442820" y="0"/>
                    <a:pt x="459658" y="0"/>
                    <a:pt x="459658" y="0"/>
                  </a:cubicBezTo>
                  <a:lnTo>
                    <a:pt x="459658" y="75217"/>
                  </a:lnTo>
                  <a:cubicBezTo>
                    <a:pt x="459658" y="75217"/>
                    <a:pt x="442820" y="75217"/>
                    <a:pt x="422050" y="75217"/>
                  </a:cubicBezTo>
                  <a:lnTo>
                    <a:pt x="37608" y="75217"/>
                  </a:lnTo>
                  <a:cubicBezTo>
                    <a:pt x="16838" y="75217"/>
                    <a:pt x="0" y="75217"/>
                    <a:pt x="0" y="75217"/>
                  </a:cubicBezTo>
                  <a:lnTo>
                    <a:pt x="0" y="0"/>
                  </a:lnTo>
                  <a:cubicBezTo>
                    <a:pt x="0" y="0"/>
                    <a:pt x="16838" y="0"/>
                    <a:pt x="37608" y="0"/>
                  </a:cubicBezTo>
                  <a:close/>
                </a:path>
              </a:pathLst>
            </a:custGeom>
            <a:solidFill>
              <a:srgbClr val="FFFFFF"/>
            </a:solidFill>
            <a:ln w="2507" cap="flat">
              <a:solidFill>
                <a:srgbClr val="C62828"/>
              </a:solidFill>
              <a:prstDash val="solid"/>
              <a:miter/>
            </a:ln>
          </p:spPr>
          <p:txBody>
            <a:bodyPr rtlCol="0" anchor="ctr"/>
            <a:lstStyle/>
            <a:p>
              <a:endParaRPr lang="zh-CN" altLang="en-US"/>
            </a:p>
          </p:txBody>
        </p:sp>
        <p:sp>
          <p:nvSpPr>
            <p:cNvPr id="303" name="文本框 302">
              <a:extLst>
                <a:ext uri="{FF2B5EF4-FFF2-40B4-BE49-F238E27FC236}">
                  <a16:creationId xmlns:a16="http://schemas.microsoft.com/office/drawing/2014/main" id="{FF356E71-AE16-8B96-E6F6-6CB705000225}"/>
                </a:ext>
              </a:extLst>
            </p:cNvPr>
            <p:cNvSpPr txBox="1"/>
            <p:nvPr/>
          </p:nvSpPr>
          <p:spPr>
            <a:xfrm>
              <a:off x="3667309" y="3445387"/>
              <a:ext cx="437781" cy="120690"/>
            </a:xfrm>
            <a:prstGeom prst="rect">
              <a:avLst/>
            </a:prstGeom>
            <a:noFill/>
          </p:spPr>
          <p:txBody>
            <a:bodyPr wrap="none" rtlCol="0">
              <a:spAutoFit/>
            </a:bodyPr>
            <a:lstStyle/>
            <a:p>
              <a:pPr algn="l"/>
              <a:r>
                <a:rPr lang="zh-CN" altLang="en-US" sz="525" spc="0" baseline="0">
                  <a:ln/>
                  <a:solidFill>
                    <a:srgbClr val="C62828"/>
                  </a:solidFill>
                  <a:latin typeface="Arial"/>
                  <a:cs typeface="Arial"/>
                  <a:sym typeface="Arial"/>
                  <a:rtl val="0"/>
                </a:rPr>
                <a:t>3D Resilience Eval.</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6"/>
          <p:cNvSpPr/>
          <p:nvPr/>
        </p:nvSpPr>
        <p:spPr>
          <a:xfrm>
            <a:off x="3238500" y="0"/>
            <a:ext cx="5715000" cy="6858000"/>
          </a:xfrm>
          <a:custGeom>
            <a:avLst/>
            <a:gdLst>
              <a:gd name="connsiteX0" fmla="*/ 0 w 5715000"/>
              <a:gd name="connsiteY0" fmla="*/ 0 h 6858000"/>
              <a:gd name="connsiteX1" fmla="*/ 5715000 w 5715000"/>
              <a:gd name="connsiteY1" fmla="*/ 0 h 6858000"/>
              <a:gd name="connsiteX2" fmla="*/ 5715000 w 5715000"/>
              <a:gd name="connsiteY2" fmla="*/ 6858000 h 6858000"/>
              <a:gd name="connsiteX3" fmla="*/ 0 w 5715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15000" h="6858000">
                <a:moveTo>
                  <a:pt x="0" y="0"/>
                </a:moveTo>
                <a:lnTo>
                  <a:pt x="5715000" y="0"/>
                </a:lnTo>
                <a:lnTo>
                  <a:pt x="5715000" y="6858000"/>
                </a:lnTo>
                <a:lnTo>
                  <a:pt x="0" y="6858000"/>
                </a:lnTo>
                <a:close/>
              </a:path>
            </a:pathLst>
          </a:custGeom>
          <a:solidFill>
            <a:srgbClr val="FFFFFF"/>
          </a:solidFill>
          <a:ln w="4082" cap="flat">
            <a:noFill/>
            <a:prstDash val="solid"/>
            <a:miter/>
          </a:ln>
        </p:spPr>
        <p:txBody>
          <a:bodyPr rtlCol="0" anchor="ctr"/>
          <a:lstStyle/>
          <a:p>
            <a:pPr algn="ctr"/>
            <a:endParaRPr lang="zh-CN" altLang="en-US" sz="1100"/>
          </a:p>
        </p:txBody>
      </p:sp>
      <p:sp>
        <p:nvSpPr>
          <p:cNvPr id="8" name="任意形状 7"/>
          <p:cNvSpPr/>
          <p:nvPr/>
        </p:nvSpPr>
        <p:spPr>
          <a:xfrm>
            <a:off x="3360964" y="81642"/>
            <a:ext cx="5470071" cy="1306285"/>
          </a:xfrm>
          <a:custGeom>
            <a:avLst/>
            <a:gdLst>
              <a:gd name="connsiteX0" fmla="*/ 5437415 w 5470071"/>
              <a:gd name="connsiteY0" fmla="*/ 0 h 1306285"/>
              <a:gd name="connsiteX1" fmla="*/ 5470072 w 5470071"/>
              <a:gd name="connsiteY1" fmla="*/ 0 h 1306285"/>
              <a:gd name="connsiteX2" fmla="*/ 5470072 w 5470071"/>
              <a:gd name="connsiteY2" fmla="*/ 1306286 h 1306285"/>
              <a:gd name="connsiteX3" fmla="*/ 5437415 w 5470071"/>
              <a:gd name="connsiteY3" fmla="*/ 1306286 h 1306285"/>
              <a:gd name="connsiteX4" fmla="*/ 32657 w 5470071"/>
              <a:gd name="connsiteY4" fmla="*/ 1306286 h 1306285"/>
              <a:gd name="connsiteX5" fmla="*/ 0 w 5470071"/>
              <a:gd name="connsiteY5" fmla="*/ 1306286 h 1306285"/>
              <a:gd name="connsiteX6" fmla="*/ 0 w 5470071"/>
              <a:gd name="connsiteY6" fmla="*/ 0 h 1306285"/>
              <a:gd name="connsiteX7" fmla="*/ 32657 w 5470071"/>
              <a:gd name="connsiteY7" fmla="*/ 0 h 130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1306285">
                <a:moveTo>
                  <a:pt x="5437415" y="0"/>
                </a:moveTo>
                <a:cubicBezTo>
                  <a:pt x="5455451" y="0"/>
                  <a:pt x="5470072" y="0"/>
                  <a:pt x="5470072" y="0"/>
                </a:cubicBezTo>
                <a:lnTo>
                  <a:pt x="5470072" y="1306286"/>
                </a:lnTo>
                <a:cubicBezTo>
                  <a:pt x="5470072" y="1306286"/>
                  <a:pt x="5455451" y="1306286"/>
                  <a:pt x="5437415" y="1306286"/>
                </a:cubicBezTo>
                <a:lnTo>
                  <a:pt x="32657" y="1306286"/>
                </a:lnTo>
                <a:cubicBezTo>
                  <a:pt x="14621" y="1306286"/>
                  <a:pt x="0" y="1306286"/>
                  <a:pt x="0" y="1306286"/>
                </a:cubicBezTo>
                <a:lnTo>
                  <a:pt x="0" y="0"/>
                </a:lnTo>
                <a:cubicBezTo>
                  <a:pt x="0" y="0"/>
                  <a:pt x="14621" y="0"/>
                  <a:pt x="32657" y="0"/>
                </a:cubicBezTo>
                <a:close/>
              </a:path>
            </a:pathLst>
          </a:custGeom>
          <a:solidFill>
            <a:srgbClr val="FAFAFA"/>
          </a:solidFill>
          <a:ln w="4899" cap="flat">
            <a:solidFill>
              <a:srgbClr val="BDBDBD"/>
            </a:solidFill>
            <a:custDash>
              <a:ds d="450000" sp="225000"/>
            </a:custDash>
            <a:miter/>
          </a:ln>
        </p:spPr>
        <p:txBody>
          <a:bodyPr rtlCol="0" anchor="ctr"/>
          <a:lstStyle/>
          <a:p>
            <a:pPr algn="ctr"/>
            <a:endParaRPr lang="zh-CN" altLang="en-US" sz="1100"/>
          </a:p>
        </p:txBody>
      </p:sp>
      <p:sp>
        <p:nvSpPr>
          <p:cNvPr id="9" name="文本框 8"/>
          <p:cNvSpPr txBox="1"/>
          <p:nvPr/>
        </p:nvSpPr>
        <p:spPr>
          <a:xfrm>
            <a:off x="2922302" y="93072"/>
            <a:ext cx="2183610" cy="246221"/>
          </a:xfrm>
          <a:prstGeom prst="rect">
            <a:avLst/>
          </a:prstGeom>
          <a:noFill/>
        </p:spPr>
        <p:txBody>
          <a:bodyPr wrap="none" rtlCol="0">
            <a:spAutoFit/>
          </a:bodyPr>
          <a:lstStyle/>
          <a:p>
            <a:pPr algn="ctr"/>
            <a:r>
              <a:rPr lang="zh-CN" altLang="en-US" sz="1000" b="1" spc="0" baseline="0">
                <a:solidFill>
                  <a:srgbClr val="333333"/>
                </a:solidFill>
                <a:latin typeface="Times New Roman" panose="02020503050405090304"/>
                <a:cs typeface="Times New Roman" panose="02020503050405090304"/>
                <a:sym typeface="Times New Roman" panose="02020503050405090304"/>
                <a:rtl val="0"/>
              </a:rPr>
              <a:t>1. Data Foundation &amp; Preprocessing</a:t>
            </a:r>
          </a:p>
        </p:txBody>
      </p:sp>
      <p:sp>
        <p:nvSpPr>
          <p:cNvPr id="10" name="任意形状 9"/>
          <p:cNvSpPr/>
          <p:nvPr/>
        </p:nvSpPr>
        <p:spPr>
          <a:xfrm>
            <a:off x="3463017" y="318407"/>
            <a:ext cx="714375" cy="469446"/>
          </a:xfrm>
          <a:custGeom>
            <a:avLst/>
            <a:gdLst>
              <a:gd name="connsiteX0" fmla="*/ 689882 w 714375"/>
              <a:gd name="connsiteY0" fmla="*/ 0 h 469446"/>
              <a:gd name="connsiteX1" fmla="*/ 714375 w 714375"/>
              <a:gd name="connsiteY1" fmla="*/ 0 h 469446"/>
              <a:gd name="connsiteX2" fmla="*/ 714375 w 714375"/>
              <a:gd name="connsiteY2" fmla="*/ 469446 h 469446"/>
              <a:gd name="connsiteX3" fmla="*/ 689882 w 714375"/>
              <a:gd name="connsiteY3" fmla="*/ 469446 h 469446"/>
              <a:gd name="connsiteX4" fmla="*/ 24493 w 714375"/>
              <a:gd name="connsiteY4" fmla="*/ 469446 h 469446"/>
              <a:gd name="connsiteX5" fmla="*/ 0 w 714375"/>
              <a:gd name="connsiteY5" fmla="*/ 469446 h 469446"/>
              <a:gd name="connsiteX6" fmla="*/ 0 w 714375"/>
              <a:gd name="connsiteY6" fmla="*/ 0 h 469446"/>
              <a:gd name="connsiteX7" fmla="*/ 24493 w 714375"/>
              <a:gd name="connsiteY7" fmla="*/ 0 h 46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69446">
                <a:moveTo>
                  <a:pt x="689882" y="0"/>
                </a:moveTo>
                <a:cubicBezTo>
                  <a:pt x="703409" y="0"/>
                  <a:pt x="714375" y="0"/>
                  <a:pt x="714375" y="0"/>
                </a:cubicBezTo>
                <a:lnTo>
                  <a:pt x="714375" y="469446"/>
                </a:lnTo>
                <a:cubicBezTo>
                  <a:pt x="714375" y="469446"/>
                  <a:pt x="703409" y="469446"/>
                  <a:pt x="689882" y="469446"/>
                </a:cubicBezTo>
                <a:lnTo>
                  <a:pt x="24493" y="469446"/>
                </a:lnTo>
                <a:cubicBezTo>
                  <a:pt x="10966" y="469446"/>
                  <a:pt x="0" y="469446"/>
                  <a:pt x="0" y="469446"/>
                </a:cubicBezTo>
                <a:lnTo>
                  <a:pt x="0" y="0"/>
                </a:lnTo>
                <a:cubicBezTo>
                  <a:pt x="0" y="0"/>
                  <a:pt x="10966" y="0"/>
                  <a:pt x="24493" y="0"/>
                </a:cubicBezTo>
                <a:close/>
              </a:path>
            </a:pathLst>
          </a:custGeom>
          <a:solidFill>
            <a:srgbClr val="FFFFFF"/>
          </a:solidFill>
          <a:ln w="6123" cap="flat">
            <a:solidFill>
              <a:srgbClr val="1565C0"/>
            </a:solidFill>
            <a:prstDash val="solid"/>
            <a:miter/>
          </a:ln>
        </p:spPr>
        <p:txBody>
          <a:bodyPr rtlCol="0" anchor="ctr"/>
          <a:lstStyle/>
          <a:p>
            <a:pPr algn="ctr"/>
            <a:endParaRPr lang="zh-CN" altLang="en-US" sz="1100"/>
          </a:p>
        </p:txBody>
      </p:sp>
      <p:sp>
        <p:nvSpPr>
          <p:cNvPr id="11" name="任意形状 10"/>
          <p:cNvSpPr/>
          <p:nvPr/>
        </p:nvSpPr>
        <p:spPr>
          <a:xfrm>
            <a:off x="3463017" y="318407"/>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1565C0"/>
          </a:solidFill>
          <a:ln w="4082" cap="flat">
            <a:noFill/>
            <a:prstDash val="solid"/>
            <a:miter/>
          </a:ln>
        </p:spPr>
        <p:txBody>
          <a:bodyPr rtlCol="0" anchor="ctr"/>
          <a:lstStyle/>
          <a:p>
            <a:pPr algn="ctr"/>
            <a:endParaRPr lang="zh-CN" altLang="en-US" sz="1100"/>
          </a:p>
        </p:txBody>
      </p:sp>
      <p:sp>
        <p:nvSpPr>
          <p:cNvPr id="12" name="文本框 11"/>
          <p:cNvSpPr txBox="1"/>
          <p:nvPr/>
        </p:nvSpPr>
        <p:spPr>
          <a:xfrm>
            <a:off x="3426068" y="301262"/>
            <a:ext cx="784189"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Study Area Definition</a:t>
            </a:r>
          </a:p>
        </p:txBody>
      </p:sp>
      <p:sp>
        <p:nvSpPr>
          <p:cNvPr id="13" name="文本框 12"/>
          <p:cNvSpPr txBox="1"/>
          <p:nvPr/>
        </p:nvSpPr>
        <p:spPr>
          <a:xfrm>
            <a:off x="3362955" y="415562"/>
            <a:ext cx="845103" cy="153888"/>
          </a:xfrm>
          <a:prstGeom prst="rect">
            <a:avLst/>
          </a:prstGeom>
          <a:noFill/>
        </p:spPr>
        <p:txBody>
          <a:bodyPr wrap="none" rtlCol="0">
            <a:spAutoFit/>
          </a:bodyPr>
          <a:lstStyle/>
          <a:p>
            <a:r>
              <a:rPr lang="zh-CN" altLang="en-US" sz="400" spc="0" baseline="0" dirty="0">
                <a:solidFill>
                  <a:srgbClr val="333333"/>
                </a:solidFill>
                <a:latin typeface="Times New Roman" panose="02020503050405090304"/>
                <a:cs typeface="Times New Roman" panose="02020503050405090304"/>
                <a:sym typeface="Times New Roman" panose="02020503050405090304"/>
                <a:rtl val="0"/>
              </a:rPr>
              <a:t>• Yizhuang regulatory boundary</a:t>
            </a:r>
          </a:p>
        </p:txBody>
      </p:sp>
      <p:sp>
        <p:nvSpPr>
          <p:cNvPr id="14" name="文本框 13"/>
          <p:cNvSpPr txBox="1"/>
          <p:nvPr/>
        </p:nvSpPr>
        <p:spPr>
          <a:xfrm>
            <a:off x="3388779" y="480876"/>
            <a:ext cx="593431"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15 km buffer zone</a:t>
            </a:r>
          </a:p>
        </p:txBody>
      </p:sp>
      <p:sp>
        <p:nvSpPr>
          <p:cNvPr id="15" name="文本框 14"/>
          <p:cNvSpPr txBox="1"/>
          <p:nvPr/>
        </p:nvSpPr>
        <p:spPr>
          <a:xfrm>
            <a:off x="3377000" y="546190"/>
            <a:ext cx="731289"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Incident point annotation</a:t>
            </a:r>
          </a:p>
        </p:txBody>
      </p:sp>
      <p:sp>
        <p:nvSpPr>
          <p:cNvPr id="16" name="文本框 15"/>
          <p:cNvSpPr txBox="1"/>
          <p:nvPr/>
        </p:nvSpPr>
        <p:spPr>
          <a:xfrm>
            <a:off x="3386309" y="611505"/>
            <a:ext cx="635110"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~707 km² study area</a:t>
            </a:r>
          </a:p>
        </p:txBody>
      </p:sp>
      <p:sp>
        <p:nvSpPr>
          <p:cNvPr id="17" name="文本框 16"/>
          <p:cNvSpPr txBox="1"/>
          <p:nvPr/>
        </p:nvSpPr>
        <p:spPr>
          <a:xfrm>
            <a:off x="3430770" y="668655"/>
            <a:ext cx="280846" cy="138499"/>
          </a:xfrm>
          <a:prstGeom prst="rect">
            <a:avLst/>
          </a:prstGeom>
          <a:noFill/>
        </p:spPr>
        <p:txBody>
          <a:bodyPr wrap="none" rtlCol="0">
            <a:spAutoFit/>
          </a:bodyPr>
          <a:lstStyle/>
          <a:p>
            <a:r>
              <a:rPr lang="zh-CN" altLang="en-US" sz="300" i="1" spc="0" baseline="0">
                <a:solidFill>
                  <a:srgbClr val="1565C0"/>
                </a:solidFill>
                <a:latin typeface="Times New Roman" panose="02020503050405090304"/>
                <a:cs typeface="Times New Roman" panose="02020503050405090304"/>
                <a:sym typeface="Times New Roman" panose="02020503050405090304"/>
                <a:rtl val="0"/>
              </a:rPr>
              <a:t>Step 0</a:t>
            </a:r>
          </a:p>
        </p:txBody>
      </p:sp>
      <p:sp>
        <p:nvSpPr>
          <p:cNvPr id="18" name="任意形状 17"/>
          <p:cNvSpPr/>
          <p:nvPr/>
        </p:nvSpPr>
        <p:spPr>
          <a:xfrm>
            <a:off x="4177392" y="563335"/>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sz="1100"/>
          </a:p>
        </p:txBody>
      </p:sp>
      <p:sp>
        <p:nvSpPr>
          <p:cNvPr id="19" name="任意形状 18"/>
          <p:cNvSpPr/>
          <p:nvPr/>
        </p:nvSpPr>
        <p:spPr>
          <a:xfrm>
            <a:off x="4332514" y="318407"/>
            <a:ext cx="714375" cy="469446"/>
          </a:xfrm>
          <a:custGeom>
            <a:avLst/>
            <a:gdLst>
              <a:gd name="connsiteX0" fmla="*/ 689882 w 714375"/>
              <a:gd name="connsiteY0" fmla="*/ 0 h 469446"/>
              <a:gd name="connsiteX1" fmla="*/ 714375 w 714375"/>
              <a:gd name="connsiteY1" fmla="*/ 0 h 469446"/>
              <a:gd name="connsiteX2" fmla="*/ 714375 w 714375"/>
              <a:gd name="connsiteY2" fmla="*/ 469446 h 469446"/>
              <a:gd name="connsiteX3" fmla="*/ 689882 w 714375"/>
              <a:gd name="connsiteY3" fmla="*/ 469446 h 469446"/>
              <a:gd name="connsiteX4" fmla="*/ 24493 w 714375"/>
              <a:gd name="connsiteY4" fmla="*/ 469446 h 469446"/>
              <a:gd name="connsiteX5" fmla="*/ 0 w 714375"/>
              <a:gd name="connsiteY5" fmla="*/ 469446 h 469446"/>
              <a:gd name="connsiteX6" fmla="*/ 0 w 714375"/>
              <a:gd name="connsiteY6" fmla="*/ 0 h 469446"/>
              <a:gd name="connsiteX7" fmla="*/ 24493 w 714375"/>
              <a:gd name="connsiteY7" fmla="*/ 0 h 46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69446">
                <a:moveTo>
                  <a:pt x="689882" y="0"/>
                </a:moveTo>
                <a:cubicBezTo>
                  <a:pt x="703409" y="0"/>
                  <a:pt x="714375" y="0"/>
                  <a:pt x="714375" y="0"/>
                </a:cubicBezTo>
                <a:lnTo>
                  <a:pt x="714375" y="469446"/>
                </a:lnTo>
                <a:cubicBezTo>
                  <a:pt x="714375" y="469446"/>
                  <a:pt x="703409" y="469446"/>
                  <a:pt x="689882" y="469446"/>
                </a:cubicBezTo>
                <a:lnTo>
                  <a:pt x="24493" y="469446"/>
                </a:lnTo>
                <a:cubicBezTo>
                  <a:pt x="10966" y="469446"/>
                  <a:pt x="0" y="469446"/>
                  <a:pt x="0" y="469446"/>
                </a:cubicBezTo>
                <a:lnTo>
                  <a:pt x="0" y="0"/>
                </a:lnTo>
                <a:cubicBezTo>
                  <a:pt x="0" y="0"/>
                  <a:pt x="10966" y="0"/>
                  <a:pt x="24493" y="0"/>
                </a:cubicBezTo>
                <a:close/>
              </a:path>
            </a:pathLst>
          </a:custGeom>
          <a:solidFill>
            <a:srgbClr val="FFFFFF"/>
          </a:solidFill>
          <a:ln w="6123" cap="flat">
            <a:solidFill>
              <a:srgbClr val="E65100"/>
            </a:solidFill>
            <a:prstDash val="solid"/>
            <a:miter/>
          </a:ln>
        </p:spPr>
        <p:txBody>
          <a:bodyPr rtlCol="0" anchor="ctr"/>
          <a:lstStyle/>
          <a:p>
            <a:pPr algn="ctr"/>
            <a:endParaRPr lang="zh-CN" altLang="en-US" sz="1100"/>
          </a:p>
        </p:txBody>
      </p:sp>
      <p:sp>
        <p:nvSpPr>
          <p:cNvPr id="20" name="任意形状 19"/>
          <p:cNvSpPr/>
          <p:nvPr/>
        </p:nvSpPr>
        <p:spPr>
          <a:xfrm>
            <a:off x="4332514" y="318407"/>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E65100"/>
          </a:solidFill>
          <a:ln w="4082" cap="flat">
            <a:noFill/>
            <a:prstDash val="solid"/>
            <a:miter/>
          </a:ln>
        </p:spPr>
        <p:txBody>
          <a:bodyPr rtlCol="0" anchor="ctr"/>
          <a:lstStyle/>
          <a:p>
            <a:pPr algn="ctr"/>
            <a:endParaRPr lang="zh-CN" altLang="en-US" sz="1100"/>
          </a:p>
        </p:txBody>
      </p:sp>
      <p:sp>
        <p:nvSpPr>
          <p:cNvPr id="21" name="文本框 20"/>
          <p:cNvSpPr txBox="1"/>
          <p:nvPr/>
        </p:nvSpPr>
        <p:spPr>
          <a:xfrm>
            <a:off x="4394950" y="301262"/>
            <a:ext cx="585417"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Road Network</a:t>
            </a:r>
          </a:p>
        </p:txBody>
      </p:sp>
      <p:sp>
        <p:nvSpPr>
          <p:cNvPr id="22" name="文本框 21"/>
          <p:cNvSpPr txBox="1"/>
          <p:nvPr/>
        </p:nvSpPr>
        <p:spPr>
          <a:xfrm>
            <a:off x="4257621" y="415562"/>
            <a:ext cx="611065"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OSM road clipping</a:t>
            </a:r>
          </a:p>
        </p:txBody>
      </p:sp>
      <p:sp>
        <p:nvSpPr>
          <p:cNvPr id="23" name="文本框 22"/>
          <p:cNvSpPr txBox="1"/>
          <p:nvPr/>
        </p:nvSpPr>
        <p:spPr>
          <a:xfrm>
            <a:off x="4251006" y="480876"/>
            <a:ext cx="689611"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Class / speed / capacity</a:t>
            </a:r>
          </a:p>
        </p:txBody>
      </p:sp>
      <p:sp>
        <p:nvSpPr>
          <p:cNvPr id="24" name="文本框 23"/>
          <p:cNvSpPr txBox="1"/>
          <p:nvPr/>
        </p:nvSpPr>
        <p:spPr>
          <a:xfrm>
            <a:off x="4243877" y="546190"/>
            <a:ext cx="756937"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NetworkX topology graph</a:t>
            </a:r>
          </a:p>
        </p:txBody>
      </p:sp>
      <p:sp>
        <p:nvSpPr>
          <p:cNvPr id="25" name="文本框 24"/>
          <p:cNvSpPr txBox="1"/>
          <p:nvPr/>
        </p:nvSpPr>
        <p:spPr>
          <a:xfrm>
            <a:off x="4254425" y="611505"/>
            <a:ext cx="662361"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26,699 road segments</a:t>
            </a:r>
          </a:p>
        </p:txBody>
      </p:sp>
      <p:sp>
        <p:nvSpPr>
          <p:cNvPr id="26" name="文本框 25"/>
          <p:cNvSpPr txBox="1"/>
          <p:nvPr/>
        </p:nvSpPr>
        <p:spPr>
          <a:xfrm>
            <a:off x="4300266" y="668655"/>
            <a:ext cx="280846" cy="138499"/>
          </a:xfrm>
          <a:prstGeom prst="rect">
            <a:avLst/>
          </a:prstGeom>
          <a:noFill/>
        </p:spPr>
        <p:txBody>
          <a:bodyPr wrap="none" rtlCol="0">
            <a:spAutoFit/>
          </a:bodyPr>
          <a:lstStyle/>
          <a:p>
            <a:r>
              <a:rPr lang="zh-CN" altLang="en-US" sz="300" i="1" spc="0" baseline="0">
                <a:solidFill>
                  <a:srgbClr val="E65100"/>
                </a:solidFill>
                <a:latin typeface="Times New Roman" panose="02020503050405090304"/>
                <a:cs typeface="Times New Roman" panose="02020503050405090304"/>
                <a:sym typeface="Times New Roman" panose="02020503050405090304"/>
                <a:rtl val="0"/>
              </a:rPr>
              <a:t>Step 2</a:t>
            </a:r>
          </a:p>
        </p:txBody>
      </p:sp>
      <p:sp>
        <p:nvSpPr>
          <p:cNvPr id="27" name="任意形状 26"/>
          <p:cNvSpPr/>
          <p:nvPr/>
        </p:nvSpPr>
        <p:spPr>
          <a:xfrm>
            <a:off x="5046889" y="563335"/>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sz="1100"/>
          </a:p>
        </p:txBody>
      </p:sp>
      <p:sp>
        <p:nvSpPr>
          <p:cNvPr id="28" name="任意形状 27"/>
          <p:cNvSpPr/>
          <p:nvPr/>
        </p:nvSpPr>
        <p:spPr>
          <a:xfrm>
            <a:off x="5202010" y="318407"/>
            <a:ext cx="714375" cy="469446"/>
          </a:xfrm>
          <a:custGeom>
            <a:avLst/>
            <a:gdLst>
              <a:gd name="connsiteX0" fmla="*/ 689882 w 714375"/>
              <a:gd name="connsiteY0" fmla="*/ 0 h 469446"/>
              <a:gd name="connsiteX1" fmla="*/ 714375 w 714375"/>
              <a:gd name="connsiteY1" fmla="*/ 0 h 469446"/>
              <a:gd name="connsiteX2" fmla="*/ 714375 w 714375"/>
              <a:gd name="connsiteY2" fmla="*/ 469446 h 469446"/>
              <a:gd name="connsiteX3" fmla="*/ 689882 w 714375"/>
              <a:gd name="connsiteY3" fmla="*/ 469446 h 469446"/>
              <a:gd name="connsiteX4" fmla="*/ 24493 w 714375"/>
              <a:gd name="connsiteY4" fmla="*/ 469446 h 469446"/>
              <a:gd name="connsiteX5" fmla="*/ 0 w 714375"/>
              <a:gd name="connsiteY5" fmla="*/ 469446 h 469446"/>
              <a:gd name="connsiteX6" fmla="*/ 0 w 714375"/>
              <a:gd name="connsiteY6" fmla="*/ 0 h 469446"/>
              <a:gd name="connsiteX7" fmla="*/ 24493 w 714375"/>
              <a:gd name="connsiteY7" fmla="*/ 0 h 46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69446">
                <a:moveTo>
                  <a:pt x="689882" y="0"/>
                </a:moveTo>
                <a:cubicBezTo>
                  <a:pt x="703409" y="0"/>
                  <a:pt x="714375" y="0"/>
                  <a:pt x="714375" y="0"/>
                </a:cubicBezTo>
                <a:lnTo>
                  <a:pt x="714375" y="469446"/>
                </a:lnTo>
                <a:cubicBezTo>
                  <a:pt x="714375" y="469446"/>
                  <a:pt x="703409" y="469446"/>
                  <a:pt x="689882" y="469446"/>
                </a:cubicBezTo>
                <a:lnTo>
                  <a:pt x="24493" y="469446"/>
                </a:lnTo>
                <a:cubicBezTo>
                  <a:pt x="10966" y="469446"/>
                  <a:pt x="0" y="469446"/>
                  <a:pt x="0" y="469446"/>
                </a:cubicBezTo>
                <a:lnTo>
                  <a:pt x="0" y="0"/>
                </a:lnTo>
                <a:cubicBezTo>
                  <a:pt x="0" y="0"/>
                  <a:pt x="10966" y="0"/>
                  <a:pt x="24493" y="0"/>
                </a:cubicBezTo>
                <a:close/>
              </a:path>
            </a:pathLst>
          </a:custGeom>
          <a:solidFill>
            <a:srgbClr val="FFFFFF"/>
          </a:solidFill>
          <a:ln w="6123" cap="flat">
            <a:solidFill>
              <a:srgbClr val="2E7D32"/>
            </a:solidFill>
            <a:prstDash val="solid"/>
            <a:miter/>
          </a:ln>
        </p:spPr>
        <p:txBody>
          <a:bodyPr rtlCol="0" anchor="ctr"/>
          <a:lstStyle/>
          <a:p>
            <a:pPr algn="ctr"/>
            <a:endParaRPr lang="zh-CN" altLang="en-US" sz="1100"/>
          </a:p>
        </p:txBody>
      </p:sp>
      <p:sp>
        <p:nvSpPr>
          <p:cNvPr id="29" name="任意形状 28"/>
          <p:cNvSpPr/>
          <p:nvPr/>
        </p:nvSpPr>
        <p:spPr>
          <a:xfrm>
            <a:off x="5202010" y="318407"/>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2E7D32"/>
          </a:solidFill>
          <a:ln w="4082" cap="flat">
            <a:noFill/>
            <a:prstDash val="solid"/>
            <a:miter/>
          </a:ln>
        </p:spPr>
        <p:txBody>
          <a:bodyPr rtlCol="0" anchor="ctr"/>
          <a:lstStyle/>
          <a:p>
            <a:pPr algn="ctr"/>
            <a:endParaRPr lang="zh-CN" altLang="en-US" sz="1100"/>
          </a:p>
        </p:txBody>
      </p:sp>
      <p:sp>
        <p:nvSpPr>
          <p:cNvPr id="30" name="文本框 29"/>
          <p:cNvSpPr txBox="1"/>
          <p:nvPr/>
        </p:nvSpPr>
        <p:spPr>
          <a:xfrm>
            <a:off x="5281279" y="301262"/>
            <a:ext cx="551754"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POI Filtering</a:t>
            </a:r>
          </a:p>
        </p:txBody>
      </p:sp>
      <p:sp>
        <p:nvSpPr>
          <p:cNvPr id="31" name="文本框 30"/>
          <p:cNvSpPr txBox="1"/>
          <p:nvPr/>
        </p:nvSpPr>
        <p:spPr>
          <a:xfrm>
            <a:off x="5121303" y="415562"/>
            <a:ext cx="688009"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Hospitals / fire stations</a:t>
            </a:r>
          </a:p>
        </p:txBody>
      </p:sp>
      <p:sp>
        <p:nvSpPr>
          <p:cNvPr id="32" name="文本框 31"/>
          <p:cNvSpPr txBox="1"/>
          <p:nvPr/>
        </p:nvSpPr>
        <p:spPr>
          <a:xfrm>
            <a:off x="5115701" y="480876"/>
            <a:ext cx="744114"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Shelters / subway stations</a:t>
            </a:r>
          </a:p>
        </p:txBody>
      </p:sp>
      <p:sp>
        <p:nvSpPr>
          <p:cNvPr id="33" name="文本框 32"/>
          <p:cNvSpPr txBox="1"/>
          <p:nvPr/>
        </p:nvSpPr>
        <p:spPr>
          <a:xfrm>
            <a:off x="5116782" y="546190"/>
            <a:ext cx="684803"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Vulnerability-sensitive</a:t>
            </a:r>
          </a:p>
        </p:txBody>
      </p:sp>
      <p:sp>
        <p:nvSpPr>
          <p:cNvPr id="34" name="文本框 33"/>
          <p:cNvSpPr txBox="1"/>
          <p:nvPr/>
        </p:nvSpPr>
        <p:spPr>
          <a:xfrm>
            <a:off x="5121443" y="611505"/>
            <a:ext cx="659155"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facilities (schools, etc.)</a:t>
            </a:r>
          </a:p>
        </p:txBody>
      </p:sp>
      <p:sp>
        <p:nvSpPr>
          <p:cNvPr id="35" name="文本框 34"/>
          <p:cNvSpPr txBox="1"/>
          <p:nvPr/>
        </p:nvSpPr>
        <p:spPr>
          <a:xfrm>
            <a:off x="5169762" y="668655"/>
            <a:ext cx="280846" cy="138499"/>
          </a:xfrm>
          <a:prstGeom prst="rect">
            <a:avLst/>
          </a:prstGeom>
          <a:noFill/>
        </p:spPr>
        <p:txBody>
          <a:bodyPr wrap="none" rtlCol="0">
            <a:spAutoFit/>
          </a:bodyPr>
          <a:lstStyle/>
          <a:p>
            <a:r>
              <a:rPr lang="zh-CN" altLang="en-US" sz="300" i="1" spc="0" baseline="0">
                <a:solidFill>
                  <a:srgbClr val="2E7D32"/>
                </a:solidFill>
                <a:latin typeface="Times New Roman" panose="02020503050405090304"/>
                <a:cs typeface="Times New Roman" panose="02020503050405090304"/>
                <a:sym typeface="Times New Roman" panose="02020503050405090304"/>
                <a:rtl val="0"/>
              </a:rPr>
              <a:t>Step 3</a:t>
            </a:r>
          </a:p>
        </p:txBody>
      </p:sp>
      <p:sp>
        <p:nvSpPr>
          <p:cNvPr id="36" name="任意形状 35"/>
          <p:cNvSpPr/>
          <p:nvPr/>
        </p:nvSpPr>
        <p:spPr>
          <a:xfrm>
            <a:off x="5916385" y="563335"/>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sz="1100"/>
          </a:p>
        </p:txBody>
      </p:sp>
      <p:sp>
        <p:nvSpPr>
          <p:cNvPr id="37" name="任意形状 36"/>
          <p:cNvSpPr/>
          <p:nvPr/>
        </p:nvSpPr>
        <p:spPr>
          <a:xfrm>
            <a:off x="6071507" y="318407"/>
            <a:ext cx="714375" cy="469446"/>
          </a:xfrm>
          <a:custGeom>
            <a:avLst/>
            <a:gdLst>
              <a:gd name="connsiteX0" fmla="*/ 689882 w 714375"/>
              <a:gd name="connsiteY0" fmla="*/ 0 h 469446"/>
              <a:gd name="connsiteX1" fmla="*/ 714375 w 714375"/>
              <a:gd name="connsiteY1" fmla="*/ 0 h 469446"/>
              <a:gd name="connsiteX2" fmla="*/ 714375 w 714375"/>
              <a:gd name="connsiteY2" fmla="*/ 469446 h 469446"/>
              <a:gd name="connsiteX3" fmla="*/ 689882 w 714375"/>
              <a:gd name="connsiteY3" fmla="*/ 469446 h 469446"/>
              <a:gd name="connsiteX4" fmla="*/ 24493 w 714375"/>
              <a:gd name="connsiteY4" fmla="*/ 469446 h 469446"/>
              <a:gd name="connsiteX5" fmla="*/ 0 w 714375"/>
              <a:gd name="connsiteY5" fmla="*/ 469446 h 469446"/>
              <a:gd name="connsiteX6" fmla="*/ 0 w 714375"/>
              <a:gd name="connsiteY6" fmla="*/ 0 h 469446"/>
              <a:gd name="connsiteX7" fmla="*/ 24493 w 714375"/>
              <a:gd name="connsiteY7" fmla="*/ 0 h 46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69446">
                <a:moveTo>
                  <a:pt x="689882" y="0"/>
                </a:moveTo>
                <a:cubicBezTo>
                  <a:pt x="703409" y="0"/>
                  <a:pt x="714375" y="0"/>
                  <a:pt x="714375" y="0"/>
                </a:cubicBezTo>
                <a:lnTo>
                  <a:pt x="714375" y="469446"/>
                </a:lnTo>
                <a:cubicBezTo>
                  <a:pt x="714375" y="469446"/>
                  <a:pt x="703409" y="469446"/>
                  <a:pt x="689882" y="469446"/>
                </a:cubicBezTo>
                <a:lnTo>
                  <a:pt x="24493" y="469446"/>
                </a:lnTo>
                <a:cubicBezTo>
                  <a:pt x="10966" y="469446"/>
                  <a:pt x="0" y="469446"/>
                  <a:pt x="0" y="469446"/>
                </a:cubicBezTo>
                <a:lnTo>
                  <a:pt x="0" y="0"/>
                </a:lnTo>
                <a:cubicBezTo>
                  <a:pt x="0" y="0"/>
                  <a:pt x="10966" y="0"/>
                  <a:pt x="24493" y="0"/>
                </a:cubicBezTo>
                <a:close/>
              </a:path>
            </a:pathLst>
          </a:custGeom>
          <a:solidFill>
            <a:srgbClr val="FFFFFF"/>
          </a:solidFill>
          <a:ln w="6123" cap="flat">
            <a:solidFill>
              <a:srgbClr val="6A1B9A"/>
            </a:solidFill>
            <a:prstDash val="solid"/>
            <a:miter/>
          </a:ln>
        </p:spPr>
        <p:txBody>
          <a:bodyPr rtlCol="0" anchor="ctr"/>
          <a:lstStyle/>
          <a:p>
            <a:pPr algn="ctr"/>
            <a:endParaRPr lang="zh-CN" altLang="en-US" sz="1100"/>
          </a:p>
        </p:txBody>
      </p:sp>
      <p:sp>
        <p:nvSpPr>
          <p:cNvPr id="38" name="任意形状 37"/>
          <p:cNvSpPr/>
          <p:nvPr/>
        </p:nvSpPr>
        <p:spPr>
          <a:xfrm>
            <a:off x="6071507" y="318407"/>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6A1B9A"/>
          </a:solidFill>
          <a:ln w="4082" cap="flat">
            <a:noFill/>
            <a:prstDash val="solid"/>
            <a:miter/>
          </a:ln>
        </p:spPr>
        <p:txBody>
          <a:bodyPr rtlCol="0" anchor="ctr"/>
          <a:lstStyle/>
          <a:p>
            <a:pPr algn="ctr"/>
            <a:endParaRPr lang="zh-CN" altLang="en-US" sz="1100"/>
          </a:p>
        </p:txBody>
      </p:sp>
      <p:sp>
        <p:nvSpPr>
          <p:cNvPr id="39" name="文本框 38"/>
          <p:cNvSpPr txBox="1"/>
          <p:nvPr/>
        </p:nvSpPr>
        <p:spPr>
          <a:xfrm>
            <a:off x="6112303" y="301262"/>
            <a:ext cx="628697"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Population Data</a:t>
            </a:r>
          </a:p>
        </p:txBody>
      </p:sp>
      <p:sp>
        <p:nvSpPr>
          <p:cNvPr id="40" name="文本框 39"/>
          <p:cNvSpPr txBox="1"/>
          <p:nvPr/>
        </p:nvSpPr>
        <p:spPr>
          <a:xfrm>
            <a:off x="5983447" y="415562"/>
            <a:ext cx="731289"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Block-level (Baidu LBS)</a:t>
            </a:r>
          </a:p>
        </p:txBody>
      </p:sp>
      <p:sp>
        <p:nvSpPr>
          <p:cNvPr id="41" name="文本框 40"/>
          <p:cNvSpPr txBox="1"/>
          <p:nvPr/>
        </p:nvSpPr>
        <p:spPr>
          <a:xfrm>
            <a:off x="5993995" y="480876"/>
            <a:ext cx="636713"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Census age structure</a:t>
            </a:r>
          </a:p>
        </p:txBody>
      </p:sp>
      <p:sp>
        <p:nvSpPr>
          <p:cNvPr id="42" name="文本框 41"/>
          <p:cNvSpPr txBox="1"/>
          <p:nvPr/>
        </p:nvSpPr>
        <p:spPr>
          <a:xfrm>
            <a:off x="5985628" y="546190"/>
            <a:ext cx="702435"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Vulnerable group ratios</a:t>
            </a:r>
          </a:p>
        </p:txBody>
      </p:sp>
      <p:sp>
        <p:nvSpPr>
          <p:cNvPr id="43" name="文本框 42"/>
          <p:cNvSpPr txBox="1"/>
          <p:nvPr/>
        </p:nvSpPr>
        <p:spPr>
          <a:xfrm>
            <a:off x="5993708" y="611505"/>
            <a:ext cx="649537"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Spatial join to blocks</a:t>
            </a:r>
          </a:p>
        </p:txBody>
      </p:sp>
      <p:sp>
        <p:nvSpPr>
          <p:cNvPr id="44" name="文本框 43"/>
          <p:cNvSpPr txBox="1"/>
          <p:nvPr/>
        </p:nvSpPr>
        <p:spPr>
          <a:xfrm>
            <a:off x="6039259" y="668655"/>
            <a:ext cx="280846" cy="138499"/>
          </a:xfrm>
          <a:prstGeom prst="rect">
            <a:avLst/>
          </a:prstGeom>
          <a:noFill/>
        </p:spPr>
        <p:txBody>
          <a:bodyPr wrap="none" rtlCol="0">
            <a:spAutoFit/>
          </a:bodyPr>
          <a:lstStyle/>
          <a:p>
            <a:r>
              <a:rPr lang="zh-CN" altLang="en-US" sz="300" i="1" spc="0" baseline="0">
                <a:solidFill>
                  <a:srgbClr val="6A1B9A"/>
                </a:solidFill>
                <a:latin typeface="Times New Roman" panose="02020503050405090304"/>
                <a:cs typeface="Times New Roman" panose="02020503050405090304"/>
                <a:sym typeface="Times New Roman" panose="02020503050405090304"/>
                <a:rtl val="0"/>
              </a:rPr>
              <a:t>Step 4</a:t>
            </a:r>
          </a:p>
        </p:txBody>
      </p:sp>
      <p:sp>
        <p:nvSpPr>
          <p:cNvPr id="45" name="任意形状 44"/>
          <p:cNvSpPr/>
          <p:nvPr/>
        </p:nvSpPr>
        <p:spPr>
          <a:xfrm>
            <a:off x="6785882" y="563335"/>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sz="1100"/>
          </a:p>
        </p:txBody>
      </p:sp>
      <p:sp>
        <p:nvSpPr>
          <p:cNvPr id="46" name="任意形状 45"/>
          <p:cNvSpPr/>
          <p:nvPr/>
        </p:nvSpPr>
        <p:spPr>
          <a:xfrm>
            <a:off x="6941003" y="318407"/>
            <a:ext cx="796017" cy="469446"/>
          </a:xfrm>
          <a:custGeom>
            <a:avLst/>
            <a:gdLst>
              <a:gd name="connsiteX0" fmla="*/ 771525 w 796017"/>
              <a:gd name="connsiteY0" fmla="*/ 0 h 469446"/>
              <a:gd name="connsiteX1" fmla="*/ 796018 w 796017"/>
              <a:gd name="connsiteY1" fmla="*/ 0 h 469446"/>
              <a:gd name="connsiteX2" fmla="*/ 796018 w 796017"/>
              <a:gd name="connsiteY2" fmla="*/ 469446 h 469446"/>
              <a:gd name="connsiteX3" fmla="*/ 771525 w 796017"/>
              <a:gd name="connsiteY3" fmla="*/ 469446 h 469446"/>
              <a:gd name="connsiteX4" fmla="*/ 24493 w 796017"/>
              <a:gd name="connsiteY4" fmla="*/ 469446 h 469446"/>
              <a:gd name="connsiteX5" fmla="*/ 0 w 796017"/>
              <a:gd name="connsiteY5" fmla="*/ 469446 h 469446"/>
              <a:gd name="connsiteX6" fmla="*/ 0 w 796017"/>
              <a:gd name="connsiteY6" fmla="*/ 0 h 469446"/>
              <a:gd name="connsiteX7" fmla="*/ 24493 w 796017"/>
              <a:gd name="connsiteY7" fmla="*/ 0 h 46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017" h="469446">
                <a:moveTo>
                  <a:pt x="771525" y="0"/>
                </a:moveTo>
                <a:cubicBezTo>
                  <a:pt x="785052" y="0"/>
                  <a:pt x="796018" y="0"/>
                  <a:pt x="796018" y="0"/>
                </a:cubicBezTo>
                <a:lnTo>
                  <a:pt x="796018" y="469446"/>
                </a:lnTo>
                <a:cubicBezTo>
                  <a:pt x="796018" y="469446"/>
                  <a:pt x="785052" y="469446"/>
                  <a:pt x="771525" y="469446"/>
                </a:cubicBezTo>
                <a:lnTo>
                  <a:pt x="24493" y="469446"/>
                </a:lnTo>
                <a:cubicBezTo>
                  <a:pt x="10966" y="469446"/>
                  <a:pt x="0" y="469446"/>
                  <a:pt x="0" y="469446"/>
                </a:cubicBezTo>
                <a:lnTo>
                  <a:pt x="0" y="0"/>
                </a:lnTo>
                <a:cubicBezTo>
                  <a:pt x="0" y="0"/>
                  <a:pt x="10966" y="0"/>
                  <a:pt x="24493" y="0"/>
                </a:cubicBezTo>
                <a:close/>
              </a:path>
            </a:pathLst>
          </a:custGeom>
          <a:solidFill>
            <a:srgbClr val="FFFFFF"/>
          </a:solidFill>
          <a:ln w="6123" cap="flat">
            <a:solidFill>
              <a:srgbClr val="00695C"/>
            </a:solidFill>
            <a:prstDash val="solid"/>
            <a:miter/>
          </a:ln>
        </p:spPr>
        <p:txBody>
          <a:bodyPr rtlCol="0" anchor="ctr"/>
          <a:lstStyle/>
          <a:p>
            <a:pPr algn="ctr"/>
            <a:endParaRPr lang="zh-CN" altLang="en-US" sz="1100"/>
          </a:p>
        </p:txBody>
      </p:sp>
      <p:sp>
        <p:nvSpPr>
          <p:cNvPr id="47" name="任意形状 46"/>
          <p:cNvSpPr/>
          <p:nvPr/>
        </p:nvSpPr>
        <p:spPr>
          <a:xfrm>
            <a:off x="6941003" y="318407"/>
            <a:ext cx="796017" cy="106135"/>
          </a:xfrm>
          <a:custGeom>
            <a:avLst/>
            <a:gdLst>
              <a:gd name="connsiteX0" fmla="*/ 771525 w 796017"/>
              <a:gd name="connsiteY0" fmla="*/ 0 h 106135"/>
              <a:gd name="connsiteX1" fmla="*/ 796018 w 796017"/>
              <a:gd name="connsiteY1" fmla="*/ 0 h 106135"/>
              <a:gd name="connsiteX2" fmla="*/ 796018 w 796017"/>
              <a:gd name="connsiteY2" fmla="*/ 106136 h 106135"/>
              <a:gd name="connsiteX3" fmla="*/ 771525 w 796017"/>
              <a:gd name="connsiteY3" fmla="*/ 106136 h 106135"/>
              <a:gd name="connsiteX4" fmla="*/ 24493 w 796017"/>
              <a:gd name="connsiteY4" fmla="*/ 106136 h 106135"/>
              <a:gd name="connsiteX5" fmla="*/ 0 w 796017"/>
              <a:gd name="connsiteY5" fmla="*/ 106136 h 106135"/>
              <a:gd name="connsiteX6" fmla="*/ 0 w 796017"/>
              <a:gd name="connsiteY6" fmla="*/ 0 h 106135"/>
              <a:gd name="connsiteX7" fmla="*/ 24493 w 796017"/>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017" h="106135">
                <a:moveTo>
                  <a:pt x="771525" y="0"/>
                </a:moveTo>
                <a:cubicBezTo>
                  <a:pt x="785052" y="0"/>
                  <a:pt x="796018" y="0"/>
                  <a:pt x="796018" y="0"/>
                </a:cubicBezTo>
                <a:lnTo>
                  <a:pt x="796018" y="106136"/>
                </a:lnTo>
                <a:cubicBezTo>
                  <a:pt x="796018" y="106136"/>
                  <a:pt x="785052" y="106136"/>
                  <a:pt x="771525" y="106136"/>
                </a:cubicBezTo>
                <a:lnTo>
                  <a:pt x="24493" y="106136"/>
                </a:lnTo>
                <a:cubicBezTo>
                  <a:pt x="10966" y="106136"/>
                  <a:pt x="0" y="106136"/>
                  <a:pt x="0" y="106136"/>
                </a:cubicBezTo>
                <a:lnTo>
                  <a:pt x="0" y="0"/>
                </a:lnTo>
                <a:cubicBezTo>
                  <a:pt x="0" y="0"/>
                  <a:pt x="10966" y="0"/>
                  <a:pt x="24493" y="0"/>
                </a:cubicBezTo>
                <a:close/>
              </a:path>
            </a:pathLst>
          </a:custGeom>
          <a:solidFill>
            <a:srgbClr val="00695C"/>
          </a:solidFill>
          <a:ln w="4082" cap="flat">
            <a:noFill/>
            <a:prstDash val="solid"/>
            <a:miter/>
          </a:ln>
        </p:spPr>
        <p:txBody>
          <a:bodyPr rtlCol="0" anchor="ctr"/>
          <a:lstStyle/>
          <a:p>
            <a:pPr algn="ctr"/>
            <a:endParaRPr lang="zh-CN" altLang="en-US" sz="1100"/>
          </a:p>
        </p:txBody>
      </p:sp>
      <p:sp>
        <p:nvSpPr>
          <p:cNvPr id="48" name="文本框 47"/>
          <p:cNvSpPr txBox="1"/>
          <p:nvPr/>
        </p:nvSpPr>
        <p:spPr>
          <a:xfrm>
            <a:off x="6920831" y="301262"/>
            <a:ext cx="832279"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OD / Commute / Travel</a:t>
            </a:r>
          </a:p>
        </p:txBody>
      </p:sp>
      <p:sp>
        <p:nvSpPr>
          <p:cNvPr id="49" name="文本框 48"/>
          <p:cNvSpPr txBox="1"/>
          <p:nvPr/>
        </p:nvSpPr>
        <p:spPr>
          <a:xfrm>
            <a:off x="6851638" y="415562"/>
            <a:ext cx="766557"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BD09→WGS84 transform</a:t>
            </a:r>
          </a:p>
        </p:txBody>
      </p:sp>
      <p:sp>
        <p:nvSpPr>
          <p:cNvPr id="50" name="文本框 49"/>
          <p:cNvSpPr txBox="1"/>
          <p:nvPr/>
        </p:nvSpPr>
        <p:spPr>
          <a:xfrm>
            <a:off x="6871422" y="480876"/>
            <a:ext cx="567784"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OD data clipping</a:t>
            </a:r>
          </a:p>
        </p:txBody>
      </p:sp>
      <p:sp>
        <p:nvSpPr>
          <p:cNvPr id="51" name="文本框 50"/>
          <p:cNvSpPr txBox="1"/>
          <p:nvPr/>
        </p:nvSpPr>
        <p:spPr>
          <a:xfrm>
            <a:off x="6849598" y="546190"/>
            <a:ext cx="766555"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Dijkstra travel-time matrix</a:t>
            </a:r>
          </a:p>
        </p:txBody>
      </p:sp>
      <p:sp>
        <p:nvSpPr>
          <p:cNvPr id="52" name="文本框 51"/>
          <p:cNvSpPr txBox="1"/>
          <p:nvPr/>
        </p:nvSpPr>
        <p:spPr>
          <a:xfrm>
            <a:off x="6852366" y="611505"/>
            <a:ext cx="756937" cy="153888"/>
          </a:xfrm>
          <a:prstGeom prst="rect">
            <a:avLst/>
          </a:prstGeom>
          <a:noFill/>
        </p:spPr>
        <p:txBody>
          <a:bodyPr wrap="none" rtlCol="0">
            <a:spAutoFit/>
          </a:bodyPr>
          <a:lstStyle/>
          <a:p>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Subway network topology</a:t>
            </a:r>
          </a:p>
        </p:txBody>
      </p:sp>
      <p:sp>
        <p:nvSpPr>
          <p:cNvPr id="53" name="文本框 52"/>
          <p:cNvSpPr txBox="1"/>
          <p:nvPr/>
        </p:nvSpPr>
        <p:spPr>
          <a:xfrm>
            <a:off x="6907023" y="668655"/>
            <a:ext cx="357790" cy="138499"/>
          </a:xfrm>
          <a:prstGeom prst="rect">
            <a:avLst/>
          </a:prstGeom>
          <a:noFill/>
        </p:spPr>
        <p:txBody>
          <a:bodyPr wrap="none" rtlCol="0">
            <a:spAutoFit/>
          </a:bodyPr>
          <a:lstStyle/>
          <a:p>
            <a:r>
              <a:rPr lang="zh-CN" altLang="en-US" sz="300" i="1" spc="0" baseline="0">
                <a:solidFill>
                  <a:srgbClr val="00695C"/>
                </a:solidFill>
                <a:latin typeface="Times New Roman" panose="02020503050405090304"/>
                <a:cs typeface="Times New Roman" panose="02020503050405090304"/>
                <a:sym typeface="Times New Roman" panose="02020503050405090304"/>
                <a:rtl val="0"/>
              </a:rPr>
              <a:t>Step 5, 6, 7</a:t>
            </a:r>
          </a:p>
        </p:txBody>
      </p:sp>
      <p:sp>
        <p:nvSpPr>
          <p:cNvPr id="54" name="任意形状 53"/>
          <p:cNvSpPr/>
          <p:nvPr/>
        </p:nvSpPr>
        <p:spPr>
          <a:xfrm>
            <a:off x="3463017" y="857250"/>
            <a:ext cx="4274003" cy="146957"/>
          </a:xfrm>
          <a:custGeom>
            <a:avLst/>
            <a:gdLst>
              <a:gd name="connsiteX0" fmla="*/ 4249511 w 4274003"/>
              <a:gd name="connsiteY0" fmla="*/ 0 h 146957"/>
              <a:gd name="connsiteX1" fmla="*/ 4274004 w 4274003"/>
              <a:gd name="connsiteY1" fmla="*/ 0 h 146957"/>
              <a:gd name="connsiteX2" fmla="*/ 4274004 w 4274003"/>
              <a:gd name="connsiteY2" fmla="*/ 146957 h 146957"/>
              <a:gd name="connsiteX3" fmla="*/ 4249511 w 4274003"/>
              <a:gd name="connsiteY3" fmla="*/ 146957 h 146957"/>
              <a:gd name="connsiteX4" fmla="*/ 24493 w 4274003"/>
              <a:gd name="connsiteY4" fmla="*/ 146957 h 146957"/>
              <a:gd name="connsiteX5" fmla="*/ 0 w 4274003"/>
              <a:gd name="connsiteY5" fmla="*/ 146957 h 146957"/>
              <a:gd name="connsiteX6" fmla="*/ 0 w 4274003"/>
              <a:gd name="connsiteY6" fmla="*/ 0 h 146957"/>
              <a:gd name="connsiteX7" fmla="*/ 24493 w 4274003"/>
              <a:gd name="connsiteY7" fmla="*/ 0 h 14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74003" h="146957">
                <a:moveTo>
                  <a:pt x="4249511" y="0"/>
                </a:moveTo>
                <a:cubicBezTo>
                  <a:pt x="4263038" y="0"/>
                  <a:pt x="4274004" y="0"/>
                  <a:pt x="4274004" y="0"/>
                </a:cubicBezTo>
                <a:lnTo>
                  <a:pt x="4274004" y="146957"/>
                </a:lnTo>
                <a:cubicBezTo>
                  <a:pt x="4274004" y="146957"/>
                  <a:pt x="4263038" y="146957"/>
                  <a:pt x="4249511" y="146957"/>
                </a:cubicBezTo>
                <a:lnTo>
                  <a:pt x="24493" y="146957"/>
                </a:lnTo>
                <a:cubicBezTo>
                  <a:pt x="10966" y="146957"/>
                  <a:pt x="0" y="146957"/>
                  <a:pt x="0" y="146957"/>
                </a:cubicBezTo>
                <a:lnTo>
                  <a:pt x="0" y="0"/>
                </a:lnTo>
                <a:cubicBezTo>
                  <a:pt x="0" y="0"/>
                  <a:pt x="10966" y="0"/>
                  <a:pt x="24493" y="0"/>
                </a:cubicBezTo>
                <a:close/>
              </a:path>
            </a:pathLst>
          </a:custGeom>
          <a:solidFill>
            <a:srgbClr val="263238"/>
          </a:solidFill>
          <a:ln w="4082" cap="flat">
            <a:noFill/>
            <a:prstDash val="solid"/>
            <a:miter/>
          </a:ln>
        </p:spPr>
        <p:txBody>
          <a:bodyPr rtlCol="0" anchor="ctr"/>
          <a:lstStyle/>
          <a:p>
            <a:pPr algn="ctr"/>
            <a:endParaRPr lang="zh-CN" altLang="en-US" sz="1100"/>
          </a:p>
        </p:txBody>
      </p:sp>
      <p:sp>
        <p:nvSpPr>
          <p:cNvPr id="55" name="文本框 54"/>
          <p:cNvSpPr txBox="1"/>
          <p:nvPr/>
        </p:nvSpPr>
        <p:spPr>
          <a:xfrm>
            <a:off x="4274100" y="856433"/>
            <a:ext cx="2643672" cy="184666"/>
          </a:xfrm>
          <a:prstGeom prst="rect">
            <a:avLst/>
          </a:prstGeom>
          <a:noFill/>
        </p:spPr>
        <p:txBody>
          <a:bodyPr wrap="none" rtlCol="0">
            <a:spAutoFit/>
          </a:bodyPr>
          <a:lstStyle/>
          <a:p>
            <a:pPr algn="ctr"/>
            <a:r>
              <a:rPr lang="zh-CN" altLang="en-US" sz="600" b="1" spc="0" baseline="0">
                <a:solidFill>
                  <a:srgbClr val="FFFFFF"/>
                </a:solidFill>
                <a:latin typeface="Times New Roman" panose="02020503050405090304"/>
                <a:cs typeface="Times New Roman" panose="02020503050405090304"/>
                <a:sym typeface="Times New Roman" panose="02020503050405090304"/>
                <a:rtl val="0"/>
              </a:rPr>
              <a:t>Data Integration &amp; Consistency Check → Scenario Parameter File (Step 8)</a:t>
            </a:r>
          </a:p>
        </p:txBody>
      </p:sp>
      <p:sp>
        <p:nvSpPr>
          <p:cNvPr id="56" name="任意形状 55"/>
          <p:cNvSpPr/>
          <p:nvPr/>
        </p:nvSpPr>
        <p:spPr>
          <a:xfrm>
            <a:off x="3463017" y="1061357"/>
            <a:ext cx="612321" cy="224517"/>
          </a:xfrm>
          <a:custGeom>
            <a:avLst/>
            <a:gdLst>
              <a:gd name="connsiteX0" fmla="*/ 591911 w 612321"/>
              <a:gd name="connsiteY0" fmla="*/ 0 h 224517"/>
              <a:gd name="connsiteX1" fmla="*/ 612321 w 612321"/>
              <a:gd name="connsiteY1" fmla="*/ 0 h 224517"/>
              <a:gd name="connsiteX2" fmla="*/ 612321 w 612321"/>
              <a:gd name="connsiteY2" fmla="*/ 224518 h 224517"/>
              <a:gd name="connsiteX3" fmla="*/ 591911 w 612321"/>
              <a:gd name="connsiteY3" fmla="*/ 224518 h 224517"/>
              <a:gd name="connsiteX4" fmla="*/ 20411 w 612321"/>
              <a:gd name="connsiteY4" fmla="*/ 224518 h 224517"/>
              <a:gd name="connsiteX5" fmla="*/ 0 w 612321"/>
              <a:gd name="connsiteY5" fmla="*/ 224518 h 224517"/>
              <a:gd name="connsiteX6" fmla="*/ 0 w 612321"/>
              <a:gd name="connsiteY6" fmla="*/ 0 h 224517"/>
              <a:gd name="connsiteX7" fmla="*/ 20411 w 612321"/>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21" h="224517">
                <a:moveTo>
                  <a:pt x="591911" y="0"/>
                </a:moveTo>
                <a:cubicBezTo>
                  <a:pt x="603183" y="0"/>
                  <a:pt x="612321" y="0"/>
                  <a:pt x="612321" y="0"/>
                </a:cubicBezTo>
                <a:lnTo>
                  <a:pt x="612321" y="224518"/>
                </a:lnTo>
                <a:cubicBezTo>
                  <a:pt x="612321" y="224518"/>
                  <a:pt x="603183" y="224518"/>
                  <a:pt x="591911" y="224518"/>
                </a:cubicBezTo>
                <a:lnTo>
                  <a:pt x="20411" y="224518"/>
                </a:lnTo>
                <a:cubicBezTo>
                  <a:pt x="9138" y="224518"/>
                  <a:pt x="0" y="224518"/>
                  <a:pt x="0" y="224518"/>
                </a:cubicBezTo>
                <a:lnTo>
                  <a:pt x="0" y="0"/>
                </a:lnTo>
                <a:cubicBezTo>
                  <a:pt x="0" y="0"/>
                  <a:pt x="9138" y="0"/>
                  <a:pt x="20411" y="0"/>
                </a:cubicBezTo>
                <a:close/>
              </a:path>
            </a:pathLst>
          </a:custGeom>
          <a:solidFill>
            <a:srgbClr val="E3F2FD"/>
          </a:solidFill>
          <a:ln w="4082" cap="flat">
            <a:solidFill>
              <a:srgbClr val="90CAF9"/>
            </a:solidFill>
            <a:prstDash val="solid"/>
            <a:miter/>
          </a:ln>
        </p:spPr>
        <p:txBody>
          <a:bodyPr rtlCol="0" anchor="ctr"/>
          <a:lstStyle/>
          <a:p>
            <a:pPr algn="ctr"/>
            <a:endParaRPr lang="zh-CN" altLang="en-US" sz="1100"/>
          </a:p>
        </p:txBody>
      </p:sp>
      <p:sp>
        <p:nvSpPr>
          <p:cNvPr id="57" name="文本框 56"/>
          <p:cNvSpPr txBox="1"/>
          <p:nvPr/>
        </p:nvSpPr>
        <p:spPr>
          <a:xfrm>
            <a:off x="3532573" y="1060540"/>
            <a:ext cx="473206" cy="153888"/>
          </a:xfrm>
          <a:prstGeom prst="rect">
            <a:avLst/>
          </a:prstGeom>
          <a:noFill/>
        </p:spPr>
        <p:txBody>
          <a:bodyPr wrap="none" rtlCol="0">
            <a:spAutoFit/>
          </a:bodyPr>
          <a:lstStyle/>
          <a:p>
            <a:pPr algn="ctr"/>
            <a:r>
              <a:rPr lang="zh-CN" altLang="en-US" sz="400" b="1" spc="0" baseline="0">
                <a:solidFill>
                  <a:srgbClr val="1565C0"/>
                </a:solidFill>
                <a:latin typeface="Times New Roman" panose="02020503050405090304"/>
                <a:cs typeface="Times New Roman" panose="02020503050405090304"/>
                <a:sym typeface="Times New Roman" panose="02020503050405090304"/>
                <a:rtl val="0"/>
              </a:rPr>
              <a:t>Data Sources</a:t>
            </a:r>
          </a:p>
        </p:txBody>
      </p:sp>
      <p:sp>
        <p:nvSpPr>
          <p:cNvPr id="58" name="文本框 57"/>
          <p:cNvSpPr txBox="1"/>
          <p:nvPr/>
        </p:nvSpPr>
        <p:spPr>
          <a:xfrm>
            <a:off x="3468892" y="1129937"/>
            <a:ext cx="604653"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OSM | Baidu LBS | Census</a:t>
            </a:r>
          </a:p>
        </p:txBody>
      </p:sp>
      <p:sp>
        <p:nvSpPr>
          <p:cNvPr id="59" name="文本框 58"/>
          <p:cNvSpPr txBox="1"/>
          <p:nvPr/>
        </p:nvSpPr>
        <p:spPr>
          <a:xfrm>
            <a:off x="3465248" y="1178922"/>
            <a:ext cx="607859"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POI | Regulatory Boundary</a:t>
            </a:r>
          </a:p>
        </p:txBody>
      </p:sp>
      <p:sp>
        <p:nvSpPr>
          <p:cNvPr id="60" name="任意形状 59"/>
          <p:cNvSpPr/>
          <p:nvPr/>
        </p:nvSpPr>
        <p:spPr>
          <a:xfrm>
            <a:off x="4136571" y="1061357"/>
            <a:ext cx="612321" cy="224517"/>
          </a:xfrm>
          <a:custGeom>
            <a:avLst/>
            <a:gdLst>
              <a:gd name="connsiteX0" fmla="*/ 591911 w 612321"/>
              <a:gd name="connsiteY0" fmla="*/ 0 h 224517"/>
              <a:gd name="connsiteX1" fmla="*/ 612321 w 612321"/>
              <a:gd name="connsiteY1" fmla="*/ 0 h 224517"/>
              <a:gd name="connsiteX2" fmla="*/ 612321 w 612321"/>
              <a:gd name="connsiteY2" fmla="*/ 224518 h 224517"/>
              <a:gd name="connsiteX3" fmla="*/ 591911 w 612321"/>
              <a:gd name="connsiteY3" fmla="*/ 224518 h 224517"/>
              <a:gd name="connsiteX4" fmla="*/ 20411 w 612321"/>
              <a:gd name="connsiteY4" fmla="*/ 224518 h 224517"/>
              <a:gd name="connsiteX5" fmla="*/ 0 w 612321"/>
              <a:gd name="connsiteY5" fmla="*/ 224518 h 224517"/>
              <a:gd name="connsiteX6" fmla="*/ 0 w 612321"/>
              <a:gd name="connsiteY6" fmla="*/ 0 h 224517"/>
              <a:gd name="connsiteX7" fmla="*/ 20411 w 612321"/>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21" h="224517">
                <a:moveTo>
                  <a:pt x="591911" y="0"/>
                </a:moveTo>
                <a:cubicBezTo>
                  <a:pt x="603183" y="0"/>
                  <a:pt x="612321" y="0"/>
                  <a:pt x="612321" y="0"/>
                </a:cubicBezTo>
                <a:lnTo>
                  <a:pt x="612321" y="224518"/>
                </a:lnTo>
                <a:cubicBezTo>
                  <a:pt x="612321" y="224518"/>
                  <a:pt x="603183" y="224518"/>
                  <a:pt x="591911" y="224518"/>
                </a:cubicBezTo>
                <a:lnTo>
                  <a:pt x="20411" y="224518"/>
                </a:lnTo>
                <a:cubicBezTo>
                  <a:pt x="9138" y="224518"/>
                  <a:pt x="0" y="224518"/>
                  <a:pt x="0" y="224518"/>
                </a:cubicBezTo>
                <a:lnTo>
                  <a:pt x="0" y="0"/>
                </a:lnTo>
                <a:cubicBezTo>
                  <a:pt x="0" y="0"/>
                  <a:pt x="9138" y="0"/>
                  <a:pt x="20411" y="0"/>
                </a:cubicBezTo>
                <a:close/>
              </a:path>
            </a:pathLst>
          </a:custGeom>
          <a:solidFill>
            <a:srgbClr val="FFF3E0"/>
          </a:solidFill>
          <a:ln w="4082" cap="flat">
            <a:solidFill>
              <a:srgbClr val="FFCC80"/>
            </a:solidFill>
            <a:prstDash val="solid"/>
            <a:miter/>
          </a:ln>
        </p:spPr>
        <p:txBody>
          <a:bodyPr rtlCol="0" anchor="ctr"/>
          <a:lstStyle/>
          <a:p>
            <a:pPr algn="ctr"/>
            <a:endParaRPr lang="zh-CN" altLang="en-US" sz="1100"/>
          </a:p>
        </p:txBody>
      </p:sp>
      <p:sp>
        <p:nvSpPr>
          <p:cNvPr id="61" name="文本框 60"/>
          <p:cNvSpPr txBox="1"/>
          <p:nvPr/>
        </p:nvSpPr>
        <p:spPr>
          <a:xfrm>
            <a:off x="4240592" y="1060540"/>
            <a:ext cx="404277" cy="153888"/>
          </a:xfrm>
          <a:prstGeom prst="rect">
            <a:avLst/>
          </a:prstGeom>
          <a:noFill/>
        </p:spPr>
        <p:txBody>
          <a:bodyPr wrap="none" rtlCol="0">
            <a:spAutoFit/>
          </a:bodyPr>
          <a:lstStyle/>
          <a:p>
            <a:pPr algn="ctr"/>
            <a:r>
              <a:rPr lang="zh-CN" altLang="en-US" sz="400" b="1" spc="0" baseline="0">
                <a:solidFill>
                  <a:srgbClr val="E65100"/>
                </a:solidFill>
                <a:latin typeface="Times New Roman" panose="02020503050405090304"/>
                <a:cs typeface="Times New Roman" panose="02020503050405090304"/>
                <a:sym typeface="Times New Roman" panose="02020503050405090304"/>
                <a:rtl val="0"/>
              </a:rPr>
              <a:t>Key Tools</a:t>
            </a:r>
          </a:p>
        </p:txBody>
      </p:sp>
      <p:sp>
        <p:nvSpPr>
          <p:cNvPr id="62" name="文本框 61"/>
          <p:cNvSpPr txBox="1"/>
          <p:nvPr/>
        </p:nvSpPr>
        <p:spPr>
          <a:xfrm>
            <a:off x="4167218" y="1129937"/>
            <a:ext cx="546945"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GeoPandas | NetworkX</a:t>
            </a:r>
          </a:p>
        </p:txBody>
      </p:sp>
      <p:sp>
        <p:nvSpPr>
          <p:cNvPr id="63" name="文本框 62"/>
          <p:cNvSpPr txBox="1"/>
          <p:nvPr/>
        </p:nvSpPr>
        <p:spPr>
          <a:xfrm>
            <a:off x="4210937" y="1178922"/>
            <a:ext cx="463588"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Dijkstra | KDTree</a:t>
            </a:r>
          </a:p>
        </p:txBody>
      </p:sp>
      <p:sp>
        <p:nvSpPr>
          <p:cNvPr id="64" name="任意形状 63"/>
          <p:cNvSpPr/>
          <p:nvPr/>
        </p:nvSpPr>
        <p:spPr>
          <a:xfrm>
            <a:off x="4810125" y="1061357"/>
            <a:ext cx="632732" cy="224517"/>
          </a:xfrm>
          <a:custGeom>
            <a:avLst/>
            <a:gdLst>
              <a:gd name="connsiteX0" fmla="*/ 612321 w 632732"/>
              <a:gd name="connsiteY0" fmla="*/ 0 h 224517"/>
              <a:gd name="connsiteX1" fmla="*/ 632732 w 632732"/>
              <a:gd name="connsiteY1" fmla="*/ 0 h 224517"/>
              <a:gd name="connsiteX2" fmla="*/ 632732 w 632732"/>
              <a:gd name="connsiteY2" fmla="*/ 224518 h 224517"/>
              <a:gd name="connsiteX3" fmla="*/ 612321 w 632732"/>
              <a:gd name="connsiteY3" fmla="*/ 224518 h 224517"/>
              <a:gd name="connsiteX4" fmla="*/ 20411 w 632732"/>
              <a:gd name="connsiteY4" fmla="*/ 224518 h 224517"/>
              <a:gd name="connsiteX5" fmla="*/ 0 w 632732"/>
              <a:gd name="connsiteY5" fmla="*/ 224518 h 224517"/>
              <a:gd name="connsiteX6" fmla="*/ 0 w 632732"/>
              <a:gd name="connsiteY6" fmla="*/ 0 h 224517"/>
              <a:gd name="connsiteX7" fmla="*/ 20411 w 632732"/>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732" h="224517">
                <a:moveTo>
                  <a:pt x="612321" y="0"/>
                </a:moveTo>
                <a:cubicBezTo>
                  <a:pt x="623594" y="0"/>
                  <a:pt x="632732" y="0"/>
                  <a:pt x="632732" y="0"/>
                </a:cubicBezTo>
                <a:lnTo>
                  <a:pt x="632732" y="224518"/>
                </a:lnTo>
                <a:cubicBezTo>
                  <a:pt x="632732" y="224518"/>
                  <a:pt x="623594" y="224518"/>
                  <a:pt x="612321" y="224518"/>
                </a:cubicBezTo>
                <a:lnTo>
                  <a:pt x="20411" y="224518"/>
                </a:lnTo>
                <a:cubicBezTo>
                  <a:pt x="9138" y="224518"/>
                  <a:pt x="0" y="224518"/>
                  <a:pt x="0" y="224518"/>
                </a:cubicBezTo>
                <a:lnTo>
                  <a:pt x="0" y="0"/>
                </a:lnTo>
                <a:cubicBezTo>
                  <a:pt x="0" y="0"/>
                  <a:pt x="9138" y="0"/>
                  <a:pt x="20411" y="0"/>
                </a:cubicBezTo>
                <a:close/>
              </a:path>
            </a:pathLst>
          </a:custGeom>
          <a:solidFill>
            <a:srgbClr val="E8F5E9"/>
          </a:solidFill>
          <a:ln w="4082" cap="flat">
            <a:solidFill>
              <a:srgbClr val="A5D6A7"/>
            </a:solidFill>
            <a:prstDash val="solid"/>
            <a:miter/>
          </a:ln>
        </p:spPr>
        <p:txBody>
          <a:bodyPr rtlCol="0" anchor="ctr"/>
          <a:lstStyle/>
          <a:p>
            <a:pPr algn="ctr"/>
            <a:endParaRPr lang="zh-CN" altLang="en-US" sz="1100"/>
          </a:p>
        </p:txBody>
      </p:sp>
      <p:sp>
        <p:nvSpPr>
          <p:cNvPr id="65" name="文本框 64"/>
          <p:cNvSpPr txBox="1"/>
          <p:nvPr/>
        </p:nvSpPr>
        <p:spPr>
          <a:xfrm>
            <a:off x="4941546" y="1060540"/>
            <a:ext cx="365806" cy="153888"/>
          </a:xfrm>
          <a:prstGeom prst="rect">
            <a:avLst/>
          </a:prstGeom>
          <a:noFill/>
        </p:spPr>
        <p:txBody>
          <a:bodyPr wrap="none" rtlCol="0">
            <a:spAutoFit/>
          </a:bodyPr>
          <a:lstStyle/>
          <a:p>
            <a:pPr algn="ctr"/>
            <a:r>
              <a:rPr lang="zh-CN" altLang="en-US" sz="400" b="1" spc="0" baseline="0">
                <a:solidFill>
                  <a:srgbClr val="2E7D32"/>
                </a:solidFill>
                <a:latin typeface="Times New Roman" panose="02020503050405090304"/>
                <a:cs typeface="Times New Roman" panose="02020503050405090304"/>
                <a:sym typeface="Times New Roman" panose="02020503050405090304"/>
                <a:rtl val="0"/>
              </a:rPr>
              <a:t>Outputs</a:t>
            </a:r>
          </a:p>
        </p:txBody>
      </p:sp>
      <p:sp>
        <p:nvSpPr>
          <p:cNvPr id="66" name="文本框 65"/>
          <p:cNvSpPr txBox="1"/>
          <p:nvPr/>
        </p:nvSpPr>
        <p:spPr>
          <a:xfrm>
            <a:off x="4829336" y="1129937"/>
            <a:ext cx="590225"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Road graph | Facility SHP</a:t>
            </a:r>
          </a:p>
        </p:txBody>
      </p:sp>
      <p:sp>
        <p:nvSpPr>
          <p:cNvPr id="67" name="文本框 66"/>
          <p:cNvSpPr txBox="1"/>
          <p:nvPr/>
        </p:nvSpPr>
        <p:spPr>
          <a:xfrm>
            <a:off x="4814909" y="1178922"/>
            <a:ext cx="619080" cy="138499"/>
          </a:xfrm>
          <a:prstGeom prst="rect">
            <a:avLst/>
          </a:prstGeom>
          <a:noFill/>
        </p:spPr>
        <p:txBody>
          <a:bodyPr wrap="none" rtlCol="0">
            <a:spAutoFit/>
          </a:bodyPr>
          <a:lstStyle/>
          <a:p>
            <a:pPr algn="ctr"/>
            <a:r>
              <a:rPr lang="zh-CN" altLang="en-US" sz="300" spc="0" baseline="0">
                <a:solidFill>
                  <a:srgbClr val="555555"/>
                </a:solidFill>
                <a:latin typeface="Times New Roman" panose="02020503050405090304"/>
                <a:cs typeface="Times New Roman" panose="02020503050405090304"/>
                <a:sym typeface="Times New Roman" panose="02020503050405090304"/>
                <a:rtl val="0"/>
              </a:rPr>
              <a:t>Population grid | OD matrix</a:t>
            </a:r>
          </a:p>
        </p:txBody>
      </p:sp>
      <p:sp>
        <p:nvSpPr>
          <p:cNvPr id="68" name="任意形状 67"/>
          <p:cNvSpPr/>
          <p:nvPr/>
        </p:nvSpPr>
        <p:spPr>
          <a:xfrm>
            <a:off x="6096000" y="1367517"/>
            <a:ext cx="4082" cy="142875"/>
          </a:xfrm>
          <a:custGeom>
            <a:avLst/>
            <a:gdLst>
              <a:gd name="connsiteX0" fmla="*/ 0 w 4082"/>
              <a:gd name="connsiteY0" fmla="*/ 0 h 142875"/>
              <a:gd name="connsiteX1" fmla="*/ 0 w 4082"/>
              <a:gd name="connsiteY1" fmla="*/ 142875 h 142875"/>
            </a:gdLst>
            <a:ahLst/>
            <a:cxnLst>
              <a:cxn ang="0">
                <a:pos x="connsiteX0" y="connsiteY0"/>
              </a:cxn>
              <a:cxn ang="0">
                <a:pos x="connsiteX1" y="connsiteY1"/>
              </a:cxn>
            </a:cxnLst>
            <a:rect l="l" t="t" r="r" b="b"/>
            <a:pathLst>
              <a:path w="4082" h="142875">
                <a:moveTo>
                  <a:pt x="0" y="0"/>
                </a:moveTo>
                <a:lnTo>
                  <a:pt x="0" y="142875"/>
                </a:lnTo>
              </a:path>
            </a:pathLst>
          </a:custGeom>
          <a:ln w="7348" cap="flat">
            <a:solidFill>
              <a:srgbClr val="555555"/>
            </a:solidFill>
            <a:prstDash val="solid"/>
            <a:miter/>
          </a:ln>
        </p:spPr>
        <p:txBody>
          <a:bodyPr rtlCol="0" anchor="ctr"/>
          <a:lstStyle/>
          <a:p>
            <a:pPr algn="ctr"/>
            <a:endParaRPr lang="zh-CN" altLang="en-US" sz="1100"/>
          </a:p>
        </p:txBody>
      </p:sp>
      <p:sp>
        <p:nvSpPr>
          <p:cNvPr id="69" name="任意形状 68"/>
          <p:cNvSpPr/>
          <p:nvPr/>
        </p:nvSpPr>
        <p:spPr>
          <a:xfrm>
            <a:off x="3360964" y="1543050"/>
            <a:ext cx="5470071" cy="1020535"/>
          </a:xfrm>
          <a:custGeom>
            <a:avLst/>
            <a:gdLst>
              <a:gd name="connsiteX0" fmla="*/ 5437415 w 5470071"/>
              <a:gd name="connsiteY0" fmla="*/ 0 h 1020535"/>
              <a:gd name="connsiteX1" fmla="*/ 5470072 w 5470071"/>
              <a:gd name="connsiteY1" fmla="*/ 0 h 1020535"/>
              <a:gd name="connsiteX2" fmla="*/ 5470072 w 5470071"/>
              <a:gd name="connsiteY2" fmla="*/ 1020536 h 1020535"/>
              <a:gd name="connsiteX3" fmla="*/ 5437415 w 5470071"/>
              <a:gd name="connsiteY3" fmla="*/ 1020536 h 1020535"/>
              <a:gd name="connsiteX4" fmla="*/ 32657 w 5470071"/>
              <a:gd name="connsiteY4" fmla="*/ 1020536 h 1020535"/>
              <a:gd name="connsiteX5" fmla="*/ 0 w 5470071"/>
              <a:gd name="connsiteY5" fmla="*/ 1020536 h 1020535"/>
              <a:gd name="connsiteX6" fmla="*/ 0 w 5470071"/>
              <a:gd name="connsiteY6" fmla="*/ 0 h 1020535"/>
              <a:gd name="connsiteX7" fmla="*/ 32657 w 5470071"/>
              <a:gd name="connsiteY7" fmla="*/ 0 h 102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1020535">
                <a:moveTo>
                  <a:pt x="5437415" y="0"/>
                </a:moveTo>
                <a:cubicBezTo>
                  <a:pt x="5455451" y="0"/>
                  <a:pt x="5470072" y="0"/>
                  <a:pt x="5470072" y="0"/>
                </a:cubicBezTo>
                <a:lnTo>
                  <a:pt x="5470072" y="1020536"/>
                </a:lnTo>
                <a:cubicBezTo>
                  <a:pt x="5470072" y="1020536"/>
                  <a:pt x="5455451" y="1020536"/>
                  <a:pt x="5437415" y="1020536"/>
                </a:cubicBezTo>
                <a:lnTo>
                  <a:pt x="32657" y="1020536"/>
                </a:lnTo>
                <a:cubicBezTo>
                  <a:pt x="14621" y="1020536"/>
                  <a:pt x="0" y="1020536"/>
                  <a:pt x="0" y="1020536"/>
                </a:cubicBezTo>
                <a:lnTo>
                  <a:pt x="0" y="0"/>
                </a:lnTo>
                <a:cubicBezTo>
                  <a:pt x="0" y="0"/>
                  <a:pt x="14621" y="0"/>
                  <a:pt x="32657" y="0"/>
                </a:cubicBezTo>
                <a:close/>
              </a:path>
            </a:pathLst>
          </a:custGeom>
          <a:solidFill>
            <a:srgbClr val="FFF8E1"/>
          </a:solidFill>
          <a:ln w="4899" cap="flat">
            <a:solidFill>
              <a:srgbClr val="F9A825"/>
            </a:solidFill>
            <a:custDash>
              <a:ds d="450000" sp="225000"/>
            </a:custDash>
            <a:miter/>
          </a:ln>
        </p:spPr>
        <p:txBody>
          <a:bodyPr rtlCol="0" anchor="ctr"/>
          <a:lstStyle/>
          <a:p>
            <a:pPr algn="ctr"/>
            <a:endParaRPr lang="zh-CN" altLang="en-US" sz="1100"/>
          </a:p>
        </p:txBody>
      </p:sp>
      <p:sp>
        <p:nvSpPr>
          <p:cNvPr id="70" name="文本框 69"/>
          <p:cNvSpPr txBox="1"/>
          <p:nvPr/>
        </p:nvSpPr>
        <p:spPr>
          <a:xfrm>
            <a:off x="2956382" y="1554480"/>
            <a:ext cx="2029722" cy="246221"/>
          </a:xfrm>
          <a:prstGeom prst="rect">
            <a:avLst/>
          </a:prstGeom>
          <a:noFill/>
        </p:spPr>
        <p:txBody>
          <a:bodyPr wrap="none" rtlCol="0">
            <a:spAutoFit/>
          </a:bodyPr>
          <a:lstStyle/>
          <a:p>
            <a:pPr algn="ctr"/>
            <a:r>
              <a:rPr lang="zh-CN" altLang="en-US" sz="1000" b="1" spc="0" baseline="0">
                <a:solidFill>
                  <a:srgbClr val="333333"/>
                </a:solidFill>
                <a:latin typeface="Times New Roman" panose="02020503050405090304"/>
                <a:cs typeface="Times New Roman" panose="02020503050405090304"/>
                <a:sym typeface="Times New Roman" panose="02020503050405090304"/>
                <a:rtl val="0"/>
              </a:rPr>
              <a:t>2. Incident Scenario Construction</a:t>
            </a:r>
          </a:p>
        </p:txBody>
      </p:sp>
      <p:sp>
        <p:nvSpPr>
          <p:cNvPr id="71" name="文本框 70"/>
          <p:cNvSpPr txBox="1"/>
          <p:nvPr/>
        </p:nvSpPr>
        <p:spPr>
          <a:xfrm>
            <a:off x="3100822" y="1652451"/>
            <a:ext cx="1846979" cy="169277"/>
          </a:xfrm>
          <a:prstGeom prst="rect">
            <a:avLst/>
          </a:prstGeom>
          <a:noFill/>
        </p:spPr>
        <p:txBody>
          <a:bodyPr wrap="none" rtlCol="0">
            <a:spAutoFit/>
          </a:bodyPr>
          <a:lstStyle/>
          <a:p>
            <a:pPr algn="ctr"/>
            <a:r>
              <a:rPr lang="zh-CN" altLang="en-US" sz="500" spc="0" baseline="0">
                <a:solidFill>
                  <a:srgbClr val="888888"/>
                </a:solidFill>
                <a:latin typeface="Times New Roman" panose="02020503050405090304"/>
                <a:cs typeface="Times New Roman" panose="02020503050405090304"/>
                <a:sym typeface="Times New Roman" panose="02020503050405090304"/>
                <a:rtl val="0"/>
              </a:rPr>
              <a:t>Gaussian Plume Dispersion &amp; Hazard Zone Delineation (Step 9)</a:t>
            </a:r>
          </a:p>
        </p:txBody>
      </p:sp>
      <p:sp>
        <p:nvSpPr>
          <p:cNvPr id="72" name="任意形状 71"/>
          <p:cNvSpPr/>
          <p:nvPr/>
        </p:nvSpPr>
        <p:spPr>
          <a:xfrm>
            <a:off x="3463017" y="1816553"/>
            <a:ext cx="1020535" cy="530678"/>
          </a:xfrm>
          <a:custGeom>
            <a:avLst/>
            <a:gdLst>
              <a:gd name="connsiteX0" fmla="*/ 996043 w 1020535"/>
              <a:gd name="connsiteY0" fmla="*/ 0 h 530678"/>
              <a:gd name="connsiteX1" fmla="*/ 1020536 w 1020535"/>
              <a:gd name="connsiteY1" fmla="*/ 0 h 530678"/>
              <a:gd name="connsiteX2" fmla="*/ 1020536 w 1020535"/>
              <a:gd name="connsiteY2" fmla="*/ 530679 h 530678"/>
              <a:gd name="connsiteX3" fmla="*/ 996043 w 1020535"/>
              <a:gd name="connsiteY3" fmla="*/ 530679 h 530678"/>
              <a:gd name="connsiteX4" fmla="*/ 24493 w 1020535"/>
              <a:gd name="connsiteY4" fmla="*/ 530679 h 530678"/>
              <a:gd name="connsiteX5" fmla="*/ 0 w 1020535"/>
              <a:gd name="connsiteY5" fmla="*/ 530679 h 530678"/>
              <a:gd name="connsiteX6" fmla="*/ 0 w 1020535"/>
              <a:gd name="connsiteY6" fmla="*/ 0 h 530678"/>
              <a:gd name="connsiteX7" fmla="*/ 24493 w 1020535"/>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530678">
                <a:moveTo>
                  <a:pt x="996043" y="0"/>
                </a:moveTo>
                <a:cubicBezTo>
                  <a:pt x="1009570" y="0"/>
                  <a:pt x="1020536" y="0"/>
                  <a:pt x="1020536" y="0"/>
                </a:cubicBezTo>
                <a:lnTo>
                  <a:pt x="1020536" y="530679"/>
                </a:lnTo>
                <a:cubicBezTo>
                  <a:pt x="1020536" y="530679"/>
                  <a:pt x="1009570" y="530679"/>
                  <a:pt x="996043"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D32F2F"/>
            </a:solidFill>
            <a:prstDash val="solid"/>
            <a:miter/>
          </a:ln>
        </p:spPr>
        <p:txBody>
          <a:bodyPr rtlCol="0" anchor="ctr"/>
          <a:lstStyle/>
          <a:p>
            <a:pPr algn="ctr"/>
            <a:endParaRPr lang="zh-CN" altLang="en-US" sz="1100"/>
          </a:p>
        </p:txBody>
      </p:sp>
      <p:sp>
        <p:nvSpPr>
          <p:cNvPr id="73" name="任意形状 72"/>
          <p:cNvSpPr/>
          <p:nvPr/>
        </p:nvSpPr>
        <p:spPr>
          <a:xfrm>
            <a:off x="3463017" y="1816553"/>
            <a:ext cx="1020535" cy="106135"/>
          </a:xfrm>
          <a:custGeom>
            <a:avLst/>
            <a:gdLst>
              <a:gd name="connsiteX0" fmla="*/ 996043 w 1020535"/>
              <a:gd name="connsiteY0" fmla="*/ 0 h 106135"/>
              <a:gd name="connsiteX1" fmla="*/ 1020536 w 1020535"/>
              <a:gd name="connsiteY1" fmla="*/ 0 h 106135"/>
              <a:gd name="connsiteX2" fmla="*/ 1020536 w 1020535"/>
              <a:gd name="connsiteY2" fmla="*/ 106136 h 106135"/>
              <a:gd name="connsiteX3" fmla="*/ 996043 w 1020535"/>
              <a:gd name="connsiteY3" fmla="*/ 106136 h 106135"/>
              <a:gd name="connsiteX4" fmla="*/ 24493 w 1020535"/>
              <a:gd name="connsiteY4" fmla="*/ 106136 h 106135"/>
              <a:gd name="connsiteX5" fmla="*/ 0 w 1020535"/>
              <a:gd name="connsiteY5" fmla="*/ 106136 h 106135"/>
              <a:gd name="connsiteX6" fmla="*/ 0 w 1020535"/>
              <a:gd name="connsiteY6" fmla="*/ 0 h 106135"/>
              <a:gd name="connsiteX7" fmla="*/ 24493 w 102053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106135">
                <a:moveTo>
                  <a:pt x="996043" y="0"/>
                </a:moveTo>
                <a:cubicBezTo>
                  <a:pt x="1009570" y="0"/>
                  <a:pt x="1020536" y="0"/>
                  <a:pt x="1020536" y="0"/>
                </a:cubicBezTo>
                <a:lnTo>
                  <a:pt x="1020536" y="106136"/>
                </a:lnTo>
                <a:cubicBezTo>
                  <a:pt x="1020536" y="106136"/>
                  <a:pt x="1009570" y="106136"/>
                  <a:pt x="996043" y="106136"/>
                </a:cubicBezTo>
                <a:lnTo>
                  <a:pt x="24493" y="106136"/>
                </a:lnTo>
                <a:cubicBezTo>
                  <a:pt x="10966" y="106136"/>
                  <a:pt x="0" y="106136"/>
                  <a:pt x="0" y="106136"/>
                </a:cubicBezTo>
                <a:lnTo>
                  <a:pt x="0" y="0"/>
                </a:lnTo>
                <a:cubicBezTo>
                  <a:pt x="0" y="0"/>
                  <a:pt x="10966" y="0"/>
                  <a:pt x="24493" y="0"/>
                </a:cubicBezTo>
                <a:close/>
              </a:path>
            </a:pathLst>
          </a:custGeom>
          <a:solidFill>
            <a:srgbClr val="D32F2F"/>
          </a:solidFill>
          <a:ln w="4082" cap="flat">
            <a:noFill/>
            <a:prstDash val="solid"/>
            <a:miter/>
          </a:ln>
        </p:spPr>
        <p:txBody>
          <a:bodyPr rtlCol="0" anchor="ctr"/>
          <a:lstStyle/>
          <a:p>
            <a:pPr algn="ctr"/>
            <a:endParaRPr lang="zh-CN" altLang="en-US" sz="1100"/>
          </a:p>
        </p:txBody>
      </p:sp>
      <p:sp>
        <p:nvSpPr>
          <p:cNvPr id="74" name="文本框 73"/>
          <p:cNvSpPr txBox="1"/>
          <p:nvPr/>
        </p:nvSpPr>
        <p:spPr>
          <a:xfrm>
            <a:off x="3562317" y="1799408"/>
            <a:ext cx="817853"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Gaussian Plume Model</a:t>
            </a:r>
          </a:p>
        </p:txBody>
      </p:sp>
      <p:sp>
        <p:nvSpPr>
          <p:cNvPr id="75" name="文本框 74"/>
          <p:cNvSpPr txBox="1"/>
          <p:nvPr/>
        </p:nvSpPr>
        <p:spPr>
          <a:xfrm>
            <a:off x="3366161" y="1917790"/>
            <a:ext cx="83869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Chlorine leak: Q = 5,000 mg/s</a:t>
            </a:r>
          </a:p>
        </p:txBody>
      </p:sp>
      <p:sp>
        <p:nvSpPr>
          <p:cNvPr id="76" name="文本框 75"/>
          <p:cNvSpPr txBox="1"/>
          <p:nvPr/>
        </p:nvSpPr>
        <p:spPr>
          <a:xfrm>
            <a:off x="3353690" y="1991269"/>
            <a:ext cx="814647"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Wind: u = 3 m/s, dir = 225°</a:t>
            </a:r>
          </a:p>
        </p:txBody>
      </p:sp>
      <p:sp>
        <p:nvSpPr>
          <p:cNvPr id="77" name="文本框 76"/>
          <p:cNvSpPr txBox="1"/>
          <p:nvPr/>
        </p:nvSpPr>
        <p:spPr>
          <a:xfrm>
            <a:off x="3363756" y="2064747"/>
            <a:ext cx="84350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Atmospheric stability: Class D</a:t>
            </a:r>
          </a:p>
        </p:txBody>
      </p:sp>
      <p:sp>
        <p:nvSpPr>
          <p:cNvPr id="78" name="文本框 77"/>
          <p:cNvSpPr txBox="1"/>
          <p:nvPr/>
        </p:nvSpPr>
        <p:spPr>
          <a:xfrm>
            <a:off x="3357204" y="2138226"/>
            <a:ext cx="885178"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C(x,y) = Q/(2πuσ_yσ_z)·exp(...)</a:t>
            </a:r>
          </a:p>
        </p:txBody>
      </p:sp>
      <p:sp>
        <p:nvSpPr>
          <p:cNvPr id="79" name="文本框 78"/>
          <p:cNvSpPr txBox="1"/>
          <p:nvPr/>
        </p:nvSpPr>
        <p:spPr>
          <a:xfrm>
            <a:off x="3416163" y="2215787"/>
            <a:ext cx="816249" cy="138499"/>
          </a:xfrm>
          <a:prstGeom prst="rect">
            <a:avLst/>
          </a:prstGeom>
          <a:noFill/>
        </p:spPr>
        <p:txBody>
          <a:bodyPr wrap="none" rtlCol="0">
            <a:spAutoFit/>
          </a:bodyPr>
          <a:lstStyle/>
          <a:p>
            <a:pPr algn="ctr"/>
            <a:r>
              <a:rPr lang="zh-CN" altLang="en-US" sz="300" i="1" spc="0" baseline="0">
                <a:solidFill>
                  <a:srgbClr val="D32F2F"/>
                </a:solidFill>
                <a:latin typeface="Times New Roman" panose="02020503050405090304"/>
                <a:cs typeface="Times New Roman" panose="02020503050405090304"/>
                <a:sym typeface="Times New Roman" panose="02020503050405090304"/>
                <a:rtl val="0"/>
              </a:rPr>
              <a:t>Concentration field → ERPG thresholds</a:t>
            </a:r>
          </a:p>
        </p:txBody>
      </p:sp>
      <p:sp>
        <p:nvSpPr>
          <p:cNvPr id="80" name="任意形状 79"/>
          <p:cNvSpPr/>
          <p:nvPr/>
        </p:nvSpPr>
        <p:spPr>
          <a:xfrm>
            <a:off x="4483553" y="2081892"/>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pPr algn="ctr"/>
            <a:endParaRPr lang="zh-CN" altLang="en-US" sz="1100"/>
          </a:p>
        </p:txBody>
      </p:sp>
      <p:sp>
        <p:nvSpPr>
          <p:cNvPr id="81" name="任意形状 80"/>
          <p:cNvSpPr/>
          <p:nvPr/>
        </p:nvSpPr>
        <p:spPr>
          <a:xfrm>
            <a:off x="4679496" y="1816553"/>
            <a:ext cx="1061357" cy="530678"/>
          </a:xfrm>
          <a:custGeom>
            <a:avLst/>
            <a:gdLst>
              <a:gd name="connsiteX0" fmla="*/ 1036864 w 1061357"/>
              <a:gd name="connsiteY0" fmla="*/ 0 h 530678"/>
              <a:gd name="connsiteX1" fmla="*/ 1061357 w 1061357"/>
              <a:gd name="connsiteY1" fmla="*/ 0 h 530678"/>
              <a:gd name="connsiteX2" fmla="*/ 1061357 w 1061357"/>
              <a:gd name="connsiteY2" fmla="*/ 530679 h 530678"/>
              <a:gd name="connsiteX3" fmla="*/ 1036864 w 1061357"/>
              <a:gd name="connsiteY3" fmla="*/ 530679 h 530678"/>
              <a:gd name="connsiteX4" fmla="*/ 24493 w 1061357"/>
              <a:gd name="connsiteY4" fmla="*/ 530679 h 530678"/>
              <a:gd name="connsiteX5" fmla="*/ 0 w 1061357"/>
              <a:gd name="connsiteY5" fmla="*/ 530679 h 530678"/>
              <a:gd name="connsiteX6" fmla="*/ 0 w 1061357"/>
              <a:gd name="connsiteY6" fmla="*/ 0 h 530678"/>
              <a:gd name="connsiteX7" fmla="*/ 24493 w 1061357"/>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357" h="530678">
                <a:moveTo>
                  <a:pt x="1036864" y="0"/>
                </a:moveTo>
                <a:cubicBezTo>
                  <a:pt x="1050391" y="0"/>
                  <a:pt x="1061357" y="0"/>
                  <a:pt x="1061357" y="0"/>
                </a:cubicBezTo>
                <a:lnTo>
                  <a:pt x="1061357" y="530679"/>
                </a:lnTo>
                <a:cubicBezTo>
                  <a:pt x="1061357" y="530679"/>
                  <a:pt x="1050391" y="530679"/>
                  <a:pt x="1036864"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E65100"/>
            </a:solidFill>
            <a:prstDash val="solid"/>
            <a:miter/>
          </a:ln>
        </p:spPr>
        <p:txBody>
          <a:bodyPr rtlCol="0" anchor="ctr"/>
          <a:lstStyle/>
          <a:p>
            <a:pPr algn="ctr"/>
            <a:endParaRPr lang="zh-CN" altLang="en-US" sz="1100"/>
          </a:p>
        </p:txBody>
      </p:sp>
      <p:sp>
        <p:nvSpPr>
          <p:cNvPr id="82" name="任意形状 81"/>
          <p:cNvSpPr/>
          <p:nvPr/>
        </p:nvSpPr>
        <p:spPr>
          <a:xfrm>
            <a:off x="4679496" y="1816553"/>
            <a:ext cx="1061357" cy="106135"/>
          </a:xfrm>
          <a:custGeom>
            <a:avLst/>
            <a:gdLst>
              <a:gd name="connsiteX0" fmla="*/ 1036864 w 1061357"/>
              <a:gd name="connsiteY0" fmla="*/ 0 h 106135"/>
              <a:gd name="connsiteX1" fmla="*/ 1061357 w 1061357"/>
              <a:gd name="connsiteY1" fmla="*/ 0 h 106135"/>
              <a:gd name="connsiteX2" fmla="*/ 1061357 w 1061357"/>
              <a:gd name="connsiteY2" fmla="*/ 106136 h 106135"/>
              <a:gd name="connsiteX3" fmla="*/ 1036864 w 1061357"/>
              <a:gd name="connsiteY3" fmla="*/ 106136 h 106135"/>
              <a:gd name="connsiteX4" fmla="*/ 24493 w 1061357"/>
              <a:gd name="connsiteY4" fmla="*/ 106136 h 106135"/>
              <a:gd name="connsiteX5" fmla="*/ 0 w 1061357"/>
              <a:gd name="connsiteY5" fmla="*/ 106136 h 106135"/>
              <a:gd name="connsiteX6" fmla="*/ 0 w 1061357"/>
              <a:gd name="connsiteY6" fmla="*/ 0 h 106135"/>
              <a:gd name="connsiteX7" fmla="*/ 24493 w 1061357"/>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357" h="106135">
                <a:moveTo>
                  <a:pt x="1036864" y="0"/>
                </a:moveTo>
                <a:cubicBezTo>
                  <a:pt x="1050391" y="0"/>
                  <a:pt x="1061357" y="0"/>
                  <a:pt x="1061357" y="0"/>
                </a:cubicBezTo>
                <a:lnTo>
                  <a:pt x="1061357" y="106136"/>
                </a:lnTo>
                <a:cubicBezTo>
                  <a:pt x="1061357" y="106136"/>
                  <a:pt x="1050391" y="106136"/>
                  <a:pt x="1036864" y="106136"/>
                </a:cubicBezTo>
                <a:lnTo>
                  <a:pt x="24493" y="106136"/>
                </a:lnTo>
                <a:cubicBezTo>
                  <a:pt x="10966" y="106136"/>
                  <a:pt x="0" y="106136"/>
                  <a:pt x="0" y="106136"/>
                </a:cubicBezTo>
                <a:lnTo>
                  <a:pt x="0" y="0"/>
                </a:lnTo>
                <a:cubicBezTo>
                  <a:pt x="0" y="0"/>
                  <a:pt x="10966" y="0"/>
                  <a:pt x="24493" y="0"/>
                </a:cubicBezTo>
                <a:close/>
              </a:path>
            </a:pathLst>
          </a:custGeom>
          <a:solidFill>
            <a:srgbClr val="E65100"/>
          </a:solidFill>
          <a:ln w="4082" cap="flat">
            <a:noFill/>
            <a:prstDash val="solid"/>
            <a:miter/>
          </a:ln>
        </p:spPr>
        <p:txBody>
          <a:bodyPr rtlCol="0" anchor="ctr"/>
          <a:lstStyle/>
          <a:p>
            <a:pPr algn="ctr"/>
            <a:endParaRPr lang="zh-CN" altLang="en-US" sz="1100"/>
          </a:p>
        </p:txBody>
      </p:sp>
      <p:sp>
        <p:nvSpPr>
          <p:cNvPr id="83" name="文本框 82"/>
          <p:cNvSpPr txBox="1"/>
          <p:nvPr/>
        </p:nvSpPr>
        <p:spPr>
          <a:xfrm>
            <a:off x="4774434" y="1799408"/>
            <a:ext cx="875560"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Hazard Zone Delineation</a:t>
            </a:r>
          </a:p>
        </p:txBody>
      </p:sp>
      <p:sp>
        <p:nvSpPr>
          <p:cNvPr id="84" name="任意形状 83"/>
          <p:cNvSpPr/>
          <p:nvPr/>
        </p:nvSpPr>
        <p:spPr>
          <a:xfrm>
            <a:off x="4757057" y="1967592"/>
            <a:ext cx="310242" cy="310242"/>
          </a:xfrm>
          <a:custGeom>
            <a:avLst/>
            <a:gdLst>
              <a:gd name="connsiteX0" fmla="*/ 310243 w 310242"/>
              <a:gd name="connsiteY0" fmla="*/ 155121 h 310242"/>
              <a:gd name="connsiteX1" fmla="*/ 155121 w 310242"/>
              <a:gd name="connsiteY1" fmla="*/ 310243 h 310242"/>
              <a:gd name="connsiteX2" fmla="*/ 0 w 310242"/>
              <a:gd name="connsiteY2" fmla="*/ 155121 h 310242"/>
              <a:gd name="connsiteX3" fmla="*/ 155121 w 310242"/>
              <a:gd name="connsiteY3" fmla="*/ 0 h 310242"/>
              <a:gd name="connsiteX4" fmla="*/ 310243 w 310242"/>
              <a:gd name="connsiteY4" fmla="*/ 155121 h 31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242" h="310242">
                <a:moveTo>
                  <a:pt x="310243" y="155121"/>
                </a:moveTo>
                <a:cubicBezTo>
                  <a:pt x="310243" y="240793"/>
                  <a:pt x="240793" y="310243"/>
                  <a:pt x="155121" y="310243"/>
                </a:cubicBezTo>
                <a:cubicBezTo>
                  <a:pt x="69450" y="310243"/>
                  <a:pt x="0" y="240793"/>
                  <a:pt x="0" y="155121"/>
                </a:cubicBezTo>
                <a:cubicBezTo>
                  <a:pt x="0" y="69450"/>
                  <a:pt x="69450" y="0"/>
                  <a:pt x="155121" y="0"/>
                </a:cubicBezTo>
                <a:cubicBezTo>
                  <a:pt x="240793" y="0"/>
                  <a:pt x="310243" y="69450"/>
                  <a:pt x="310243" y="155121"/>
                </a:cubicBezTo>
                <a:close/>
              </a:path>
            </a:pathLst>
          </a:custGeom>
          <a:solidFill>
            <a:srgbClr val="FFCDD2">
              <a:alpha val="40000"/>
            </a:srgbClr>
          </a:solidFill>
          <a:ln w="4082" cap="flat">
            <a:solidFill>
              <a:srgbClr val="E53935">
                <a:alpha val="40000"/>
              </a:srgbClr>
            </a:solidFill>
            <a:prstDash val="solid"/>
            <a:miter/>
          </a:ln>
        </p:spPr>
        <p:txBody>
          <a:bodyPr rtlCol="0" anchor="ctr"/>
          <a:lstStyle/>
          <a:p>
            <a:pPr algn="ctr"/>
            <a:endParaRPr lang="zh-CN" altLang="en-US" sz="1100"/>
          </a:p>
        </p:txBody>
      </p:sp>
      <p:sp>
        <p:nvSpPr>
          <p:cNvPr id="85" name="任意形状 84"/>
          <p:cNvSpPr/>
          <p:nvPr/>
        </p:nvSpPr>
        <p:spPr>
          <a:xfrm>
            <a:off x="4806042" y="2016578"/>
            <a:ext cx="212271" cy="212271"/>
          </a:xfrm>
          <a:custGeom>
            <a:avLst/>
            <a:gdLst>
              <a:gd name="connsiteX0" fmla="*/ 212271 w 212271"/>
              <a:gd name="connsiteY0" fmla="*/ 106136 h 212271"/>
              <a:gd name="connsiteX1" fmla="*/ 106136 w 212271"/>
              <a:gd name="connsiteY1" fmla="*/ 212271 h 212271"/>
              <a:gd name="connsiteX2" fmla="*/ 0 w 212271"/>
              <a:gd name="connsiteY2" fmla="*/ 106136 h 212271"/>
              <a:gd name="connsiteX3" fmla="*/ 106136 w 212271"/>
              <a:gd name="connsiteY3" fmla="*/ 0 h 212271"/>
              <a:gd name="connsiteX4" fmla="*/ 212271 w 212271"/>
              <a:gd name="connsiteY4" fmla="*/ 106136 h 212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271" h="212271">
                <a:moveTo>
                  <a:pt x="212271" y="106136"/>
                </a:moveTo>
                <a:cubicBezTo>
                  <a:pt x="212271" y="164753"/>
                  <a:pt x="164753" y="212271"/>
                  <a:pt x="106136" y="212271"/>
                </a:cubicBezTo>
                <a:cubicBezTo>
                  <a:pt x="47519" y="212271"/>
                  <a:pt x="0" y="164753"/>
                  <a:pt x="0" y="106136"/>
                </a:cubicBezTo>
                <a:cubicBezTo>
                  <a:pt x="0" y="47519"/>
                  <a:pt x="47519" y="0"/>
                  <a:pt x="106136" y="0"/>
                </a:cubicBezTo>
                <a:cubicBezTo>
                  <a:pt x="164753" y="0"/>
                  <a:pt x="212271" y="47519"/>
                  <a:pt x="212271" y="106136"/>
                </a:cubicBezTo>
                <a:close/>
              </a:path>
            </a:pathLst>
          </a:custGeom>
          <a:solidFill>
            <a:srgbClr val="EF9A9A">
              <a:alpha val="50000"/>
            </a:srgbClr>
          </a:solidFill>
          <a:ln w="4082" cap="flat">
            <a:solidFill>
              <a:srgbClr val="E53935">
                <a:alpha val="50000"/>
              </a:srgbClr>
            </a:solidFill>
            <a:prstDash val="solid"/>
            <a:miter/>
          </a:ln>
        </p:spPr>
        <p:txBody>
          <a:bodyPr rtlCol="0" anchor="ctr"/>
          <a:lstStyle/>
          <a:p>
            <a:pPr algn="ctr"/>
            <a:endParaRPr lang="zh-CN" altLang="en-US" sz="1100"/>
          </a:p>
        </p:txBody>
      </p:sp>
      <p:sp>
        <p:nvSpPr>
          <p:cNvPr id="86" name="任意形状 85"/>
          <p:cNvSpPr/>
          <p:nvPr/>
        </p:nvSpPr>
        <p:spPr>
          <a:xfrm>
            <a:off x="4855028" y="2065564"/>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rgbClr val="E53935">
              <a:alpha val="60000"/>
            </a:srgbClr>
          </a:solidFill>
          <a:ln w="4082" cap="flat">
            <a:solidFill>
              <a:srgbClr val="C62828">
                <a:alpha val="60000"/>
              </a:srgbClr>
            </a:solidFill>
            <a:prstDash val="solid"/>
            <a:miter/>
          </a:ln>
        </p:spPr>
        <p:txBody>
          <a:bodyPr rtlCol="0" anchor="ctr"/>
          <a:lstStyle/>
          <a:p>
            <a:pPr algn="ctr"/>
            <a:endParaRPr lang="zh-CN" altLang="en-US" sz="1100"/>
          </a:p>
        </p:txBody>
      </p:sp>
      <p:sp>
        <p:nvSpPr>
          <p:cNvPr id="87" name="文本框 86"/>
          <p:cNvSpPr txBox="1"/>
          <p:nvPr/>
        </p:nvSpPr>
        <p:spPr>
          <a:xfrm>
            <a:off x="4807821" y="2068830"/>
            <a:ext cx="208711" cy="107722"/>
          </a:xfrm>
          <a:prstGeom prst="rect">
            <a:avLst/>
          </a:prstGeom>
          <a:noFill/>
        </p:spPr>
        <p:txBody>
          <a:bodyPr wrap="none" rtlCol="0">
            <a:spAutoFit/>
          </a:bodyPr>
          <a:lstStyle/>
          <a:p>
            <a:pPr algn="ctr"/>
            <a:r>
              <a:rPr lang="zh-CN" altLang="en-US" sz="100" b="1" spc="0" baseline="0">
                <a:solidFill>
                  <a:srgbClr val="FFFFFF"/>
                </a:solidFill>
                <a:latin typeface="Times New Roman" panose="02020503050405090304"/>
                <a:cs typeface="Times New Roman" panose="02020503050405090304"/>
                <a:sym typeface="Times New Roman" panose="02020503050405090304"/>
                <a:rtl val="0"/>
              </a:rPr>
              <a:t>1km</a:t>
            </a:r>
          </a:p>
        </p:txBody>
      </p:sp>
      <p:sp>
        <p:nvSpPr>
          <p:cNvPr id="88" name="文本框 87"/>
          <p:cNvSpPr txBox="1"/>
          <p:nvPr/>
        </p:nvSpPr>
        <p:spPr>
          <a:xfrm>
            <a:off x="4992716" y="1917790"/>
            <a:ext cx="688009"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500 m road closure zone</a:t>
            </a:r>
          </a:p>
        </p:txBody>
      </p:sp>
      <p:sp>
        <p:nvSpPr>
          <p:cNvPr id="89" name="文本框 88"/>
          <p:cNvSpPr txBox="1"/>
          <p:nvPr/>
        </p:nvSpPr>
        <p:spPr>
          <a:xfrm>
            <a:off x="4971329" y="1983105"/>
            <a:ext cx="889987"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1 km core closure (96.7 km roads)</a:t>
            </a:r>
          </a:p>
        </p:txBody>
      </p:sp>
      <p:sp>
        <p:nvSpPr>
          <p:cNvPr id="90" name="文本框 89"/>
          <p:cNvSpPr txBox="1"/>
          <p:nvPr/>
        </p:nvSpPr>
        <p:spPr>
          <a:xfrm>
            <a:off x="4983331" y="2048419"/>
            <a:ext cx="776174"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3 km congestion zone (BPR)</a:t>
            </a:r>
          </a:p>
        </p:txBody>
      </p:sp>
      <p:sp>
        <p:nvSpPr>
          <p:cNvPr id="91" name="文本框 90"/>
          <p:cNvSpPr txBox="1"/>
          <p:nvPr/>
        </p:nvSpPr>
        <p:spPr>
          <a:xfrm>
            <a:off x="5006537" y="2113733"/>
            <a:ext cx="55015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5 km impact zone</a:t>
            </a:r>
          </a:p>
        </p:txBody>
      </p:sp>
      <p:sp>
        <p:nvSpPr>
          <p:cNvPr id="92" name="文本框 91"/>
          <p:cNvSpPr txBox="1"/>
          <p:nvPr/>
        </p:nvSpPr>
        <p:spPr>
          <a:xfrm>
            <a:off x="5033080" y="2215787"/>
            <a:ext cx="595035" cy="138499"/>
          </a:xfrm>
          <a:prstGeom prst="rect">
            <a:avLst/>
          </a:prstGeom>
          <a:noFill/>
        </p:spPr>
        <p:txBody>
          <a:bodyPr wrap="none" rtlCol="0">
            <a:spAutoFit/>
          </a:bodyPr>
          <a:lstStyle/>
          <a:p>
            <a:pPr algn="ctr"/>
            <a:r>
              <a:rPr lang="zh-CN" altLang="en-US" sz="300" i="1" spc="0" baseline="0">
                <a:solidFill>
                  <a:srgbClr val="E65100"/>
                </a:solidFill>
                <a:latin typeface="Times New Roman" panose="02020503050405090304"/>
                <a:cs typeface="Times New Roman" panose="02020503050405090304"/>
                <a:sym typeface="Times New Roman" panose="02020503050405090304"/>
                <a:rtl val="0"/>
              </a:rPr>
              <a:t>ERPG-1/2/3 classification</a:t>
            </a:r>
          </a:p>
        </p:txBody>
      </p:sp>
      <p:sp>
        <p:nvSpPr>
          <p:cNvPr id="93" name="任意形状 92"/>
          <p:cNvSpPr/>
          <p:nvPr/>
        </p:nvSpPr>
        <p:spPr>
          <a:xfrm>
            <a:off x="5740853" y="2081892"/>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pPr algn="ctr"/>
            <a:endParaRPr lang="zh-CN" altLang="en-US" sz="1100"/>
          </a:p>
        </p:txBody>
      </p:sp>
      <p:sp>
        <p:nvSpPr>
          <p:cNvPr id="94" name="任意形状 93"/>
          <p:cNvSpPr/>
          <p:nvPr/>
        </p:nvSpPr>
        <p:spPr>
          <a:xfrm>
            <a:off x="5936796" y="1816553"/>
            <a:ext cx="1020535" cy="530678"/>
          </a:xfrm>
          <a:custGeom>
            <a:avLst/>
            <a:gdLst>
              <a:gd name="connsiteX0" fmla="*/ 996043 w 1020535"/>
              <a:gd name="connsiteY0" fmla="*/ 0 h 530678"/>
              <a:gd name="connsiteX1" fmla="*/ 1020536 w 1020535"/>
              <a:gd name="connsiteY1" fmla="*/ 0 h 530678"/>
              <a:gd name="connsiteX2" fmla="*/ 1020536 w 1020535"/>
              <a:gd name="connsiteY2" fmla="*/ 530679 h 530678"/>
              <a:gd name="connsiteX3" fmla="*/ 996043 w 1020535"/>
              <a:gd name="connsiteY3" fmla="*/ 530679 h 530678"/>
              <a:gd name="connsiteX4" fmla="*/ 24493 w 1020535"/>
              <a:gd name="connsiteY4" fmla="*/ 530679 h 530678"/>
              <a:gd name="connsiteX5" fmla="*/ 0 w 1020535"/>
              <a:gd name="connsiteY5" fmla="*/ 530679 h 530678"/>
              <a:gd name="connsiteX6" fmla="*/ 0 w 1020535"/>
              <a:gd name="connsiteY6" fmla="*/ 0 h 530678"/>
              <a:gd name="connsiteX7" fmla="*/ 24493 w 1020535"/>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530678">
                <a:moveTo>
                  <a:pt x="996043" y="0"/>
                </a:moveTo>
                <a:cubicBezTo>
                  <a:pt x="1009570" y="0"/>
                  <a:pt x="1020536" y="0"/>
                  <a:pt x="1020536" y="0"/>
                </a:cubicBezTo>
                <a:lnTo>
                  <a:pt x="1020536" y="530679"/>
                </a:lnTo>
                <a:cubicBezTo>
                  <a:pt x="1020536" y="530679"/>
                  <a:pt x="1009570" y="530679"/>
                  <a:pt x="996043"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1565C0"/>
            </a:solidFill>
            <a:prstDash val="solid"/>
            <a:miter/>
          </a:ln>
        </p:spPr>
        <p:txBody>
          <a:bodyPr rtlCol="0" anchor="ctr"/>
          <a:lstStyle/>
          <a:p>
            <a:pPr algn="ctr"/>
            <a:endParaRPr lang="zh-CN" altLang="en-US" sz="1100"/>
          </a:p>
        </p:txBody>
      </p:sp>
      <p:sp>
        <p:nvSpPr>
          <p:cNvPr id="95" name="任意形状 94"/>
          <p:cNvSpPr/>
          <p:nvPr/>
        </p:nvSpPr>
        <p:spPr>
          <a:xfrm>
            <a:off x="5936796" y="1816553"/>
            <a:ext cx="1020535" cy="106135"/>
          </a:xfrm>
          <a:custGeom>
            <a:avLst/>
            <a:gdLst>
              <a:gd name="connsiteX0" fmla="*/ 996043 w 1020535"/>
              <a:gd name="connsiteY0" fmla="*/ 0 h 106135"/>
              <a:gd name="connsiteX1" fmla="*/ 1020536 w 1020535"/>
              <a:gd name="connsiteY1" fmla="*/ 0 h 106135"/>
              <a:gd name="connsiteX2" fmla="*/ 1020536 w 1020535"/>
              <a:gd name="connsiteY2" fmla="*/ 106136 h 106135"/>
              <a:gd name="connsiteX3" fmla="*/ 996043 w 1020535"/>
              <a:gd name="connsiteY3" fmla="*/ 106136 h 106135"/>
              <a:gd name="connsiteX4" fmla="*/ 24493 w 1020535"/>
              <a:gd name="connsiteY4" fmla="*/ 106136 h 106135"/>
              <a:gd name="connsiteX5" fmla="*/ 0 w 1020535"/>
              <a:gd name="connsiteY5" fmla="*/ 106136 h 106135"/>
              <a:gd name="connsiteX6" fmla="*/ 0 w 1020535"/>
              <a:gd name="connsiteY6" fmla="*/ 0 h 106135"/>
              <a:gd name="connsiteX7" fmla="*/ 24493 w 102053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106135">
                <a:moveTo>
                  <a:pt x="996043" y="0"/>
                </a:moveTo>
                <a:cubicBezTo>
                  <a:pt x="1009570" y="0"/>
                  <a:pt x="1020536" y="0"/>
                  <a:pt x="1020536" y="0"/>
                </a:cubicBezTo>
                <a:lnTo>
                  <a:pt x="1020536" y="106136"/>
                </a:lnTo>
                <a:cubicBezTo>
                  <a:pt x="1020536" y="106136"/>
                  <a:pt x="1009570" y="106136"/>
                  <a:pt x="996043" y="106136"/>
                </a:cubicBezTo>
                <a:lnTo>
                  <a:pt x="24493" y="106136"/>
                </a:lnTo>
                <a:cubicBezTo>
                  <a:pt x="10966" y="106136"/>
                  <a:pt x="0" y="106136"/>
                  <a:pt x="0" y="106136"/>
                </a:cubicBezTo>
                <a:lnTo>
                  <a:pt x="0" y="0"/>
                </a:lnTo>
                <a:cubicBezTo>
                  <a:pt x="0" y="0"/>
                  <a:pt x="10966" y="0"/>
                  <a:pt x="24493" y="0"/>
                </a:cubicBezTo>
                <a:close/>
              </a:path>
            </a:pathLst>
          </a:custGeom>
          <a:solidFill>
            <a:srgbClr val="1565C0"/>
          </a:solidFill>
          <a:ln w="4082" cap="flat">
            <a:noFill/>
            <a:prstDash val="solid"/>
            <a:miter/>
          </a:ln>
        </p:spPr>
        <p:txBody>
          <a:bodyPr rtlCol="0" anchor="ctr"/>
          <a:lstStyle/>
          <a:p>
            <a:pPr algn="ctr"/>
            <a:endParaRPr lang="zh-CN" altLang="en-US" sz="1100"/>
          </a:p>
        </p:txBody>
      </p:sp>
      <p:sp>
        <p:nvSpPr>
          <p:cNvPr id="96" name="文本框 95"/>
          <p:cNvSpPr txBox="1"/>
          <p:nvPr/>
        </p:nvSpPr>
        <p:spPr>
          <a:xfrm>
            <a:off x="6091037" y="1799408"/>
            <a:ext cx="712053"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Impact Assessment</a:t>
            </a:r>
          </a:p>
        </p:txBody>
      </p:sp>
      <p:sp>
        <p:nvSpPr>
          <p:cNvPr id="97" name="文本框 96"/>
          <p:cNvSpPr txBox="1"/>
          <p:nvPr/>
        </p:nvSpPr>
        <p:spPr>
          <a:xfrm>
            <a:off x="5849025" y="1917790"/>
            <a:ext cx="718466"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Affected pop.: ~234,502</a:t>
            </a:r>
          </a:p>
        </p:txBody>
      </p:sp>
      <p:sp>
        <p:nvSpPr>
          <p:cNvPr id="98" name="文本框 97"/>
          <p:cNvSpPr txBox="1"/>
          <p:nvPr/>
        </p:nvSpPr>
        <p:spPr>
          <a:xfrm>
            <a:off x="5849976" y="1991269"/>
            <a:ext cx="732893"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Road closure rate: 19.1%</a:t>
            </a:r>
          </a:p>
        </p:txBody>
      </p:sp>
      <p:sp>
        <p:nvSpPr>
          <p:cNvPr id="99" name="文本框 98"/>
          <p:cNvSpPr txBox="1"/>
          <p:nvPr/>
        </p:nvSpPr>
        <p:spPr>
          <a:xfrm>
            <a:off x="5848009" y="2064747"/>
            <a:ext cx="740907"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Affected facility statistics</a:t>
            </a:r>
          </a:p>
        </p:txBody>
      </p:sp>
      <p:sp>
        <p:nvSpPr>
          <p:cNvPr id="100" name="文本框 99"/>
          <p:cNvSpPr txBox="1"/>
          <p:nvPr/>
        </p:nvSpPr>
        <p:spPr>
          <a:xfrm>
            <a:off x="5850628" y="2138226"/>
            <a:ext cx="715260"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Wind sensitivity (4 dirs)</a:t>
            </a:r>
          </a:p>
        </p:txBody>
      </p:sp>
      <p:sp>
        <p:nvSpPr>
          <p:cNvPr id="101" name="文本框 100"/>
          <p:cNvSpPr txBox="1"/>
          <p:nvPr/>
        </p:nvSpPr>
        <p:spPr>
          <a:xfrm>
            <a:off x="5889696" y="2215787"/>
            <a:ext cx="702436" cy="138499"/>
          </a:xfrm>
          <a:prstGeom prst="rect">
            <a:avLst/>
          </a:prstGeom>
          <a:noFill/>
        </p:spPr>
        <p:txBody>
          <a:bodyPr wrap="none" rtlCol="0">
            <a:spAutoFit/>
          </a:bodyPr>
          <a:lstStyle/>
          <a:p>
            <a:pPr algn="ctr"/>
            <a:r>
              <a:rPr lang="zh-CN" altLang="en-US" sz="300" i="1" spc="0" baseline="0">
                <a:solidFill>
                  <a:srgbClr val="1565C0"/>
                </a:solidFill>
                <a:latin typeface="Times New Roman" panose="02020503050405090304"/>
                <a:cs typeface="Times New Roman" panose="02020503050405090304"/>
                <a:sym typeface="Times New Roman" panose="02020503050405090304"/>
                <a:rtl val="0"/>
              </a:rPr>
              <a:t>Time-varying, by population type</a:t>
            </a:r>
          </a:p>
        </p:txBody>
      </p:sp>
      <p:sp>
        <p:nvSpPr>
          <p:cNvPr id="102" name="任意形状 101"/>
          <p:cNvSpPr/>
          <p:nvPr/>
        </p:nvSpPr>
        <p:spPr>
          <a:xfrm>
            <a:off x="7075714" y="1816553"/>
            <a:ext cx="816428" cy="530678"/>
          </a:xfrm>
          <a:custGeom>
            <a:avLst/>
            <a:gdLst>
              <a:gd name="connsiteX0" fmla="*/ 791936 w 816428"/>
              <a:gd name="connsiteY0" fmla="*/ 0 h 530678"/>
              <a:gd name="connsiteX1" fmla="*/ 816429 w 816428"/>
              <a:gd name="connsiteY1" fmla="*/ 0 h 530678"/>
              <a:gd name="connsiteX2" fmla="*/ 816429 w 816428"/>
              <a:gd name="connsiteY2" fmla="*/ 530679 h 530678"/>
              <a:gd name="connsiteX3" fmla="*/ 791936 w 816428"/>
              <a:gd name="connsiteY3" fmla="*/ 530679 h 530678"/>
              <a:gd name="connsiteX4" fmla="*/ 24493 w 816428"/>
              <a:gd name="connsiteY4" fmla="*/ 530679 h 530678"/>
              <a:gd name="connsiteX5" fmla="*/ 0 w 816428"/>
              <a:gd name="connsiteY5" fmla="*/ 530679 h 530678"/>
              <a:gd name="connsiteX6" fmla="*/ 0 w 816428"/>
              <a:gd name="connsiteY6" fmla="*/ 0 h 530678"/>
              <a:gd name="connsiteX7" fmla="*/ 24493 w 816428"/>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428" h="530678">
                <a:moveTo>
                  <a:pt x="791936" y="0"/>
                </a:moveTo>
                <a:cubicBezTo>
                  <a:pt x="805463" y="0"/>
                  <a:pt x="816429" y="0"/>
                  <a:pt x="816429" y="0"/>
                </a:cubicBezTo>
                <a:lnTo>
                  <a:pt x="816429" y="530679"/>
                </a:lnTo>
                <a:cubicBezTo>
                  <a:pt x="816429" y="530679"/>
                  <a:pt x="805463" y="530679"/>
                  <a:pt x="791936"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795548"/>
            </a:solidFill>
            <a:prstDash val="solid"/>
            <a:miter/>
          </a:ln>
        </p:spPr>
        <p:txBody>
          <a:bodyPr rtlCol="0" anchor="ctr"/>
          <a:lstStyle/>
          <a:p>
            <a:pPr algn="ctr"/>
            <a:endParaRPr lang="zh-CN" altLang="en-US" sz="1100"/>
          </a:p>
        </p:txBody>
      </p:sp>
      <p:sp>
        <p:nvSpPr>
          <p:cNvPr id="103" name="任意形状 102"/>
          <p:cNvSpPr/>
          <p:nvPr/>
        </p:nvSpPr>
        <p:spPr>
          <a:xfrm>
            <a:off x="7075714" y="1816553"/>
            <a:ext cx="816428" cy="106135"/>
          </a:xfrm>
          <a:custGeom>
            <a:avLst/>
            <a:gdLst>
              <a:gd name="connsiteX0" fmla="*/ 791936 w 816428"/>
              <a:gd name="connsiteY0" fmla="*/ 0 h 106135"/>
              <a:gd name="connsiteX1" fmla="*/ 816429 w 816428"/>
              <a:gd name="connsiteY1" fmla="*/ 0 h 106135"/>
              <a:gd name="connsiteX2" fmla="*/ 816429 w 816428"/>
              <a:gd name="connsiteY2" fmla="*/ 106136 h 106135"/>
              <a:gd name="connsiteX3" fmla="*/ 791936 w 816428"/>
              <a:gd name="connsiteY3" fmla="*/ 106136 h 106135"/>
              <a:gd name="connsiteX4" fmla="*/ 24493 w 816428"/>
              <a:gd name="connsiteY4" fmla="*/ 106136 h 106135"/>
              <a:gd name="connsiteX5" fmla="*/ 0 w 816428"/>
              <a:gd name="connsiteY5" fmla="*/ 106136 h 106135"/>
              <a:gd name="connsiteX6" fmla="*/ 0 w 816428"/>
              <a:gd name="connsiteY6" fmla="*/ 0 h 106135"/>
              <a:gd name="connsiteX7" fmla="*/ 24493 w 816428"/>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428" h="106135">
                <a:moveTo>
                  <a:pt x="791936" y="0"/>
                </a:moveTo>
                <a:cubicBezTo>
                  <a:pt x="805463" y="0"/>
                  <a:pt x="816429" y="0"/>
                  <a:pt x="816429" y="0"/>
                </a:cubicBezTo>
                <a:lnTo>
                  <a:pt x="816429" y="106136"/>
                </a:lnTo>
                <a:cubicBezTo>
                  <a:pt x="816429" y="106136"/>
                  <a:pt x="805463" y="106136"/>
                  <a:pt x="791936" y="106136"/>
                </a:cubicBezTo>
                <a:lnTo>
                  <a:pt x="24493" y="106136"/>
                </a:lnTo>
                <a:cubicBezTo>
                  <a:pt x="10966" y="106136"/>
                  <a:pt x="0" y="106136"/>
                  <a:pt x="0" y="106136"/>
                </a:cubicBezTo>
                <a:lnTo>
                  <a:pt x="0" y="0"/>
                </a:lnTo>
                <a:cubicBezTo>
                  <a:pt x="0" y="0"/>
                  <a:pt x="10966" y="0"/>
                  <a:pt x="24493" y="0"/>
                </a:cubicBezTo>
                <a:close/>
              </a:path>
            </a:pathLst>
          </a:custGeom>
          <a:solidFill>
            <a:srgbClr val="795548"/>
          </a:solidFill>
          <a:ln w="4082" cap="flat">
            <a:noFill/>
            <a:prstDash val="solid"/>
            <a:miter/>
          </a:ln>
        </p:spPr>
        <p:txBody>
          <a:bodyPr rtlCol="0" anchor="ctr"/>
          <a:lstStyle/>
          <a:p>
            <a:pPr algn="ctr"/>
            <a:endParaRPr lang="zh-CN" altLang="en-US" sz="1100"/>
          </a:p>
        </p:txBody>
      </p:sp>
      <p:sp>
        <p:nvSpPr>
          <p:cNvPr id="104" name="文本框 103"/>
          <p:cNvSpPr txBox="1"/>
          <p:nvPr/>
        </p:nvSpPr>
        <p:spPr>
          <a:xfrm>
            <a:off x="7165572" y="1799408"/>
            <a:ext cx="636713" cy="169277"/>
          </a:xfrm>
          <a:prstGeom prst="rect">
            <a:avLst/>
          </a:prstGeom>
          <a:noFill/>
        </p:spPr>
        <p:txBody>
          <a:bodyPr wrap="none" rtlCol="0">
            <a:spAutoFit/>
          </a:bodyPr>
          <a:lstStyle/>
          <a:p>
            <a:pPr algn="ctr"/>
            <a:r>
              <a:rPr lang="zh-CN" altLang="en-US" sz="500" b="1" spc="0" baseline="0">
                <a:solidFill>
                  <a:srgbClr val="FFFFFF"/>
                </a:solidFill>
                <a:latin typeface="Times New Roman" panose="02020503050405090304"/>
                <a:cs typeface="Times New Roman" panose="02020503050405090304"/>
                <a:sym typeface="Times New Roman" panose="02020503050405090304"/>
                <a:rtl val="0"/>
              </a:rPr>
              <a:t>Wind Sensitivity</a:t>
            </a:r>
          </a:p>
        </p:txBody>
      </p:sp>
      <p:sp>
        <p:nvSpPr>
          <p:cNvPr id="105" name="文本框 104"/>
          <p:cNvSpPr txBox="1"/>
          <p:nvPr/>
        </p:nvSpPr>
        <p:spPr>
          <a:xfrm>
            <a:off x="6984427" y="1925955"/>
            <a:ext cx="647934"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SW 225° (baseline)</a:t>
            </a:r>
          </a:p>
        </p:txBody>
      </p:sp>
      <p:sp>
        <p:nvSpPr>
          <p:cNvPr id="106" name="文本框 105"/>
          <p:cNvSpPr txBox="1"/>
          <p:nvPr/>
        </p:nvSpPr>
        <p:spPr>
          <a:xfrm>
            <a:off x="6984548" y="1999433"/>
            <a:ext cx="529312"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N 0° / E 90°</a:t>
            </a:r>
          </a:p>
        </p:txBody>
      </p:sp>
      <p:sp>
        <p:nvSpPr>
          <p:cNvPr id="107" name="文本框 106"/>
          <p:cNvSpPr txBox="1"/>
          <p:nvPr/>
        </p:nvSpPr>
        <p:spPr>
          <a:xfrm>
            <a:off x="6975846" y="2072912"/>
            <a:ext cx="734495"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SW 225° strong (8 m/s)</a:t>
            </a:r>
          </a:p>
        </p:txBody>
      </p:sp>
      <p:sp>
        <p:nvSpPr>
          <p:cNvPr id="108" name="文本框 107"/>
          <p:cNvSpPr txBox="1"/>
          <p:nvPr/>
        </p:nvSpPr>
        <p:spPr>
          <a:xfrm>
            <a:off x="6991875" y="2162719"/>
            <a:ext cx="702435" cy="153888"/>
          </a:xfrm>
          <a:prstGeom prst="rect">
            <a:avLst/>
          </a:prstGeom>
          <a:noFill/>
        </p:spPr>
        <p:txBody>
          <a:bodyPr wrap="none" rtlCol="0">
            <a:spAutoFit/>
          </a:bodyPr>
          <a:lstStyle/>
          <a:p>
            <a:pPr algn="ctr"/>
            <a:r>
              <a:rPr lang="zh-CN" altLang="en-US" sz="400" spc="0" baseline="0">
                <a:solidFill>
                  <a:srgbClr val="795548"/>
                </a:solidFill>
                <a:latin typeface="Times New Roman" panose="02020503050405090304"/>
                <a:cs typeface="Times New Roman" panose="02020503050405090304"/>
                <a:sym typeface="Times New Roman" panose="02020503050405090304"/>
                <a:rtl val="0"/>
              </a:rPr>
              <a:t>→ Directional sensitivity</a:t>
            </a:r>
          </a:p>
        </p:txBody>
      </p:sp>
      <p:sp>
        <p:nvSpPr>
          <p:cNvPr id="109" name="文本框 108"/>
          <p:cNvSpPr txBox="1"/>
          <p:nvPr/>
        </p:nvSpPr>
        <p:spPr>
          <a:xfrm>
            <a:off x="6991951" y="2223951"/>
            <a:ext cx="710451" cy="153888"/>
          </a:xfrm>
          <a:prstGeom prst="rect">
            <a:avLst/>
          </a:prstGeom>
          <a:noFill/>
        </p:spPr>
        <p:txBody>
          <a:bodyPr wrap="none" rtlCol="0">
            <a:spAutoFit/>
          </a:bodyPr>
          <a:lstStyle/>
          <a:p>
            <a:pPr algn="ctr"/>
            <a:r>
              <a:rPr lang="zh-CN" altLang="en-US" sz="400" spc="0" baseline="0">
                <a:solidFill>
                  <a:srgbClr val="795548"/>
                </a:solidFill>
                <a:latin typeface="Times New Roman" panose="02020503050405090304"/>
                <a:cs typeface="Times New Roman" panose="02020503050405090304"/>
                <a:sym typeface="Times New Roman" panose="02020503050405090304"/>
                <a:rtl val="0"/>
              </a:rPr>
              <a:t>→ Real-time met. needed</a:t>
            </a:r>
          </a:p>
        </p:txBody>
      </p:sp>
      <p:sp>
        <p:nvSpPr>
          <p:cNvPr id="110" name="任意形状 109"/>
          <p:cNvSpPr/>
          <p:nvPr/>
        </p:nvSpPr>
        <p:spPr>
          <a:xfrm>
            <a:off x="5075464" y="2563585"/>
            <a:ext cx="4082" cy="171450"/>
          </a:xfrm>
          <a:custGeom>
            <a:avLst/>
            <a:gdLst>
              <a:gd name="connsiteX0" fmla="*/ 0 w 4082"/>
              <a:gd name="connsiteY0" fmla="*/ 0 h 171450"/>
              <a:gd name="connsiteX1" fmla="*/ 0 w 4082"/>
              <a:gd name="connsiteY1" fmla="*/ 171450 h 171450"/>
            </a:gdLst>
            <a:ahLst/>
            <a:cxnLst>
              <a:cxn ang="0">
                <a:pos x="connsiteX0" y="connsiteY0"/>
              </a:cxn>
              <a:cxn ang="0">
                <a:pos x="connsiteX1" y="connsiteY1"/>
              </a:cxn>
            </a:cxnLst>
            <a:rect l="l" t="t" r="r" b="b"/>
            <a:pathLst>
              <a:path w="4082" h="171450">
                <a:moveTo>
                  <a:pt x="0" y="0"/>
                </a:moveTo>
                <a:lnTo>
                  <a:pt x="0" y="171450"/>
                </a:lnTo>
              </a:path>
            </a:pathLst>
          </a:custGeom>
          <a:ln w="8164" cap="flat">
            <a:solidFill>
              <a:srgbClr val="C62828"/>
            </a:solidFill>
            <a:prstDash val="solid"/>
            <a:miter/>
          </a:ln>
        </p:spPr>
        <p:txBody>
          <a:bodyPr rtlCol="0" anchor="ctr"/>
          <a:lstStyle/>
          <a:p>
            <a:pPr algn="ctr"/>
            <a:endParaRPr lang="zh-CN" altLang="en-US" sz="1100"/>
          </a:p>
        </p:txBody>
      </p:sp>
      <p:sp>
        <p:nvSpPr>
          <p:cNvPr id="111" name="任意形状 110"/>
          <p:cNvSpPr/>
          <p:nvPr/>
        </p:nvSpPr>
        <p:spPr>
          <a:xfrm>
            <a:off x="7116535" y="2563585"/>
            <a:ext cx="4082" cy="171450"/>
          </a:xfrm>
          <a:custGeom>
            <a:avLst/>
            <a:gdLst>
              <a:gd name="connsiteX0" fmla="*/ 0 w 4082"/>
              <a:gd name="connsiteY0" fmla="*/ 0 h 171450"/>
              <a:gd name="connsiteX1" fmla="*/ 0 w 4082"/>
              <a:gd name="connsiteY1" fmla="*/ 171450 h 171450"/>
            </a:gdLst>
            <a:ahLst/>
            <a:cxnLst>
              <a:cxn ang="0">
                <a:pos x="connsiteX0" y="connsiteY0"/>
              </a:cxn>
              <a:cxn ang="0">
                <a:pos x="connsiteX1" y="connsiteY1"/>
              </a:cxn>
            </a:cxnLst>
            <a:rect l="l" t="t" r="r" b="b"/>
            <a:pathLst>
              <a:path w="4082" h="171450">
                <a:moveTo>
                  <a:pt x="0" y="0"/>
                </a:moveTo>
                <a:lnTo>
                  <a:pt x="0" y="171450"/>
                </a:lnTo>
              </a:path>
            </a:pathLst>
          </a:custGeom>
          <a:ln w="8164" cap="flat">
            <a:solidFill>
              <a:srgbClr val="1565C0"/>
            </a:solidFill>
            <a:prstDash val="solid"/>
            <a:miter/>
          </a:ln>
        </p:spPr>
        <p:txBody>
          <a:bodyPr rtlCol="0" anchor="ctr"/>
          <a:lstStyle/>
          <a:p>
            <a:pPr algn="ctr"/>
            <a:endParaRPr lang="zh-CN" altLang="en-US" sz="1100"/>
          </a:p>
        </p:txBody>
      </p:sp>
      <p:sp>
        <p:nvSpPr>
          <p:cNvPr id="112" name="任意形状 111"/>
          <p:cNvSpPr/>
          <p:nvPr/>
        </p:nvSpPr>
        <p:spPr>
          <a:xfrm>
            <a:off x="5544910" y="2604407"/>
            <a:ext cx="1102178" cy="122464"/>
          </a:xfrm>
          <a:custGeom>
            <a:avLst/>
            <a:gdLst>
              <a:gd name="connsiteX0" fmla="*/ 1040946 w 1102178"/>
              <a:gd name="connsiteY0" fmla="*/ 0 h 122464"/>
              <a:gd name="connsiteX1" fmla="*/ 1102179 w 1102178"/>
              <a:gd name="connsiteY1" fmla="*/ 0 h 122464"/>
              <a:gd name="connsiteX2" fmla="*/ 1102179 w 1102178"/>
              <a:gd name="connsiteY2" fmla="*/ 122464 h 122464"/>
              <a:gd name="connsiteX3" fmla="*/ 1040946 w 1102178"/>
              <a:gd name="connsiteY3" fmla="*/ 122464 h 122464"/>
              <a:gd name="connsiteX4" fmla="*/ 61232 w 1102178"/>
              <a:gd name="connsiteY4" fmla="*/ 122464 h 122464"/>
              <a:gd name="connsiteX5" fmla="*/ 0 w 1102178"/>
              <a:gd name="connsiteY5" fmla="*/ 122464 h 122464"/>
              <a:gd name="connsiteX6" fmla="*/ 0 w 1102178"/>
              <a:gd name="connsiteY6" fmla="*/ 0 h 122464"/>
              <a:gd name="connsiteX7" fmla="*/ 61232 w 1102178"/>
              <a:gd name="connsiteY7" fmla="*/ 0 h 12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2178" h="122464">
                <a:moveTo>
                  <a:pt x="1040946" y="0"/>
                </a:moveTo>
                <a:cubicBezTo>
                  <a:pt x="1074764" y="0"/>
                  <a:pt x="1102179" y="0"/>
                  <a:pt x="1102179" y="0"/>
                </a:cubicBezTo>
                <a:lnTo>
                  <a:pt x="1102179" y="122464"/>
                </a:lnTo>
                <a:cubicBezTo>
                  <a:pt x="1102179" y="122464"/>
                  <a:pt x="1074764" y="122464"/>
                  <a:pt x="1040946" y="122464"/>
                </a:cubicBezTo>
                <a:lnTo>
                  <a:pt x="61232" y="122464"/>
                </a:lnTo>
                <a:cubicBezTo>
                  <a:pt x="27414" y="122464"/>
                  <a:pt x="0" y="122464"/>
                  <a:pt x="0" y="122464"/>
                </a:cubicBezTo>
                <a:lnTo>
                  <a:pt x="0" y="0"/>
                </a:lnTo>
                <a:cubicBezTo>
                  <a:pt x="0" y="0"/>
                  <a:pt x="27414" y="0"/>
                  <a:pt x="61232" y="0"/>
                </a:cubicBezTo>
                <a:close/>
              </a:path>
            </a:pathLst>
          </a:custGeom>
          <a:solidFill>
            <a:srgbClr val="FFF9C4"/>
          </a:solidFill>
          <a:ln w="4899" cap="flat">
            <a:solidFill>
              <a:srgbClr val="F9A825"/>
            </a:solidFill>
            <a:prstDash val="solid"/>
            <a:miter/>
          </a:ln>
        </p:spPr>
        <p:txBody>
          <a:bodyPr rtlCol="0" anchor="ctr"/>
          <a:lstStyle/>
          <a:p>
            <a:pPr algn="ctr"/>
            <a:endParaRPr lang="zh-CN" altLang="en-US" sz="1100"/>
          </a:p>
        </p:txBody>
      </p:sp>
      <p:sp>
        <p:nvSpPr>
          <p:cNvPr id="113" name="文本框 112"/>
          <p:cNvSpPr txBox="1"/>
          <p:nvPr/>
        </p:nvSpPr>
        <p:spPr>
          <a:xfrm>
            <a:off x="5183729" y="2599508"/>
            <a:ext cx="1824538" cy="169277"/>
          </a:xfrm>
          <a:prstGeom prst="rect">
            <a:avLst/>
          </a:prstGeom>
          <a:noFill/>
        </p:spPr>
        <p:txBody>
          <a:bodyPr wrap="none" rtlCol="0">
            <a:spAutoFit/>
          </a:bodyPr>
          <a:lstStyle/>
          <a:p>
            <a:pPr algn="ctr"/>
            <a:r>
              <a:rPr lang="zh-CN" altLang="en-US" sz="500" b="1" spc="0" baseline="0">
                <a:solidFill>
                  <a:srgbClr val="E65100"/>
                </a:solidFill>
                <a:latin typeface="Times New Roman" panose="02020503050405090304"/>
                <a:cs typeface="Times New Roman" panose="02020503050405090304"/>
                <a:sym typeface="Times New Roman" panose="02020503050405090304"/>
                <a:rtl val="0"/>
              </a:rPr>
              <a:t>Resource Competition · Time Coupling · Spatial Interaction</a:t>
            </a:r>
          </a:p>
        </p:txBody>
      </p:sp>
      <p:sp>
        <p:nvSpPr>
          <p:cNvPr id="114" name="任意形状 113"/>
          <p:cNvSpPr/>
          <p:nvPr/>
        </p:nvSpPr>
        <p:spPr>
          <a:xfrm>
            <a:off x="3360964" y="2767692"/>
            <a:ext cx="2612571" cy="1796142"/>
          </a:xfrm>
          <a:custGeom>
            <a:avLst/>
            <a:gdLst>
              <a:gd name="connsiteX0" fmla="*/ 2579914 w 2612571"/>
              <a:gd name="connsiteY0" fmla="*/ 0 h 1796142"/>
              <a:gd name="connsiteX1" fmla="*/ 2612572 w 2612571"/>
              <a:gd name="connsiteY1" fmla="*/ 0 h 1796142"/>
              <a:gd name="connsiteX2" fmla="*/ 2612572 w 2612571"/>
              <a:gd name="connsiteY2" fmla="*/ 1796143 h 1796142"/>
              <a:gd name="connsiteX3" fmla="*/ 2579914 w 2612571"/>
              <a:gd name="connsiteY3" fmla="*/ 1796143 h 1796142"/>
              <a:gd name="connsiteX4" fmla="*/ 32657 w 2612571"/>
              <a:gd name="connsiteY4" fmla="*/ 1796143 h 1796142"/>
              <a:gd name="connsiteX5" fmla="*/ 0 w 2612571"/>
              <a:gd name="connsiteY5" fmla="*/ 1796143 h 1796142"/>
              <a:gd name="connsiteX6" fmla="*/ 0 w 2612571"/>
              <a:gd name="connsiteY6" fmla="*/ 0 h 1796142"/>
              <a:gd name="connsiteX7" fmla="*/ 32657 w 2612571"/>
              <a:gd name="connsiteY7" fmla="*/ 0 h 17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2571" h="1796142">
                <a:moveTo>
                  <a:pt x="2579914" y="0"/>
                </a:moveTo>
                <a:cubicBezTo>
                  <a:pt x="2597950" y="0"/>
                  <a:pt x="2612572" y="0"/>
                  <a:pt x="2612572" y="0"/>
                </a:cubicBezTo>
                <a:lnTo>
                  <a:pt x="2612572" y="1796143"/>
                </a:lnTo>
                <a:cubicBezTo>
                  <a:pt x="2612572" y="1796143"/>
                  <a:pt x="2597950" y="1796143"/>
                  <a:pt x="2579914" y="1796143"/>
                </a:cubicBezTo>
                <a:lnTo>
                  <a:pt x="32657" y="1796143"/>
                </a:lnTo>
                <a:cubicBezTo>
                  <a:pt x="14621" y="1796143"/>
                  <a:pt x="0" y="1796143"/>
                  <a:pt x="0" y="1796143"/>
                </a:cubicBezTo>
                <a:lnTo>
                  <a:pt x="0" y="0"/>
                </a:lnTo>
                <a:cubicBezTo>
                  <a:pt x="0" y="0"/>
                  <a:pt x="14621" y="0"/>
                  <a:pt x="32657" y="0"/>
                </a:cubicBezTo>
                <a:close/>
              </a:path>
            </a:pathLst>
          </a:custGeom>
          <a:solidFill>
            <a:srgbClr val="FFEBEE"/>
          </a:solidFill>
          <a:ln w="6123" cap="flat">
            <a:solidFill>
              <a:srgbClr val="C62828"/>
            </a:solidFill>
            <a:prstDash val="solid"/>
            <a:miter/>
          </a:ln>
        </p:spPr>
        <p:txBody>
          <a:bodyPr rtlCol="0" anchor="ctr"/>
          <a:lstStyle/>
          <a:p>
            <a:pPr algn="ctr"/>
            <a:endParaRPr lang="zh-CN" altLang="en-US" sz="1100"/>
          </a:p>
        </p:txBody>
      </p:sp>
      <p:sp>
        <p:nvSpPr>
          <p:cNvPr id="115" name="文本框 114"/>
          <p:cNvSpPr txBox="1"/>
          <p:nvPr/>
        </p:nvSpPr>
        <p:spPr>
          <a:xfrm>
            <a:off x="2981797" y="2779122"/>
            <a:ext cx="1909497" cy="246221"/>
          </a:xfrm>
          <a:prstGeom prst="rect">
            <a:avLst/>
          </a:prstGeom>
          <a:noFill/>
        </p:spPr>
        <p:txBody>
          <a:bodyPr wrap="none" rtlCol="0">
            <a:spAutoFit/>
          </a:bodyPr>
          <a:lstStyle/>
          <a:p>
            <a:pPr algn="ctr"/>
            <a:r>
              <a:rPr lang="zh-CN" altLang="en-US" sz="1000" b="1" spc="0" baseline="0">
                <a:solidFill>
                  <a:srgbClr val="C62828"/>
                </a:solidFill>
                <a:latin typeface="Times New Roman" panose="02020503050405090304"/>
                <a:cs typeface="Times New Roman" panose="02020503050405090304"/>
                <a:sym typeface="Times New Roman" panose="02020503050405090304"/>
                <a:rtl val="0"/>
              </a:rPr>
              <a:t>3a. Emergency Supply Delivery</a:t>
            </a:r>
          </a:p>
        </p:txBody>
      </p:sp>
      <p:sp>
        <p:nvSpPr>
          <p:cNvPr id="116" name="文本框 115"/>
          <p:cNvSpPr txBox="1"/>
          <p:nvPr/>
        </p:nvSpPr>
        <p:spPr>
          <a:xfrm>
            <a:off x="3158910" y="2877094"/>
            <a:ext cx="1465465" cy="169277"/>
          </a:xfrm>
          <a:prstGeom prst="rect">
            <a:avLst/>
          </a:prstGeom>
          <a:noFill/>
        </p:spPr>
        <p:txBody>
          <a:bodyPr wrap="none" rtlCol="0">
            <a:spAutoFit/>
          </a:bodyPr>
          <a:lstStyle/>
          <a:p>
            <a:pPr algn="ctr"/>
            <a:r>
              <a:rPr lang="zh-CN" altLang="en-US" sz="500" spc="0" baseline="0">
                <a:solidFill>
                  <a:srgbClr val="888888"/>
                </a:solidFill>
                <a:latin typeface="Times New Roman" panose="02020503050405090304"/>
                <a:cs typeface="Times New Roman" panose="02020503050405090304"/>
                <a:sym typeface="Times New Roman" panose="02020503050405090304"/>
                <a:rtl val="0"/>
              </a:rPr>
              <a:t>Truck–Drone Cooperative Optimization (Step 10)</a:t>
            </a:r>
          </a:p>
        </p:txBody>
      </p:sp>
      <p:sp>
        <p:nvSpPr>
          <p:cNvPr id="117" name="文本框 116"/>
          <p:cNvSpPr txBox="1"/>
          <p:nvPr/>
        </p:nvSpPr>
        <p:spPr>
          <a:xfrm>
            <a:off x="5358581" y="2803615"/>
            <a:ext cx="699229" cy="200055"/>
          </a:xfrm>
          <a:prstGeom prst="rect">
            <a:avLst/>
          </a:prstGeom>
          <a:noFill/>
        </p:spPr>
        <p:txBody>
          <a:bodyPr wrap="none" rtlCol="0">
            <a:spAutoFit/>
          </a:bodyPr>
          <a:lstStyle/>
          <a:p>
            <a:pPr algn="ctr"/>
            <a:r>
              <a:rPr lang="zh-CN" altLang="en-US" sz="700" spc="0" baseline="0">
                <a:solidFill>
                  <a:srgbClr val="C62828"/>
                </a:solidFill>
                <a:latin typeface="Times New Roman" panose="02020503050405090304"/>
                <a:cs typeface="Times New Roman" panose="02020503050405090304"/>
                <a:sym typeface="Times New Roman" panose="02020503050405090304"/>
                <a:rtl val="0"/>
              </a:rPr>
              <a:t>← Centripetal</a:t>
            </a:r>
          </a:p>
        </p:txBody>
      </p:sp>
      <p:sp>
        <p:nvSpPr>
          <p:cNvPr id="118" name="任意形状 117"/>
          <p:cNvSpPr/>
          <p:nvPr/>
        </p:nvSpPr>
        <p:spPr>
          <a:xfrm>
            <a:off x="3463017" y="3028950"/>
            <a:ext cx="1143000" cy="408214"/>
          </a:xfrm>
          <a:custGeom>
            <a:avLst/>
            <a:gdLst>
              <a:gd name="connsiteX0" fmla="*/ 1118507 w 1143000"/>
              <a:gd name="connsiteY0" fmla="*/ 0 h 408214"/>
              <a:gd name="connsiteX1" fmla="*/ 1143000 w 1143000"/>
              <a:gd name="connsiteY1" fmla="*/ 0 h 408214"/>
              <a:gd name="connsiteX2" fmla="*/ 1143000 w 1143000"/>
              <a:gd name="connsiteY2" fmla="*/ 408214 h 408214"/>
              <a:gd name="connsiteX3" fmla="*/ 1118507 w 1143000"/>
              <a:gd name="connsiteY3" fmla="*/ 408214 h 408214"/>
              <a:gd name="connsiteX4" fmla="*/ 24493 w 1143000"/>
              <a:gd name="connsiteY4" fmla="*/ 408214 h 408214"/>
              <a:gd name="connsiteX5" fmla="*/ 0 w 1143000"/>
              <a:gd name="connsiteY5" fmla="*/ 408214 h 408214"/>
              <a:gd name="connsiteX6" fmla="*/ 0 w 1143000"/>
              <a:gd name="connsiteY6" fmla="*/ 0 h 408214"/>
              <a:gd name="connsiteX7" fmla="*/ 24493 w 1143000"/>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 h="408214">
                <a:moveTo>
                  <a:pt x="1118507" y="0"/>
                </a:moveTo>
                <a:cubicBezTo>
                  <a:pt x="1132034" y="0"/>
                  <a:pt x="1143000" y="0"/>
                  <a:pt x="1143000" y="0"/>
                </a:cubicBezTo>
                <a:lnTo>
                  <a:pt x="1143000" y="408214"/>
                </a:lnTo>
                <a:cubicBezTo>
                  <a:pt x="1143000" y="408214"/>
                  <a:pt x="1132034" y="408214"/>
                  <a:pt x="1118507"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D32F2F"/>
            </a:solidFill>
            <a:prstDash val="solid"/>
            <a:miter/>
          </a:ln>
        </p:spPr>
        <p:txBody>
          <a:bodyPr rtlCol="0" anchor="ctr"/>
          <a:lstStyle/>
          <a:p>
            <a:pPr algn="ctr"/>
            <a:endParaRPr lang="zh-CN" altLang="en-US" sz="1100"/>
          </a:p>
        </p:txBody>
      </p:sp>
      <p:sp>
        <p:nvSpPr>
          <p:cNvPr id="119" name="文本框 118"/>
          <p:cNvSpPr txBox="1"/>
          <p:nvPr/>
        </p:nvSpPr>
        <p:spPr>
          <a:xfrm>
            <a:off x="3532617" y="3019969"/>
            <a:ext cx="1003801" cy="169277"/>
          </a:xfrm>
          <a:prstGeom prst="rect">
            <a:avLst/>
          </a:prstGeom>
          <a:noFill/>
        </p:spPr>
        <p:txBody>
          <a:bodyPr wrap="none" rtlCol="0">
            <a:spAutoFit/>
          </a:bodyPr>
          <a:lstStyle/>
          <a:p>
            <a:pPr algn="ctr"/>
            <a:r>
              <a:rPr lang="zh-CN" altLang="en-US" sz="500" b="1" spc="0" baseline="0">
                <a:solidFill>
                  <a:srgbClr val="D32F2F"/>
                </a:solidFill>
                <a:latin typeface="Times New Roman" panose="02020503050405090304"/>
                <a:cs typeface="Times New Roman" panose="02020503050405090304"/>
                <a:sym typeface="Times New Roman" panose="02020503050405090304"/>
                <a:rtl val="0"/>
              </a:rPr>
              <a:t>Three-Tier Logistics Network</a:t>
            </a:r>
          </a:p>
        </p:txBody>
      </p:sp>
      <p:sp>
        <p:nvSpPr>
          <p:cNvPr id="120" name="文本框 119"/>
          <p:cNvSpPr txBox="1"/>
          <p:nvPr/>
        </p:nvSpPr>
        <p:spPr>
          <a:xfrm>
            <a:off x="3354522" y="3109776"/>
            <a:ext cx="947695"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Supply (H): 8 fire stations + 2 depots</a:t>
            </a:r>
          </a:p>
        </p:txBody>
      </p:sp>
      <p:sp>
        <p:nvSpPr>
          <p:cNvPr id="121" name="文本框 120"/>
          <p:cNvSpPr txBox="1"/>
          <p:nvPr/>
        </p:nvSpPr>
        <p:spPr>
          <a:xfrm>
            <a:off x="3371473" y="3175090"/>
            <a:ext cx="795410"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Relay (R): Drone launch pads</a:t>
            </a:r>
          </a:p>
        </p:txBody>
      </p:sp>
      <p:sp>
        <p:nvSpPr>
          <p:cNvPr id="122" name="文本框 121"/>
          <p:cNvSpPr txBox="1"/>
          <p:nvPr/>
        </p:nvSpPr>
        <p:spPr>
          <a:xfrm>
            <a:off x="3348118" y="3240405"/>
            <a:ext cx="1005403"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Demand (D): Emergency nodes in 5 km</a:t>
            </a:r>
          </a:p>
        </p:txBody>
      </p:sp>
      <p:sp>
        <p:nvSpPr>
          <p:cNvPr id="123" name="文本框 122"/>
          <p:cNvSpPr txBox="1"/>
          <p:nvPr/>
        </p:nvSpPr>
        <p:spPr>
          <a:xfrm>
            <a:off x="3413022" y="3309801"/>
            <a:ext cx="785792" cy="138499"/>
          </a:xfrm>
          <a:prstGeom prst="rect">
            <a:avLst/>
          </a:prstGeom>
          <a:noFill/>
        </p:spPr>
        <p:txBody>
          <a:bodyPr wrap="none" rtlCol="0">
            <a:spAutoFit/>
          </a:bodyPr>
          <a:lstStyle/>
          <a:p>
            <a:pPr algn="ctr"/>
            <a:r>
              <a:rPr lang="zh-CN" altLang="en-US" sz="300" spc="0" baseline="0">
                <a:solidFill>
                  <a:srgbClr val="999999"/>
                </a:solidFill>
                <a:latin typeface="Times New Roman" panose="02020503050405090304"/>
                <a:cs typeface="Times New Roman" panose="02020503050405090304"/>
                <a:sym typeface="Times New Roman" panose="02020503050405090304"/>
                <a:rtl val="0"/>
              </a:rPr>
              <a:t>4 supply categories, differentiated TW</a:t>
            </a:r>
          </a:p>
        </p:txBody>
      </p:sp>
      <p:sp>
        <p:nvSpPr>
          <p:cNvPr id="124" name="任意形状 123"/>
          <p:cNvSpPr/>
          <p:nvPr/>
        </p:nvSpPr>
        <p:spPr>
          <a:xfrm>
            <a:off x="4687660" y="3028950"/>
            <a:ext cx="1183821" cy="408214"/>
          </a:xfrm>
          <a:custGeom>
            <a:avLst/>
            <a:gdLst>
              <a:gd name="connsiteX0" fmla="*/ 1159329 w 1183821"/>
              <a:gd name="connsiteY0" fmla="*/ 0 h 408214"/>
              <a:gd name="connsiteX1" fmla="*/ 1183821 w 1183821"/>
              <a:gd name="connsiteY1" fmla="*/ 0 h 408214"/>
              <a:gd name="connsiteX2" fmla="*/ 1183821 w 1183821"/>
              <a:gd name="connsiteY2" fmla="*/ 408214 h 408214"/>
              <a:gd name="connsiteX3" fmla="*/ 1159329 w 1183821"/>
              <a:gd name="connsiteY3" fmla="*/ 408214 h 408214"/>
              <a:gd name="connsiteX4" fmla="*/ 24493 w 1183821"/>
              <a:gd name="connsiteY4" fmla="*/ 408214 h 408214"/>
              <a:gd name="connsiteX5" fmla="*/ 0 w 1183821"/>
              <a:gd name="connsiteY5" fmla="*/ 408214 h 408214"/>
              <a:gd name="connsiteX6" fmla="*/ 0 w 1183821"/>
              <a:gd name="connsiteY6" fmla="*/ 0 h 408214"/>
              <a:gd name="connsiteX7" fmla="*/ 24493 w 11838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821" h="408214">
                <a:moveTo>
                  <a:pt x="1159329" y="0"/>
                </a:moveTo>
                <a:cubicBezTo>
                  <a:pt x="1172856" y="0"/>
                  <a:pt x="1183821" y="0"/>
                  <a:pt x="1183821" y="0"/>
                </a:cubicBezTo>
                <a:lnTo>
                  <a:pt x="1183821" y="408214"/>
                </a:lnTo>
                <a:cubicBezTo>
                  <a:pt x="1183821" y="408214"/>
                  <a:pt x="1172856" y="408214"/>
                  <a:pt x="11593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E53935"/>
            </a:solidFill>
            <a:prstDash val="solid"/>
            <a:miter/>
          </a:ln>
        </p:spPr>
        <p:txBody>
          <a:bodyPr rtlCol="0" anchor="ctr"/>
          <a:lstStyle/>
          <a:p>
            <a:pPr algn="ctr"/>
            <a:endParaRPr lang="zh-CN" altLang="en-US" sz="1100"/>
          </a:p>
        </p:txBody>
      </p:sp>
      <p:sp>
        <p:nvSpPr>
          <p:cNvPr id="125" name="文本框 124"/>
          <p:cNvSpPr txBox="1"/>
          <p:nvPr/>
        </p:nvSpPr>
        <p:spPr>
          <a:xfrm>
            <a:off x="4820951" y="3019969"/>
            <a:ext cx="917239" cy="169277"/>
          </a:xfrm>
          <a:prstGeom prst="rect">
            <a:avLst/>
          </a:prstGeom>
          <a:noFill/>
        </p:spPr>
        <p:txBody>
          <a:bodyPr wrap="none" rtlCol="0">
            <a:spAutoFit/>
          </a:bodyPr>
          <a:lstStyle/>
          <a:p>
            <a:pPr algn="ctr"/>
            <a:r>
              <a:rPr lang="zh-CN" altLang="en-US" sz="500" b="1" spc="0" baseline="0">
                <a:solidFill>
                  <a:srgbClr val="E53935"/>
                </a:solidFill>
                <a:latin typeface="Times New Roman" panose="02020503050405090304"/>
                <a:cs typeface="Times New Roman" panose="02020503050405090304"/>
                <a:sym typeface="Times New Roman" panose="02020503050405090304"/>
                <a:rtl val="0"/>
              </a:rPr>
              <a:t>Truck–Drone Cooperation</a:t>
            </a:r>
          </a:p>
        </p:txBody>
      </p:sp>
      <p:sp>
        <p:nvSpPr>
          <p:cNvPr id="126" name="文本框 125"/>
          <p:cNvSpPr txBox="1"/>
          <p:nvPr/>
        </p:nvSpPr>
        <p:spPr>
          <a:xfrm>
            <a:off x="4589926" y="3109776"/>
            <a:ext cx="832279"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Direct: Truck → Demand point</a:t>
            </a:r>
          </a:p>
        </p:txBody>
      </p:sp>
      <p:sp>
        <p:nvSpPr>
          <p:cNvPr id="127" name="文本框 126"/>
          <p:cNvSpPr txBox="1"/>
          <p:nvPr/>
        </p:nvSpPr>
        <p:spPr>
          <a:xfrm>
            <a:off x="4586870" y="3175090"/>
            <a:ext cx="85472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Relay: Truck → Relay → Drone</a:t>
            </a:r>
          </a:p>
        </p:txBody>
      </p:sp>
      <p:sp>
        <p:nvSpPr>
          <p:cNvPr id="128" name="文本框 127"/>
          <p:cNvSpPr txBox="1"/>
          <p:nvPr/>
        </p:nvSpPr>
        <p:spPr>
          <a:xfrm>
            <a:off x="4591968" y="3240405"/>
            <a:ext cx="832279"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BPR congestion: α=0.15, β=4.0</a:t>
            </a:r>
          </a:p>
        </p:txBody>
      </p:sp>
      <p:sp>
        <p:nvSpPr>
          <p:cNvPr id="129" name="文本框 128"/>
          <p:cNvSpPr txBox="1"/>
          <p:nvPr/>
        </p:nvSpPr>
        <p:spPr>
          <a:xfrm>
            <a:off x="4644409" y="3309801"/>
            <a:ext cx="633507" cy="138499"/>
          </a:xfrm>
          <a:prstGeom prst="rect">
            <a:avLst/>
          </a:prstGeom>
          <a:noFill/>
        </p:spPr>
        <p:txBody>
          <a:bodyPr wrap="none" rtlCol="0">
            <a:spAutoFit/>
          </a:bodyPr>
          <a:lstStyle/>
          <a:p>
            <a:pPr algn="ctr"/>
            <a:r>
              <a:rPr lang="zh-CN" altLang="en-US" sz="300" spc="0" baseline="0">
                <a:solidFill>
                  <a:srgbClr val="999999"/>
                </a:solidFill>
                <a:latin typeface="Times New Roman" panose="02020503050405090304"/>
                <a:cs typeface="Times New Roman" panose="02020503050405090304"/>
                <a:sym typeface="Times New Roman" panose="02020503050405090304"/>
                <a:rtl val="0"/>
              </a:rPr>
              <a:t>Network Dijkstra travel time</a:t>
            </a:r>
          </a:p>
        </p:txBody>
      </p:sp>
      <p:sp>
        <p:nvSpPr>
          <p:cNvPr id="130" name="任意形状 129"/>
          <p:cNvSpPr/>
          <p:nvPr/>
        </p:nvSpPr>
        <p:spPr>
          <a:xfrm>
            <a:off x="4667250" y="3437164"/>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C62828"/>
            </a:solidFill>
            <a:prstDash val="solid"/>
            <a:miter/>
          </a:ln>
        </p:spPr>
        <p:txBody>
          <a:bodyPr rtlCol="0" anchor="ctr"/>
          <a:lstStyle/>
          <a:p>
            <a:pPr algn="ctr"/>
            <a:endParaRPr lang="zh-CN" altLang="en-US" sz="1100"/>
          </a:p>
        </p:txBody>
      </p:sp>
      <p:sp>
        <p:nvSpPr>
          <p:cNvPr id="131" name="任意形状 130"/>
          <p:cNvSpPr/>
          <p:nvPr/>
        </p:nvSpPr>
        <p:spPr>
          <a:xfrm>
            <a:off x="3728357" y="3543300"/>
            <a:ext cx="1918607" cy="277585"/>
          </a:xfrm>
          <a:custGeom>
            <a:avLst/>
            <a:gdLst>
              <a:gd name="connsiteX0" fmla="*/ 1894114 w 1918607"/>
              <a:gd name="connsiteY0" fmla="*/ 0 h 277585"/>
              <a:gd name="connsiteX1" fmla="*/ 1918607 w 1918607"/>
              <a:gd name="connsiteY1" fmla="*/ 0 h 277585"/>
              <a:gd name="connsiteX2" fmla="*/ 1918607 w 1918607"/>
              <a:gd name="connsiteY2" fmla="*/ 277586 h 277585"/>
              <a:gd name="connsiteX3" fmla="*/ 1894114 w 1918607"/>
              <a:gd name="connsiteY3" fmla="*/ 277586 h 277585"/>
              <a:gd name="connsiteX4" fmla="*/ 24493 w 1918607"/>
              <a:gd name="connsiteY4" fmla="*/ 277586 h 277585"/>
              <a:gd name="connsiteX5" fmla="*/ 0 w 1918607"/>
              <a:gd name="connsiteY5" fmla="*/ 277586 h 277585"/>
              <a:gd name="connsiteX6" fmla="*/ 0 w 1918607"/>
              <a:gd name="connsiteY6" fmla="*/ 0 h 277585"/>
              <a:gd name="connsiteX7" fmla="*/ 24493 w 1918607"/>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8607" h="277585">
                <a:moveTo>
                  <a:pt x="1894114" y="0"/>
                </a:moveTo>
                <a:cubicBezTo>
                  <a:pt x="1907641" y="0"/>
                  <a:pt x="1918607" y="0"/>
                  <a:pt x="1918607" y="0"/>
                </a:cubicBezTo>
                <a:lnTo>
                  <a:pt x="1918607" y="277586"/>
                </a:lnTo>
                <a:cubicBezTo>
                  <a:pt x="1918607" y="277586"/>
                  <a:pt x="1907641" y="277586"/>
                  <a:pt x="1894114" y="277586"/>
                </a:cubicBezTo>
                <a:lnTo>
                  <a:pt x="24493" y="277586"/>
                </a:lnTo>
                <a:cubicBezTo>
                  <a:pt x="10966" y="277586"/>
                  <a:pt x="0" y="277586"/>
                  <a:pt x="0" y="277586"/>
                </a:cubicBezTo>
                <a:lnTo>
                  <a:pt x="0" y="0"/>
                </a:lnTo>
                <a:cubicBezTo>
                  <a:pt x="0" y="0"/>
                  <a:pt x="10966" y="0"/>
                  <a:pt x="24493" y="0"/>
                </a:cubicBezTo>
                <a:close/>
              </a:path>
            </a:pathLst>
          </a:custGeom>
          <a:solidFill>
            <a:srgbClr val="FFFFFF"/>
          </a:solidFill>
          <a:ln w="4899" cap="flat">
            <a:solidFill>
              <a:srgbClr val="B71C1C"/>
            </a:solidFill>
            <a:prstDash val="solid"/>
            <a:miter/>
          </a:ln>
        </p:spPr>
        <p:txBody>
          <a:bodyPr rtlCol="0" anchor="ctr"/>
          <a:lstStyle/>
          <a:p>
            <a:pPr algn="ctr"/>
            <a:endParaRPr lang="zh-CN" altLang="en-US" sz="1100"/>
          </a:p>
        </p:txBody>
      </p:sp>
      <p:sp>
        <p:nvSpPr>
          <p:cNvPr id="132" name="文本框 131"/>
          <p:cNvSpPr txBox="1"/>
          <p:nvPr/>
        </p:nvSpPr>
        <p:spPr>
          <a:xfrm>
            <a:off x="3843517" y="3534319"/>
            <a:ext cx="1688283" cy="169277"/>
          </a:xfrm>
          <a:prstGeom prst="rect">
            <a:avLst/>
          </a:prstGeom>
          <a:noFill/>
        </p:spPr>
        <p:txBody>
          <a:bodyPr wrap="none" rtlCol="0">
            <a:spAutoFit/>
          </a:bodyPr>
          <a:lstStyle/>
          <a:p>
            <a:pPr algn="ctr"/>
            <a:r>
              <a:rPr lang="zh-CN" altLang="en-US" sz="500" b="1" spc="0" baseline="0">
                <a:solidFill>
                  <a:srgbClr val="B71C1C"/>
                </a:solidFill>
                <a:latin typeface="Times New Roman" panose="02020503050405090304"/>
                <a:cs typeface="Times New Roman" panose="02020503050405090304"/>
                <a:sym typeface="Times New Roman" panose="02020503050405090304"/>
                <a:rtl val="0"/>
              </a:rPr>
              <a:t>Two-Phase: Greedy Construction + 2-opt Local Search</a:t>
            </a:r>
          </a:p>
        </p:txBody>
      </p:sp>
      <p:sp>
        <p:nvSpPr>
          <p:cNvPr id="133" name="文本框 132"/>
          <p:cNvSpPr txBox="1"/>
          <p:nvPr/>
        </p:nvSpPr>
        <p:spPr>
          <a:xfrm>
            <a:off x="3580216" y="3624126"/>
            <a:ext cx="1337226"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Obj: min Z = w₁·Makespan + w₂·Σpenalty + w₃·Σunmet</a:t>
            </a:r>
          </a:p>
        </p:txBody>
      </p:sp>
      <p:sp>
        <p:nvSpPr>
          <p:cNvPr id="134" name="文本框 133"/>
          <p:cNvSpPr txBox="1"/>
          <p:nvPr/>
        </p:nvSpPr>
        <p:spPr>
          <a:xfrm>
            <a:off x="3553732" y="3689440"/>
            <a:ext cx="1561645"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Priority sort → Vehicle-route eval → Local improve → Feasibility</a:t>
            </a:r>
          </a:p>
        </p:txBody>
      </p:sp>
      <p:sp>
        <p:nvSpPr>
          <p:cNvPr id="135" name="任意形状 134"/>
          <p:cNvSpPr/>
          <p:nvPr/>
        </p:nvSpPr>
        <p:spPr>
          <a:xfrm>
            <a:off x="4667250" y="3820885"/>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C62828"/>
            </a:solidFill>
            <a:prstDash val="solid"/>
            <a:miter/>
          </a:ln>
        </p:spPr>
        <p:txBody>
          <a:bodyPr rtlCol="0" anchor="ctr"/>
          <a:lstStyle/>
          <a:p>
            <a:pPr algn="ctr"/>
            <a:endParaRPr lang="zh-CN" altLang="en-US" sz="1100"/>
          </a:p>
        </p:txBody>
      </p:sp>
      <p:sp>
        <p:nvSpPr>
          <p:cNvPr id="136" name="任意形状 135"/>
          <p:cNvSpPr/>
          <p:nvPr/>
        </p:nvSpPr>
        <p:spPr>
          <a:xfrm>
            <a:off x="3463017" y="3927021"/>
            <a:ext cx="2408464" cy="306160"/>
          </a:xfrm>
          <a:custGeom>
            <a:avLst/>
            <a:gdLst>
              <a:gd name="connsiteX0" fmla="*/ 2383972 w 2408464"/>
              <a:gd name="connsiteY0" fmla="*/ 0 h 306160"/>
              <a:gd name="connsiteX1" fmla="*/ 2408464 w 2408464"/>
              <a:gd name="connsiteY1" fmla="*/ 0 h 306160"/>
              <a:gd name="connsiteX2" fmla="*/ 2408464 w 2408464"/>
              <a:gd name="connsiteY2" fmla="*/ 306161 h 306160"/>
              <a:gd name="connsiteX3" fmla="*/ 2383972 w 2408464"/>
              <a:gd name="connsiteY3" fmla="*/ 306161 h 306160"/>
              <a:gd name="connsiteX4" fmla="*/ 24493 w 2408464"/>
              <a:gd name="connsiteY4" fmla="*/ 306161 h 306160"/>
              <a:gd name="connsiteX5" fmla="*/ 0 w 2408464"/>
              <a:gd name="connsiteY5" fmla="*/ 306161 h 306160"/>
              <a:gd name="connsiteX6" fmla="*/ 0 w 2408464"/>
              <a:gd name="connsiteY6" fmla="*/ 0 h 306160"/>
              <a:gd name="connsiteX7" fmla="*/ 24493 w 2408464"/>
              <a:gd name="connsiteY7" fmla="*/ 0 h 30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8464" h="306160">
                <a:moveTo>
                  <a:pt x="2383972" y="0"/>
                </a:moveTo>
                <a:cubicBezTo>
                  <a:pt x="2397499" y="0"/>
                  <a:pt x="2408464" y="0"/>
                  <a:pt x="2408464" y="0"/>
                </a:cubicBezTo>
                <a:lnTo>
                  <a:pt x="2408464" y="306161"/>
                </a:lnTo>
                <a:cubicBezTo>
                  <a:pt x="2408464" y="306161"/>
                  <a:pt x="2397499" y="306161"/>
                  <a:pt x="2383972" y="306161"/>
                </a:cubicBezTo>
                <a:lnTo>
                  <a:pt x="24493" y="306161"/>
                </a:lnTo>
                <a:cubicBezTo>
                  <a:pt x="10966" y="306161"/>
                  <a:pt x="0" y="306161"/>
                  <a:pt x="0" y="306161"/>
                </a:cubicBezTo>
                <a:lnTo>
                  <a:pt x="0" y="0"/>
                </a:lnTo>
                <a:cubicBezTo>
                  <a:pt x="0" y="0"/>
                  <a:pt x="10966" y="0"/>
                  <a:pt x="24493" y="0"/>
                </a:cubicBezTo>
                <a:close/>
              </a:path>
            </a:pathLst>
          </a:custGeom>
          <a:solidFill>
            <a:srgbClr val="FFCDD2"/>
          </a:solidFill>
          <a:ln w="6123" cap="flat">
            <a:solidFill>
              <a:srgbClr val="C62828"/>
            </a:solidFill>
            <a:prstDash val="solid"/>
            <a:miter/>
          </a:ln>
        </p:spPr>
        <p:txBody>
          <a:bodyPr rtlCol="0" anchor="ctr"/>
          <a:lstStyle/>
          <a:p>
            <a:pPr algn="ctr"/>
            <a:endParaRPr lang="zh-CN" altLang="en-US" sz="1100"/>
          </a:p>
        </p:txBody>
      </p:sp>
      <p:sp>
        <p:nvSpPr>
          <p:cNvPr id="137" name="文本框 136"/>
          <p:cNvSpPr txBox="1"/>
          <p:nvPr/>
        </p:nvSpPr>
        <p:spPr>
          <a:xfrm>
            <a:off x="4411409" y="3926205"/>
            <a:ext cx="511679" cy="169277"/>
          </a:xfrm>
          <a:prstGeom prst="rect">
            <a:avLst/>
          </a:prstGeom>
          <a:noFill/>
        </p:spPr>
        <p:txBody>
          <a:bodyPr wrap="none" rtlCol="0">
            <a:spAutoFit/>
          </a:bodyPr>
          <a:lstStyle/>
          <a:p>
            <a:pPr algn="ctr"/>
            <a:r>
              <a:rPr lang="zh-CN" altLang="en-US" sz="500" b="1" spc="0" baseline="0">
                <a:solidFill>
                  <a:srgbClr val="B71C1C"/>
                </a:solidFill>
                <a:latin typeface="Times New Roman" panose="02020503050405090304"/>
                <a:cs typeface="Times New Roman" panose="02020503050405090304"/>
                <a:sym typeface="Times New Roman" panose="02020503050405090304"/>
                <a:rtl val="0"/>
              </a:rPr>
              <a:t>Key Results</a:t>
            </a:r>
          </a:p>
        </p:txBody>
      </p:sp>
      <p:sp>
        <p:nvSpPr>
          <p:cNvPr id="138" name="文本框 137"/>
          <p:cNvSpPr txBox="1"/>
          <p:nvPr/>
        </p:nvSpPr>
        <p:spPr>
          <a:xfrm>
            <a:off x="3167031" y="3995601"/>
            <a:ext cx="1943161" cy="169277"/>
          </a:xfrm>
          <a:prstGeom prst="rect">
            <a:avLst/>
          </a:prstGeom>
          <a:noFill/>
        </p:spPr>
        <p:txBody>
          <a:bodyPr wrap="none" rtlCol="0">
            <a:spAutoFit/>
          </a:bodyPr>
          <a:lstStyle/>
          <a:p>
            <a:pPr algn="ctr"/>
            <a:r>
              <a:rPr lang="zh-CN" altLang="en-US" sz="500" spc="0" baseline="0">
                <a:solidFill>
                  <a:srgbClr val="333333"/>
                </a:solidFill>
                <a:latin typeface="Segoe UI Symbol"/>
                <a:sym typeface="Segoe UI Symbol"/>
                <a:rtl val="0"/>
              </a:rPr>
              <a:t>✓</a:t>
            </a: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40 tasks 100% completed | Makespan: 44.8 → 37.5 min (↓16.3%)</a:t>
            </a:r>
          </a:p>
        </p:txBody>
      </p:sp>
      <p:sp>
        <p:nvSpPr>
          <p:cNvPr id="139" name="文本框 138"/>
          <p:cNvSpPr txBox="1"/>
          <p:nvPr/>
        </p:nvSpPr>
        <p:spPr>
          <a:xfrm>
            <a:off x="3154442" y="4069080"/>
            <a:ext cx="2037737" cy="169277"/>
          </a:xfrm>
          <a:prstGeom prst="rect">
            <a:avLst/>
          </a:prstGeom>
          <a:noFill/>
        </p:spPr>
        <p:txBody>
          <a:bodyPr wrap="none" rtlCol="0">
            <a:spAutoFit/>
          </a:bodyPr>
          <a:lstStyle/>
          <a:p>
            <a:pPr algn="ctr"/>
            <a:r>
              <a:rPr lang="zh-CN" altLang="en-US" sz="500" spc="0" baseline="0">
                <a:solidFill>
                  <a:srgbClr val="333333"/>
                </a:solidFill>
                <a:latin typeface="Segoe UI Symbol"/>
                <a:sym typeface="Segoe UI Symbol"/>
                <a:rtl val="0"/>
              </a:rPr>
              <a:t>✓</a:t>
            </a: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Life-rescue within 30 min | 39 direct + 1 relay | Drone-only infeasible</a:t>
            </a:r>
          </a:p>
        </p:txBody>
      </p:sp>
      <p:sp>
        <p:nvSpPr>
          <p:cNvPr id="140" name="文本框 139"/>
          <p:cNvSpPr txBox="1"/>
          <p:nvPr/>
        </p:nvSpPr>
        <p:spPr>
          <a:xfrm>
            <a:off x="3416814" y="4146640"/>
            <a:ext cx="798617" cy="138499"/>
          </a:xfrm>
          <a:prstGeom prst="rect">
            <a:avLst/>
          </a:prstGeom>
          <a:noFill/>
        </p:spPr>
        <p:txBody>
          <a:bodyPr wrap="none" rtlCol="0">
            <a:spAutoFit/>
          </a:bodyPr>
          <a:lstStyle/>
          <a:p>
            <a:pPr algn="ctr"/>
            <a:r>
              <a:rPr lang="zh-CN" altLang="en-US" sz="300" i="1" spc="0" baseline="0">
                <a:solidFill>
                  <a:srgbClr val="C62828"/>
                </a:solidFill>
                <a:latin typeface="Times New Roman" panose="02020503050405090304"/>
                <a:cs typeface="Times New Roman" panose="02020503050405090304"/>
                <a:sym typeface="Times New Roman" panose="02020503050405090304"/>
                <a:rtl val="0"/>
              </a:rPr>
              <a:t>Drone sensitivity analysis: 0–40 drones</a:t>
            </a:r>
          </a:p>
        </p:txBody>
      </p:sp>
      <p:sp>
        <p:nvSpPr>
          <p:cNvPr id="141" name="任意形状 140"/>
          <p:cNvSpPr/>
          <p:nvPr/>
        </p:nvSpPr>
        <p:spPr>
          <a:xfrm>
            <a:off x="6218464" y="2767692"/>
            <a:ext cx="2612571" cy="1796142"/>
          </a:xfrm>
          <a:custGeom>
            <a:avLst/>
            <a:gdLst>
              <a:gd name="connsiteX0" fmla="*/ 2579914 w 2612571"/>
              <a:gd name="connsiteY0" fmla="*/ 0 h 1796142"/>
              <a:gd name="connsiteX1" fmla="*/ 2612572 w 2612571"/>
              <a:gd name="connsiteY1" fmla="*/ 0 h 1796142"/>
              <a:gd name="connsiteX2" fmla="*/ 2612572 w 2612571"/>
              <a:gd name="connsiteY2" fmla="*/ 1796143 h 1796142"/>
              <a:gd name="connsiteX3" fmla="*/ 2579914 w 2612571"/>
              <a:gd name="connsiteY3" fmla="*/ 1796143 h 1796142"/>
              <a:gd name="connsiteX4" fmla="*/ 32657 w 2612571"/>
              <a:gd name="connsiteY4" fmla="*/ 1796143 h 1796142"/>
              <a:gd name="connsiteX5" fmla="*/ 0 w 2612571"/>
              <a:gd name="connsiteY5" fmla="*/ 1796143 h 1796142"/>
              <a:gd name="connsiteX6" fmla="*/ 0 w 2612571"/>
              <a:gd name="connsiteY6" fmla="*/ 0 h 1796142"/>
              <a:gd name="connsiteX7" fmla="*/ 32657 w 2612571"/>
              <a:gd name="connsiteY7" fmla="*/ 0 h 17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2571" h="1796142">
                <a:moveTo>
                  <a:pt x="2579914" y="0"/>
                </a:moveTo>
                <a:cubicBezTo>
                  <a:pt x="2597951" y="0"/>
                  <a:pt x="2612572" y="0"/>
                  <a:pt x="2612572" y="0"/>
                </a:cubicBezTo>
                <a:lnTo>
                  <a:pt x="2612572" y="1796143"/>
                </a:lnTo>
                <a:cubicBezTo>
                  <a:pt x="2612572" y="1796143"/>
                  <a:pt x="2597951" y="1796143"/>
                  <a:pt x="2579914" y="1796143"/>
                </a:cubicBezTo>
                <a:lnTo>
                  <a:pt x="32657" y="1796143"/>
                </a:lnTo>
                <a:cubicBezTo>
                  <a:pt x="14621" y="1796143"/>
                  <a:pt x="0" y="1796143"/>
                  <a:pt x="0" y="1796143"/>
                </a:cubicBezTo>
                <a:lnTo>
                  <a:pt x="0" y="0"/>
                </a:lnTo>
                <a:cubicBezTo>
                  <a:pt x="0" y="0"/>
                  <a:pt x="14621" y="0"/>
                  <a:pt x="32657" y="0"/>
                </a:cubicBezTo>
                <a:close/>
              </a:path>
            </a:pathLst>
          </a:custGeom>
          <a:solidFill>
            <a:srgbClr val="E3F2FD"/>
          </a:solidFill>
          <a:ln w="6123" cap="flat">
            <a:solidFill>
              <a:srgbClr val="1565C0"/>
            </a:solidFill>
            <a:prstDash val="solid"/>
            <a:miter/>
          </a:ln>
        </p:spPr>
        <p:txBody>
          <a:bodyPr rtlCol="0" anchor="ctr"/>
          <a:lstStyle/>
          <a:p>
            <a:pPr algn="ctr"/>
            <a:endParaRPr lang="zh-CN" altLang="en-US" sz="1100"/>
          </a:p>
        </p:txBody>
      </p:sp>
      <p:sp>
        <p:nvSpPr>
          <p:cNvPr id="142" name="文本框 141"/>
          <p:cNvSpPr txBox="1"/>
          <p:nvPr/>
        </p:nvSpPr>
        <p:spPr>
          <a:xfrm>
            <a:off x="5890051" y="2779122"/>
            <a:ext cx="1661032" cy="246221"/>
          </a:xfrm>
          <a:prstGeom prst="rect">
            <a:avLst/>
          </a:prstGeom>
          <a:noFill/>
        </p:spPr>
        <p:txBody>
          <a:bodyPr wrap="none" rtlCol="0">
            <a:spAutoFit/>
          </a:bodyPr>
          <a:lstStyle/>
          <a:p>
            <a:pPr algn="ctr"/>
            <a:r>
              <a:rPr lang="zh-CN" altLang="en-US" sz="1000" b="1" spc="0" baseline="0">
                <a:solidFill>
                  <a:srgbClr val="1565C0"/>
                </a:solidFill>
                <a:latin typeface="Times New Roman" panose="02020503050405090304"/>
                <a:cs typeface="Times New Roman" panose="02020503050405090304"/>
                <a:sym typeface="Times New Roman" panose="02020503050405090304"/>
                <a:rtl val="0"/>
              </a:rPr>
              <a:t>3b. Multi-Type Evacuation</a:t>
            </a:r>
          </a:p>
        </p:txBody>
      </p:sp>
      <p:sp>
        <p:nvSpPr>
          <p:cNvPr id="143" name="文本框 142"/>
          <p:cNvSpPr txBox="1"/>
          <p:nvPr/>
        </p:nvSpPr>
        <p:spPr>
          <a:xfrm>
            <a:off x="6016848" y="2877094"/>
            <a:ext cx="1468671" cy="169277"/>
          </a:xfrm>
          <a:prstGeom prst="rect">
            <a:avLst/>
          </a:prstGeom>
          <a:noFill/>
        </p:spPr>
        <p:txBody>
          <a:bodyPr wrap="none" rtlCol="0">
            <a:spAutoFit/>
          </a:bodyPr>
          <a:lstStyle/>
          <a:p>
            <a:pPr algn="ctr"/>
            <a:r>
              <a:rPr lang="zh-CN" altLang="en-US" sz="500" spc="0" baseline="0">
                <a:solidFill>
                  <a:srgbClr val="888888"/>
                </a:solidFill>
                <a:latin typeface="Times New Roman" panose="02020503050405090304"/>
                <a:cs typeface="Times New Roman" panose="02020503050405090304"/>
                <a:sym typeface="Times New Roman" panose="02020503050405090304"/>
                <a:rtl val="0"/>
              </a:rPr>
              <a:t>Priority-Based Scheduling Optimization (Step 11)</a:t>
            </a:r>
          </a:p>
        </p:txBody>
      </p:sp>
      <p:sp>
        <p:nvSpPr>
          <p:cNvPr id="144" name="文本框 143"/>
          <p:cNvSpPr txBox="1"/>
          <p:nvPr/>
        </p:nvSpPr>
        <p:spPr>
          <a:xfrm>
            <a:off x="8213312" y="2803615"/>
            <a:ext cx="708848" cy="200055"/>
          </a:xfrm>
          <a:prstGeom prst="rect">
            <a:avLst/>
          </a:prstGeom>
          <a:noFill/>
        </p:spPr>
        <p:txBody>
          <a:bodyPr wrap="none" rtlCol="0">
            <a:spAutoFit/>
          </a:bodyPr>
          <a:lstStyle/>
          <a:p>
            <a:pPr algn="ctr"/>
            <a:r>
              <a:rPr lang="zh-CN" altLang="en-US" sz="700" spc="0" baseline="0">
                <a:solidFill>
                  <a:srgbClr val="1565C0"/>
                </a:solidFill>
                <a:latin typeface="Times New Roman" panose="02020503050405090304"/>
                <a:cs typeface="Times New Roman" panose="02020503050405090304"/>
                <a:sym typeface="Times New Roman" panose="02020503050405090304"/>
                <a:rtl val="0"/>
              </a:rPr>
              <a:t>Centrifugal →</a:t>
            </a:r>
          </a:p>
        </p:txBody>
      </p:sp>
      <p:sp>
        <p:nvSpPr>
          <p:cNvPr id="145" name="任意形状 144"/>
          <p:cNvSpPr/>
          <p:nvPr/>
        </p:nvSpPr>
        <p:spPr>
          <a:xfrm>
            <a:off x="6320517" y="3028950"/>
            <a:ext cx="1143000" cy="408214"/>
          </a:xfrm>
          <a:custGeom>
            <a:avLst/>
            <a:gdLst>
              <a:gd name="connsiteX0" fmla="*/ 1118507 w 1143000"/>
              <a:gd name="connsiteY0" fmla="*/ 0 h 408214"/>
              <a:gd name="connsiteX1" fmla="*/ 1143000 w 1143000"/>
              <a:gd name="connsiteY1" fmla="*/ 0 h 408214"/>
              <a:gd name="connsiteX2" fmla="*/ 1143000 w 1143000"/>
              <a:gd name="connsiteY2" fmla="*/ 408214 h 408214"/>
              <a:gd name="connsiteX3" fmla="*/ 1118507 w 1143000"/>
              <a:gd name="connsiteY3" fmla="*/ 408214 h 408214"/>
              <a:gd name="connsiteX4" fmla="*/ 24493 w 1143000"/>
              <a:gd name="connsiteY4" fmla="*/ 408214 h 408214"/>
              <a:gd name="connsiteX5" fmla="*/ 0 w 1143000"/>
              <a:gd name="connsiteY5" fmla="*/ 408214 h 408214"/>
              <a:gd name="connsiteX6" fmla="*/ 0 w 1143000"/>
              <a:gd name="connsiteY6" fmla="*/ 0 h 408214"/>
              <a:gd name="connsiteX7" fmla="*/ 24493 w 1143000"/>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 h="408214">
                <a:moveTo>
                  <a:pt x="1118507" y="0"/>
                </a:moveTo>
                <a:cubicBezTo>
                  <a:pt x="1132034" y="0"/>
                  <a:pt x="1143000" y="0"/>
                  <a:pt x="1143000" y="0"/>
                </a:cubicBezTo>
                <a:lnTo>
                  <a:pt x="1143000" y="408214"/>
                </a:lnTo>
                <a:cubicBezTo>
                  <a:pt x="1143000" y="408214"/>
                  <a:pt x="1132034" y="408214"/>
                  <a:pt x="1118507"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1976D2"/>
            </a:solidFill>
            <a:prstDash val="solid"/>
            <a:miter/>
          </a:ln>
        </p:spPr>
        <p:txBody>
          <a:bodyPr rtlCol="0" anchor="ctr"/>
          <a:lstStyle/>
          <a:p>
            <a:pPr algn="ctr"/>
            <a:endParaRPr lang="zh-CN" altLang="en-US" sz="1100"/>
          </a:p>
        </p:txBody>
      </p:sp>
      <p:sp>
        <p:nvSpPr>
          <p:cNvPr id="146" name="文本框 145"/>
          <p:cNvSpPr txBox="1"/>
          <p:nvPr/>
        </p:nvSpPr>
        <p:spPr>
          <a:xfrm>
            <a:off x="6451832" y="3019969"/>
            <a:ext cx="880369" cy="169277"/>
          </a:xfrm>
          <a:prstGeom prst="rect">
            <a:avLst/>
          </a:prstGeom>
          <a:noFill/>
        </p:spPr>
        <p:txBody>
          <a:bodyPr wrap="none" rtlCol="0">
            <a:spAutoFit/>
          </a:bodyPr>
          <a:lstStyle/>
          <a:p>
            <a:pPr algn="ctr"/>
            <a:r>
              <a:rPr lang="zh-CN" altLang="en-US" sz="500" b="1" spc="0" baseline="0">
                <a:solidFill>
                  <a:srgbClr val="1976D2"/>
                </a:solidFill>
                <a:latin typeface="Times New Roman" panose="02020503050405090304"/>
                <a:cs typeface="Times New Roman" panose="02020503050405090304"/>
                <a:sym typeface="Times New Roman" panose="02020503050405090304"/>
                <a:rtl val="0"/>
              </a:rPr>
              <a:t>Three Population Classes</a:t>
            </a:r>
          </a:p>
        </p:txBody>
      </p:sp>
      <p:sp>
        <p:nvSpPr>
          <p:cNvPr id="147" name="任意形状 146"/>
          <p:cNvSpPr/>
          <p:nvPr/>
        </p:nvSpPr>
        <p:spPr>
          <a:xfrm>
            <a:off x="6381750" y="3151414"/>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B71C1C"/>
          </a:solidFill>
          <a:ln w="4082" cap="flat">
            <a:noFill/>
            <a:prstDash val="solid"/>
            <a:miter/>
          </a:ln>
        </p:spPr>
        <p:txBody>
          <a:bodyPr rtlCol="0" anchor="ctr"/>
          <a:lstStyle/>
          <a:p>
            <a:pPr algn="ctr"/>
            <a:endParaRPr lang="zh-CN" altLang="en-US" sz="1100"/>
          </a:p>
        </p:txBody>
      </p:sp>
      <p:sp>
        <p:nvSpPr>
          <p:cNvPr id="148" name="文本框 147"/>
          <p:cNvSpPr txBox="1"/>
          <p:nvPr/>
        </p:nvSpPr>
        <p:spPr>
          <a:xfrm>
            <a:off x="6296775" y="3113858"/>
            <a:ext cx="84350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k=1 Critical (ω=10) → Hospital</a:t>
            </a:r>
          </a:p>
        </p:txBody>
      </p:sp>
      <p:sp>
        <p:nvSpPr>
          <p:cNvPr id="149" name="任意形状 148"/>
          <p:cNvSpPr/>
          <p:nvPr/>
        </p:nvSpPr>
        <p:spPr>
          <a:xfrm>
            <a:off x="6381750" y="3233057"/>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FF6F00"/>
          </a:solidFill>
          <a:ln w="4082" cap="flat">
            <a:noFill/>
            <a:prstDash val="solid"/>
            <a:miter/>
          </a:ln>
        </p:spPr>
        <p:txBody>
          <a:bodyPr rtlCol="0" anchor="ctr"/>
          <a:lstStyle/>
          <a:p>
            <a:pPr algn="ctr"/>
            <a:endParaRPr lang="zh-CN" altLang="en-US" sz="1100"/>
          </a:p>
        </p:txBody>
      </p:sp>
      <p:sp>
        <p:nvSpPr>
          <p:cNvPr id="150" name="文本框 149"/>
          <p:cNvSpPr txBox="1"/>
          <p:nvPr/>
        </p:nvSpPr>
        <p:spPr>
          <a:xfrm>
            <a:off x="6278221" y="3195501"/>
            <a:ext cx="99899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k=2 Vulnerable (ω=5) → Hosp./Shelter</a:t>
            </a:r>
          </a:p>
        </p:txBody>
      </p:sp>
      <p:sp>
        <p:nvSpPr>
          <p:cNvPr id="151" name="任意形状 150"/>
          <p:cNvSpPr/>
          <p:nvPr/>
        </p:nvSpPr>
        <p:spPr>
          <a:xfrm>
            <a:off x="6381750" y="3314700"/>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1976D2"/>
          </a:solidFill>
          <a:ln w="4082" cap="flat">
            <a:noFill/>
            <a:prstDash val="solid"/>
            <a:miter/>
          </a:ln>
        </p:spPr>
        <p:txBody>
          <a:bodyPr rtlCol="0" anchor="ctr"/>
          <a:lstStyle/>
          <a:p>
            <a:pPr algn="ctr"/>
            <a:endParaRPr lang="zh-CN" altLang="en-US" sz="1100"/>
          </a:p>
        </p:txBody>
      </p:sp>
      <p:sp>
        <p:nvSpPr>
          <p:cNvPr id="152" name="文本框 151"/>
          <p:cNvSpPr txBox="1"/>
          <p:nvPr/>
        </p:nvSpPr>
        <p:spPr>
          <a:xfrm>
            <a:off x="6300848" y="3277144"/>
            <a:ext cx="798617"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k=3 General (ω=1) → Shelter</a:t>
            </a:r>
          </a:p>
        </p:txBody>
      </p:sp>
      <p:sp>
        <p:nvSpPr>
          <p:cNvPr id="153" name="文本框 152"/>
          <p:cNvSpPr txBox="1"/>
          <p:nvPr/>
        </p:nvSpPr>
        <p:spPr>
          <a:xfrm>
            <a:off x="6277202" y="3334294"/>
            <a:ext cx="670376" cy="138499"/>
          </a:xfrm>
          <a:prstGeom prst="rect">
            <a:avLst/>
          </a:prstGeom>
          <a:noFill/>
        </p:spPr>
        <p:txBody>
          <a:bodyPr wrap="none" rtlCol="0">
            <a:spAutoFit/>
          </a:bodyPr>
          <a:lstStyle/>
          <a:p>
            <a:pPr algn="ctr"/>
            <a:r>
              <a:rPr lang="zh-CN" altLang="en-US" sz="300" spc="0" baseline="0">
                <a:solidFill>
                  <a:srgbClr val="999999"/>
                </a:solidFill>
                <a:latin typeface="Times New Roman" panose="02020503050405090304"/>
                <a:cs typeface="Times New Roman" panose="02020503050405090304"/>
                <a:sym typeface="Times New Roman" panose="02020503050405090304"/>
                <a:rtl val="0"/>
              </a:rPr>
              <a:t>Baidu LBS + Census age ratios</a:t>
            </a:r>
          </a:p>
        </p:txBody>
      </p:sp>
      <p:sp>
        <p:nvSpPr>
          <p:cNvPr id="154" name="任意形状 153"/>
          <p:cNvSpPr/>
          <p:nvPr/>
        </p:nvSpPr>
        <p:spPr>
          <a:xfrm>
            <a:off x="7545160" y="3028950"/>
            <a:ext cx="1183821" cy="408214"/>
          </a:xfrm>
          <a:custGeom>
            <a:avLst/>
            <a:gdLst>
              <a:gd name="connsiteX0" fmla="*/ 1159329 w 1183821"/>
              <a:gd name="connsiteY0" fmla="*/ 0 h 408214"/>
              <a:gd name="connsiteX1" fmla="*/ 1183821 w 1183821"/>
              <a:gd name="connsiteY1" fmla="*/ 0 h 408214"/>
              <a:gd name="connsiteX2" fmla="*/ 1183821 w 1183821"/>
              <a:gd name="connsiteY2" fmla="*/ 408214 h 408214"/>
              <a:gd name="connsiteX3" fmla="*/ 1159329 w 1183821"/>
              <a:gd name="connsiteY3" fmla="*/ 408214 h 408214"/>
              <a:gd name="connsiteX4" fmla="*/ 24493 w 1183821"/>
              <a:gd name="connsiteY4" fmla="*/ 408214 h 408214"/>
              <a:gd name="connsiteX5" fmla="*/ 0 w 1183821"/>
              <a:gd name="connsiteY5" fmla="*/ 408214 h 408214"/>
              <a:gd name="connsiteX6" fmla="*/ 0 w 1183821"/>
              <a:gd name="connsiteY6" fmla="*/ 0 h 408214"/>
              <a:gd name="connsiteX7" fmla="*/ 24493 w 11838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821" h="408214">
                <a:moveTo>
                  <a:pt x="1159329" y="0"/>
                </a:moveTo>
                <a:cubicBezTo>
                  <a:pt x="1172856" y="0"/>
                  <a:pt x="1183821" y="0"/>
                  <a:pt x="1183821" y="0"/>
                </a:cubicBezTo>
                <a:lnTo>
                  <a:pt x="1183821" y="408214"/>
                </a:lnTo>
                <a:cubicBezTo>
                  <a:pt x="1183821" y="408214"/>
                  <a:pt x="1172856" y="408214"/>
                  <a:pt x="11593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0D47A1"/>
            </a:solidFill>
            <a:prstDash val="solid"/>
            <a:miter/>
          </a:ln>
        </p:spPr>
        <p:txBody>
          <a:bodyPr rtlCol="0" anchor="ctr"/>
          <a:lstStyle/>
          <a:p>
            <a:pPr algn="ctr"/>
            <a:endParaRPr lang="zh-CN" altLang="en-US" sz="1100"/>
          </a:p>
        </p:txBody>
      </p:sp>
      <p:sp>
        <p:nvSpPr>
          <p:cNvPr id="155" name="文本框 154"/>
          <p:cNvSpPr txBox="1"/>
          <p:nvPr/>
        </p:nvSpPr>
        <p:spPr>
          <a:xfrm>
            <a:off x="7793868" y="3019969"/>
            <a:ext cx="686405" cy="169277"/>
          </a:xfrm>
          <a:prstGeom prst="rect">
            <a:avLst/>
          </a:prstGeom>
          <a:noFill/>
        </p:spPr>
        <p:txBody>
          <a:bodyPr wrap="none" rtlCol="0">
            <a:spAutoFit/>
          </a:bodyPr>
          <a:lstStyle/>
          <a:p>
            <a:pPr algn="ctr"/>
            <a:r>
              <a:rPr lang="zh-CN" altLang="en-US" sz="500" b="1" spc="0" baseline="0">
                <a:solidFill>
                  <a:srgbClr val="0D47A1"/>
                </a:solidFill>
                <a:latin typeface="Times New Roman" panose="02020503050405090304"/>
                <a:cs typeface="Times New Roman" panose="02020503050405090304"/>
                <a:sym typeface="Times New Roman" panose="02020503050405090304"/>
                <a:rtl val="0"/>
              </a:rPr>
              <a:t>Multi-Modal Fleet</a:t>
            </a:r>
          </a:p>
        </p:txBody>
      </p:sp>
      <p:sp>
        <p:nvSpPr>
          <p:cNvPr id="156" name="文本框 155"/>
          <p:cNvSpPr txBox="1"/>
          <p:nvPr/>
        </p:nvSpPr>
        <p:spPr>
          <a:xfrm>
            <a:off x="7458339" y="3109776"/>
            <a:ext cx="732893"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Ambulance (15) | Bus (20)</a:t>
            </a:r>
          </a:p>
        </p:txBody>
      </p:sp>
      <p:sp>
        <p:nvSpPr>
          <p:cNvPr id="157" name="文本框 156"/>
          <p:cNvSpPr txBox="1"/>
          <p:nvPr/>
        </p:nvSpPr>
        <p:spPr>
          <a:xfrm>
            <a:off x="7437240" y="3175090"/>
            <a:ext cx="922047"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Helicopter (3) | Subway (Yizhuang)</a:t>
            </a:r>
          </a:p>
        </p:txBody>
      </p:sp>
      <p:sp>
        <p:nvSpPr>
          <p:cNvPr id="158" name="文本框 157"/>
          <p:cNvSpPr txBox="1"/>
          <p:nvPr/>
        </p:nvSpPr>
        <p:spPr>
          <a:xfrm>
            <a:off x="7441388" y="3240405"/>
            <a:ext cx="885178"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Private car (commute ratio-based)</a:t>
            </a:r>
          </a:p>
        </p:txBody>
      </p:sp>
      <p:sp>
        <p:nvSpPr>
          <p:cNvPr id="159" name="文本框 158"/>
          <p:cNvSpPr txBox="1"/>
          <p:nvPr/>
        </p:nvSpPr>
        <p:spPr>
          <a:xfrm>
            <a:off x="7501909" y="3309801"/>
            <a:ext cx="633507" cy="138499"/>
          </a:xfrm>
          <a:prstGeom prst="rect">
            <a:avLst/>
          </a:prstGeom>
          <a:noFill/>
        </p:spPr>
        <p:txBody>
          <a:bodyPr wrap="none" rtlCol="0">
            <a:spAutoFit/>
          </a:bodyPr>
          <a:lstStyle/>
          <a:p>
            <a:pPr algn="ctr"/>
            <a:r>
              <a:rPr lang="zh-CN" altLang="en-US" sz="300" spc="0" baseline="0">
                <a:solidFill>
                  <a:srgbClr val="999999"/>
                </a:solidFill>
                <a:latin typeface="Times New Roman" panose="02020503050405090304"/>
                <a:cs typeface="Times New Roman" panose="02020503050405090304"/>
                <a:sym typeface="Times New Roman" panose="02020503050405090304"/>
                <a:rtl val="0"/>
              </a:rPr>
              <a:t>Network Dijkstra travel time</a:t>
            </a:r>
          </a:p>
        </p:txBody>
      </p:sp>
      <p:sp>
        <p:nvSpPr>
          <p:cNvPr id="160" name="任意形状 159"/>
          <p:cNvSpPr/>
          <p:nvPr/>
        </p:nvSpPr>
        <p:spPr>
          <a:xfrm>
            <a:off x="7524750" y="3437164"/>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1565C0"/>
            </a:solidFill>
            <a:prstDash val="solid"/>
            <a:miter/>
          </a:ln>
        </p:spPr>
        <p:txBody>
          <a:bodyPr rtlCol="0" anchor="ctr"/>
          <a:lstStyle/>
          <a:p>
            <a:pPr algn="ctr"/>
            <a:endParaRPr lang="zh-CN" altLang="en-US" sz="1100"/>
          </a:p>
        </p:txBody>
      </p:sp>
      <p:sp>
        <p:nvSpPr>
          <p:cNvPr id="161" name="任意形状 160"/>
          <p:cNvSpPr/>
          <p:nvPr/>
        </p:nvSpPr>
        <p:spPr>
          <a:xfrm>
            <a:off x="6585857" y="3543300"/>
            <a:ext cx="1918607" cy="277585"/>
          </a:xfrm>
          <a:custGeom>
            <a:avLst/>
            <a:gdLst>
              <a:gd name="connsiteX0" fmla="*/ 1894114 w 1918607"/>
              <a:gd name="connsiteY0" fmla="*/ 0 h 277585"/>
              <a:gd name="connsiteX1" fmla="*/ 1918607 w 1918607"/>
              <a:gd name="connsiteY1" fmla="*/ 0 h 277585"/>
              <a:gd name="connsiteX2" fmla="*/ 1918607 w 1918607"/>
              <a:gd name="connsiteY2" fmla="*/ 277586 h 277585"/>
              <a:gd name="connsiteX3" fmla="*/ 1894114 w 1918607"/>
              <a:gd name="connsiteY3" fmla="*/ 277586 h 277585"/>
              <a:gd name="connsiteX4" fmla="*/ 24493 w 1918607"/>
              <a:gd name="connsiteY4" fmla="*/ 277586 h 277585"/>
              <a:gd name="connsiteX5" fmla="*/ 0 w 1918607"/>
              <a:gd name="connsiteY5" fmla="*/ 277586 h 277585"/>
              <a:gd name="connsiteX6" fmla="*/ 0 w 1918607"/>
              <a:gd name="connsiteY6" fmla="*/ 0 h 277585"/>
              <a:gd name="connsiteX7" fmla="*/ 24493 w 1918607"/>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8607" h="277585">
                <a:moveTo>
                  <a:pt x="1894114" y="0"/>
                </a:moveTo>
                <a:cubicBezTo>
                  <a:pt x="1907641" y="0"/>
                  <a:pt x="1918607" y="0"/>
                  <a:pt x="1918607" y="0"/>
                </a:cubicBezTo>
                <a:lnTo>
                  <a:pt x="1918607" y="277586"/>
                </a:lnTo>
                <a:cubicBezTo>
                  <a:pt x="1918607" y="277586"/>
                  <a:pt x="1907641" y="277586"/>
                  <a:pt x="1894114" y="277586"/>
                </a:cubicBezTo>
                <a:lnTo>
                  <a:pt x="24493" y="277586"/>
                </a:lnTo>
                <a:cubicBezTo>
                  <a:pt x="10966" y="277586"/>
                  <a:pt x="0" y="277586"/>
                  <a:pt x="0" y="277586"/>
                </a:cubicBezTo>
                <a:lnTo>
                  <a:pt x="0" y="0"/>
                </a:lnTo>
                <a:cubicBezTo>
                  <a:pt x="0" y="0"/>
                  <a:pt x="10966" y="0"/>
                  <a:pt x="24493" y="0"/>
                </a:cubicBezTo>
                <a:close/>
              </a:path>
            </a:pathLst>
          </a:custGeom>
          <a:solidFill>
            <a:srgbClr val="FFFFFF"/>
          </a:solidFill>
          <a:ln w="4899" cap="flat">
            <a:solidFill>
              <a:srgbClr val="0D47A1"/>
            </a:solidFill>
            <a:prstDash val="solid"/>
            <a:miter/>
          </a:ln>
        </p:spPr>
        <p:txBody>
          <a:bodyPr rtlCol="0" anchor="ctr"/>
          <a:lstStyle/>
          <a:p>
            <a:pPr algn="ctr"/>
            <a:endParaRPr lang="zh-CN" altLang="en-US" sz="1100"/>
          </a:p>
        </p:txBody>
      </p:sp>
      <p:sp>
        <p:nvSpPr>
          <p:cNvPr id="162" name="文本框 161"/>
          <p:cNvSpPr txBox="1"/>
          <p:nvPr/>
        </p:nvSpPr>
        <p:spPr>
          <a:xfrm>
            <a:off x="6750711" y="3534319"/>
            <a:ext cx="1588897" cy="169277"/>
          </a:xfrm>
          <a:prstGeom prst="rect">
            <a:avLst/>
          </a:prstGeom>
          <a:noFill/>
        </p:spPr>
        <p:txBody>
          <a:bodyPr wrap="none" rtlCol="0">
            <a:spAutoFit/>
          </a:bodyPr>
          <a:lstStyle/>
          <a:p>
            <a:pPr algn="ctr"/>
            <a:r>
              <a:rPr lang="zh-CN" altLang="en-US" sz="500" b="1" spc="0" baseline="0">
                <a:solidFill>
                  <a:srgbClr val="0D47A1"/>
                </a:solidFill>
                <a:latin typeface="Times New Roman" panose="02020503050405090304"/>
                <a:cs typeface="Times New Roman" panose="02020503050405090304"/>
                <a:sym typeface="Times New Roman" panose="02020503050405090304"/>
                <a:rtl val="0"/>
              </a:rPr>
              <a:t>Time-Stepped Scheduling (Δt = 5 min, T = 180 min)</a:t>
            </a:r>
          </a:p>
        </p:txBody>
      </p:sp>
      <p:sp>
        <p:nvSpPr>
          <p:cNvPr id="163" name="文本框 162"/>
          <p:cNvSpPr txBox="1"/>
          <p:nvPr/>
        </p:nvSpPr>
        <p:spPr>
          <a:xfrm>
            <a:off x="6409703" y="3624126"/>
            <a:ext cx="1572866"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min Z = Z₁(weighted time) + Z₂(dynamic risk) + Z₃(unmet penalty)</a:t>
            </a:r>
          </a:p>
        </p:txBody>
      </p:sp>
      <p:sp>
        <p:nvSpPr>
          <p:cNvPr id="164" name="文本框 163"/>
          <p:cNvSpPr txBox="1"/>
          <p:nvPr/>
        </p:nvSpPr>
        <p:spPr>
          <a:xfrm>
            <a:off x="6395305" y="3689440"/>
            <a:ext cx="1736373"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Priority dispatch → Risk interpolation → Vehicle assign → Capacity check</a:t>
            </a:r>
          </a:p>
        </p:txBody>
      </p:sp>
      <p:sp>
        <p:nvSpPr>
          <p:cNvPr id="165" name="任意形状 164"/>
          <p:cNvSpPr/>
          <p:nvPr/>
        </p:nvSpPr>
        <p:spPr>
          <a:xfrm>
            <a:off x="7524750" y="3820885"/>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1565C0"/>
            </a:solidFill>
            <a:prstDash val="solid"/>
            <a:miter/>
          </a:ln>
        </p:spPr>
        <p:txBody>
          <a:bodyPr rtlCol="0" anchor="ctr"/>
          <a:lstStyle/>
          <a:p>
            <a:pPr algn="ctr"/>
            <a:endParaRPr lang="zh-CN" altLang="en-US" sz="1100"/>
          </a:p>
        </p:txBody>
      </p:sp>
      <p:sp>
        <p:nvSpPr>
          <p:cNvPr id="166" name="任意形状 165"/>
          <p:cNvSpPr/>
          <p:nvPr/>
        </p:nvSpPr>
        <p:spPr>
          <a:xfrm>
            <a:off x="6320517" y="3927021"/>
            <a:ext cx="2408464" cy="306160"/>
          </a:xfrm>
          <a:custGeom>
            <a:avLst/>
            <a:gdLst>
              <a:gd name="connsiteX0" fmla="*/ 2383972 w 2408464"/>
              <a:gd name="connsiteY0" fmla="*/ 0 h 306160"/>
              <a:gd name="connsiteX1" fmla="*/ 2408464 w 2408464"/>
              <a:gd name="connsiteY1" fmla="*/ 0 h 306160"/>
              <a:gd name="connsiteX2" fmla="*/ 2408464 w 2408464"/>
              <a:gd name="connsiteY2" fmla="*/ 306161 h 306160"/>
              <a:gd name="connsiteX3" fmla="*/ 2383972 w 2408464"/>
              <a:gd name="connsiteY3" fmla="*/ 306161 h 306160"/>
              <a:gd name="connsiteX4" fmla="*/ 24493 w 2408464"/>
              <a:gd name="connsiteY4" fmla="*/ 306161 h 306160"/>
              <a:gd name="connsiteX5" fmla="*/ 0 w 2408464"/>
              <a:gd name="connsiteY5" fmla="*/ 306161 h 306160"/>
              <a:gd name="connsiteX6" fmla="*/ 0 w 2408464"/>
              <a:gd name="connsiteY6" fmla="*/ 0 h 306160"/>
              <a:gd name="connsiteX7" fmla="*/ 24493 w 2408464"/>
              <a:gd name="connsiteY7" fmla="*/ 0 h 30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8464" h="306160">
                <a:moveTo>
                  <a:pt x="2383972" y="0"/>
                </a:moveTo>
                <a:cubicBezTo>
                  <a:pt x="2397499" y="0"/>
                  <a:pt x="2408464" y="0"/>
                  <a:pt x="2408464" y="0"/>
                </a:cubicBezTo>
                <a:lnTo>
                  <a:pt x="2408464" y="306161"/>
                </a:lnTo>
                <a:cubicBezTo>
                  <a:pt x="2408464" y="306161"/>
                  <a:pt x="2397499" y="306161"/>
                  <a:pt x="2383972" y="306161"/>
                </a:cubicBezTo>
                <a:lnTo>
                  <a:pt x="24493" y="306161"/>
                </a:lnTo>
                <a:cubicBezTo>
                  <a:pt x="10966" y="306161"/>
                  <a:pt x="0" y="306161"/>
                  <a:pt x="0" y="306161"/>
                </a:cubicBezTo>
                <a:lnTo>
                  <a:pt x="0" y="0"/>
                </a:lnTo>
                <a:cubicBezTo>
                  <a:pt x="0" y="0"/>
                  <a:pt x="10966" y="0"/>
                  <a:pt x="24493" y="0"/>
                </a:cubicBezTo>
                <a:close/>
              </a:path>
            </a:pathLst>
          </a:custGeom>
          <a:solidFill>
            <a:srgbClr val="BBDEFB"/>
          </a:solidFill>
          <a:ln w="6123" cap="flat">
            <a:solidFill>
              <a:srgbClr val="1565C0"/>
            </a:solidFill>
            <a:prstDash val="solid"/>
            <a:miter/>
          </a:ln>
        </p:spPr>
        <p:txBody>
          <a:bodyPr rtlCol="0" anchor="ctr"/>
          <a:lstStyle/>
          <a:p>
            <a:pPr algn="ctr"/>
            <a:endParaRPr lang="zh-CN" altLang="en-US" sz="1100"/>
          </a:p>
        </p:txBody>
      </p:sp>
      <p:sp>
        <p:nvSpPr>
          <p:cNvPr id="167" name="文本框 166"/>
          <p:cNvSpPr txBox="1"/>
          <p:nvPr/>
        </p:nvSpPr>
        <p:spPr>
          <a:xfrm>
            <a:off x="7268909" y="3926205"/>
            <a:ext cx="511679" cy="169277"/>
          </a:xfrm>
          <a:prstGeom prst="rect">
            <a:avLst/>
          </a:prstGeom>
          <a:noFill/>
        </p:spPr>
        <p:txBody>
          <a:bodyPr wrap="none" rtlCol="0">
            <a:spAutoFit/>
          </a:bodyPr>
          <a:lstStyle/>
          <a:p>
            <a:pPr algn="ctr"/>
            <a:r>
              <a:rPr lang="zh-CN" altLang="en-US" sz="500" b="1" spc="0" baseline="0">
                <a:solidFill>
                  <a:srgbClr val="0D47A1"/>
                </a:solidFill>
                <a:latin typeface="Times New Roman" panose="02020503050405090304"/>
                <a:cs typeface="Times New Roman" panose="02020503050405090304"/>
                <a:sym typeface="Times New Roman" panose="02020503050405090304"/>
                <a:rtl val="0"/>
              </a:rPr>
              <a:t>Key Results</a:t>
            </a:r>
          </a:p>
        </p:txBody>
      </p:sp>
      <p:sp>
        <p:nvSpPr>
          <p:cNvPr id="168" name="文本框 167"/>
          <p:cNvSpPr txBox="1"/>
          <p:nvPr/>
        </p:nvSpPr>
        <p:spPr>
          <a:xfrm>
            <a:off x="6044913" y="3995601"/>
            <a:ext cx="1808508" cy="169277"/>
          </a:xfrm>
          <a:prstGeom prst="rect">
            <a:avLst/>
          </a:prstGeom>
          <a:noFill/>
        </p:spPr>
        <p:txBody>
          <a:bodyPr wrap="none" rtlCol="0">
            <a:spAutoFit/>
          </a:bodyPr>
          <a:lstStyle/>
          <a:p>
            <a:pPr algn="ctr"/>
            <a:r>
              <a:rPr lang="zh-CN" altLang="en-US" sz="500" spc="0" baseline="0">
                <a:solidFill>
                  <a:srgbClr val="333333"/>
                </a:solidFill>
                <a:latin typeface="Segoe UI Symbol"/>
                <a:sym typeface="Segoe UI Symbol"/>
                <a:rtl val="0"/>
              </a:rPr>
              <a:t>✓</a:t>
            </a: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Baseline: 21,312 evacuees (9.1%) | Subway contributes 69%</a:t>
            </a:r>
          </a:p>
        </p:txBody>
      </p:sp>
      <p:sp>
        <p:nvSpPr>
          <p:cNvPr id="169" name="文本框 168"/>
          <p:cNvSpPr txBox="1"/>
          <p:nvPr/>
        </p:nvSpPr>
        <p:spPr>
          <a:xfrm>
            <a:off x="6025408" y="4069080"/>
            <a:ext cx="1949572" cy="169277"/>
          </a:xfrm>
          <a:prstGeom prst="rect">
            <a:avLst/>
          </a:prstGeom>
          <a:noFill/>
        </p:spPr>
        <p:txBody>
          <a:bodyPr wrap="none" rtlCol="0">
            <a:spAutoFit/>
          </a:bodyPr>
          <a:lstStyle/>
          <a:p>
            <a:pPr algn="ctr"/>
            <a:r>
              <a:rPr lang="zh-CN" altLang="en-US" sz="500" spc="0" baseline="0">
                <a:solidFill>
                  <a:srgbClr val="333333"/>
                </a:solidFill>
                <a:latin typeface="Segoe UI Symbol"/>
                <a:sym typeface="Segoe UI Symbol"/>
                <a:rtl val="0"/>
              </a:rPr>
              <a:t>✓</a:t>
            </a: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No-subway drops to 2.8% | Helicopter reduces critical-patient risk</a:t>
            </a:r>
          </a:p>
        </p:txBody>
      </p:sp>
      <p:sp>
        <p:nvSpPr>
          <p:cNvPr id="170" name="文本框 169"/>
          <p:cNvSpPr txBox="1"/>
          <p:nvPr/>
        </p:nvSpPr>
        <p:spPr>
          <a:xfrm>
            <a:off x="6260348" y="4146640"/>
            <a:ext cx="1271502" cy="138499"/>
          </a:xfrm>
          <a:prstGeom prst="rect">
            <a:avLst/>
          </a:prstGeom>
          <a:noFill/>
        </p:spPr>
        <p:txBody>
          <a:bodyPr wrap="none" rtlCol="0">
            <a:spAutoFit/>
          </a:bodyPr>
          <a:lstStyle/>
          <a:p>
            <a:pPr algn="ctr"/>
            <a:r>
              <a:rPr lang="zh-CN" altLang="en-US" sz="300" i="1" spc="0" baseline="0">
                <a:solidFill>
                  <a:srgbClr val="1565C0"/>
                </a:solidFill>
                <a:latin typeface="Times New Roman" panose="02020503050405090304"/>
                <a:cs typeface="Times New Roman" panose="02020503050405090304"/>
                <a:sym typeface="Times New Roman" panose="02020503050405090304"/>
                <a:rtl val="0"/>
              </a:rPr>
              <a:t>Scenarios: Baseline / No-subway / No-helicopter / Double-ambulance</a:t>
            </a:r>
          </a:p>
        </p:txBody>
      </p:sp>
      <p:sp>
        <p:nvSpPr>
          <p:cNvPr id="171" name="任意形状 170"/>
          <p:cNvSpPr/>
          <p:nvPr/>
        </p:nvSpPr>
        <p:spPr>
          <a:xfrm>
            <a:off x="5973535" y="3265714"/>
            <a:ext cx="244928" cy="4082"/>
          </a:xfrm>
          <a:custGeom>
            <a:avLst/>
            <a:gdLst>
              <a:gd name="connsiteX0" fmla="*/ 0 w 244928"/>
              <a:gd name="connsiteY0" fmla="*/ 0 h 4082"/>
              <a:gd name="connsiteX1" fmla="*/ 244929 w 244928"/>
              <a:gd name="connsiteY1" fmla="*/ 0 h 4082"/>
            </a:gdLst>
            <a:ahLst/>
            <a:cxnLst>
              <a:cxn ang="0">
                <a:pos x="connsiteX0" y="connsiteY0"/>
              </a:cxn>
              <a:cxn ang="0">
                <a:pos x="connsiteX1" y="connsiteY1"/>
              </a:cxn>
            </a:cxnLst>
            <a:rect l="l" t="t" r="r" b="b"/>
            <a:pathLst>
              <a:path w="244928" h="4082">
                <a:moveTo>
                  <a:pt x="0" y="0"/>
                </a:moveTo>
                <a:lnTo>
                  <a:pt x="244929" y="0"/>
                </a:lnTo>
              </a:path>
            </a:pathLst>
          </a:custGeom>
          <a:ln w="6123" cap="flat">
            <a:solidFill>
              <a:srgbClr val="FF6F00"/>
            </a:solidFill>
            <a:custDash>
              <a:ds d="375000" sp="225000"/>
            </a:custDash>
            <a:miter/>
          </a:ln>
        </p:spPr>
        <p:txBody>
          <a:bodyPr rtlCol="0" anchor="ctr"/>
          <a:lstStyle/>
          <a:p>
            <a:pPr algn="ctr"/>
            <a:endParaRPr lang="zh-CN" altLang="en-US" sz="1100"/>
          </a:p>
        </p:txBody>
      </p:sp>
      <p:sp>
        <p:nvSpPr>
          <p:cNvPr id="172" name="任意形状 171"/>
          <p:cNvSpPr/>
          <p:nvPr/>
        </p:nvSpPr>
        <p:spPr>
          <a:xfrm>
            <a:off x="5973535" y="3388178"/>
            <a:ext cx="244928" cy="4082"/>
          </a:xfrm>
          <a:custGeom>
            <a:avLst/>
            <a:gdLst>
              <a:gd name="connsiteX0" fmla="*/ 244929 w 244928"/>
              <a:gd name="connsiteY0" fmla="*/ 0 h 4082"/>
              <a:gd name="connsiteX1" fmla="*/ 0 w 244928"/>
              <a:gd name="connsiteY1" fmla="*/ 0 h 4082"/>
            </a:gdLst>
            <a:ahLst/>
            <a:cxnLst>
              <a:cxn ang="0">
                <a:pos x="connsiteX0" y="connsiteY0"/>
              </a:cxn>
              <a:cxn ang="0">
                <a:pos x="connsiteX1" y="connsiteY1"/>
              </a:cxn>
            </a:cxnLst>
            <a:rect l="l" t="t" r="r" b="b"/>
            <a:pathLst>
              <a:path w="244928" h="4082">
                <a:moveTo>
                  <a:pt x="244929" y="0"/>
                </a:moveTo>
                <a:lnTo>
                  <a:pt x="0" y="0"/>
                </a:lnTo>
              </a:path>
            </a:pathLst>
          </a:custGeom>
          <a:ln w="6123" cap="flat">
            <a:solidFill>
              <a:srgbClr val="FF6F00"/>
            </a:solidFill>
            <a:custDash>
              <a:ds d="375000" sp="225000"/>
            </a:custDash>
            <a:miter/>
          </a:ln>
        </p:spPr>
        <p:txBody>
          <a:bodyPr rtlCol="0" anchor="ctr"/>
          <a:lstStyle/>
          <a:p>
            <a:pPr algn="ctr"/>
            <a:endParaRPr lang="zh-CN" altLang="en-US" sz="1100"/>
          </a:p>
        </p:txBody>
      </p:sp>
      <p:sp>
        <p:nvSpPr>
          <p:cNvPr id="173" name="文本框 172"/>
          <p:cNvSpPr txBox="1"/>
          <p:nvPr/>
        </p:nvSpPr>
        <p:spPr>
          <a:xfrm rot="16200000">
            <a:off x="5916079" y="3482213"/>
            <a:ext cx="335348" cy="138499"/>
          </a:xfrm>
          <a:prstGeom prst="rect">
            <a:avLst/>
          </a:prstGeom>
          <a:noFill/>
        </p:spPr>
        <p:txBody>
          <a:bodyPr wrap="none" rtlCol="0">
            <a:spAutoFit/>
          </a:bodyPr>
          <a:lstStyle/>
          <a:p>
            <a:pPr algn="ctr"/>
            <a:r>
              <a:rPr lang="zh-CN" altLang="en-US" sz="300" b="1" spc="0" baseline="0">
                <a:solidFill>
                  <a:srgbClr val="FF6F00"/>
                </a:solidFill>
                <a:latin typeface="Times New Roman" panose="02020503050405090304"/>
                <a:cs typeface="Times New Roman" panose="02020503050405090304"/>
                <a:sym typeface="Times New Roman" panose="02020503050405090304"/>
                <a:rtl val="0"/>
              </a:rPr>
              <a:t>Coupling</a:t>
            </a:r>
          </a:p>
        </p:txBody>
      </p:sp>
      <p:sp>
        <p:nvSpPr>
          <p:cNvPr id="174" name="任意形状 173"/>
          <p:cNvSpPr/>
          <p:nvPr/>
        </p:nvSpPr>
        <p:spPr>
          <a:xfrm>
            <a:off x="4667250" y="4563835"/>
            <a:ext cx="4082" cy="122464"/>
          </a:xfrm>
          <a:custGeom>
            <a:avLst/>
            <a:gdLst>
              <a:gd name="connsiteX0" fmla="*/ 0 w 4082"/>
              <a:gd name="connsiteY0" fmla="*/ 0 h 122464"/>
              <a:gd name="connsiteX1" fmla="*/ 0 w 4082"/>
              <a:gd name="connsiteY1" fmla="*/ 122464 h 122464"/>
            </a:gdLst>
            <a:ahLst/>
            <a:cxnLst>
              <a:cxn ang="0">
                <a:pos x="connsiteX0" y="connsiteY0"/>
              </a:cxn>
              <a:cxn ang="0">
                <a:pos x="connsiteX1" y="connsiteY1"/>
              </a:cxn>
            </a:cxnLst>
            <a:rect l="l" t="t" r="r" b="b"/>
            <a:pathLst>
              <a:path w="4082" h="122464">
                <a:moveTo>
                  <a:pt x="0" y="0"/>
                </a:moveTo>
                <a:lnTo>
                  <a:pt x="0" y="122464"/>
                </a:lnTo>
              </a:path>
            </a:pathLst>
          </a:custGeom>
          <a:ln w="6123" cap="flat">
            <a:solidFill>
              <a:srgbClr val="C62828"/>
            </a:solidFill>
            <a:prstDash val="solid"/>
            <a:miter/>
          </a:ln>
        </p:spPr>
        <p:txBody>
          <a:bodyPr rtlCol="0" anchor="ctr"/>
          <a:lstStyle/>
          <a:p>
            <a:pPr algn="ctr"/>
            <a:endParaRPr lang="zh-CN" altLang="en-US" sz="1100"/>
          </a:p>
        </p:txBody>
      </p:sp>
      <p:sp>
        <p:nvSpPr>
          <p:cNvPr id="175" name="任意形状 174"/>
          <p:cNvSpPr/>
          <p:nvPr/>
        </p:nvSpPr>
        <p:spPr>
          <a:xfrm>
            <a:off x="7524750" y="4563835"/>
            <a:ext cx="4082" cy="122464"/>
          </a:xfrm>
          <a:custGeom>
            <a:avLst/>
            <a:gdLst>
              <a:gd name="connsiteX0" fmla="*/ 0 w 4082"/>
              <a:gd name="connsiteY0" fmla="*/ 0 h 122464"/>
              <a:gd name="connsiteX1" fmla="*/ 0 w 4082"/>
              <a:gd name="connsiteY1" fmla="*/ 122464 h 122464"/>
            </a:gdLst>
            <a:ahLst/>
            <a:cxnLst>
              <a:cxn ang="0">
                <a:pos x="connsiteX0" y="connsiteY0"/>
              </a:cxn>
              <a:cxn ang="0">
                <a:pos x="connsiteX1" y="connsiteY1"/>
              </a:cxn>
            </a:cxnLst>
            <a:rect l="l" t="t" r="r" b="b"/>
            <a:pathLst>
              <a:path w="4082" h="122464">
                <a:moveTo>
                  <a:pt x="0" y="0"/>
                </a:moveTo>
                <a:lnTo>
                  <a:pt x="0" y="122464"/>
                </a:lnTo>
              </a:path>
            </a:pathLst>
          </a:custGeom>
          <a:ln w="6123" cap="flat">
            <a:solidFill>
              <a:srgbClr val="1565C0"/>
            </a:solidFill>
            <a:prstDash val="solid"/>
            <a:miter/>
          </a:ln>
        </p:spPr>
        <p:txBody>
          <a:bodyPr rtlCol="0" anchor="ctr"/>
          <a:lstStyle/>
          <a:p>
            <a:pPr algn="ctr"/>
            <a:endParaRPr lang="zh-CN" altLang="en-US" sz="1100"/>
          </a:p>
        </p:txBody>
      </p:sp>
      <p:sp>
        <p:nvSpPr>
          <p:cNvPr id="176" name="任意形状 175"/>
          <p:cNvSpPr/>
          <p:nvPr/>
        </p:nvSpPr>
        <p:spPr>
          <a:xfrm>
            <a:off x="3360964" y="4714875"/>
            <a:ext cx="5470071" cy="938892"/>
          </a:xfrm>
          <a:custGeom>
            <a:avLst/>
            <a:gdLst>
              <a:gd name="connsiteX0" fmla="*/ 5437415 w 5470071"/>
              <a:gd name="connsiteY0" fmla="*/ 0 h 938892"/>
              <a:gd name="connsiteX1" fmla="*/ 5470072 w 5470071"/>
              <a:gd name="connsiteY1" fmla="*/ 0 h 938892"/>
              <a:gd name="connsiteX2" fmla="*/ 5470072 w 5470071"/>
              <a:gd name="connsiteY2" fmla="*/ 938893 h 938892"/>
              <a:gd name="connsiteX3" fmla="*/ 5437415 w 5470071"/>
              <a:gd name="connsiteY3" fmla="*/ 938893 h 938892"/>
              <a:gd name="connsiteX4" fmla="*/ 32657 w 5470071"/>
              <a:gd name="connsiteY4" fmla="*/ 938893 h 938892"/>
              <a:gd name="connsiteX5" fmla="*/ 0 w 5470071"/>
              <a:gd name="connsiteY5" fmla="*/ 938893 h 938892"/>
              <a:gd name="connsiteX6" fmla="*/ 0 w 5470071"/>
              <a:gd name="connsiteY6" fmla="*/ 0 h 938892"/>
              <a:gd name="connsiteX7" fmla="*/ 32657 w 5470071"/>
              <a:gd name="connsiteY7" fmla="*/ 0 h 93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938892">
                <a:moveTo>
                  <a:pt x="5437415" y="0"/>
                </a:moveTo>
                <a:cubicBezTo>
                  <a:pt x="5455451" y="0"/>
                  <a:pt x="5470072" y="0"/>
                  <a:pt x="5470072" y="0"/>
                </a:cubicBezTo>
                <a:lnTo>
                  <a:pt x="5470072" y="938893"/>
                </a:lnTo>
                <a:cubicBezTo>
                  <a:pt x="5470072" y="938893"/>
                  <a:pt x="5455451" y="938893"/>
                  <a:pt x="5437415" y="938893"/>
                </a:cubicBezTo>
                <a:lnTo>
                  <a:pt x="32657" y="938893"/>
                </a:lnTo>
                <a:cubicBezTo>
                  <a:pt x="14621" y="938893"/>
                  <a:pt x="0" y="938893"/>
                  <a:pt x="0" y="938893"/>
                </a:cubicBezTo>
                <a:lnTo>
                  <a:pt x="0" y="0"/>
                </a:lnTo>
                <a:cubicBezTo>
                  <a:pt x="0" y="0"/>
                  <a:pt x="14621" y="0"/>
                  <a:pt x="32657" y="0"/>
                </a:cubicBezTo>
                <a:close/>
              </a:path>
            </a:pathLst>
          </a:custGeom>
          <a:solidFill>
            <a:srgbClr val="E8F5E9"/>
          </a:solidFill>
          <a:ln w="6123" cap="flat">
            <a:solidFill>
              <a:srgbClr val="2E7D32"/>
            </a:solidFill>
            <a:prstDash val="solid"/>
            <a:miter/>
          </a:ln>
        </p:spPr>
        <p:txBody>
          <a:bodyPr rtlCol="0" anchor="ctr"/>
          <a:lstStyle/>
          <a:p>
            <a:pPr algn="ctr"/>
            <a:endParaRPr lang="zh-CN" altLang="en-US" sz="1100"/>
          </a:p>
        </p:txBody>
      </p:sp>
      <p:sp>
        <p:nvSpPr>
          <p:cNvPr id="177" name="文本框 176"/>
          <p:cNvSpPr txBox="1"/>
          <p:nvPr/>
        </p:nvSpPr>
        <p:spPr>
          <a:xfrm>
            <a:off x="2734783" y="4726305"/>
            <a:ext cx="3044423" cy="246221"/>
          </a:xfrm>
          <a:prstGeom prst="rect">
            <a:avLst/>
          </a:prstGeom>
          <a:noFill/>
        </p:spPr>
        <p:txBody>
          <a:bodyPr wrap="none" rtlCol="0">
            <a:spAutoFit/>
          </a:bodyPr>
          <a:lstStyle/>
          <a:p>
            <a:pPr algn="ctr"/>
            <a:r>
              <a:rPr lang="zh-CN" altLang="en-US" sz="1000" b="1" spc="0" baseline="0">
                <a:solidFill>
                  <a:srgbClr val="2E7D32"/>
                </a:solidFill>
                <a:latin typeface="Times New Roman" panose="02020503050405090304"/>
                <a:cs typeface="Times New Roman" panose="02020503050405090304"/>
                <a:sym typeface="Times New Roman" panose="02020503050405090304"/>
                <a:rtl val="0"/>
              </a:rPr>
              <a:t>4. Resilience Assessment &amp; Comprehensive Analysis</a:t>
            </a:r>
          </a:p>
        </p:txBody>
      </p:sp>
      <p:sp>
        <p:nvSpPr>
          <p:cNvPr id="178" name="文本框 177"/>
          <p:cNvSpPr txBox="1"/>
          <p:nvPr/>
        </p:nvSpPr>
        <p:spPr>
          <a:xfrm>
            <a:off x="3148500" y="4832440"/>
            <a:ext cx="1531188" cy="169277"/>
          </a:xfrm>
          <a:prstGeom prst="rect">
            <a:avLst/>
          </a:prstGeom>
          <a:noFill/>
        </p:spPr>
        <p:txBody>
          <a:bodyPr wrap="none" rtlCol="0">
            <a:spAutoFit/>
          </a:bodyPr>
          <a:lstStyle/>
          <a:p>
            <a:pPr algn="ctr"/>
            <a:r>
              <a:rPr lang="zh-CN" altLang="en-US" sz="500" spc="0" baseline="0">
                <a:solidFill>
                  <a:srgbClr val="888888"/>
                </a:solidFill>
                <a:latin typeface="Times New Roman" panose="02020503050405090304"/>
                <a:cs typeface="Times New Roman" panose="02020503050405090304"/>
                <a:sym typeface="Times New Roman" panose="02020503050405090304"/>
                <a:rtl val="0"/>
              </a:rPr>
              <a:t>Three-Dimensional Resilience Framework (Step 12)</a:t>
            </a:r>
          </a:p>
        </p:txBody>
      </p:sp>
      <p:sp>
        <p:nvSpPr>
          <p:cNvPr id="179" name="任意形状 178"/>
          <p:cNvSpPr/>
          <p:nvPr/>
        </p:nvSpPr>
        <p:spPr>
          <a:xfrm>
            <a:off x="3463017" y="4988378"/>
            <a:ext cx="1551214" cy="408214"/>
          </a:xfrm>
          <a:custGeom>
            <a:avLst/>
            <a:gdLst>
              <a:gd name="connsiteX0" fmla="*/ 1526721 w 1551214"/>
              <a:gd name="connsiteY0" fmla="*/ 0 h 408214"/>
              <a:gd name="connsiteX1" fmla="*/ 1551214 w 1551214"/>
              <a:gd name="connsiteY1" fmla="*/ 0 h 408214"/>
              <a:gd name="connsiteX2" fmla="*/ 1551214 w 1551214"/>
              <a:gd name="connsiteY2" fmla="*/ 408214 h 408214"/>
              <a:gd name="connsiteX3" fmla="*/ 1526721 w 1551214"/>
              <a:gd name="connsiteY3" fmla="*/ 408214 h 408214"/>
              <a:gd name="connsiteX4" fmla="*/ 24493 w 1551214"/>
              <a:gd name="connsiteY4" fmla="*/ 408214 h 408214"/>
              <a:gd name="connsiteX5" fmla="*/ 0 w 1551214"/>
              <a:gd name="connsiteY5" fmla="*/ 408214 h 408214"/>
              <a:gd name="connsiteX6" fmla="*/ 0 w 1551214"/>
              <a:gd name="connsiteY6" fmla="*/ 0 h 408214"/>
              <a:gd name="connsiteX7" fmla="*/ 24493 w 1551214"/>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214" h="408214">
                <a:moveTo>
                  <a:pt x="1526721" y="0"/>
                </a:moveTo>
                <a:cubicBezTo>
                  <a:pt x="1540249" y="0"/>
                  <a:pt x="1551214" y="0"/>
                  <a:pt x="1551214" y="0"/>
                </a:cubicBezTo>
                <a:lnTo>
                  <a:pt x="1551214" y="408214"/>
                </a:lnTo>
                <a:cubicBezTo>
                  <a:pt x="1551214" y="408214"/>
                  <a:pt x="1540249" y="408214"/>
                  <a:pt x="1526721"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388E3C"/>
            </a:solidFill>
            <a:prstDash val="solid"/>
            <a:miter/>
          </a:ln>
        </p:spPr>
        <p:txBody>
          <a:bodyPr rtlCol="0" anchor="ctr"/>
          <a:lstStyle/>
          <a:p>
            <a:pPr algn="ctr"/>
            <a:endParaRPr lang="zh-CN" altLang="en-US" sz="1100"/>
          </a:p>
        </p:txBody>
      </p:sp>
      <p:sp>
        <p:nvSpPr>
          <p:cNvPr id="180" name="文本框 179"/>
          <p:cNvSpPr txBox="1"/>
          <p:nvPr/>
        </p:nvSpPr>
        <p:spPr>
          <a:xfrm>
            <a:off x="3712679" y="4987562"/>
            <a:ext cx="1051890" cy="169277"/>
          </a:xfrm>
          <a:prstGeom prst="rect">
            <a:avLst/>
          </a:prstGeom>
          <a:noFill/>
        </p:spPr>
        <p:txBody>
          <a:bodyPr wrap="none" rtlCol="0">
            <a:spAutoFit/>
          </a:bodyPr>
          <a:lstStyle/>
          <a:p>
            <a:pPr algn="ctr"/>
            <a:r>
              <a:rPr lang="zh-CN" altLang="en-US" sz="500" b="1" spc="0" baseline="0">
                <a:solidFill>
                  <a:srgbClr val="2E7D32"/>
                </a:solidFill>
                <a:latin typeface="Times New Roman" panose="02020503050405090304"/>
                <a:cs typeface="Times New Roman" panose="02020503050405090304"/>
                <a:sym typeface="Times New Roman" panose="02020503050405090304"/>
                <a:rtl val="0"/>
              </a:rPr>
              <a:t>Three-Dimensional Framework</a:t>
            </a:r>
          </a:p>
        </p:txBody>
      </p:sp>
      <p:sp>
        <p:nvSpPr>
          <p:cNvPr id="181" name="任意形状 180"/>
          <p:cNvSpPr/>
          <p:nvPr/>
        </p:nvSpPr>
        <p:spPr>
          <a:xfrm>
            <a:off x="3871232" y="5143500"/>
            <a:ext cx="163285" cy="163285"/>
          </a:xfrm>
          <a:custGeom>
            <a:avLst/>
            <a:gdLst>
              <a:gd name="connsiteX0" fmla="*/ 0 w 163285"/>
              <a:gd name="connsiteY0" fmla="*/ 81643 h 163285"/>
              <a:gd name="connsiteX1" fmla="*/ 163286 w 163285"/>
              <a:gd name="connsiteY1" fmla="*/ 0 h 163285"/>
              <a:gd name="connsiteX2" fmla="*/ 163286 w 163285"/>
              <a:gd name="connsiteY2" fmla="*/ 163286 h 163285"/>
            </a:gdLst>
            <a:ahLst/>
            <a:cxnLst>
              <a:cxn ang="0">
                <a:pos x="connsiteX0" y="connsiteY0"/>
              </a:cxn>
              <a:cxn ang="0">
                <a:pos x="connsiteX1" y="connsiteY1"/>
              </a:cxn>
              <a:cxn ang="0">
                <a:pos x="connsiteX2" y="connsiteY2"/>
              </a:cxn>
            </a:cxnLst>
            <a:rect l="l" t="t" r="r" b="b"/>
            <a:pathLst>
              <a:path w="163285" h="163285">
                <a:moveTo>
                  <a:pt x="0" y="81643"/>
                </a:moveTo>
                <a:lnTo>
                  <a:pt x="163286" y="0"/>
                </a:lnTo>
                <a:lnTo>
                  <a:pt x="163286" y="163286"/>
                </a:lnTo>
                <a:close/>
              </a:path>
            </a:pathLst>
          </a:custGeom>
          <a:solidFill>
            <a:srgbClr val="C8E6C9">
              <a:alpha val="60000"/>
            </a:srgbClr>
          </a:solidFill>
          <a:ln w="4082" cap="flat">
            <a:solidFill>
              <a:srgbClr val="2E7D32">
                <a:alpha val="60000"/>
              </a:srgbClr>
            </a:solidFill>
            <a:prstDash val="solid"/>
            <a:miter/>
          </a:ln>
        </p:spPr>
        <p:txBody>
          <a:bodyPr rtlCol="0" anchor="ctr"/>
          <a:lstStyle/>
          <a:p>
            <a:pPr algn="ctr"/>
            <a:endParaRPr lang="zh-CN" altLang="en-US" sz="1100"/>
          </a:p>
        </p:txBody>
      </p:sp>
      <p:sp>
        <p:nvSpPr>
          <p:cNvPr id="182" name="任意形状 181"/>
          <p:cNvSpPr/>
          <p:nvPr/>
        </p:nvSpPr>
        <p:spPr>
          <a:xfrm>
            <a:off x="3850821" y="5123089"/>
            <a:ext cx="204107" cy="204107"/>
          </a:xfrm>
          <a:custGeom>
            <a:avLst/>
            <a:gdLst>
              <a:gd name="connsiteX0" fmla="*/ 204107 w 204107"/>
              <a:gd name="connsiteY0" fmla="*/ 102054 h 204107"/>
              <a:gd name="connsiteX1" fmla="*/ 102054 w 204107"/>
              <a:gd name="connsiteY1" fmla="*/ 204107 h 204107"/>
              <a:gd name="connsiteX2" fmla="*/ 0 w 204107"/>
              <a:gd name="connsiteY2" fmla="*/ 102054 h 204107"/>
              <a:gd name="connsiteX3" fmla="*/ 102054 w 204107"/>
              <a:gd name="connsiteY3" fmla="*/ 0 h 204107"/>
              <a:gd name="connsiteX4" fmla="*/ 204107 w 204107"/>
              <a:gd name="connsiteY4" fmla="*/ 102054 h 20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107" h="204107">
                <a:moveTo>
                  <a:pt x="204107" y="102054"/>
                </a:moveTo>
                <a:cubicBezTo>
                  <a:pt x="204107" y="158416"/>
                  <a:pt x="158416" y="204107"/>
                  <a:pt x="102054" y="204107"/>
                </a:cubicBezTo>
                <a:cubicBezTo>
                  <a:pt x="45691" y="204107"/>
                  <a:pt x="0" y="158416"/>
                  <a:pt x="0" y="102054"/>
                </a:cubicBezTo>
                <a:cubicBezTo>
                  <a:pt x="0" y="45691"/>
                  <a:pt x="45691" y="0"/>
                  <a:pt x="102054" y="0"/>
                </a:cubicBezTo>
                <a:cubicBezTo>
                  <a:pt x="158416" y="0"/>
                  <a:pt x="204107" y="45691"/>
                  <a:pt x="204107" y="102054"/>
                </a:cubicBezTo>
                <a:close/>
              </a:path>
            </a:pathLst>
          </a:custGeom>
          <a:noFill/>
          <a:ln w="3266" cap="flat">
            <a:solidFill>
              <a:srgbClr val="A5D6A7"/>
            </a:solidFill>
            <a:custDash>
              <a:ds d="225000" sp="150000"/>
            </a:custDash>
            <a:miter/>
          </a:ln>
        </p:spPr>
        <p:txBody>
          <a:bodyPr rtlCol="0" anchor="ctr"/>
          <a:lstStyle/>
          <a:p>
            <a:pPr algn="ctr"/>
            <a:endParaRPr lang="zh-CN" altLang="en-US" sz="1100"/>
          </a:p>
        </p:txBody>
      </p:sp>
      <p:sp>
        <p:nvSpPr>
          <p:cNvPr id="183" name="任意形状 182"/>
          <p:cNvSpPr/>
          <p:nvPr/>
        </p:nvSpPr>
        <p:spPr>
          <a:xfrm>
            <a:off x="3891642" y="5163910"/>
            <a:ext cx="122464" cy="122464"/>
          </a:xfrm>
          <a:custGeom>
            <a:avLst/>
            <a:gdLst>
              <a:gd name="connsiteX0" fmla="*/ 122464 w 122464"/>
              <a:gd name="connsiteY0" fmla="*/ 61232 h 122464"/>
              <a:gd name="connsiteX1" fmla="*/ 61232 w 122464"/>
              <a:gd name="connsiteY1" fmla="*/ 122464 h 122464"/>
              <a:gd name="connsiteX2" fmla="*/ 0 w 122464"/>
              <a:gd name="connsiteY2" fmla="*/ 61232 h 122464"/>
              <a:gd name="connsiteX3" fmla="*/ 61232 w 122464"/>
              <a:gd name="connsiteY3" fmla="*/ 0 h 122464"/>
              <a:gd name="connsiteX4" fmla="*/ 122464 w 122464"/>
              <a:gd name="connsiteY4" fmla="*/ 61232 h 12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64" h="122464">
                <a:moveTo>
                  <a:pt x="122464" y="61232"/>
                </a:moveTo>
                <a:cubicBezTo>
                  <a:pt x="122464" y="95050"/>
                  <a:pt x="95050" y="122464"/>
                  <a:pt x="61232" y="122464"/>
                </a:cubicBezTo>
                <a:cubicBezTo>
                  <a:pt x="27415" y="122464"/>
                  <a:pt x="0" y="95050"/>
                  <a:pt x="0" y="61232"/>
                </a:cubicBezTo>
                <a:cubicBezTo>
                  <a:pt x="0" y="27414"/>
                  <a:pt x="27415" y="0"/>
                  <a:pt x="61232" y="0"/>
                </a:cubicBezTo>
                <a:cubicBezTo>
                  <a:pt x="95050" y="0"/>
                  <a:pt x="122464" y="27414"/>
                  <a:pt x="122464" y="61232"/>
                </a:cubicBezTo>
                <a:close/>
              </a:path>
            </a:pathLst>
          </a:custGeom>
          <a:noFill/>
          <a:ln w="3266" cap="flat">
            <a:solidFill>
              <a:srgbClr val="A5D6A7"/>
            </a:solidFill>
            <a:custDash>
              <a:ds d="225000" sp="150000"/>
            </a:custDash>
            <a:miter/>
          </a:ln>
        </p:spPr>
        <p:txBody>
          <a:bodyPr rtlCol="0" anchor="ctr"/>
          <a:lstStyle/>
          <a:p>
            <a:pPr algn="ctr"/>
            <a:endParaRPr lang="zh-CN" altLang="en-US" sz="1100"/>
          </a:p>
        </p:txBody>
      </p:sp>
      <p:sp>
        <p:nvSpPr>
          <p:cNvPr id="184" name="文本框 183"/>
          <p:cNvSpPr txBox="1"/>
          <p:nvPr/>
        </p:nvSpPr>
        <p:spPr>
          <a:xfrm>
            <a:off x="3809608" y="5028383"/>
            <a:ext cx="282450" cy="123111"/>
          </a:xfrm>
          <a:prstGeom prst="rect">
            <a:avLst/>
          </a:prstGeom>
          <a:noFill/>
        </p:spPr>
        <p:txBody>
          <a:bodyPr wrap="none" rtlCol="0">
            <a:spAutoFit/>
          </a:bodyPr>
          <a:lstStyle/>
          <a:p>
            <a:pPr algn="ctr"/>
            <a:r>
              <a:rPr lang="zh-CN" altLang="en-US" sz="200" spc="0" baseline="0">
                <a:solidFill>
                  <a:srgbClr val="2E7D32"/>
                </a:solidFill>
                <a:latin typeface="Times New Roman" panose="02020503050405090304"/>
                <a:cs typeface="Times New Roman" panose="02020503050405090304"/>
                <a:sym typeface="Times New Roman" panose="02020503050405090304"/>
                <a:rtl val="0"/>
              </a:rPr>
              <a:t>Structural</a:t>
            </a:r>
          </a:p>
        </p:txBody>
      </p:sp>
      <p:sp>
        <p:nvSpPr>
          <p:cNvPr id="185" name="文本框 184"/>
          <p:cNvSpPr txBox="1"/>
          <p:nvPr/>
        </p:nvSpPr>
        <p:spPr>
          <a:xfrm>
            <a:off x="3663965" y="5232490"/>
            <a:ext cx="292067" cy="123111"/>
          </a:xfrm>
          <a:prstGeom prst="rect">
            <a:avLst/>
          </a:prstGeom>
          <a:noFill/>
        </p:spPr>
        <p:txBody>
          <a:bodyPr wrap="none" rtlCol="0">
            <a:spAutoFit/>
          </a:bodyPr>
          <a:lstStyle/>
          <a:p>
            <a:pPr algn="ctr"/>
            <a:r>
              <a:rPr lang="zh-CN" altLang="en-US" sz="200" spc="0" baseline="0">
                <a:solidFill>
                  <a:srgbClr val="2E7D32"/>
                </a:solidFill>
                <a:latin typeface="Times New Roman" panose="02020503050405090304"/>
                <a:cs typeface="Times New Roman" panose="02020503050405090304"/>
                <a:sym typeface="Times New Roman" panose="02020503050405090304"/>
                <a:rtl val="0"/>
              </a:rPr>
              <a:t>Functional</a:t>
            </a:r>
          </a:p>
        </p:txBody>
      </p:sp>
      <p:sp>
        <p:nvSpPr>
          <p:cNvPr id="186" name="文本框 185"/>
          <p:cNvSpPr txBox="1"/>
          <p:nvPr/>
        </p:nvSpPr>
        <p:spPr>
          <a:xfrm>
            <a:off x="3958968" y="5232490"/>
            <a:ext cx="277640" cy="123111"/>
          </a:xfrm>
          <a:prstGeom prst="rect">
            <a:avLst/>
          </a:prstGeom>
          <a:noFill/>
        </p:spPr>
        <p:txBody>
          <a:bodyPr wrap="none" rtlCol="0">
            <a:spAutoFit/>
          </a:bodyPr>
          <a:lstStyle/>
          <a:p>
            <a:pPr algn="ctr"/>
            <a:r>
              <a:rPr lang="zh-CN" altLang="en-US" sz="200" spc="0" baseline="0">
                <a:solidFill>
                  <a:srgbClr val="2E7D32"/>
                </a:solidFill>
                <a:latin typeface="Times New Roman" panose="02020503050405090304"/>
                <a:cs typeface="Times New Roman" panose="02020503050405090304"/>
                <a:sym typeface="Times New Roman" panose="02020503050405090304"/>
                <a:rtl val="0"/>
              </a:rPr>
              <a:t>Adaptive</a:t>
            </a:r>
          </a:p>
        </p:txBody>
      </p:sp>
      <p:sp>
        <p:nvSpPr>
          <p:cNvPr id="187" name="文本框 186"/>
          <p:cNvSpPr txBox="1"/>
          <p:nvPr/>
        </p:nvSpPr>
        <p:spPr>
          <a:xfrm>
            <a:off x="4009694" y="5093697"/>
            <a:ext cx="902811"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Structural: 19.1% road closure rate</a:t>
            </a:r>
          </a:p>
        </p:txBody>
      </p:sp>
      <p:sp>
        <p:nvSpPr>
          <p:cNvPr id="188" name="文本框 187"/>
          <p:cNvSpPr txBox="1"/>
          <p:nvPr/>
        </p:nvSpPr>
        <p:spPr>
          <a:xfrm>
            <a:off x="4003078" y="5167176"/>
            <a:ext cx="981359"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Functional: Supply 100% | Evac. 9.1%</a:t>
            </a:r>
          </a:p>
        </p:txBody>
      </p:sp>
      <p:sp>
        <p:nvSpPr>
          <p:cNvPr id="189" name="文本框 188"/>
          <p:cNvSpPr txBox="1"/>
          <p:nvPr/>
        </p:nvSpPr>
        <p:spPr>
          <a:xfrm>
            <a:off x="4005334" y="5240655"/>
            <a:ext cx="960519" cy="153888"/>
          </a:xfrm>
          <a:prstGeom prst="rect">
            <a:avLst/>
          </a:prstGeom>
          <a:noFill/>
        </p:spPr>
        <p:txBody>
          <a:bodyPr wrap="none" rtlCol="0">
            <a:spAutoFit/>
          </a:bodyPr>
          <a:lstStyle/>
          <a:p>
            <a:pPr algn="ctr"/>
            <a:r>
              <a:rPr lang="zh-CN" altLang="en-US" sz="400" spc="0" baseline="0">
                <a:solidFill>
                  <a:srgbClr val="333333"/>
                </a:solidFill>
                <a:latin typeface="Times New Roman" panose="02020503050405090304"/>
                <a:cs typeface="Times New Roman" panose="02020503050405090304"/>
                <a:sym typeface="Times New Roman" panose="02020503050405090304"/>
                <a:rtl val="0"/>
              </a:rPr>
              <a:t>Adaptive: Drone improvement 16.3%</a:t>
            </a:r>
          </a:p>
        </p:txBody>
      </p:sp>
      <p:sp>
        <p:nvSpPr>
          <p:cNvPr id="190" name="任意形状 189"/>
          <p:cNvSpPr/>
          <p:nvPr/>
        </p:nvSpPr>
        <p:spPr>
          <a:xfrm>
            <a:off x="5116285" y="4988378"/>
            <a:ext cx="1755321" cy="408214"/>
          </a:xfrm>
          <a:custGeom>
            <a:avLst/>
            <a:gdLst>
              <a:gd name="connsiteX0" fmla="*/ 1730829 w 1755321"/>
              <a:gd name="connsiteY0" fmla="*/ 0 h 408214"/>
              <a:gd name="connsiteX1" fmla="*/ 1755321 w 1755321"/>
              <a:gd name="connsiteY1" fmla="*/ 0 h 408214"/>
              <a:gd name="connsiteX2" fmla="*/ 1755321 w 1755321"/>
              <a:gd name="connsiteY2" fmla="*/ 408214 h 408214"/>
              <a:gd name="connsiteX3" fmla="*/ 1730829 w 1755321"/>
              <a:gd name="connsiteY3" fmla="*/ 408214 h 408214"/>
              <a:gd name="connsiteX4" fmla="*/ 24493 w 1755321"/>
              <a:gd name="connsiteY4" fmla="*/ 408214 h 408214"/>
              <a:gd name="connsiteX5" fmla="*/ 0 w 1755321"/>
              <a:gd name="connsiteY5" fmla="*/ 408214 h 408214"/>
              <a:gd name="connsiteX6" fmla="*/ 0 w 1755321"/>
              <a:gd name="connsiteY6" fmla="*/ 0 h 408214"/>
              <a:gd name="connsiteX7" fmla="*/ 24493 w 17553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5321" h="408214">
                <a:moveTo>
                  <a:pt x="1730829" y="0"/>
                </a:moveTo>
                <a:cubicBezTo>
                  <a:pt x="1744356" y="0"/>
                  <a:pt x="1755321" y="0"/>
                  <a:pt x="1755321" y="0"/>
                </a:cubicBezTo>
                <a:lnTo>
                  <a:pt x="1755321" y="408214"/>
                </a:lnTo>
                <a:cubicBezTo>
                  <a:pt x="1755321" y="408214"/>
                  <a:pt x="1744356" y="408214"/>
                  <a:pt x="17308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1B5E20"/>
            </a:solidFill>
            <a:prstDash val="solid"/>
            <a:miter/>
          </a:ln>
        </p:spPr>
        <p:txBody>
          <a:bodyPr rtlCol="0" anchor="ctr"/>
          <a:lstStyle/>
          <a:p>
            <a:pPr algn="ctr"/>
            <a:endParaRPr lang="zh-CN" altLang="en-US" sz="1100"/>
          </a:p>
        </p:txBody>
      </p:sp>
      <p:sp>
        <p:nvSpPr>
          <p:cNvPr id="191" name="文本框 190"/>
          <p:cNvSpPr txBox="1"/>
          <p:nvPr/>
        </p:nvSpPr>
        <p:spPr>
          <a:xfrm>
            <a:off x="5387849" y="4987562"/>
            <a:ext cx="1212190" cy="169277"/>
          </a:xfrm>
          <a:prstGeom prst="rect">
            <a:avLst/>
          </a:prstGeom>
          <a:noFill/>
        </p:spPr>
        <p:txBody>
          <a:bodyPr wrap="none" rtlCol="0">
            <a:spAutoFit/>
          </a:bodyPr>
          <a:lstStyle/>
          <a:p>
            <a:pPr algn="ctr"/>
            <a:r>
              <a:rPr lang="zh-CN" altLang="en-US" sz="500" b="1" spc="0" baseline="0">
                <a:solidFill>
                  <a:srgbClr val="1B5E20"/>
                </a:solidFill>
                <a:latin typeface="Times New Roman" panose="02020503050405090304"/>
                <a:cs typeface="Times New Roman" panose="02020503050405090304"/>
                <a:sym typeface="Times New Roman" panose="02020503050405090304"/>
                <a:rtl val="0"/>
              </a:rPr>
              <a:t>Core Finding: Asymmetric Resilience</a:t>
            </a:r>
          </a:p>
        </p:txBody>
      </p:sp>
      <p:sp>
        <p:nvSpPr>
          <p:cNvPr id="192" name="文本框 191"/>
          <p:cNvSpPr txBox="1"/>
          <p:nvPr/>
        </p:nvSpPr>
        <p:spPr>
          <a:xfrm>
            <a:off x="4900810" y="5089615"/>
            <a:ext cx="1426993" cy="169277"/>
          </a:xfrm>
          <a:prstGeom prst="rect">
            <a:avLst/>
          </a:prstGeom>
          <a:noFill/>
        </p:spPr>
        <p:txBody>
          <a:bodyPr wrap="none" rtlCol="0">
            <a:spAutoFit/>
          </a:bodyPr>
          <a:lstStyle/>
          <a:p>
            <a:pPr algn="ct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Supply: High resilience (100%, within 30 min)</a:t>
            </a:r>
          </a:p>
        </p:txBody>
      </p:sp>
      <p:sp>
        <p:nvSpPr>
          <p:cNvPr id="193" name="文本框 192"/>
          <p:cNvSpPr txBox="1"/>
          <p:nvPr/>
        </p:nvSpPr>
        <p:spPr>
          <a:xfrm>
            <a:off x="4897603" y="5163094"/>
            <a:ext cx="1433406" cy="169277"/>
          </a:xfrm>
          <a:prstGeom prst="rect">
            <a:avLst/>
          </a:prstGeom>
          <a:noFill/>
        </p:spPr>
        <p:txBody>
          <a:bodyPr wrap="none" rtlCol="0">
            <a:spAutoFit/>
          </a:bodyPr>
          <a:lstStyle/>
          <a:p>
            <a:pPr algn="ct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Evacuation: Vulnerability (9.1%, capacity gap)</a:t>
            </a:r>
          </a:p>
        </p:txBody>
      </p:sp>
      <p:sp>
        <p:nvSpPr>
          <p:cNvPr id="194" name="文本框 193"/>
          <p:cNvSpPr txBox="1"/>
          <p:nvPr/>
        </p:nvSpPr>
        <p:spPr>
          <a:xfrm>
            <a:off x="4893596" y="5236572"/>
            <a:ext cx="1441420" cy="169277"/>
          </a:xfrm>
          <a:prstGeom prst="rect">
            <a:avLst/>
          </a:prstGeom>
          <a:noFill/>
        </p:spPr>
        <p:txBody>
          <a:bodyPr wrap="none" rtlCol="0">
            <a:spAutoFit/>
          </a:bodyPr>
          <a:lstStyle/>
          <a:p>
            <a:pPr algn="ctr"/>
            <a:r>
              <a:rPr lang="zh-CN" altLang="en-US" sz="500" spc="0" baseline="0">
                <a:solidFill>
                  <a:srgbClr val="333333"/>
                </a:solidFill>
                <a:latin typeface="Times New Roman" panose="02020503050405090304"/>
                <a:cs typeface="Times New Roman" panose="02020503050405090304"/>
                <a:sym typeface="Times New Roman" panose="02020503050405090304"/>
                <a:rtl val="0"/>
              </a:rPr>
              <a:t>• Root cause: Task scale disparity (40 vs 234.5k)</a:t>
            </a:r>
          </a:p>
        </p:txBody>
      </p:sp>
      <p:sp>
        <p:nvSpPr>
          <p:cNvPr id="195" name="任意形状 194"/>
          <p:cNvSpPr/>
          <p:nvPr/>
        </p:nvSpPr>
        <p:spPr>
          <a:xfrm>
            <a:off x="6973660" y="4988378"/>
            <a:ext cx="1755321" cy="408214"/>
          </a:xfrm>
          <a:custGeom>
            <a:avLst/>
            <a:gdLst>
              <a:gd name="connsiteX0" fmla="*/ 1730829 w 1755321"/>
              <a:gd name="connsiteY0" fmla="*/ 0 h 408214"/>
              <a:gd name="connsiteX1" fmla="*/ 1755321 w 1755321"/>
              <a:gd name="connsiteY1" fmla="*/ 0 h 408214"/>
              <a:gd name="connsiteX2" fmla="*/ 1755321 w 1755321"/>
              <a:gd name="connsiteY2" fmla="*/ 408214 h 408214"/>
              <a:gd name="connsiteX3" fmla="*/ 1730829 w 1755321"/>
              <a:gd name="connsiteY3" fmla="*/ 408214 h 408214"/>
              <a:gd name="connsiteX4" fmla="*/ 24493 w 1755321"/>
              <a:gd name="connsiteY4" fmla="*/ 408214 h 408214"/>
              <a:gd name="connsiteX5" fmla="*/ 0 w 1755321"/>
              <a:gd name="connsiteY5" fmla="*/ 408214 h 408214"/>
              <a:gd name="connsiteX6" fmla="*/ 0 w 1755321"/>
              <a:gd name="connsiteY6" fmla="*/ 0 h 408214"/>
              <a:gd name="connsiteX7" fmla="*/ 24493 w 17553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5321" h="408214">
                <a:moveTo>
                  <a:pt x="1730829" y="0"/>
                </a:moveTo>
                <a:cubicBezTo>
                  <a:pt x="1744356" y="0"/>
                  <a:pt x="1755321" y="0"/>
                  <a:pt x="1755321" y="0"/>
                </a:cubicBezTo>
                <a:lnTo>
                  <a:pt x="1755321" y="408214"/>
                </a:lnTo>
                <a:cubicBezTo>
                  <a:pt x="1755321" y="408214"/>
                  <a:pt x="1744356" y="408214"/>
                  <a:pt x="17308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33691E"/>
            </a:solidFill>
            <a:prstDash val="solid"/>
            <a:miter/>
          </a:ln>
        </p:spPr>
        <p:txBody>
          <a:bodyPr rtlCol="0" anchor="ctr"/>
          <a:lstStyle/>
          <a:p>
            <a:pPr algn="ctr"/>
            <a:endParaRPr lang="zh-CN" altLang="en-US" sz="1100"/>
          </a:p>
        </p:txBody>
      </p:sp>
      <p:sp>
        <p:nvSpPr>
          <p:cNvPr id="196" name="文本框 195"/>
          <p:cNvSpPr txBox="1"/>
          <p:nvPr/>
        </p:nvSpPr>
        <p:spPr>
          <a:xfrm>
            <a:off x="7415143" y="4987562"/>
            <a:ext cx="872355" cy="169277"/>
          </a:xfrm>
          <a:prstGeom prst="rect">
            <a:avLst/>
          </a:prstGeom>
          <a:noFill/>
        </p:spPr>
        <p:txBody>
          <a:bodyPr wrap="none" rtlCol="0">
            <a:spAutoFit/>
          </a:bodyPr>
          <a:lstStyle/>
          <a:p>
            <a:pPr algn="ctr"/>
            <a:r>
              <a:rPr lang="zh-CN" altLang="en-US" sz="500" b="1" spc="0" baseline="0">
                <a:solidFill>
                  <a:srgbClr val="33691E"/>
                </a:solidFill>
                <a:latin typeface="Times New Roman" panose="02020503050405090304"/>
                <a:cs typeface="Times New Roman" panose="02020503050405090304"/>
                <a:sym typeface="Times New Roman" panose="02020503050405090304"/>
                <a:rtl val="0"/>
              </a:rPr>
              <a:t>Policy Recommendations</a:t>
            </a:r>
          </a:p>
        </p:txBody>
      </p:sp>
      <p:sp>
        <p:nvSpPr>
          <p:cNvPr id="197" name="文本框 196"/>
          <p:cNvSpPr txBox="1"/>
          <p:nvPr/>
        </p:nvSpPr>
        <p:spPr>
          <a:xfrm>
            <a:off x="6846329" y="5093697"/>
            <a:ext cx="1160895" cy="153888"/>
          </a:xfrm>
          <a:prstGeom prst="rect">
            <a:avLst/>
          </a:prstGeom>
          <a:noFill/>
        </p:spPr>
        <p:txBody>
          <a:bodyPr wrap="none" rtlCol="0">
            <a:spAutoFit/>
          </a:bodyPr>
          <a:lstStyle/>
          <a:p>
            <a:pPr algn="ctr"/>
            <a:r>
              <a:rPr lang="zh-CN" altLang="en-US" sz="400" spc="0" baseline="0">
                <a:solidFill>
                  <a:srgbClr val="333333"/>
                </a:solidFill>
                <a:latin typeface="Cambria Math"/>
                <a:sym typeface="Cambria Math"/>
                <a:rtl val="0"/>
              </a:rPr>
              <a:t>①</a:t>
            </a: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Subway emergency protocol (69% capacity)</a:t>
            </a:r>
          </a:p>
        </p:txBody>
      </p:sp>
      <p:sp>
        <p:nvSpPr>
          <p:cNvPr id="198" name="文本框 197"/>
          <p:cNvSpPr txBox="1"/>
          <p:nvPr/>
        </p:nvSpPr>
        <p:spPr>
          <a:xfrm>
            <a:off x="6837523" y="5167176"/>
            <a:ext cx="1223412" cy="153888"/>
          </a:xfrm>
          <a:prstGeom prst="rect">
            <a:avLst/>
          </a:prstGeom>
          <a:noFill/>
        </p:spPr>
        <p:txBody>
          <a:bodyPr wrap="none" rtlCol="0">
            <a:spAutoFit/>
          </a:bodyPr>
          <a:lstStyle/>
          <a:p>
            <a:pPr algn="ctr"/>
            <a:r>
              <a:rPr lang="zh-CN" altLang="en-US" sz="400" spc="0" baseline="0">
                <a:solidFill>
                  <a:srgbClr val="333333"/>
                </a:solidFill>
                <a:latin typeface="Cambria Math"/>
                <a:sym typeface="Cambria Math"/>
                <a:rtl val="0"/>
              </a:rPr>
              <a:t>②</a:t>
            </a: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Tiered evac.: core mandatory + shelter-in-place</a:t>
            </a:r>
          </a:p>
        </p:txBody>
      </p:sp>
      <p:sp>
        <p:nvSpPr>
          <p:cNvPr id="199" name="文本框 198"/>
          <p:cNvSpPr txBox="1"/>
          <p:nvPr/>
        </p:nvSpPr>
        <p:spPr>
          <a:xfrm>
            <a:off x="6837682" y="5240655"/>
            <a:ext cx="1284326" cy="153888"/>
          </a:xfrm>
          <a:prstGeom prst="rect">
            <a:avLst/>
          </a:prstGeom>
          <a:noFill/>
        </p:spPr>
        <p:txBody>
          <a:bodyPr wrap="none" rtlCol="0">
            <a:spAutoFit/>
          </a:bodyPr>
          <a:lstStyle/>
          <a:p>
            <a:pPr algn="ctr"/>
            <a:r>
              <a:rPr lang="zh-CN" altLang="en-US" sz="400" spc="0" baseline="0">
                <a:solidFill>
                  <a:srgbClr val="333333"/>
                </a:solidFill>
                <a:latin typeface="Cambria Math"/>
                <a:sym typeface="Cambria Math"/>
                <a:rtl val="0"/>
              </a:rPr>
              <a:t>③</a:t>
            </a: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Drone infrastructure </a:t>
            </a:r>
            <a:r>
              <a:rPr lang="zh-CN" altLang="en-US" sz="400" spc="0" baseline="0">
                <a:solidFill>
                  <a:srgbClr val="333333"/>
                </a:solidFill>
                <a:latin typeface="Cambria Math"/>
                <a:cs typeface="Times New Roman" panose="02020503050405090304"/>
                <a:sym typeface="Cambria Math"/>
                <a:rtl val="0"/>
              </a:rPr>
              <a:t>④</a:t>
            </a:r>
            <a:r>
              <a:rPr lang="zh-CN" altLang="en-US" sz="400" spc="0" baseline="0">
                <a:solidFill>
                  <a:srgbClr val="333333"/>
                </a:solidFill>
                <a:latin typeface="Times New Roman" panose="02020503050405090304"/>
                <a:cs typeface="Times New Roman" panose="02020503050405090304"/>
                <a:sym typeface="Times New Roman" panose="02020503050405090304"/>
                <a:rtl val="0"/>
              </a:rPr>
              <a:t> Real-time met. integration</a:t>
            </a:r>
          </a:p>
        </p:txBody>
      </p:sp>
      <p:sp>
        <p:nvSpPr>
          <p:cNvPr id="200" name="任意形状 199"/>
          <p:cNvSpPr/>
          <p:nvPr/>
        </p:nvSpPr>
        <p:spPr>
          <a:xfrm>
            <a:off x="3463017" y="5470071"/>
            <a:ext cx="5265964" cy="122464"/>
          </a:xfrm>
          <a:custGeom>
            <a:avLst/>
            <a:gdLst>
              <a:gd name="connsiteX0" fmla="*/ 5241472 w 5265964"/>
              <a:gd name="connsiteY0" fmla="*/ 0 h 122464"/>
              <a:gd name="connsiteX1" fmla="*/ 5265965 w 5265964"/>
              <a:gd name="connsiteY1" fmla="*/ 0 h 122464"/>
              <a:gd name="connsiteX2" fmla="*/ 5265965 w 5265964"/>
              <a:gd name="connsiteY2" fmla="*/ 122464 h 122464"/>
              <a:gd name="connsiteX3" fmla="*/ 5241472 w 5265964"/>
              <a:gd name="connsiteY3" fmla="*/ 122464 h 122464"/>
              <a:gd name="connsiteX4" fmla="*/ 24493 w 5265964"/>
              <a:gd name="connsiteY4" fmla="*/ 122464 h 122464"/>
              <a:gd name="connsiteX5" fmla="*/ 0 w 5265964"/>
              <a:gd name="connsiteY5" fmla="*/ 122464 h 122464"/>
              <a:gd name="connsiteX6" fmla="*/ 0 w 5265964"/>
              <a:gd name="connsiteY6" fmla="*/ 0 h 122464"/>
              <a:gd name="connsiteX7" fmla="*/ 24493 w 5265964"/>
              <a:gd name="connsiteY7" fmla="*/ 0 h 12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5964" h="122464">
                <a:moveTo>
                  <a:pt x="5241472" y="0"/>
                </a:moveTo>
                <a:cubicBezTo>
                  <a:pt x="5254999" y="0"/>
                  <a:pt x="5265965" y="0"/>
                  <a:pt x="5265965" y="0"/>
                </a:cubicBezTo>
                <a:lnTo>
                  <a:pt x="5265965" y="122464"/>
                </a:lnTo>
                <a:cubicBezTo>
                  <a:pt x="5265965" y="122464"/>
                  <a:pt x="5254999" y="122464"/>
                  <a:pt x="5241472" y="122464"/>
                </a:cubicBezTo>
                <a:lnTo>
                  <a:pt x="24493" y="122464"/>
                </a:lnTo>
                <a:cubicBezTo>
                  <a:pt x="10966" y="122464"/>
                  <a:pt x="0" y="122464"/>
                  <a:pt x="0" y="122464"/>
                </a:cubicBezTo>
                <a:lnTo>
                  <a:pt x="0" y="0"/>
                </a:lnTo>
                <a:cubicBezTo>
                  <a:pt x="0" y="0"/>
                  <a:pt x="10966" y="0"/>
                  <a:pt x="24493" y="0"/>
                </a:cubicBezTo>
                <a:close/>
              </a:path>
            </a:pathLst>
          </a:custGeom>
          <a:solidFill>
            <a:srgbClr val="2E7D32"/>
          </a:solidFill>
          <a:ln w="4082" cap="flat">
            <a:noFill/>
            <a:prstDash val="solid"/>
            <a:miter/>
          </a:ln>
        </p:spPr>
        <p:txBody>
          <a:bodyPr rtlCol="0" anchor="ctr"/>
          <a:lstStyle/>
          <a:p>
            <a:pPr algn="ctr"/>
            <a:endParaRPr lang="zh-CN" altLang="en-US" sz="1100"/>
          </a:p>
        </p:txBody>
      </p:sp>
      <p:sp>
        <p:nvSpPr>
          <p:cNvPr id="201" name="文本框 200"/>
          <p:cNvSpPr txBox="1"/>
          <p:nvPr/>
        </p:nvSpPr>
        <p:spPr>
          <a:xfrm>
            <a:off x="3975504" y="5461090"/>
            <a:ext cx="4245073" cy="184666"/>
          </a:xfrm>
          <a:prstGeom prst="rect">
            <a:avLst/>
          </a:prstGeom>
          <a:noFill/>
        </p:spPr>
        <p:txBody>
          <a:bodyPr wrap="none" rtlCol="0">
            <a:spAutoFit/>
          </a:bodyPr>
          <a:lstStyle/>
          <a:p>
            <a:pPr algn="ctr"/>
            <a:r>
              <a:rPr lang="zh-CN" altLang="en-US" sz="600" b="1" spc="0" baseline="0">
                <a:solidFill>
                  <a:srgbClr val="FFFFFF"/>
                </a:solidFill>
                <a:latin typeface="Times New Roman" panose="02020503050405090304"/>
                <a:cs typeface="Times New Roman" panose="02020503050405090304"/>
                <a:sym typeface="Times New Roman" panose="02020503050405090304"/>
                <a:rtl val="0"/>
              </a:rPr>
              <a:t>Dual Strategy: Mandatory evacuation within 1 km core + Shelter-in-place with PPE at 1–3 km → Manageable demand level</a:t>
            </a:r>
          </a:p>
        </p:txBody>
      </p:sp>
      <p:sp>
        <p:nvSpPr>
          <p:cNvPr id="202" name="文本框 201"/>
          <p:cNvSpPr txBox="1"/>
          <p:nvPr/>
        </p:nvSpPr>
        <p:spPr>
          <a:xfrm>
            <a:off x="5563642" y="5701937"/>
            <a:ext cx="1064714" cy="184666"/>
          </a:xfrm>
          <a:prstGeom prst="rect">
            <a:avLst/>
          </a:prstGeom>
          <a:noFill/>
        </p:spPr>
        <p:txBody>
          <a:bodyPr wrap="none" rtlCol="0">
            <a:spAutoFit/>
          </a:bodyPr>
          <a:lstStyle/>
          <a:p>
            <a:pPr algn="ctr"/>
            <a:r>
              <a:rPr lang="zh-CN" altLang="en-US" sz="600" b="1" spc="0" baseline="0">
                <a:solidFill>
                  <a:srgbClr val="333333"/>
                </a:solidFill>
                <a:latin typeface="Times New Roman" panose="02020503050405090304"/>
                <a:cs typeface="Times New Roman" panose="02020503050405090304"/>
                <a:sym typeface="Times New Roman" panose="02020503050405090304"/>
                <a:rtl val="0"/>
              </a:rPr>
              <a:t>Fig. X Technical Roadmap</a:t>
            </a:r>
          </a:p>
        </p:txBody>
      </p:sp>
      <p:sp>
        <p:nvSpPr>
          <p:cNvPr id="203" name="文本框 202"/>
          <p:cNvSpPr txBox="1"/>
          <p:nvPr/>
        </p:nvSpPr>
        <p:spPr>
          <a:xfrm>
            <a:off x="4799009" y="5791744"/>
            <a:ext cx="2593979" cy="169277"/>
          </a:xfrm>
          <a:prstGeom prst="rect">
            <a:avLst/>
          </a:prstGeom>
          <a:noFill/>
        </p:spPr>
        <p:txBody>
          <a:bodyPr wrap="none" rtlCol="0">
            <a:spAutoFit/>
          </a:bodyPr>
          <a:lstStyle/>
          <a:p>
            <a:pPr algn="ctr"/>
            <a:r>
              <a:rPr lang="zh-CN" altLang="en-US" sz="500" i="1" spc="0" baseline="0">
                <a:solidFill>
                  <a:srgbClr val="555555"/>
                </a:solidFill>
                <a:latin typeface="Times New Roman" panose="02020503050405090304"/>
                <a:cs typeface="Times New Roman" panose="02020503050405090304"/>
                <a:sym typeface="Times New Roman" panose="02020503050405090304"/>
                <a:rtl val="0"/>
              </a:rPr>
              <a:t>Coordinated Emergency Supply Delivery and Multi-Type Personnel Evacuation Optimization</a:t>
            </a:r>
          </a:p>
        </p:txBody>
      </p:sp>
      <p:sp>
        <p:nvSpPr>
          <p:cNvPr id="204" name="文本框 203"/>
          <p:cNvSpPr txBox="1"/>
          <p:nvPr/>
        </p:nvSpPr>
        <p:spPr>
          <a:xfrm>
            <a:off x="4720462" y="5865222"/>
            <a:ext cx="2751073" cy="169277"/>
          </a:xfrm>
          <a:prstGeom prst="rect">
            <a:avLst/>
          </a:prstGeom>
          <a:noFill/>
        </p:spPr>
        <p:txBody>
          <a:bodyPr wrap="none" rtlCol="0">
            <a:spAutoFit/>
          </a:bodyPr>
          <a:lstStyle/>
          <a:p>
            <a:pPr algn="ctr"/>
            <a:r>
              <a:rPr lang="zh-CN" altLang="en-US" sz="500" i="1" spc="0" baseline="0">
                <a:solidFill>
                  <a:srgbClr val="555555"/>
                </a:solidFill>
                <a:latin typeface="Times New Roman" panose="02020503050405090304"/>
                <a:cs typeface="Times New Roman" panose="02020503050405090304"/>
                <a:sym typeface="Times New Roman" panose="02020503050405090304"/>
                <a:rtl val="0"/>
              </a:rPr>
              <a:t>for Hazardous Material Incidents on Urban Expressways — A Case Study of Beijing 6th Ring Road</a:t>
            </a:r>
          </a:p>
        </p:txBody>
      </p:sp>
      <p:sp>
        <p:nvSpPr>
          <p:cNvPr id="205" name="任意形状 204"/>
          <p:cNvSpPr/>
          <p:nvPr/>
        </p:nvSpPr>
        <p:spPr>
          <a:xfrm>
            <a:off x="4054928" y="6074228"/>
            <a:ext cx="4082142" cy="277585"/>
          </a:xfrm>
          <a:custGeom>
            <a:avLst/>
            <a:gdLst>
              <a:gd name="connsiteX0" fmla="*/ 4057650 w 4082142"/>
              <a:gd name="connsiteY0" fmla="*/ 0 h 277585"/>
              <a:gd name="connsiteX1" fmla="*/ 4082143 w 4082142"/>
              <a:gd name="connsiteY1" fmla="*/ 0 h 277585"/>
              <a:gd name="connsiteX2" fmla="*/ 4082143 w 4082142"/>
              <a:gd name="connsiteY2" fmla="*/ 277586 h 277585"/>
              <a:gd name="connsiteX3" fmla="*/ 4057650 w 4082142"/>
              <a:gd name="connsiteY3" fmla="*/ 277586 h 277585"/>
              <a:gd name="connsiteX4" fmla="*/ 24493 w 4082142"/>
              <a:gd name="connsiteY4" fmla="*/ 277586 h 277585"/>
              <a:gd name="connsiteX5" fmla="*/ 0 w 4082142"/>
              <a:gd name="connsiteY5" fmla="*/ 277586 h 277585"/>
              <a:gd name="connsiteX6" fmla="*/ 0 w 4082142"/>
              <a:gd name="connsiteY6" fmla="*/ 0 h 277585"/>
              <a:gd name="connsiteX7" fmla="*/ 24493 w 4082142"/>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142" h="277585">
                <a:moveTo>
                  <a:pt x="4057650" y="0"/>
                </a:moveTo>
                <a:cubicBezTo>
                  <a:pt x="4071177" y="0"/>
                  <a:pt x="4082143" y="0"/>
                  <a:pt x="4082143" y="0"/>
                </a:cubicBezTo>
                <a:lnTo>
                  <a:pt x="4082143" y="277586"/>
                </a:lnTo>
                <a:cubicBezTo>
                  <a:pt x="4082143" y="277586"/>
                  <a:pt x="4071177" y="277586"/>
                  <a:pt x="4057650" y="277586"/>
                </a:cubicBezTo>
                <a:lnTo>
                  <a:pt x="24493" y="277586"/>
                </a:lnTo>
                <a:cubicBezTo>
                  <a:pt x="10966" y="277586"/>
                  <a:pt x="0" y="277586"/>
                  <a:pt x="0" y="277586"/>
                </a:cubicBezTo>
                <a:lnTo>
                  <a:pt x="0" y="0"/>
                </a:lnTo>
                <a:cubicBezTo>
                  <a:pt x="0" y="0"/>
                  <a:pt x="10966" y="0"/>
                  <a:pt x="24493" y="0"/>
                </a:cubicBezTo>
                <a:close/>
              </a:path>
            </a:pathLst>
          </a:custGeom>
          <a:solidFill>
            <a:srgbClr val="F5F5F5"/>
          </a:solidFill>
          <a:ln w="4082" cap="flat">
            <a:solidFill>
              <a:srgbClr val="E0E0E0"/>
            </a:solidFill>
            <a:prstDash val="solid"/>
            <a:miter/>
          </a:ln>
        </p:spPr>
        <p:txBody>
          <a:bodyPr rtlCol="0" anchor="ctr"/>
          <a:lstStyle/>
          <a:p>
            <a:pPr algn="ctr"/>
            <a:endParaRPr lang="zh-CN" altLang="en-US" sz="1100"/>
          </a:p>
        </p:txBody>
      </p:sp>
      <p:sp>
        <p:nvSpPr>
          <p:cNvPr id="206" name="文本框 205"/>
          <p:cNvSpPr txBox="1"/>
          <p:nvPr/>
        </p:nvSpPr>
        <p:spPr>
          <a:xfrm>
            <a:off x="4025907" y="6073412"/>
            <a:ext cx="364202" cy="153888"/>
          </a:xfrm>
          <a:prstGeom prst="rect">
            <a:avLst/>
          </a:prstGeom>
          <a:noFill/>
        </p:spPr>
        <p:txBody>
          <a:bodyPr wrap="none" rtlCol="0">
            <a:spAutoFit/>
          </a:bodyPr>
          <a:lstStyle/>
          <a:p>
            <a:pPr algn="ctr"/>
            <a:r>
              <a:rPr lang="zh-CN" altLang="en-US" sz="400" b="1" spc="0" baseline="0">
                <a:solidFill>
                  <a:srgbClr val="555555"/>
                </a:solidFill>
                <a:latin typeface="Times New Roman" panose="02020503050405090304"/>
                <a:cs typeface="Times New Roman" panose="02020503050405090304"/>
                <a:sym typeface="Times New Roman" panose="02020503050405090304"/>
                <a:rtl val="0"/>
              </a:rPr>
              <a:t>Legend:</a:t>
            </a:r>
          </a:p>
        </p:txBody>
      </p:sp>
      <p:sp>
        <p:nvSpPr>
          <p:cNvPr id="207" name="任意形状 206"/>
          <p:cNvSpPr/>
          <p:nvPr/>
        </p:nvSpPr>
        <p:spPr>
          <a:xfrm>
            <a:off x="4381500" y="6115050"/>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1565C0"/>
          </a:solidFill>
          <a:ln w="4082" cap="flat">
            <a:noFill/>
            <a:prstDash val="solid"/>
            <a:miter/>
          </a:ln>
        </p:spPr>
        <p:txBody>
          <a:bodyPr rtlCol="0" anchor="ctr"/>
          <a:lstStyle/>
          <a:p>
            <a:pPr algn="ctr"/>
            <a:endParaRPr lang="zh-CN" altLang="en-US" sz="1100"/>
          </a:p>
        </p:txBody>
      </p:sp>
      <p:sp>
        <p:nvSpPr>
          <p:cNvPr id="208" name="文本框 207"/>
          <p:cNvSpPr txBox="1"/>
          <p:nvPr/>
        </p:nvSpPr>
        <p:spPr>
          <a:xfrm>
            <a:off x="4338369" y="6077494"/>
            <a:ext cx="514885"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Data Processing</a:t>
            </a:r>
          </a:p>
        </p:txBody>
      </p:sp>
      <p:sp>
        <p:nvSpPr>
          <p:cNvPr id="209" name="任意形状 208"/>
          <p:cNvSpPr/>
          <p:nvPr/>
        </p:nvSpPr>
        <p:spPr>
          <a:xfrm>
            <a:off x="4871357" y="6115050"/>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F9A825"/>
          </a:solidFill>
          <a:ln w="4082" cap="flat">
            <a:noFill/>
            <a:prstDash val="solid"/>
            <a:miter/>
          </a:ln>
        </p:spPr>
        <p:txBody>
          <a:bodyPr rtlCol="0" anchor="ctr"/>
          <a:lstStyle/>
          <a:p>
            <a:pPr algn="ctr"/>
            <a:endParaRPr lang="zh-CN" altLang="en-US" sz="1100"/>
          </a:p>
        </p:txBody>
      </p:sp>
      <p:sp>
        <p:nvSpPr>
          <p:cNvPr id="210" name="文本框 209"/>
          <p:cNvSpPr txBox="1"/>
          <p:nvPr/>
        </p:nvSpPr>
        <p:spPr>
          <a:xfrm>
            <a:off x="4842337" y="6077494"/>
            <a:ext cx="364202"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Scenario</a:t>
            </a:r>
          </a:p>
        </p:txBody>
      </p:sp>
      <p:sp>
        <p:nvSpPr>
          <p:cNvPr id="211" name="任意形状 210"/>
          <p:cNvSpPr/>
          <p:nvPr/>
        </p:nvSpPr>
        <p:spPr>
          <a:xfrm>
            <a:off x="5238750" y="6115050"/>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C62828"/>
          </a:solidFill>
          <a:ln w="4082" cap="flat">
            <a:noFill/>
            <a:prstDash val="solid"/>
            <a:miter/>
          </a:ln>
        </p:spPr>
        <p:txBody>
          <a:bodyPr rtlCol="0" anchor="ctr"/>
          <a:lstStyle/>
          <a:p>
            <a:pPr algn="ctr"/>
            <a:endParaRPr lang="zh-CN" altLang="en-US" sz="1100"/>
          </a:p>
        </p:txBody>
      </p:sp>
      <p:sp>
        <p:nvSpPr>
          <p:cNvPr id="212" name="文本框 211"/>
          <p:cNvSpPr txBox="1"/>
          <p:nvPr/>
        </p:nvSpPr>
        <p:spPr>
          <a:xfrm>
            <a:off x="5184631" y="6077494"/>
            <a:ext cx="606256"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Supply (Centripetal)</a:t>
            </a:r>
          </a:p>
        </p:txBody>
      </p:sp>
      <p:sp>
        <p:nvSpPr>
          <p:cNvPr id="213" name="任意形状 212"/>
          <p:cNvSpPr/>
          <p:nvPr/>
        </p:nvSpPr>
        <p:spPr>
          <a:xfrm>
            <a:off x="5851071" y="6115050"/>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1565C0"/>
          </a:solidFill>
          <a:ln w="4082" cap="flat">
            <a:noFill/>
            <a:prstDash val="solid"/>
            <a:miter/>
          </a:ln>
        </p:spPr>
        <p:txBody>
          <a:bodyPr rtlCol="0" anchor="ctr"/>
          <a:lstStyle/>
          <a:p>
            <a:pPr algn="ctr"/>
            <a:endParaRPr lang="zh-CN" altLang="en-US" sz="1100"/>
          </a:p>
        </p:txBody>
      </p:sp>
      <p:sp>
        <p:nvSpPr>
          <p:cNvPr id="214" name="文本框 213"/>
          <p:cNvSpPr txBox="1"/>
          <p:nvPr/>
        </p:nvSpPr>
        <p:spPr>
          <a:xfrm>
            <a:off x="5785966" y="6077494"/>
            <a:ext cx="697627"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Evacuation (Centrifugal)</a:t>
            </a:r>
          </a:p>
        </p:txBody>
      </p:sp>
      <p:sp>
        <p:nvSpPr>
          <p:cNvPr id="215" name="任意形状 214"/>
          <p:cNvSpPr/>
          <p:nvPr/>
        </p:nvSpPr>
        <p:spPr>
          <a:xfrm>
            <a:off x="6545035" y="6115050"/>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2E7D32"/>
          </a:solidFill>
          <a:ln w="4082" cap="flat">
            <a:noFill/>
            <a:prstDash val="solid"/>
            <a:miter/>
          </a:ln>
        </p:spPr>
        <p:txBody>
          <a:bodyPr rtlCol="0" anchor="ctr"/>
          <a:lstStyle/>
          <a:p>
            <a:pPr algn="ctr"/>
            <a:endParaRPr lang="zh-CN" altLang="en-US" sz="1100"/>
          </a:p>
        </p:txBody>
      </p:sp>
      <p:sp>
        <p:nvSpPr>
          <p:cNvPr id="216" name="文本框 215"/>
          <p:cNvSpPr txBox="1"/>
          <p:nvPr/>
        </p:nvSpPr>
        <p:spPr>
          <a:xfrm>
            <a:off x="6512230" y="6077494"/>
            <a:ext cx="396262"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Resilience</a:t>
            </a:r>
          </a:p>
        </p:txBody>
      </p:sp>
      <p:sp>
        <p:nvSpPr>
          <p:cNvPr id="217" name="任意形状 216"/>
          <p:cNvSpPr/>
          <p:nvPr/>
        </p:nvSpPr>
        <p:spPr>
          <a:xfrm>
            <a:off x="4381500" y="6270171"/>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pPr algn="ctr"/>
            <a:endParaRPr lang="zh-CN" altLang="en-US" sz="1100"/>
          </a:p>
        </p:txBody>
      </p:sp>
      <p:sp>
        <p:nvSpPr>
          <p:cNvPr id="218" name="文本框 217"/>
          <p:cNvSpPr txBox="1"/>
          <p:nvPr/>
        </p:nvSpPr>
        <p:spPr>
          <a:xfrm>
            <a:off x="4465921" y="6204040"/>
            <a:ext cx="447558"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Process flow</a:t>
            </a:r>
          </a:p>
        </p:txBody>
      </p:sp>
      <p:sp>
        <p:nvSpPr>
          <p:cNvPr id="219" name="任意形状 218"/>
          <p:cNvSpPr/>
          <p:nvPr/>
        </p:nvSpPr>
        <p:spPr>
          <a:xfrm>
            <a:off x="4993821" y="6270171"/>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FF6F00"/>
            </a:solidFill>
            <a:custDash>
              <a:ds d="375000" sp="225000"/>
            </a:custDash>
            <a:miter/>
          </a:ln>
        </p:spPr>
        <p:txBody>
          <a:bodyPr rtlCol="0" anchor="ctr"/>
          <a:lstStyle/>
          <a:p>
            <a:pPr algn="ctr"/>
            <a:endParaRPr lang="zh-CN" altLang="en-US" sz="1100"/>
          </a:p>
        </p:txBody>
      </p:sp>
      <p:sp>
        <p:nvSpPr>
          <p:cNvPr id="220" name="文本框 219"/>
          <p:cNvSpPr txBox="1"/>
          <p:nvPr/>
        </p:nvSpPr>
        <p:spPr>
          <a:xfrm>
            <a:off x="5068132" y="6204040"/>
            <a:ext cx="545341"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Coupling relation</a:t>
            </a:r>
          </a:p>
        </p:txBody>
      </p:sp>
      <p:sp>
        <p:nvSpPr>
          <p:cNvPr id="221" name="任意形状 220"/>
          <p:cNvSpPr/>
          <p:nvPr/>
        </p:nvSpPr>
        <p:spPr>
          <a:xfrm>
            <a:off x="5646964" y="6237514"/>
            <a:ext cx="163285" cy="65314"/>
          </a:xfrm>
          <a:custGeom>
            <a:avLst/>
            <a:gdLst>
              <a:gd name="connsiteX0" fmla="*/ 151039 w 163285"/>
              <a:gd name="connsiteY0" fmla="*/ 0 h 65314"/>
              <a:gd name="connsiteX1" fmla="*/ 163286 w 163285"/>
              <a:gd name="connsiteY1" fmla="*/ 0 h 65314"/>
              <a:gd name="connsiteX2" fmla="*/ 163286 w 163285"/>
              <a:gd name="connsiteY2" fmla="*/ 65314 h 65314"/>
              <a:gd name="connsiteX3" fmla="*/ 151039 w 163285"/>
              <a:gd name="connsiteY3" fmla="*/ 65314 h 65314"/>
              <a:gd name="connsiteX4" fmla="*/ 12246 w 163285"/>
              <a:gd name="connsiteY4" fmla="*/ 65314 h 65314"/>
              <a:gd name="connsiteX5" fmla="*/ 0 w 163285"/>
              <a:gd name="connsiteY5" fmla="*/ 65314 h 65314"/>
              <a:gd name="connsiteX6" fmla="*/ 0 w 163285"/>
              <a:gd name="connsiteY6" fmla="*/ 0 h 65314"/>
              <a:gd name="connsiteX7" fmla="*/ 12246 w 163285"/>
              <a:gd name="connsiteY7" fmla="*/ 0 h 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285" h="65314">
                <a:moveTo>
                  <a:pt x="151039" y="0"/>
                </a:moveTo>
                <a:cubicBezTo>
                  <a:pt x="157803" y="0"/>
                  <a:pt x="163286" y="0"/>
                  <a:pt x="163286" y="0"/>
                </a:cubicBezTo>
                <a:lnTo>
                  <a:pt x="163286" y="65314"/>
                </a:lnTo>
                <a:cubicBezTo>
                  <a:pt x="163286" y="65314"/>
                  <a:pt x="157803" y="65314"/>
                  <a:pt x="151039" y="65314"/>
                </a:cubicBezTo>
                <a:lnTo>
                  <a:pt x="12246" y="65314"/>
                </a:lnTo>
                <a:cubicBezTo>
                  <a:pt x="5483" y="65314"/>
                  <a:pt x="0" y="65314"/>
                  <a:pt x="0" y="65314"/>
                </a:cubicBezTo>
                <a:lnTo>
                  <a:pt x="0" y="0"/>
                </a:lnTo>
                <a:cubicBezTo>
                  <a:pt x="0" y="0"/>
                  <a:pt x="5483" y="0"/>
                  <a:pt x="12246" y="0"/>
                </a:cubicBezTo>
                <a:close/>
              </a:path>
            </a:pathLst>
          </a:custGeom>
          <a:noFill/>
          <a:ln w="4082" cap="flat">
            <a:solidFill>
              <a:srgbClr val="BDBDBD"/>
            </a:solidFill>
            <a:custDash>
              <a:ds d="300000" sp="150000"/>
            </a:custDash>
            <a:miter/>
          </a:ln>
        </p:spPr>
        <p:txBody>
          <a:bodyPr rtlCol="0" anchor="ctr"/>
          <a:lstStyle/>
          <a:p>
            <a:pPr algn="ctr"/>
            <a:endParaRPr lang="zh-CN" altLang="en-US" sz="1100"/>
          </a:p>
        </p:txBody>
      </p:sp>
      <p:sp>
        <p:nvSpPr>
          <p:cNvPr id="222" name="文本框 221"/>
          <p:cNvSpPr txBox="1"/>
          <p:nvPr/>
        </p:nvSpPr>
        <p:spPr>
          <a:xfrm>
            <a:off x="5726662" y="6204040"/>
            <a:ext cx="510075"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Phase boundary</a:t>
            </a:r>
          </a:p>
        </p:txBody>
      </p:sp>
      <p:sp>
        <p:nvSpPr>
          <p:cNvPr id="223" name="文本框 222"/>
          <p:cNvSpPr txBox="1"/>
          <p:nvPr/>
        </p:nvSpPr>
        <p:spPr>
          <a:xfrm>
            <a:off x="6214565" y="6204040"/>
            <a:ext cx="914033" cy="153888"/>
          </a:xfrm>
          <a:prstGeom prst="rect">
            <a:avLst/>
          </a:prstGeom>
          <a:noFill/>
        </p:spPr>
        <p:txBody>
          <a:bodyPr wrap="none" rtlCol="0">
            <a:spAutoFit/>
          </a:bodyPr>
          <a:lstStyle/>
          <a:p>
            <a:pPr algn="ctr"/>
            <a:r>
              <a:rPr lang="zh-CN" altLang="en-US" sz="400" spc="0" baseline="0">
                <a:solidFill>
                  <a:srgbClr val="555555"/>
                </a:solidFill>
                <a:latin typeface="Times New Roman" panose="02020503050405090304"/>
                <a:cs typeface="Times New Roman" panose="02020503050405090304"/>
                <a:sym typeface="Times New Roman" panose="02020503050405090304"/>
                <a:rtl val="0"/>
              </a:rPr>
              <a:t>Step 0–12: Code module identifiers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形状 6"/>
          <p:cNvSpPr/>
          <p:nvPr/>
        </p:nvSpPr>
        <p:spPr>
          <a:xfrm>
            <a:off x="3238500" y="0"/>
            <a:ext cx="5715000" cy="6858000"/>
          </a:xfrm>
          <a:custGeom>
            <a:avLst/>
            <a:gdLst>
              <a:gd name="connsiteX0" fmla="*/ 0 w 5715000"/>
              <a:gd name="connsiteY0" fmla="*/ 0 h 6858000"/>
              <a:gd name="connsiteX1" fmla="*/ 5715000 w 5715000"/>
              <a:gd name="connsiteY1" fmla="*/ 0 h 6858000"/>
              <a:gd name="connsiteX2" fmla="*/ 5715000 w 5715000"/>
              <a:gd name="connsiteY2" fmla="*/ 6858000 h 6858000"/>
              <a:gd name="connsiteX3" fmla="*/ 0 w 5715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715000" h="6858000">
                <a:moveTo>
                  <a:pt x="0" y="0"/>
                </a:moveTo>
                <a:lnTo>
                  <a:pt x="5715000" y="0"/>
                </a:lnTo>
                <a:lnTo>
                  <a:pt x="5715000" y="6858000"/>
                </a:lnTo>
                <a:lnTo>
                  <a:pt x="0" y="6858000"/>
                </a:lnTo>
                <a:close/>
              </a:path>
            </a:pathLst>
          </a:custGeom>
          <a:solidFill>
            <a:srgbClr val="FFFFFF"/>
          </a:solidFill>
          <a:ln w="4082" cap="flat">
            <a:noFill/>
            <a:prstDash val="solid"/>
            <a:miter/>
          </a:ln>
        </p:spPr>
        <p:txBody>
          <a:bodyPr rtlCol="0" anchor="ctr"/>
          <a:lstStyle/>
          <a:p>
            <a:endParaRPr lang="zh-CN" altLang="en-US"/>
          </a:p>
        </p:txBody>
      </p:sp>
      <p:sp>
        <p:nvSpPr>
          <p:cNvPr id="8" name="任意形状 7"/>
          <p:cNvSpPr/>
          <p:nvPr/>
        </p:nvSpPr>
        <p:spPr>
          <a:xfrm>
            <a:off x="3360964" y="81642"/>
            <a:ext cx="5470071" cy="1306285"/>
          </a:xfrm>
          <a:custGeom>
            <a:avLst/>
            <a:gdLst>
              <a:gd name="connsiteX0" fmla="*/ 5437415 w 5470071"/>
              <a:gd name="connsiteY0" fmla="*/ 0 h 1306285"/>
              <a:gd name="connsiteX1" fmla="*/ 5470072 w 5470071"/>
              <a:gd name="connsiteY1" fmla="*/ 0 h 1306285"/>
              <a:gd name="connsiteX2" fmla="*/ 5470072 w 5470071"/>
              <a:gd name="connsiteY2" fmla="*/ 1306286 h 1306285"/>
              <a:gd name="connsiteX3" fmla="*/ 5437415 w 5470071"/>
              <a:gd name="connsiteY3" fmla="*/ 1306286 h 1306285"/>
              <a:gd name="connsiteX4" fmla="*/ 32657 w 5470071"/>
              <a:gd name="connsiteY4" fmla="*/ 1306286 h 1306285"/>
              <a:gd name="connsiteX5" fmla="*/ 0 w 5470071"/>
              <a:gd name="connsiteY5" fmla="*/ 1306286 h 1306285"/>
              <a:gd name="connsiteX6" fmla="*/ 0 w 5470071"/>
              <a:gd name="connsiteY6" fmla="*/ 0 h 1306285"/>
              <a:gd name="connsiteX7" fmla="*/ 32657 w 5470071"/>
              <a:gd name="connsiteY7" fmla="*/ 0 h 130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1306285">
                <a:moveTo>
                  <a:pt x="5437415" y="0"/>
                </a:moveTo>
                <a:cubicBezTo>
                  <a:pt x="5455451" y="0"/>
                  <a:pt x="5470072" y="0"/>
                  <a:pt x="5470072" y="0"/>
                </a:cubicBezTo>
                <a:lnTo>
                  <a:pt x="5470072" y="1306286"/>
                </a:lnTo>
                <a:cubicBezTo>
                  <a:pt x="5470072" y="1306286"/>
                  <a:pt x="5455451" y="1306286"/>
                  <a:pt x="5437415" y="1306286"/>
                </a:cubicBezTo>
                <a:lnTo>
                  <a:pt x="32657" y="1306286"/>
                </a:lnTo>
                <a:cubicBezTo>
                  <a:pt x="14621" y="1306286"/>
                  <a:pt x="0" y="1306286"/>
                  <a:pt x="0" y="1306286"/>
                </a:cubicBezTo>
                <a:lnTo>
                  <a:pt x="0" y="0"/>
                </a:lnTo>
                <a:cubicBezTo>
                  <a:pt x="0" y="0"/>
                  <a:pt x="14621" y="0"/>
                  <a:pt x="32657" y="0"/>
                </a:cubicBezTo>
                <a:close/>
              </a:path>
            </a:pathLst>
          </a:custGeom>
          <a:solidFill>
            <a:srgbClr val="FAFAFA"/>
          </a:solidFill>
          <a:ln w="4899" cap="flat">
            <a:solidFill>
              <a:srgbClr val="BDBDBD"/>
            </a:solidFill>
            <a:custDash>
              <a:ds d="450000" sp="225000"/>
            </a:custDash>
            <a:miter/>
          </a:ln>
        </p:spPr>
        <p:txBody>
          <a:bodyPr rtlCol="0" anchor="ctr"/>
          <a:lstStyle/>
          <a:p>
            <a:endParaRPr lang="zh-CN" altLang="en-US"/>
          </a:p>
        </p:txBody>
      </p:sp>
      <p:sp>
        <p:nvSpPr>
          <p:cNvPr id="9" name="文本框 8"/>
          <p:cNvSpPr txBox="1"/>
          <p:nvPr/>
        </p:nvSpPr>
        <p:spPr>
          <a:xfrm>
            <a:off x="3351167" y="97155"/>
            <a:ext cx="921747" cy="164918"/>
          </a:xfrm>
          <a:prstGeom prst="rect">
            <a:avLst/>
          </a:prstGeom>
          <a:noFill/>
        </p:spPr>
        <p:txBody>
          <a:bodyPr wrap="none" rtlCol="0">
            <a:spAutoFit/>
          </a:bodyPr>
          <a:lstStyle/>
          <a:p>
            <a:pPr algn="l"/>
            <a:r>
              <a:rPr lang="zh-CN" altLang="en-US" sz="1350" b="1" spc="0" baseline="0" dirty="0">
                <a:solidFill>
                  <a:srgbClr val="333333"/>
                </a:solidFill>
                <a:latin typeface="宋体"/>
                <a:ea typeface="宋体"/>
                <a:sym typeface="宋体"/>
                <a:rtl val="0"/>
              </a:rPr>
              <a:t>1. 数据基础与预处理</a:t>
            </a:r>
          </a:p>
        </p:txBody>
      </p:sp>
      <p:sp>
        <p:nvSpPr>
          <p:cNvPr id="10" name="文本框 9"/>
          <p:cNvSpPr txBox="1"/>
          <p:nvPr/>
        </p:nvSpPr>
        <p:spPr>
          <a:xfrm>
            <a:off x="3351167" y="203290"/>
            <a:ext cx="880926" cy="136343"/>
          </a:xfrm>
          <a:prstGeom prst="rect">
            <a:avLst/>
          </a:prstGeom>
          <a:noFill/>
        </p:spPr>
        <p:txBody>
          <a:bodyPr wrap="none" rtlCol="0">
            <a:spAutoFit/>
          </a:bodyPr>
          <a:lstStyle/>
          <a:p>
            <a:pPr algn="l"/>
            <a:r>
              <a:rPr lang="zh-CN" altLang="en-US" sz="825" spc="0" baseline="0">
                <a:solidFill>
                  <a:srgbClr val="888888"/>
                </a:solidFill>
                <a:latin typeface="宋体"/>
                <a:ea typeface="宋体"/>
                <a:sym typeface="宋体"/>
                <a:rtl val="0"/>
              </a:rPr>
              <a:t>Data Foundation &amp; Preprocessing</a:t>
            </a:r>
          </a:p>
        </p:txBody>
      </p:sp>
      <p:sp>
        <p:nvSpPr>
          <p:cNvPr id="11" name="任意形状 10"/>
          <p:cNvSpPr/>
          <p:nvPr/>
        </p:nvSpPr>
        <p:spPr>
          <a:xfrm>
            <a:off x="3463017" y="359228"/>
            <a:ext cx="714375" cy="449035"/>
          </a:xfrm>
          <a:custGeom>
            <a:avLst/>
            <a:gdLst>
              <a:gd name="connsiteX0" fmla="*/ 689882 w 714375"/>
              <a:gd name="connsiteY0" fmla="*/ 0 h 449035"/>
              <a:gd name="connsiteX1" fmla="*/ 714375 w 714375"/>
              <a:gd name="connsiteY1" fmla="*/ 0 h 449035"/>
              <a:gd name="connsiteX2" fmla="*/ 714375 w 714375"/>
              <a:gd name="connsiteY2" fmla="*/ 449036 h 449035"/>
              <a:gd name="connsiteX3" fmla="*/ 689882 w 714375"/>
              <a:gd name="connsiteY3" fmla="*/ 449036 h 449035"/>
              <a:gd name="connsiteX4" fmla="*/ 24493 w 714375"/>
              <a:gd name="connsiteY4" fmla="*/ 449036 h 449035"/>
              <a:gd name="connsiteX5" fmla="*/ 0 w 714375"/>
              <a:gd name="connsiteY5" fmla="*/ 449036 h 449035"/>
              <a:gd name="connsiteX6" fmla="*/ 0 w 714375"/>
              <a:gd name="connsiteY6" fmla="*/ 0 h 449035"/>
              <a:gd name="connsiteX7" fmla="*/ 24493 w 714375"/>
              <a:gd name="connsiteY7" fmla="*/ 0 h 44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49035">
                <a:moveTo>
                  <a:pt x="689882" y="0"/>
                </a:moveTo>
                <a:cubicBezTo>
                  <a:pt x="703409" y="0"/>
                  <a:pt x="714375" y="0"/>
                  <a:pt x="714375" y="0"/>
                </a:cubicBezTo>
                <a:lnTo>
                  <a:pt x="714375" y="449036"/>
                </a:lnTo>
                <a:cubicBezTo>
                  <a:pt x="714375" y="449036"/>
                  <a:pt x="703409" y="449036"/>
                  <a:pt x="689882" y="449036"/>
                </a:cubicBezTo>
                <a:lnTo>
                  <a:pt x="24493" y="449036"/>
                </a:lnTo>
                <a:cubicBezTo>
                  <a:pt x="10966" y="449036"/>
                  <a:pt x="0" y="449036"/>
                  <a:pt x="0" y="449036"/>
                </a:cubicBezTo>
                <a:lnTo>
                  <a:pt x="0" y="0"/>
                </a:lnTo>
                <a:cubicBezTo>
                  <a:pt x="0" y="0"/>
                  <a:pt x="10966" y="0"/>
                  <a:pt x="24493" y="0"/>
                </a:cubicBezTo>
                <a:close/>
              </a:path>
            </a:pathLst>
          </a:custGeom>
          <a:solidFill>
            <a:srgbClr val="FFFFFF"/>
          </a:solidFill>
          <a:ln w="6123" cap="flat">
            <a:solidFill>
              <a:srgbClr val="1565C0"/>
            </a:solidFill>
            <a:prstDash val="solid"/>
            <a:miter/>
          </a:ln>
        </p:spPr>
        <p:txBody>
          <a:bodyPr rtlCol="0" anchor="ctr"/>
          <a:lstStyle/>
          <a:p>
            <a:endParaRPr lang="zh-CN" altLang="en-US"/>
          </a:p>
        </p:txBody>
      </p:sp>
      <p:sp>
        <p:nvSpPr>
          <p:cNvPr id="12" name="任意形状 11"/>
          <p:cNvSpPr/>
          <p:nvPr/>
        </p:nvSpPr>
        <p:spPr>
          <a:xfrm>
            <a:off x="3463017" y="359228"/>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1565C0"/>
          </a:solidFill>
          <a:ln w="4082" cap="flat">
            <a:noFill/>
            <a:prstDash val="solid"/>
            <a:miter/>
          </a:ln>
        </p:spPr>
        <p:txBody>
          <a:bodyPr rtlCol="0" anchor="ctr"/>
          <a:lstStyle/>
          <a:p>
            <a:endParaRPr lang="zh-CN" altLang="en-US"/>
          </a:p>
        </p:txBody>
      </p:sp>
      <p:sp>
        <p:nvSpPr>
          <p:cNvPr id="13" name="文本框 12"/>
          <p:cNvSpPr txBox="1"/>
          <p:nvPr/>
        </p:nvSpPr>
        <p:spPr>
          <a:xfrm>
            <a:off x="3567520" y="346165"/>
            <a:ext cx="497205"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研究范围界定</a:t>
            </a:r>
          </a:p>
        </p:txBody>
      </p:sp>
      <p:sp>
        <p:nvSpPr>
          <p:cNvPr id="14" name="文本框 13"/>
          <p:cNvSpPr txBox="1"/>
          <p:nvPr/>
        </p:nvSpPr>
        <p:spPr>
          <a:xfrm>
            <a:off x="3432810" y="456383"/>
            <a:ext cx="42780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亦庄控规界</a:t>
            </a:r>
          </a:p>
        </p:txBody>
      </p:sp>
      <p:sp>
        <p:nvSpPr>
          <p:cNvPr id="15" name="文本框 14"/>
          <p:cNvSpPr txBox="1"/>
          <p:nvPr/>
        </p:nvSpPr>
        <p:spPr>
          <a:xfrm>
            <a:off x="3432810" y="521697"/>
            <a:ext cx="42780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15km缓冲区</a:t>
            </a:r>
          </a:p>
        </p:txBody>
      </p:sp>
      <p:sp>
        <p:nvSpPr>
          <p:cNvPr id="16" name="文本框 15"/>
          <p:cNvSpPr txBox="1"/>
          <p:nvPr/>
        </p:nvSpPr>
        <p:spPr>
          <a:xfrm>
            <a:off x="3432810" y="587012"/>
            <a:ext cx="509451"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事故中心点标注</a:t>
            </a:r>
          </a:p>
        </p:txBody>
      </p:sp>
      <p:sp>
        <p:nvSpPr>
          <p:cNvPr id="17" name="文本框 16"/>
          <p:cNvSpPr txBox="1"/>
          <p:nvPr/>
        </p:nvSpPr>
        <p:spPr>
          <a:xfrm>
            <a:off x="3432810" y="668655"/>
            <a:ext cx="297180" cy="128179"/>
          </a:xfrm>
          <a:prstGeom prst="rect">
            <a:avLst/>
          </a:prstGeom>
          <a:noFill/>
        </p:spPr>
        <p:txBody>
          <a:bodyPr wrap="none" rtlCol="0">
            <a:spAutoFit/>
          </a:bodyPr>
          <a:lstStyle/>
          <a:p>
            <a:pPr algn="l"/>
            <a:r>
              <a:rPr lang="zh-CN" altLang="en-US" sz="675" i="1" spc="0" baseline="0">
                <a:solidFill>
                  <a:srgbClr val="1565C0"/>
                </a:solidFill>
                <a:latin typeface="宋体"/>
                <a:ea typeface="宋体"/>
                <a:sym typeface="宋体"/>
                <a:rtl val="0"/>
              </a:rPr>
              <a:t>Step 0</a:t>
            </a:r>
          </a:p>
        </p:txBody>
      </p:sp>
      <p:sp>
        <p:nvSpPr>
          <p:cNvPr id="18" name="任意形状 17"/>
          <p:cNvSpPr/>
          <p:nvPr/>
        </p:nvSpPr>
        <p:spPr>
          <a:xfrm>
            <a:off x="4177392" y="583746"/>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a:p>
        </p:txBody>
      </p:sp>
      <p:sp>
        <p:nvSpPr>
          <p:cNvPr id="19" name="任意形状 18"/>
          <p:cNvSpPr/>
          <p:nvPr/>
        </p:nvSpPr>
        <p:spPr>
          <a:xfrm>
            <a:off x="4332514" y="359228"/>
            <a:ext cx="714375" cy="449035"/>
          </a:xfrm>
          <a:custGeom>
            <a:avLst/>
            <a:gdLst>
              <a:gd name="connsiteX0" fmla="*/ 689882 w 714375"/>
              <a:gd name="connsiteY0" fmla="*/ 0 h 449035"/>
              <a:gd name="connsiteX1" fmla="*/ 714375 w 714375"/>
              <a:gd name="connsiteY1" fmla="*/ 0 h 449035"/>
              <a:gd name="connsiteX2" fmla="*/ 714375 w 714375"/>
              <a:gd name="connsiteY2" fmla="*/ 449036 h 449035"/>
              <a:gd name="connsiteX3" fmla="*/ 689882 w 714375"/>
              <a:gd name="connsiteY3" fmla="*/ 449036 h 449035"/>
              <a:gd name="connsiteX4" fmla="*/ 24493 w 714375"/>
              <a:gd name="connsiteY4" fmla="*/ 449036 h 449035"/>
              <a:gd name="connsiteX5" fmla="*/ 0 w 714375"/>
              <a:gd name="connsiteY5" fmla="*/ 449036 h 449035"/>
              <a:gd name="connsiteX6" fmla="*/ 0 w 714375"/>
              <a:gd name="connsiteY6" fmla="*/ 0 h 449035"/>
              <a:gd name="connsiteX7" fmla="*/ 24493 w 714375"/>
              <a:gd name="connsiteY7" fmla="*/ 0 h 44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49035">
                <a:moveTo>
                  <a:pt x="689882" y="0"/>
                </a:moveTo>
                <a:cubicBezTo>
                  <a:pt x="703409" y="0"/>
                  <a:pt x="714375" y="0"/>
                  <a:pt x="714375" y="0"/>
                </a:cubicBezTo>
                <a:lnTo>
                  <a:pt x="714375" y="449036"/>
                </a:lnTo>
                <a:cubicBezTo>
                  <a:pt x="714375" y="449036"/>
                  <a:pt x="703409" y="449036"/>
                  <a:pt x="689882" y="449036"/>
                </a:cubicBezTo>
                <a:lnTo>
                  <a:pt x="24493" y="449036"/>
                </a:lnTo>
                <a:cubicBezTo>
                  <a:pt x="10966" y="449036"/>
                  <a:pt x="0" y="449036"/>
                  <a:pt x="0" y="449036"/>
                </a:cubicBezTo>
                <a:lnTo>
                  <a:pt x="0" y="0"/>
                </a:lnTo>
                <a:cubicBezTo>
                  <a:pt x="0" y="0"/>
                  <a:pt x="10966" y="0"/>
                  <a:pt x="24493" y="0"/>
                </a:cubicBezTo>
                <a:close/>
              </a:path>
            </a:pathLst>
          </a:custGeom>
          <a:solidFill>
            <a:srgbClr val="FFFFFF"/>
          </a:solidFill>
          <a:ln w="6123" cap="flat">
            <a:solidFill>
              <a:srgbClr val="E65100"/>
            </a:solidFill>
            <a:prstDash val="solid"/>
            <a:miter/>
          </a:ln>
        </p:spPr>
        <p:txBody>
          <a:bodyPr rtlCol="0" anchor="ctr"/>
          <a:lstStyle/>
          <a:p>
            <a:endParaRPr lang="zh-CN" altLang="en-US"/>
          </a:p>
        </p:txBody>
      </p:sp>
      <p:sp>
        <p:nvSpPr>
          <p:cNvPr id="20" name="任意形状 19"/>
          <p:cNvSpPr/>
          <p:nvPr/>
        </p:nvSpPr>
        <p:spPr>
          <a:xfrm>
            <a:off x="4332514" y="359228"/>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E65100"/>
          </a:solidFill>
          <a:ln w="4082" cap="flat">
            <a:noFill/>
            <a:prstDash val="solid"/>
            <a:miter/>
          </a:ln>
        </p:spPr>
        <p:txBody>
          <a:bodyPr rtlCol="0" anchor="ctr"/>
          <a:lstStyle/>
          <a:p>
            <a:endParaRPr lang="zh-CN" altLang="en-US"/>
          </a:p>
        </p:txBody>
      </p:sp>
      <p:sp>
        <p:nvSpPr>
          <p:cNvPr id="21" name="文本框 20"/>
          <p:cNvSpPr txBox="1"/>
          <p:nvPr/>
        </p:nvSpPr>
        <p:spPr>
          <a:xfrm>
            <a:off x="4490085" y="346165"/>
            <a:ext cx="391069"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路网处理</a:t>
            </a:r>
          </a:p>
        </p:txBody>
      </p:sp>
      <p:sp>
        <p:nvSpPr>
          <p:cNvPr id="22" name="文本框 21"/>
          <p:cNvSpPr txBox="1"/>
          <p:nvPr/>
        </p:nvSpPr>
        <p:spPr>
          <a:xfrm>
            <a:off x="4302306" y="456383"/>
            <a:ext cx="448219"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OSM路网裁剪</a:t>
            </a:r>
          </a:p>
        </p:txBody>
      </p:sp>
      <p:sp>
        <p:nvSpPr>
          <p:cNvPr id="23" name="文本框 22"/>
          <p:cNvSpPr txBox="1"/>
          <p:nvPr/>
        </p:nvSpPr>
        <p:spPr>
          <a:xfrm>
            <a:off x="4302306" y="521697"/>
            <a:ext cx="591094"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等级/限速/通行能力</a:t>
            </a:r>
          </a:p>
        </p:txBody>
      </p:sp>
      <p:sp>
        <p:nvSpPr>
          <p:cNvPr id="24" name="文本框 23"/>
          <p:cNvSpPr txBox="1"/>
          <p:nvPr/>
        </p:nvSpPr>
        <p:spPr>
          <a:xfrm>
            <a:off x="4302306" y="587012"/>
            <a:ext cx="509451"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NetworkX拓扑图</a:t>
            </a:r>
          </a:p>
        </p:txBody>
      </p:sp>
      <p:sp>
        <p:nvSpPr>
          <p:cNvPr id="25" name="文本框 24"/>
          <p:cNvSpPr txBox="1"/>
          <p:nvPr/>
        </p:nvSpPr>
        <p:spPr>
          <a:xfrm>
            <a:off x="4302306" y="668655"/>
            <a:ext cx="297180" cy="128179"/>
          </a:xfrm>
          <a:prstGeom prst="rect">
            <a:avLst/>
          </a:prstGeom>
          <a:noFill/>
        </p:spPr>
        <p:txBody>
          <a:bodyPr wrap="none" rtlCol="0">
            <a:spAutoFit/>
          </a:bodyPr>
          <a:lstStyle/>
          <a:p>
            <a:pPr algn="l"/>
            <a:r>
              <a:rPr lang="zh-CN" altLang="en-US" sz="675" i="1" spc="0" baseline="0">
                <a:solidFill>
                  <a:srgbClr val="E65100"/>
                </a:solidFill>
                <a:latin typeface="宋体"/>
                <a:ea typeface="宋体"/>
                <a:sym typeface="宋体"/>
                <a:rtl val="0"/>
              </a:rPr>
              <a:t>Step 2</a:t>
            </a:r>
          </a:p>
        </p:txBody>
      </p:sp>
      <p:sp>
        <p:nvSpPr>
          <p:cNvPr id="26" name="任意形状 25"/>
          <p:cNvSpPr/>
          <p:nvPr/>
        </p:nvSpPr>
        <p:spPr>
          <a:xfrm>
            <a:off x="5046889" y="583746"/>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a:p>
        </p:txBody>
      </p:sp>
      <p:sp>
        <p:nvSpPr>
          <p:cNvPr id="27" name="任意形状 26"/>
          <p:cNvSpPr/>
          <p:nvPr/>
        </p:nvSpPr>
        <p:spPr>
          <a:xfrm>
            <a:off x="5202010" y="359228"/>
            <a:ext cx="714375" cy="449035"/>
          </a:xfrm>
          <a:custGeom>
            <a:avLst/>
            <a:gdLst>
              <a:gd name="connsiteX0" fmla="*/ 689882 w 714375"/>
              <a:gd name="connsiteY0" fmla="*/ 0 h 449035"/>
              <a:gd name="connsiteX1" fmla="*/ 714375 w 714375"/>
              <a:gd name="connsiteY1" fmla="*/ 0 h 449035"/>
              <a:gd name="connsiteX2" fmla="*/ 714375 w 714375"/>
              <a:gd name="connsiteY2" fmla="*/ 449036 h 449035"/>
              <a:gd name="connsiteX3" fmla="*/ 689882 w 714375"/>
              <a:gd name="connsiteY3" fmla="*/ 449036 h 449035"/>
              <a:gd name="connsiteX4" fmla="*/ 24493 w 714375"/>
              <a:gd name="connsiteY4" fmla="*/ 449036 h 449035"/>
              <a:gd name="connsiteX5" fmla="*/ 0 w 714375"/>
              <a:gd name="connsiteY5" fmla="*/ 449036 h 449035"/>
              <a:gd name="connsiteX6" fmla="*/ 0 w 714375"/>
              <a:gd name="connsiteY6" fmla="*/ 0 h 449035"/>
              <a:gd name="connsiteX7" fmla="*/ 24493 w 714375"/>
              <a:gd name="connsiteY7" fmla="*/ 0 h 44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49035">
                <a:moveTo>
                  <a:pt x="689882" y="0"/>
                </a:moveTo>
                <a:cubicBezTo>
                  <a:pt x="703409" y="0"/>
                  <a:pt x="714375" y="0"/>
                  <a:pt x="714375" y="0"/>
                </a:cubicBezTo>
                <a:lnTo>
                  <a:pt x="714375" y="449036"/>
                </a:lnTo>
                <a:cubicBezTo>
                  <a:pt x="714375" y="449036"/>
                  <a:pt x="703409" y="449036"/>
                  <a:pt x="689882" y="449036"/>
                </a:cubicBezTo>
                <a:lnTo>
                  <a:pt x="24493" y="449036"/>
                </a:lnTo>
                <a:cubicBezTo>
                  <a:pt x="10966" y="449036"/>
                  <a:pt x="0" y="449036"/>
                  <a:pt x="0" y="449036"/>
                </a:cubicBezTo>
                <a:lnTo>
                  <a:pt x="0" y="0"/>
                </a:lnTo>
                <a:cubicBezTo>
                  <a:pt x="0" y="0"/>
                  <a:pt x="10966" y="0"/>
                  <a:pt x="24493" y="0"/>
                </a:cubicBezTo>
                <a:close/>
              </a:path>
            </a:pathLst>
          </a:custGeom>
          <a:solidFill>
            <a:srgbClr val="FFFFFF"/>
          </a:solidFill>
          <a:ln w="6123" cap="flat">
            <a:solidFill>
              <a:srgbClr val="2E7D32"/>
            </a:solidFill>
            <a:prstDash val="solid"/>
            <a:miter/>
          </a:ln>
        </p:spPr>
        <p:txBody>
          <a:bodyPr rtlCol="0" anchor="ctr"/>
          <a:lstStyle/>
          <a:p>
            <a:endParaRPr lang="zh-CN" altLang="en-US"/>
          </a:p>
        </p:txBody>
      </p:sp>
      <p:sp>
        <p:nvSpPr>
          <p:cNvPr id="28" name="任意形状 27"/>
          <p:cNvSpPr/>
          <p:nvPr/>
        </p:nvSpPr>
        <p:spPr>
          <a:xfrm>
            <a:off x="5202010" y="359228"/>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2E7D32"/>
          </a:solidFill>
          <a:ln w="4082" cap="flat">
            <a:noFill/>
            <a:prstDash val="solid"/>
            <a:miter/>
          </a:ln>
        </p:spPr>
        <p:txBody>
          <a:bodyPr rtlCol="0" anchor="ctr"/>
          <a:lstStyle/>
          <a:p>
            <a:endParaRPr lang="zh-CN" altLang="en-US"/>
          </a:p>
        </p:txBody>
      </p:sp>
      <p:sp>
        <p:nvSpPr>
          <p:cNvPr id="29" name="文本框 28"/>
          <p:cNvSpPr txBox="1"/>
          <p:nvPr/>
        </p:nvSpPr>
        <p:spPr>
          <a:xfrm>
            <a:off x="5412649" y="346165"/>
            <a:ext cx="284933"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POI筛选</a:t>
            </a:r>
          </a:p>
        </p:txBody>
      </p:sp>
      <p:sp>
        <p:nvSpPr>
          <p:cNvPr id="30" name="文本框 29"/>
          <p:cNvSpPr txBox="1"/>
          <p:nvPr/>
        </p:nvSpPr>
        <p:spPr>
          <a:xfrm>
            <a:off x="5171802" y="456383"/>
            <a:ext cx="448219"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医院/消防站</a:t>
            </a:r>
          </a:p>
        </p:txBody>
      </p:sp>
      <p:sp>
        <p:nvSpPr>
          <p:cNvPr id="31" name="文本框 30"/>
          <p:cNvSpPr txBox="1"/>
          <p:nvPr/>
        </p:nvSpPr>
        <p:spPr>
          <a:xfrm>
            <a:off x="5171802" y="521697"/>
            <a:ext cx="52986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避难场所/地铁站</a:t>
            </a:r>
          </a:p>
        </p:txBody>
      </p:sp>
      <p:sp>
        <p:nvSpPr>
          <p:cNvPr id="32" name="文本框 31"/>
          <p:cNvSpPr txBox="1"/>
          <p:nvPr/>
        </p:nvSpPr>
        <p:spPr>
          <a:xfrm>
            <a:off x="5171802" y="587012"/>
            <a:ext cx="42780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脆弱性设施</a:t>
            </a:r>
          </a:p>
        </p:txBody>
      </p:sp>
      <p:sp>
        <p:nvSpPr>
          <p:cNvPr id="33" name="文本框 32"/>
          <p:cNvSpPr txBox="1"/>
          <p:nvPr/>
        </p:nvSpPr>
        <p:spPr>
          <a:xfrm>
            <a:off x="5171802" y="668655"/>
            <a:ext cx="297180" cy="128179"/>
          </a:xfrm>
          <a:prstGeom prst="rect">
            <a:avLst/>
          </a:prstGeom>
          <a:noFill/>
        </p:spPr>
        <p:txBody>
          <a:bodyPr wrap="none" rtlCol="0">
            <a:spAutoFit/>
          </a:bodyPr>
          <a:lstStyle/>
          <a:p>
            <a:pPr algn="l"/>
            <a:r>
              <a:rPr lang="zh-CN" altLang="en-US" sz="675" i="1" spc="0" baseline="0">
                <a:solidFill>
                  <a:srgbClr val="2E7D32"/>
                </a:solidFill>
                <a:latin typeface="宋体"/>
                <a:ea typeface="宋体"/>
                <a:sym typeface="宋体"/>
                <a:rtl val="0"/>
              </a:rPr>
              <a:t>Step 3</a:t>
            </a:r>
          </a:p>
        </p:txBody>
      </p:sp>
      <p:sp>
        <p:nvSpPr>
          <p:cNvPr id="34" name="任意形状 33"/>
          <p:cNvSpPr/>
          <p:nvPr/>
        </p:nvSpPr>
        <p:spPr>
          <a:xfrm>
            <a:off x="5916385" y="583746"/>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a:p>
        </p:txBody>
      </p:sp>
      <p:sp>
        <p:nvSpPr>
          <p:cNvPr id="35" name="任意形状 34"/>
          <p:cNvSpPr/>
          <p:nvPr/>
        </p:nvSpPr>
        <p:spPr>
          <a:xfrm>
            <a:off x="6071507" y="359228"/>
            <a:ext cx="714375" cy="449035"/>
          </a:xfrm>
          <a:custGeom>
            <a:avLst/>
            <a:gdLst>
              <a:gd name="connsiteX0" fmla="*/ 689882 w 714375"/>
              <a:gd name="connsiteY0" fmla="*/ 0 h 449035"/>
              <a:gd name="connsiteX1" fmla="*/ 714375 w 714375"/>
              <a:gd name="connsiteY1" fmla="*/ 0 h 449035"/>
              <a:gd name="connsiteX2" fmla="*/ 714375 w 714375"/>
              <a:gd name="connsiteY2" fmla="*/ 449036 h 449035"/>
              <a:gd name="connsiteX3" fmla="*/ 689882 w 714375"/>
              <a:gd name="connsiteY3" fmla="*/ 449036 h 449035"/>
              <a:gd name="connsiteX4" fmla="*/ 24493 w 714375"/>
              <a:gd name="connsiteY4" fmla="*/ 449036 h 449035"/>
              <a:gd name="connsiteX5" fmla="*/ 0 w 714375"/>
              <a:gd name="connsiteY5" fmla="*/ 449036 h 449035"/>
              <a:gd name="connsiteX6" fmla="*/ 0 w 714375"/>
              <a:gd name="connsiteY6" fmla="*/ 0 h 449035"/>
              <a:gd name="connsiteX7" fmla="*/ 24493 w 714375"/>
              <a:gd name="connsiteY7" fmla="*/ 0 h 44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449035">
                <a:moveTo>
                  <a:pt x="689882" y="0"/>
                </a:moveTo>
                <a:cubicBezTo>
                  <a:pt x="703409" y="0"/>
                  <a:pt x="714375" y="0"/>
                  <a:pt x="714375" y="0"/>
                </a:cubicBezTo>
                <a:lnTo>
                  <a:pt x="714375" y="449036"/>
                </a:lnTo>
                <a:cubicBezTo>
                  <a:pt x="714375" y="449036"/>
                  <a:pt x="703409" y="449036"/>
                  <a:pt x="689882" y="449036"/>
                </a:cubicBezTo>
                <a:lnTo>
                  <a:pt x="24493" y="449036"/>
                </a:lnTo>
                <a:cubicBezTo>
                  <a:pt x="10966" y="449036"/>
                  <a:pt x="0" y="449036"/>
                  <a:pt x="0" y="449036"/>
                </a:cubicBezTo>
                <a:lnTo>
                  <a:pt x="0" y="0"/>
                </a:lnTo>
                <a:cubicBezTo>
                  <a:pt x="0" y="0"/>
                  <a:pt x="10966" y="0"/>
                  <a:pt x="24493" y="0"/>
                </a:cubicBezTo>
                <a:close/>
              </a:path>
            </a:pathLst>
          </a:custGeom>
          <a:solidFill>
            <a:srgbClr val="FFFFFF"/>
          </a:solidFill>
          <a:ln w="6123" cap="flat">
            <a:solidFill>
              <a:srgbClr val="6A1B9A"/>
            </a:solidFill>
            <a:prstDash val="solid"/>
            <a:miter/>
          </a:ln>
        </p:spPr>
        <p:txBody>
          <a:bodyPr rtlCol="0" anchor="ctr"/>
          <a:lstStyle/>
          <a:p>
            <a:endParaRPr lang="zh-CN" altLang="en-US"/>
          </a:p>
        </p:txBody>
      </p:sp>
      <p:sp>
        <p:nvSpPr>
          <p:cNvPr id="36" name="任意形状 35"/>
          <p:cNvSpPr/>
          <p:nvPr/>
        </p:nvSpPr>
        <p:spPr>
          <a:xfrm>
            <a:off x="6071507" y="359228"/>
            <a:ext cx="714375" cy="106135"/>
          </a:xfrm>
          <a:custGeom>
            <a:avLst/>
            <a:gdLst>
              <a:gd name="connsiteX0" fmla="*/ 689882 w 714375"/>
              <a:gd name="connsiteY0" fmla="*/ 0 h 106135"/>
              <a:gd name="connsiteX1" fmla="*/ 714375 w 714375"/>
              <a:gd name="connsiteY1" fmla="*/ 0 h 106135"/>
              <a:gd name="connsiteX2" fmla="*/ 714375 w 714375"/>
              <a:gd name="connsiteY2" fmla="*/ 106136 h 106135"/>
              <a:gd name="connsiteX3" fmla="*/ 689882 w 714375"/>
              <a:gd name="connsiteY3" fmla="*/ 106136 h 106135"/>
              <a:gd name="connsiteX4" fmla="*/ 24493 w 714375"/>
              <a:gd name="connsiteY4" fmla="*/ 106136 h 106135"/>
              <a:gd name="connsiteX5" fmla="*/ 0 w 714375"/>
              <a:gd name="connsiteY5" fmla="*/ 106136 h 106135"/>
              <a:gd name="connsiteX6" fmla="*/ 0 w 714375"/>
              <a:gd name="connsiteY6" fmla="*/ 0 h 106135"/>
              <a:gd name="connsiteX7" fmla="*/ 24493 w 71437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375" h="106135">
                <a:moveTo>
                  <a:pt x="689882" y="0"/>
                </a:moveTo>
                <a:cubicBezTo>
                  <a:pt x="703409" y="0"/>
                  <a:pt x="714375" y="0"/>
                  <a:pt x="714375" y="0"/>
                </a:cubicBezTo>
                <a:lnTo>
                  <a:pt x="714375" y="106136"/>
                </a:lnTo>
                <a:cubicBezTo>
                  <a:pt x="714375" y="106136"/>
                  <a:pt x="703409" y="106136"/>
                  <a:pt x="689882" y="106136"/>
                </a:cubicBezTo>
                <a:lnTo>
                  <a:pt x="24493" y="106136"/>
                </a:lnTo>
                <a:cubicBezTo>
                  <a:pt x="10966" y="106136"/>
                  <a:pt x="0" y="106136"/>
                  <a:pt x="0" y="106136"/>
                </a:cubicBezTo>
                <a:lnTo>
                  <a:pt x="0" y="0"/>
                </a:lnTo>
                <a:cubicBezTo>
                  <a:pt x="0" y="0"/>
                  <a:pt x="10966" y="0"/>
                  <a:pt x="24493" y="0"/>
                </a:cubicBezTo>
                <a:close/>
              </a:path>
            </a:pathLst>
          </a:custGeom>
          <a:solidFill>
            <a:srgbClr val="6A1B9A"/>
          </a:solidFill>
          <a:ln w="4082" cap="flat">
            <a:noFill/>
            <a:prstDash val="solid"/>
            <a:miter/>
          </a:ln>
        </p:spPr>
        <p:txBody>
          <a:bodyPr rtlCol="0" anchor="ctr"/>
          <a:lstStyle/>
          <a:p>
            <a:endParaRPr lang="zh-CN" altLang="en-US"/>
          </a:p>
        </p:txBody>
      </p:sp>
      <p:sp>
        <p:nvSpPr>
          <p:cNvPr id="37" name="文本框 36"/>
          <p:cNvSpPr txBox="1"/>
          <p:nvPr/>
        </p:nvSpPr>
        <p:spPr>
          <a:xfrm>
            <a:off x="6229077" y="346165"/>
            <a:ext cx="391069"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人口数据</a:t>
            </a:r>
          </a:p>
        </p:txBody>
      </p:sp>
      <p:sp>
        <p:nvSpPr>
          <p:cNvPr id="38" name="文本框 37"/>
          <p:cNvSpPr txBox="1"/>
          <p:nvPr/>
        </p:nvSpPr>
        <p:spPr>
          <a:xfrm>
            <a:off x="6041299" y="456383"/>
            <a:ext cx="652326"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地块级人口（百度LBS）</a:t>
            </a:r>
          </a:p>
        </p:txBody>
      </p:sp>
      <p:sp>
        <p:nvSpPr>
          <p:cNvPr id="39" name="文本框 38"/>
          <p:cNvSpPr txBox="1"/>
          <p:nvPr/>
        </p:nvSpPr>
        <p:spPr>
          <a:xfrm>
            <a:off x="6041299" y="521697"/>
            <a:ext cx="46863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七普年龄结构</a:t>
            </a:r>
          </a:p>
        </p:txBody>
      </p:sp>
      <p:sp>
        <p:nvSpPr>
          <p:cNvPr id="40" name="文本框 39"/>
          <p:cNvSpPr txBox="1"/>
          <p:nvPr/>
        </p:nvSpPr>
        <p:spPr>
          <a:xfrm>
            <a:off x="6041299" y="587012"/>
            <a:ext cx="55027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脆弱人群比例估算</a:t>
            </a:r>
          </a:p>
        </p:txBody>
      </p:sp>
      <p:sp>
        <p:nvSpPr>
          <p:cNvPr id="41" name="文本框 40"/>
          <p:cNvSpPr txBox="1"/>
          <p:nvPr/>
        </p:nvSpPr>
        <p:spPr>
          <a:xfrm>
            <a:off x="6041299" y="668655"/>
            <a:ext cx="297180" cy="128179"/>
          </a:xfrm>
          <a:prstGeom prst="rect">
            <a:avLst/>
          </a:prstGeom>
          <a:noFill/>
        </p:spPr>
        <p:txBody>
          <a:bodyPr wrap="none" rtlCol="0">
            <a:spAutoFit/>
          </a:bodyPr>
          <a:lstStyle/>
          <a:p>
            <a:pPr algn="l"/>
            <a:r>
              <a:rPr lang="zh-CN" altLang="en-US" sz="675" i="1" spc="0" baseline="0">
                <a:solidFill>
                  <a:srgbClr val="6A1B9A"/>
                </a:solidFill>
                <a:latin typeface="宋体"/>
                <a:ea typeface="宋体"/>
                <a:sym typeface="宋体"/>
                <a:rtl val="0"/>
              </a:rPr>
              <a:t>Step 4</a:t>
            </a:r>
          </a:p>
        </p:txBody>
      </p:sp>
      <p:sp>
        <p:nvSpPr>
          <p:cNvPr id="42" name="任意形状 41"/>
          <p:cNvSpPr/>
          <p:nvPr/>
        </p:nvSpPr>
        <p:spPr>
          <a:xfrm>
            <a:off x="6785882" y="583746"/>
            <a:ext cx="122464" cy="4082"/>
          </a:xfrm>
          <a:custGeom>
            <a:avLst/>
            <a:gdLst>
              <a:gd name="connsiteX0" fmla="*/ 0 w 122464"/>
              <a:gd name="connsiteY0" fmla="*/ 0 h 4082"/>
              <a:gd name="connsiteX1" fmla="*/ 122464 w 122464"/>
              <a:gd name="connsiteY1" fmla="*/ 0 h 4082"/>
            </a:gdLst>
            <a:ahLst/>
            <a:cxnLst>
              <a:cxn ang="0">
                <a:pos x="connsiteX0" y="connsiteY0"/>
              </a:cxn>
              <a:cxn ang="0">
                <a:pos x="connsiteX1" y="connsiteY1"/>
              </a:cxn>
            </a:cxnLst>
            <a:rect l="l" t="t" r="r" b="b"/>
            <a:pathLst>
              <a:path w="122464" h="4082">
                <a:moveTo>
                  <a:pt x="0" y="0"/>
                </a:moveTo>
                <a:lnTo>
                  <a:pt x="122464" y="0"/>
                </a:lnTo>
              </a:path>
            </a:pathLst>
          </a:custGeom>
          <a:ln w="4899" cap="flat">
            <a:solidFill>
              <a:srgbClr val="555555"/>
            </a:solidFill>
            <a:prstDash val="solid"/>
            <a:miter/>
          </a:ln>
        </p:spPr>
        <p:txBody>
          <a:bodyPr rtlCol="0" anchor="ctr"/>
          <a:lstStyle/>
          <a:p>
            <a:endParaRPr lang="zh-CN" altLang="en-US"/>
          </a:p>
        </p:txBody>
      </p:sp>
      <p:sp>
        <p:nvSpPr>
          <p:cNvPr id="43" name="任意形状 42"/>
          <p:cNvSpPr/>
          <p:nvPr/>
        </p:nvSpPr>
        <p:spPr>
          <a:xfrm>
            <a:off x="6941003" y="359228"/>
            <a:ext cx="796017" cy="449035"/>
          </a:xfrm>
          <a:custGeom>
            <a:avLst/>
            <a:gdLst>
              <a:gd name="connsiteX0" fmla="*/ 771525 w 796017"/>
              <a:gd name="connsiteY0" fmla="*/ 0 h 449035"/>
              <a:gd name="connsiteX1" fmla="*/ 796018 w 796017"/>
              <a:gd name="connsiteY1" fmla="*/ 0 h 449035"/>
              <a:gd name="connsiteX2" fmla="*/ 796018 w 796017"/>
              <a:gd name="connsiteY2" fmla="*/ 449036 h 449035"/>
              <a:gd name="connsiteX3" fmla="*/ 771525 w 796017"/>
              <a:gd name="connsiteY3" fmla="*/ 449036 h 449035"/>
              <a:gd name="connsiteX4" fmla="*/ 24493 w 796017"/>
              <a:gd name="connsiteY4" fmla="*/ 449036 h 449035"/>
              <a:gd name="connsiteX5" fmla="*/ 0 w 796017"/>
              <a:gd name="connsiteY5" fmla="*/ 449036 h 449035"/>
              <a:gd name="connsiteX6" fmla="*/ 0 w 796017"/>
              <a:gd name="connsiteY6" fmla="*/ 0 h 449035"/>
              <a:gd name="connsiteX7" fmla="*/ 24493 w 796017"/>
              <a:gd name="connsiteY7" fmla="*/ 0 h 449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017" h="449035">
                <a:moveTo>
                  <a:pt x="771525" y="0"/>
                </a:moveTo>
                <a:cubicBezTo>
                  <a:pt x="785052" y="0"/>
                  <a:pt x="796018" y="0"/>
                  <a:pt x="796018" y="0"/>
                </a:cubicBezTo>
                <a:lnTo>
                  <a:pt x="796018" y="449036"/>
                </a:lnTo>
                <a:cubicBezTo>
                  <a:pt x="796018" y="449036"/>
                  <a:pt x="785052" y="449036"/>
                  <a:pt x="771525" y="449036"/>
                </a:cubicBezTo>
                <a:lnTo>
                  <a:pt x="24493" y="449036"/>
                </a:lnTo>
                <a:cubicBezTo>
                  <a:pt x="10966" y="449036"/>
                  <a:pt x="0" y="449036"/>
                  <a:pt x="0" y="449036"/>
                </a:cubicBezTo>
                <a:lnTo>
                  <a:pt x="0" y="0"/>
                </a:lnTo>
                <a:cubicBezTo>
                  <a:pt x="0" y="0"/>
                  <a:pt x="10966" y="0"/>
                  <a:pt x="24493" y="0"/>
                </a:cubicBezTo>
                <a:close/>
              </a:path>
            </a:pathLst>
          </a:custGeom>
          <a:solidFill>
            <a:srgbClr val="FFFFFF"/>
          </a:solidFill>
          <a:ln w="6123" cap="flat">
            <a:solidFill>
              <a:srgbClr val="00695C"/>
            </a:solidFill>
            <a:prstDash val="solid"/>
            <a:miter/>
          </a:ln>
        </p:spPr>
        <p:txBody>
          <a:bodyPr rtlCol="0" anchor="ctr"/>
          <a:lstStyle/>
          <a:p>
            <a:endParaRPr lang="zh-CN" altLang="en-US"/>
          </a:p>
        </p:txBody>
      </p:sp>
      <p:sp>
        <p:nvSpPr>
          <p:cNvPr id="44" name="任意形状 43"/>
          <p:cNvSpPr/>
          <p:nvPr/>
        </p:nvSpPr>
        <p:spPr>
          <a:xfrm>
            <a:off x="6941003" y="359228"/>
            <a:ext cx="796017" cy="106135"/>
          </a:xfrm>
          <a:custGeom>
            <a:avLst/>
            <a:gdLst>
              <a:gd name="connsiteX0" fmla="*/ 771525 w 796017"/>
              <a:gd name="connsiteY0" fmla="*/ 0 h 106135"/>
              <a:gd name="connsiteX1" fmla="*/ 796018 w 796017"/>
              <a:gd name="connsiteY1" fmla="*/ 0 h 106135"/>
              <a:gd name="connsiteX2" fmla="*/ 796018 w 796017"/>
              <a:gd name="connsiteY2" fmla="*/ 106136 h 106135"/>
              <a:gd name="connsiteX3" fmla="*/ 771525 w 796017"/>
              <a:gd name="connsiteY3" fmla="*/ 106136 h 106135"/>
              <a:gd name="connsiteX4" fmla="*/ 24493 w 796017"/>
              <a:gd name="connsiteY4" fmla="*/ 106136 h 106135"/>
              <a:gd name="connsiteX5" fmla="*/ 0 w 796017"/>
              <a:gd name="connsiteY5" fmla="*/ 106136 h 106135"/>
              <a:gd name="connsiteX6" fmla="*/ 0 w 796017"/>
              <a:gd name="connsiteY6" fmla="*/ 0 h 106135"/>
              <a:gd name="connsiteX7" fmla="*/ 24493 w 796017"/>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017" h="106135">
                <a:moveTo>
                  <a:pt x="771525" y="0"/>
                </a:moveTo>
                <a:cubicBezTo>
                  <a:pt x="785052" y="0"/>
                  <a:pt x="796018" y="0"/>
                  <a:pt x="796018" y="0"/>
                </a:cubicBezTo>
                <a:lnTo>
                  <a:pt x="796018" y="106136"/>
                </a:lnTo>
                <a:cubicBezTo>
                  <a:pt x="796018" y="106136"/>
                  <a:pt x="785052" y="106136"/>
                  <a:pt x="771525" y="106136"/>
                </a:cubicBezTo>
                <a:lnTo>
                  <a:pt x="24493" y="106136"/>
                </a:lnTo>
                <a:cubicBezTo>
                  <a:pt x="10966" y="106136"/>
                  <a:pt x="0" y="106136"/>
                  <a:pt x="0" y="106136"/>
                </a:cubicBezTo>
                <a:lnTo>
                  <a:pt x="0" y="0"/>
                </a:lnTo>
                <a:cubicBezTo>
                  <a:pt x="0" y="0"/>
                  <a:pt x="10966" y="0"/>
                  <a:pt x="24493" y="0"/>
                </a:cubicBezTo>
                <a:close/>
              </a:path>
            </a:pathLst>
          </a:custGeom>
          <a:solidFill>
            <a:srgbClr val="00695C"/>
          </a:solidFill>
          <a:ln w="4082" cap="flat">
            <a:noFill/>
            <a:prstDash val="solid"/>
            <a:miter/>
          </a:ln>
        </p:spPr>
        <p:txBody>
          <a:bodyPr rtlCol="0" anchor="ctr"/>
          <a:lstStyle/>
          <a:p>
            <a:endParaRPr lang="zh-CN" altLang="en-US"/>
          </a:p>
        </p:txBody>
      </p:sp>
      <p:sp>
        <p:nvSpPr>
          <p:cNvPr id="45" name="文本框 44"/>
          <p:cNvSpPr txBox="1"/>
          <p:nvPr/>
        </p:nvSpPr>
        <p:spPr>
          <a:xfrm>
            <a:off x="7086327" y="346165"/>
            <a:ext cx="497205"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OD/通勤/行程时间</a:t>
            </a:r>
          </a:p>
        </p:txBody>
      </p:sp>
      <p:sp>
        <p:nvSpPr>
          <p:cNvPr id="46" name="文本框 45"/>
          <p:cNvSpPr txBox="1"/>
          <p:nvPr/>
        </p:nvSpPr>
        <p:spPr>
          <a:xfrm>
            <a:off x="6910795" y="456383"/>
            <a:ext cx="611505"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BD09→WGS84坐标转换</a:t>
            </a:r>
          </a:p>
        </p:txBody>
      </p:sp>
      <p:sp>
        <p:nvSpPr>
          <p:cNvPr id="47" name="文本框 46"/>
          <p:cNvSpPr txBox="1"/>
          <p:nvPr/>
        </p:nvSpPr>
        <p:spPr>
          <a:xfrm>
            <a:off x="6910795" y="521697"/>
            <a:ext cx="55027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OD数据裁剪与统计</a:t>
            </a:r>
          </a:p>
        </p:txBody>
      </p:sp>
      <p:sp>
        <p:nvSpPr>
          <p:cNvPr id="48" name="文本框 47"/>
          <p:cNvSpPr txBox="1"/>
          <p:nvPr/>
        </p:nvSpPr>
        <p:spPr>
          <a:xfrm>
            <a:off x="6910795" y="587012"/>
            <a:ext cx="631915"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Dijkstra行程时间矩阵</a:t>
            </a:r>
          </a:p>
        </p:txBody>
      </p:sp>
      <p:sp>
        <p:nvSpPr>
          <p:cNvPr id="49" name="文本框 48"/>
          <p:cNvSpPr txBox="1"/>
          <p:nvPr/>
        </p:nvSpPr>
        <p:spPr>
          <a:xfrm>
            <a:off x="6910795" y="668655"/>
            <a:ext cx="407397" cy="128179"/>
          </a:xfrm>
          <a:prstGeom prst="rect">
            <a:avLst/>
          </a:prstGeom>
          <a:noFill/>
        </p:spPr>
        <p:txBody>
          <a:bodyPr wrap="none" rtlCol="0">
            <a:spAutoFit/>
          </a:bodyPr>
          <a:lstStyle/>
          <a:p>
            <a:pPr algn="l"/>
            <a:r>
              <a:rPr lang="zh-CN" altLang="en-US" sz="675" i="1" spc="0" baseline="0">
                <a:solidFill>
                  <a:srgbClr val="00695C"/>
                </a:solidFill>
                <a:latin typeface="宋体"/>
                <a:ea typeface="宋体"/>
                <a:sym typeface="宋体"/>
                <a:rtl val="0"/>
              </a:rPr>
              <a:t>Step 5, 6, 7</a:t>
            </a:r>
          </a:p>
        </p:txBody>
      </p:sp>
      <p:sp>
        <p:nvSpPr>
          <p:cNvPr id="50" name="任意形状 49"/>
          <p:cNvSpPr/>
          <p:nvPr/>
        </p:nvSpPr>
        <p:spPr>
          <a:xfrm>
            <a:off x="3463017" y="889907"/>
            <a:ext cx="4274003" cy="146957"/>
          </a:xfrm>
          <a:custGeom>
            <a:avLst/>
            <a:gdLst>
              <a:gd name="connsiteX0" fmla="*/ 4249511 w 4274003"/>
              <a:gd name="connsiteY0" fmla="*/ 0 h 146957"/>
              <a:gd name="connsiteX1" fmla="*/ 4274004 w 4274003"/>
              <a:gd name="connsiteY1" fmla="*/ 0 h 146957"/>
              <a:gd name="connsiteX2" fmla="*/ 4274004 w 4274003"/>
              <a:gd name="connsiteY2" fmla="*/ 146957 h 146957"/>
              <a:gd name="connsiteX3" fmla="*/ 4249511 w 4274003"/>
              <a:gd name="connsiteY3" fmla="*/ 146957 h 146957"/>
              <a:gd name="connsiteX4" fmla="*/ 24493 w 4274003"/>
              <a:gd name="connsiteY4" fmla="*/ 146957 h 146957"/>
              <a:gd name="connsiteX5" fmla="*/ 0 w 4274003"/>
              <a:gd name="connsiteY5" fmla="*/ 146957 h 146957"/>
              <a:gd name="connsiteX6" fmla="*/ 0 w 4274003"/>
              <a:gd name="connsiteY6" fmla="*/ 0 h 146957"/>
              <a:gd name="connsiteX7" fmla="*/ 24493 w 4274003"/>
              <a:gd name="connsiteY7" fmla="*/ 0 h 14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74003" h="146957">
                <a:moveTo>
                  <a:pt x="4249511" y="0"/>
                </a:moveTo>
                <a:cubicBezTo>
                  <a:pt x="4263038" y="0"/>
                  <a:pt x="4274004" y="0"/>
                  <a:pt x="4274004" y="0"/>
                </a:cubicBezTo>
                <a:lnTo>
                  <a:pt x="4274004" y="146957"/>
                </a:lnTo>
                <a:cubicBezTo>
                  <a:pt x="4274004" y="146957"/>
                  <a:pt x="4263038" y="146957"/>
                  <a:pt x="4249511" y="146957"/>
                </a:cubicBezTo>
                <a:lnTo>
                  <a:pt x="24493" y="146957"/>
                </a:lnTo>
                <a:cubicBezTo>
                  <a:pt x="10966" y="146957"/>
                  <a:pt x="0" y="146957"/>
                  <a:pt x="0" y="146957"/>
                </a:cubicBezTo>
                <a:lnTo>
                  <a:pt x="0" y="0"/>
                </a:lnTo>
                <a:cubicBezTo>
                  <a:pt x="0" y="0"/>
                  <a:pt x="10966" y="0"/>
                  <a:pt x="24493" y="0"/>
                </a:cubicBezTo>
                <a:close/>
              </a:path>
            </a:pathLst>
          </a:custGeom>
          <a:solidFill>
            <a:srgbClr val="263238"/>
          </a:solidFill>
          <a:ln w="4082" cap="flat">
            <a:noFill/>
            <a:prstDash val="solid"/>
            <a:miter/>
          </a:ln>
        </p:spPr>
        <p:txBody>
          <a:bodyPr rtlCol="0" anchor="ctr"/>
          <a:lstStyle/>
          <a:p>
            <a:endParaRPr lang="zh-CN" altLang="en-US"/>
          </a:p>
        </p:txBody>
      </p:sp>
      <p:sp>
        <p:nvSpPr>
          <p:cNvPr id="51" name="文本框 50"/>
          <p:cNvSpPr txBox="1"/>
          <p:nvPr/>
        </p:nvSpPr>
        <p:spPr>
          <a:xfrm>
            <a:off x="5020763" y="893172"/>
            <a:ext cx="1183005" cy="144507"/>
          </a:xfrm>
          <a:prstGeom prst="rect">
            <a:avLst/>
          </a:prstGeom>
          <a:noFill/>
        </p:spPr>
        <p:txBody>
          <a:bodyPr wrap="none" rtlCol="0">
            <a:spAutoFit/>
          </a:bodyPr>
          <a:lstStyle/>
          <a:p>
            <a:pPr algn="l"/>
            <a:r>
              <a:rPr lang="zh-CN" altLang="en-US" sz="975" b="1" spc="0" baseline="0">
                <a:solidFill>
                  <a:srgbClr val="FFFFFF"/>
                </a:solidFill>
                <a:latin typeface="宋体"/>
                <a:ea typeface="宋体"/>
                <a:sym typeface="宋体"/>
                <a:rtl val="0"/>
              </a:rPr>
              <a:t>数据整合与一致性检验 → 场景参数文件 (Step 8)</a:t>
            </a:r>
          </a:p>
        </p:txBody>
      </p:sp>
      <p:sp>
        <p:nvSpPr>
          <p:cNvPr id="52" name="任意形状 51"/>
          <p:cNvSpPr/>
          <p:nvPr/>
        </p:nvSpPr>
        <p:spPr>
          <a:xfrm>
            <a:off x="3463017" y="1094014"/>
            <a:ext cx="612321" cy="224517"/>
          </a:xfrm>
          <a:custGeom>
            <a:avLst/>
            <a:gdLst>
              <a:gd name="connsiteX0" fmla="*/ 591911 w 612321"/>
              <a:gd name="connsiteY0" fmla="*/ 0 h 224517"/>
              <a:gd name="connsiteX1" fmla="*/ 612321 w 612321"/>
              <a:gd name="connsiteY1" fmla="*/ 0 h 224517"/>
              <a:gd name="connsiteX2" fmla="*/ 612321 w 612321"/>
              <a:gd name="connsiteY2" fmla="*/ 224518 h 224517"/>
              <a:gd name="connsiteX3" fmla="*/ 591911 w 612321"/>
              <a:gd name="connsiteY3" fmla="*/ 224518 h 224517"/>
              <a:gd name="connsiteX4" fmla="*/ 20411 w 612321"/>
              <a:gd name="connsiteY4" fmla="*/ 224518 h 224517"/>
              <a:gd name="connsiteX5" fmla="*/ 0 w 612321"/>
              <a:gd name="connsiteY5" fmla="*/ 224518 h 224517"/>
              <a:gd name="connsiteX6" fmla="*/ 0 w 612321"/>
              <a:gd name="connsiteY6" fmla="*/ 0 h 224517"/>
              <a:gd name="connsiteX7" fmla="*/ 20411 w 612321"/>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21" h="224517">
                <a:moveTo>
                  <a:pt x="591911" y="0"/>
                </a:moveTo>
                <a:cubicBezTo>
                  <a:pt x="603183" y="0"/>
                  <a:pt x="612321" y="0"/>
                  <a:pt x="612321" y="0"/>
                </a:cubicBezTo>
                <a:lnTo>
                  <a:pt x="612321" y="224518"/>
                </a:lnTo>
                <a:cubicBezTo>
                  <a:pt x="612321" y="224518"/>
                  <a:pt x="603183" y="224518"/>
                  <a:pt x="591911" y="224518"/>
                </a:cubicBezTo>
                <a:lnTo>
                  <a:pt x="20411" y="224518"/>
                </a:lnTo>
                <a:cubicBezTo>
                  <a:pt x="9138" y="224518"/>
                  <a:pt x="0" y="224518"/>
                  <a:pt x="0" y="224518"/>
                </a:cubicBezTo>
                <a:lnTo>
                  <a:pt x="0" y="0"/>
                </a:lnTo>
                <a:cubicBezTo>
                  <a:pt x="0" y="0"/>
                  <a:pt x="9138" y="0"/>
                  <a:pt x="20411" y="0"/>
                </a:cubicBezTo>
                <a:close/>
              </a:path>
            </a:pathLst>
          </a:custGeom>
          <a:solidFill>
            <a:srgbClr val="E3F2FD"/>
          </a:solidFill>
          <a:ln w="4082" cap="flat">
            <a:solidFill>
              <a:srgbClr val="90CAF9"/>
            </a:solidFill>
            <a:prstDash val="solid"/>
            <a:miter/>
          </a:ln>
        </p:spPr>
        <p:txBody>
          <a:bodyPr rtlCol="0" anchor="ctr"/>
          <a:lstStyle/>
          <a:p>
            <a:endParaRPr lang="zh-CN" altLang="en-US"/>
          </a:p>
        </p:txBody>
      </p:sp>
      <p:sp>
        <p:nvSpPr>
          <p:cNvPr id="53" name="文本框 52"/>
          <p:cNvSpPr txBox="1"/>
          <p:nvPr/>
        </p:nvSpPr>
        <p:spPr>
          <a:xfrm>
            <a:off x="3610383" y="1093197"/>
            <a:ext cx="313508" cy="132261"/>
          </a:xfrm>
          <a:prstGeom prst="rect">
            <a:avLst/>
          </a:prstGeom>
          <a:noFill/>
        </p:spPr>
        <p:txBody>
          <a:bodyPr wrap="none" rtlCol="0">
            <a:spAutoFit/>
          </a:bodyPr>
          <a:lstStyle/>
          <a:p>
            <a:pPr algn="l"/>
            <a:r>
              <a:rPr lang="zh-CN" altLang="en-US" sz="750" b="1" spc="0" baseline="0">
                <a:solidFill>
                  <a:srgbClr val="1565C0"/>
                </a:solidFill>
                <a:latin typeface="宋体"/>
                <a:ea typeface="宋体"/>
                <a:sym typeface="宋体"/>
                <a:rtl val="0"/>
              </a:rPr>
              <a:t>数据源</a:t>
            </a:r>
          </a:p>
        </p:txBody>
      </p:sp>
      <p:sp>
        <p:nvSpPr>
          <p:cNvPr id="54" name="文本框 53"/>
          <p:cNvSpPr txBox="1"/>
          <p:nvPr/>
        </p:nvSpPr>
        <p:spPr>
          <a:xfrm>
            <a:off x="3494042" y="1170758"/>
            <a:ext cx="550272"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OSM | 百度LBS | 七普</a:t>
            </a:r>
          </a:p>
        </p:txBody>
      </p:sp>
      <p:sp>
        <p:nvSpPr>
          <p:cNvPr id="55" name="文本框 54"/>
          <p:cNvSpPr txBox="1"/>
          <p:nvPr/>
        </p:nvSpPr>
        <p:spPr>
          <a:xfrm>
            <a:off x="3530781" y="1219744"/>
            <a:ext cx="476794"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POI | 亦庄控规界</a:t>
            </a:r>
          </a:p>
        </p:txBody>
      </p:sp>
      <p:sp>
        <p:nvSpPr>
          <p:cNvPr id="56" name="任意形状 55"/>
          <p:cNvSpPr/>
          <p:nvPr/>
        </p:nvSpPr>
        <p:spPr>
          <a:xfrm>
            <a:off x="4136571" y="1094014"/>
            <a:ext cx="612321" cy="224517"/>
          </a:xfrm>
          <a:custGeom>
            <a:avLst/>
            <a:gdLst>
              <a:gd name="connsiteX0" fmla="*/ 591911 w 612321"/>
              <a:gd name="connsiteY0" fmla="*/ 0 h 224517"/>
              <a:gd name="connsiteX1" fmla="*/ 612321 w 612321"/>
              <a:gd name="connsiteY1" fmla="*/ 0 h 224517"/>
              <a:gd name="connsiteX2" fmla="*/ 612321 w 612321"/>
              <a:gd name="connsiteY2" fmla="*/ 224518 h 224517"/>
              <a:gd name="connsiteX3" fmla="*/ 591911 w 612321"/>
              <a:gd name="connsiteY3" fmla="*/ 224518 h 224517"/>
              <a:gd name="connsiteX4" fmla="*/ 20411 w 612321"/>
              <a:gd name="connsiteY4" fmla="*/ 224518 h 224517"/>
              <a:gd name="connsiteX5" fmla="*/ 0 w 612321"/>
              <a:gd name="connsiteY5" fmla="*/ 224518 h 224517"/>
              <a:gd name="connsiteX6" fmla="*/ 0 w 612321"/>
              <a:gd name="connsiteY6" fmla="*/ 0 h 224517"/>
              <a:gd name="connsiteX7" fmla="*/ 20411 w 612321"/>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21" h="224517">
                <a:moveTo>
                  <a:pt x="591911" y="0"/>
                </a:moveTo>
                <a:cubicBezTo>
                  <a:pt x="603183" y="0"/>
                  <a:pt x="612321" y="0"/>
                  <a:pt x="612321" y="0"/>
                </a:cubicBezTo>
                <a:lnTo>
                  <a:pt x="612321" y="224518"/>
                </a:lnTo>
                <a:cubicBezTo>
                  <a:pt x="612321" y="224518"/>
                  <a:pt x="603183" y="224518"/>
                  <a:pt x="591911" y="224518"/>
                </a:cubicBezTo>
                <a:lnTo>
                  <a:pt x="20411" y="224518"/>
                </a:lnTo>
                <a:cubicBezTo>
                  <a:pt x="9138" y="224518"/>
                  <a:pt x="0" y="224518"/>
                  <a:pt x="0" y="224518"/>
                </a:cubicBezTo>
                <a:lnTo>
                  <a:pt x="0" y="0"/>
                </a:lnTo>
                <a:cubicBezTo>
                  <a:pt x="0" y="0"/>
                  <a:pt x="9138" y="0"/>
                  <a:pt x="20411" y="0"/>
                </a:cubicBezTo>
                <a:close/>
              </a:path>
            </a:pathLst>
          </a:custGeom>
          <a:solidFill>
            <a:srgbClr val="FFF3E0"/>
          </a:solidFill>
          <a:ln w="4082" cap="flat">
            <a:solidFill>
              <a:srgbClr val="FFCC80"/>
            </a:solidFill>
            <a:prstDash val="solid"/>
            <a:miter/>
          </a:ln>
        </p:spPr>
        <p:txBody>
          <a:bodyPr rtlCol="0" anchor="ctr"/>
          <a:lstStyle/>
          <a:p>
            <a:endParaRPr lang="zh-CN" altLang="en-US"/>
          </a:p>
        </p:txBody>
      </p:sp>
      <p:sp>
        <p:nvSpPr>
          <p:cNvPr id="57" name="文本框 56"/>
          <p:cNvSpPr txBox="1"/>
          <p:nvPr/>
        </p:nvSpPr>
        <p:spPr>
          <a:xfrm>
            <a:off x="4261485" y="1093197"/>
            <a:ext cx="358412" cy="132261"/>
          </a:xfrm>
          <a:prstGeom prst="rect">
            <a:avLst/>
          </a:prstGeom>
          <a:noFill/>
        </p:spPr>
        <p:txBody>
          <a:bodyPr wrap="none" rtlCol="0">
            <a:spAutoFit/>
          </a:bodyPr>
          <a:lstStyle/>
          <a:p>
            <a:pPr algn="l"/>
            <a:r>
              <a:rPr lang="zh-CN" altLang="en-US" sz="750" b="1" spc="0" baseline="0">
                <a:solidFill>
                  <a:srgbClr val="E65100"/>
                </a:solidFill>
                <a:latin typeface="宋体"/>
                <a:ea typeface="宋体"/>
                <a:sym typeface="宋体"/>
                <a:rtl val="0"/>
              </a:rPr>
              <a:t>关键工具</a:t>
            </a:r>
          </a:p>
        </p:txBody>
      </p:sp>
      <p:sp>
        <p:nvSpPr>
          <p:cNvPr id="58" name="文本框 57"/>
          <p:cNvSpPr txBox="1"/>
          <p:nvPr/>
        </p:nvSpPr>
        <p:spPr>
          <a:xfrm>
            <a:off x="4167595" y="1170758"/>
            <a:ext cx="554355"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GeoPandas | NetworkX</a:t>
            </a:r>
          </a:p>
        </p:txBody>
      </p:sp>
      <p:sp>
        <p:nvSpPr>
          <p:cNvPr id="59" name="文本框 58"/>
          <p:cNvSpPr txBox="1"/>
          <p:nvPr/>
        </p:nvSpPr>
        <p:spPr>
          <a:xfrm>
            <a:off x="4194129" y="1219744"/>
            <a:ext cx="497205"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Dijkstra | KDTree</a:t>
            </a:r>
          </a:p>
        </p:txBody>
      </p:sp>
      <p:sp>
        <p:nvSpPr>
          <p:cNvPr id="60" name="任意形状 59"/>
          <p:cNvSpPr/>
          <p:nvPr/>
        </p:nvSpPr>
        <p:spPr>
          <a:xfrm>
            <a:off x="4810125" y="1094014"/>
            <a:ext cx="632732" cy="224517"/>
          </a:xfrm>
          <a:custGeom>
            <a:avLst/>
            <a:gdLst>
              <a:gd name="connsiteX0" fmla="*/ 612321 w 632732"/>
              <a:gd name="connsiteY0" fmla="*/ 0 h 224517"/>
              <a:gd name="connsiteX1" fmla="*/ 632732 w 632732"/>
              <a:gd name="connsiteY1" fmla="*/ 0 h 224517"/>
              <a:gd name="connsiteX2" fmla="*/ 632732 w 632732"/>
              <a:gd name="connsiteY2" fmla="*/ 224518 h 224517"/>
              <a:gd name="connsiteX3" fmla="*/ 612321 w 632732"/>
              <a:gd name="connsiteY3" fmla="*/ 224518 h 224517"/>
              <a:gd name="connsiteX4" fmla="*/ 20411 w 632732"/>
              <a:gd name="connsiteY4" fmla="*/ 224518 h 224517"/>
              <a:gd name="connsiteX5" fmla="*/ 0 w 632732"/>
              <a:gd name="connsiteY5" fmla="*/ 224518 h 224517"/>
              <a:gd name="connsiteX6" fmla="*/ 0 w 632732"/>
              <a:gd name="connsiteY6" fmla="*/ 0 h 224517"/>
              <a:gd name="connsiteX7" fmla="*/ 20411 w 632732"/>
              <a:gd name="connsiteY7" fmla="*/ 0 h 224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732" h="224517">
                <a:moveTo>
                  <a:pt x="612321" y="0"/>
                </a:moveTo>
                <a:cubicBezTo>
                  <a:pt x="623594" y="0"/>
                  <a:pt x="632732" y="0"/>
                  <a:pt x="632732" y="0"/>
                </a:cubicBezTo>
                <a:lnTo>
                  <a:pt x="632732" y="224518"/>
                </a:lnTo>
                <a:cubicBezTo>
                  <a:pt x="632732" y="224518"/>
                  <a:pt x="623594" y="224518"/>
                  <a:pt x="612321" y="224518"/>
                </a:cubicBezTo>
                <a:lnTo>
                  <a:pt x="20411" y="224518"/>
                </a:lnTo>
                <a:cubicBezTo>
                  <a:pt x="9138" y="224518"/>
                  <a:pt x="0" y="224518"/>
                  <a:pt x="0" y="224518"/>
                </a:cubicBezTo>
                <a:lnTo>
                  <a:pt x="0" y="0"/>
                </a:lnTo>
                <a:cubicBezTo>
                  <a:pt x="0" y="0"/>
                  <a:pt x="9138" y="0"/>
                  <a:pt x="20411" y="0"/>
                </a:cubicBezTo>
                <a:close/>
              </a:path>
            </a:pathLst>
          </a:custGeom>
          <a:solidFill>
            <a:srgbClr val="E8F5E9"/>
          </a:solidFill>
          <a:ln w="4082" cap="flat">
            <a:solidFill>
              <a:srgbClr val="A5D6A7"/>
            </a:solidFill>
            <a:prstDash val="solid"/>
            <a:miter/>
          </a:ln>
        </p:spPr>
        <p:txBody>
          <a:bodyPr rtlCol="0" anchor="ctr"/>
          <a:lstStyle/>
          <a:p>
            <a:endParaRPr lang="zh-CN" altLang="en-US"/>
          </a:p>
        </p:txBody>
      </p:sp>
      <p:sp>
        <p:nvSpPr>
          <p:cNvPr id="61" name="文本框 60"/>
          <p:cNvSpPr txBox="1"/>
          <p:nvPr/>
        </p:nvSpPr>
        <p:spPr>
          <a:xfrm>
            <a:off x="4943202" y="1093197"/>
            <a:ext cx="358412" cy="132261"/>
          </a:xfrm>
          <a:prstGeom prst="rect">
            <a:avLst/>
          </a:prstGeom>
          <a:noFill/>
        </p:spPr>
        <p:txBody>
          <a:bodyPr wrap="none" rtlCol="0">
            <a:spAutoFit/>
          </a:bodyPr>
          <a:lstStyle/>
          <a:p>
            <a:pPr algn="l"/>
            <a:r>
              <a:rPr lang="zh-CN" altLang="en-US" sz="750" b="1" spc="0" baseline="0">
                <a:solidFill>
                  <a:srgbClr val="2E7D32"/>
                </a:solidFill>
                <a:latin typeface="宋体"/>
                <a:ea typeface="宋体"/>
                <a:sym typeface="宋体"/>
                <a:rtl val="0"/>
              </a:rPr>
              <a:t>输出产品</a:t>
            </a:r>
          </a:p>
        </p:txBody>
      </p:sp>
      <p:sp>
        <p:nvSpPr>
          <p:cNvPr id="62" name="文本框 61"/>
          <p:cNvSpPr txBox="1"/>
          <p:nvPr/>
        </p:nvSpPr>
        <p:spPr>
          <a:xfrm>
            <a:off x="4884011" y="1170758"/>
            <a:ext cx="480876"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路网图 | 设施SHP</a:t>
            </a:r>
          </a:p>
        </p:txBody>
      </p:sp>
      <p:sp>
        <p:nvSpPr>
          <p:cNvPr id="63" name="文本框 62"/>
          <p:cNvSpPr txBox="1"/>
          <p:nvPr/>
        </p:nvSpPr>
        <p:spPr>
          <a:xfrm>
            <a:off x="4875847" y="1219744"/>
            <a:ext cx="497205" cy="128179"/>
          </a:xfrm>
          <a:prstGeom prst="rect">
            <a:avLst/>
          </a:prstGeom>
          <a:noFill/>
        </p:spPr>
        <p:txBody>
          <a:bodyPr wrap="none" rtlCol="0">
            <a:spAutoFit/>
          </a:bodyPr>
          <a:lstStyle/>
          <a:p>
            <a:pPr algn="l"/>
            <a:r>
              <a:rPr lang="zh-CN" altLang="en-US" sz="675" spc="0" baseline="0">
                <a:solidFill>
                  <a:srgbClr val="555555"/>
                </a:solidFill>
                <a:latin typeface="宋体"/>
                <a:ea typeface="宋体"/>
                <a:sym typeface="宋体"/>
                <a:rtl val="0"/>
              </a:rPr>
              <a:t>人口栅格 | OD矩阵</a:t>
            </a:r>
          </a:p>
        </p:txBody>
      </p:sp>
      <p:sp>
        <p:nvSpPr>
          <p:cNvPr id="64" name="任意形状 63"/>
          <p:cNvSpPr/>
          <p:nvPr/>
        </p:nvSpPr>
        <p:spPr>
          <a:xfrm>
            <a:off x="6096000" y="1387928"/>
            <a:ext cx="4082" cy="122464"/>
          </a:xfrm>
          <a:custGeom>
            <a:avLst/>
            <a:gdLst>
              <a:gd name="connsiteX0" fmla="*/ 0 w 4082"/>
              <a:gd name="connsiteY0" fmla="*/ 0 h 122464"/>
              <a:gd name="connsiteX1" fmla="*/ 0 w 4082"/>
              <a:gd name="connsiteY1" fmla="*/ 122464 h 122464"/>
            </a:gdLst>
            <a:ahLst/>
            <a:cxnLst>
              <a:cxn ang="0">
                <a:pos x="connsiteX0" y="connsiteY0"/>
              </a:cxn>
              <a:cxn ang="0">
                <a:pos x="connsiteX1" y="connsiteY1"/>
              </a:cxn>
            </a:cxnLst>
            <a:rect l="l" t="t" r="r" b="b"/>
            <a:pathLst>
              <a:path w="4082" h="122464">
                <a:moveTo>
                  <a:pt x="0" y="0"/>
                </a:moveTo>
                <a:lnTo>
                  <a:pt x="0" y="122464"/>
                </a:lnTo>
              </a:path>
            </a:pathLst>
          </a:custGeom>
          <a:ln w="7348" cap="flat">
            <a:solidFill>
              <a:srgbClr val="555555"/>
            </a:solidFill>
            <a:prstDash val="solid"/>
            <a:miter/>
          </a:ln>
        </p:spPr>
        <p:txBody>
          <a:bodyPr rtlCol="0" anchor="ctr"/>
          <a:lstStyle/>
          <a:p>
            <a:endParaRPr lang="zh-CN" altLang="en-US"/>
          </a:p>
        </p:txBody>
      </p:sp>
      <p:sp>
        <p:nvSpPr>
          <p:cNvPr id="65" name="任意形状 64"/>
          <p:cNvSpPr/>
          <p:nvPr/>
        </p:nvSpPr>
        <p:spPr>
          <a:xfrm>
            <a:off x="3360964" y="1543050"/>
            <a:ext cx="5470071" cy="1020535"/>
          </a:xfrm>
          <a:custGeom>
            <a:avLst/>
            <a:gdLst>
              <a:gd name="connsiteX0" fmla="*/ 5437415 w 5470071"/>
              <a:gd name="connsiteY0" fmla="*/ 0 h 1020535"/>
              <a:gd name="connsiteX1" fmla="*/ 5470072 w 5470071"/>
              <a:gd name="connsiteY1" fmla="*/ 0 h 1020535"/>
              <a:gd name="connsiteX2" fmla="*/ 5470072 w 5470071"/>
              <a:gd name="connsiteY2" fmla="*/ 1020536 h 1020535"/>
              <a:gd name="connsiteX3" fmla="*/ 5437415 w 5470071"/>
              <a:gd name="connsiteY3" fmla="*/ 1020536 h 1020535"/>
              <a:gd name="connsiteX4" fmla="*/ 32657 w 5470071"/>
              <a:gd name="connsiteY4" fmla="*/ 1020536 h 1020535"/>
              <a:gd name="connsiteX5" fmla="*/ 0 w 5470071"/>
              <a:gd name="connsiteY5" fmla="*/ 1020536 h 1020535"/>
              <a:gd name="connsiteX6" fmla="*/ 0 w 5470071"/>
              <a:gd name="connsiteY6" fmla="*/ 0 h 1020535"/>
              <a:gd name="connsiteX7" fmla="*/ 32657 w 5470071"/>
              <a:gd name="connsiteY7" fmla="*/ 0 h 102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1020535">
                <a:moveTo>
                  <a:pt x="5437415" y="0"/>
                </a:moveTo>
                <a:cubicBezTo>
                  <a:pt x="5455451" y="0"/>
                  <a:pt x="5470072" y="0"/>
                  <a:pt x="5470072" y="0"/>
                </a:cubicBezTo>
                <a:lnTo>
                  <a:pt x="5470072" y="1020536"/>
                </a:lnTo>
                <a:cubicBezTo>
                  <a:pt x="5470072" y="1020536"/>
                  <a:pt x="5455451" y="1020536"/>
                  <a:pt x="5437415" y="1020536"/>
                </a:cubicBezTo>
                <a:lnTo>
                  <a:pt x="32657" y="1020536"/>
                </a:lnTo>
                <a:cubicBezTo>
                  <a:pt x="14621" y="1020536"/>
                  <a:pt x="0" y="1020536"/>
                  <a:pt x="0" y="1020536"/>
                </a:cubicBezTo>
                <a:lnTo>
                  <a:pt x="0" y="0"/>
                </a:lnTo>
                <a:cubicBezTo>
                  <a:pt x="0" y="0"/>
                  <a:pt x="14621" y="0"/>
                  <a:pt x="32657" y="0"/>
                </a:cubicBezTo>
                <a:close/>
              </a:path>
            </a:pathLst>
          </a:custGeom>
          <a:solidFill>
            <a:srgbClr val="FFF8E1"/>
          </a:solidFill>
          <a:ln w="4899" cap="flat">
            <a:solidFill>
              <a:srgbClr val="F9A825"/>
            </a:solidFill>
            <a:custDash>
              <a:ds d="450000" sp="225000"/>
            </a:custDash>
            <a:miter/>
          </a:ln>
        </p:spPr>
        <p:txBody>
          <a:bodyPr rtlCol="0" anchor="ctr"/>
          <a:lstStyle/>
          <a:p>
            <a:endParaRPr lang="zh-CN" altLang="en-US"/>
          </a:p>
        </p:txBody>
      </p:sp>
      <p:sp>
        <p:nvSpPr>
          <p:cNvPr id="66" name="文本框 65"/>
          <p:cNvSpPr txBox="1"/>
          <p:nvPr/>
        </p:nvSpPr>
        <p:spPr>
          <a:xfrm>
            <a:off x="3351167" y="1558562"/>
            <a:ext cx="766626" cy="164918"/>
          </a:xfrm>
          <a:prstGeom prst="rect">
            <a:avLst/>
          </a:prstGeom>
          <a:noFill/>
        </p:spPr>
        <p:txBody>
          <a:bodyPr wrap="none" rtlCol="0">
            <a:spAutoFit/>
          </a:bodyPr>
          <a:lstStyle/>
          <a:p>
            <a:pPr algn="l"/>
            <a:r>
              <a:rPr lang="zh-CN" altLang="en-US" sz="1350" b="1" spc="0" baseline="0">
                <a:solidFill>
                  <a:srgbClr val="333333"/>
                </a:solidFill>
                <a:latin typeface="宋体"/>
                <a:ea typeface="宋体"/>
                <a:sym typeface="宋体"/>
                <a:rtl val="0"/>
              </a:rPr>
              <a:t>2. 事故场景构建</a:t>
            </a:r>
          </a:p>
        </p:txBody>
      </p:sp>
      <p:sp>
        <p:nvSpPr>
          <p:cNvPr id="67" name="文本框 66"/>
          <p:cNvSpPr txBox="1"/>
          <p:nvPr/>
        </p:nvSpPr>
        <p:spPr>
          <a:xfrm>
            <a:off x="3351167" y="1664697"/>
            <a:ext cx="1060540" cy="136343"/>
          </a:xfrm>
          <a:prstGeom prst="rect">
            <a:avLst/>
          </a:prstGeom>
          <a:noFill/>
        </p:spPr>
        <p:txBody>
          <a:bodyPr wrap="none" rtlCol="0">
            <a:spAutoFit/>
          </a:bodyPr>
          <a:lstStyle/>
          <a:p>
            <a:pPr algn="l"/>
            <a:r>
              <a:rPr lang="zh-CN" altLang="en-US" sz="825" spc="0" baseline="0">
                <a:solidFill>
                  <a:srgbClr val="888888"/>
                </a:solidFill>
                <a:latin typeface="宋体"/>
                <a:ea typeface="宋体"/>
                <a:sym typeface="宋体"/>
                <a:rtl val="0"/>
              </a:rPr>
              <a:t>Incident Scenario Construction (Step 9)</a:t>
            </a:r>
          </a:p>
        </p:txBody>
      </p:sp>
      <p:sp>
        <p:nvSpPr>
          <p:cNvPr id="68" name="任意形状 67"/>
          <p:cNvSpPr/>
          <p:nvPr/>
        </p:nvSpPr>
        <p:spPr>
          <a:xfrm>
            <a:off x="3463017" y="1816553"/>
            <a:ext cx="1020535" cy="530678"/>
          </a:xfrm>
          <a:custGeom>
            <a:avLst/>
            <a:gdLst>
              <a:gd name="connsiteX0" fmla="*/ 996043 w 1020535"/>
              <a:gd name="connsiteY0" fmla="*/ 0 h 530678"/>
              <a:gd name="connsiteX1" fmla="*/ 1020536 w 1020535"/>
              <a:gd name="connsiteY1" fmla="*/ 0 h 530678"/>
              <a:gd name="connsiteX2" fmla="*/ 1020536 w 1020535"/>
              <a:gd name="connsiteY2" fmla="*/ 530679 h 530678"/>
              <a:gd name="connsiteX3" fmla="*/ 996043 w 1020535"/>
              <a:gd name="connsiteY3" fmla="*/ 530679 h 530678"/>
              <a:gd name="connsiteX4" fmla="*/ 24493 w 1020535"/>
              <a:gd name="connsiteY4" fmla="*/ 530679 h 530678"/>
              <a:gd name="connsiteX5" fmla="*/ 0 w 1020535"/>
              <a:gd name="connsiteY5" fmla="*/ 530679 h 530678"/>
              <a:gd name="connsiteX6" fmla="*/ 0 w 1020535"/>
              <a:gd name="connsiteY6" fmla="*/ 0 h 530678"/>
              <a:gd name="connsiteX7" fmla="*/ 24493 w 1020535"/>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530678">
                <a:moveTo>
                  <a:pt x="996043" y="0"/>
                </a:moveTo>
                <a:cubicBezTo>
                  <a:pt x="1009570" y="0"/>
                  <a:pt x="1020536" y="0"/>
                  <a:pt x="1020536" y="0"/>
                </a:cubicBezTo>
                <a:lnTo>
                  <a:pt x="1020536" y="530679"/>
                </a:lnTo>
                <a:cubicBezTo>
                  <a:pt x="1020536" y="530679"/>
                  <a:pt x="1009570" y="530679"/>
                  <a:pt x="996043"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D32F2F"/>
            </a:solidFill>
            <a:prstDash val="solid"/>
            <a:miter/>
          </a:ln>
        </p:spPr>
        <p:txBody>
          <a:bodyPr rtlCol="0" anchor="ctr"/>
          <a:lstStyle/>
          <a:p>
            <a:endParaRPr lang="zh-CN" altLang="en-US"/>
          </a:p>
        </p:txBody>
      </p:sp>
      <p:sp>
        <p:nvSpPr>
          <p:cNvPr id="69" name="任意形状 68"/>
          <p:cNvSpPr/>
          <p:nvPr/>
        </p:nvSpPr>
        <p:spPr>
          <a:xfrm>
            <a:off x="3463017" y="1816553"/>
            <a:ext cx="1020535" cy="106135"/>
          </a:xfrm>
          <a:custGeom>
            <a:avLst/>
            <a:gdLst>
              <a:gd name="connsiteX0" fmla="*/ 996043 w 1020535"/>
              <a:gd name="connsiteY0" fmla="*/ 0 h 106135"/>
              <a:gd name="connsiteX1" fmla="*/ 1020536 w 1020535"/>
              <a:gd name="connsiteY1" fmla="*/ 0 h 106135"/>
              <a:gd name="connsiteX2" fmla="*/ 1020536 w 1020535"/>
              <a:gd name="connsiteY2" fmla="*/ 106136 h 106135"/>
              <a:gd name="connsiteX3" fmla="*/ 996043 w 1020535"/>
              <a:gd name="connsiteY3" fmla="*/ 106136 h 106135"/>
              <a:gd name="connsiteX4" fmla="*/ 24493 w 1020535"/>
              <a:gd name="connsiteY4" fmla="*/ 106136 h 106135"/>
              <a:gd name="connsiteX5" fmla="*/ 0 w 1020535"/>
              <a:gd name="connsiteY5" fmla="*/ 106136 h 106135"/>
              <a:gd name="connsiteX6" fmla="*/ 0 w 1020535"/>
              <a:gd name="connsiteY6" fmla="*/ 0 h 106135"/>
              <a:gd name="connsiteX7" fmla="*/ 24493 w 102053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106135">
                <a:moveTo>
                  <a:pt x="996043" y="0"/>
                </a:moveTo>
                <a:cubicBezTo>
                  <a:pt x="1009570" y="0"/>
                  <a:pt x="1020536" y="0"/>
                  <a:pt x="1020536" y="0"/>
                </a:cubicBezTo>
                <a:lnTo>
                  <a:pt x="1020536" y="106136"/>
                </a:lnTo>
                <a:cubicBezTo>
                  <a:pt x="1020536" y="106136"/>
                  <a:pt x="1009570" y="106136"/>
                  <a:pt x="996043" y="106136"/>
                </a:cubicBezTo>
                <a:lnTo>
                  <a:pt x="24493" y="106136"/>
                </a:lnTo>
                <a:cubicBezTo>
                  <a:pt x="10966" y="106136"/>
                  <a:pt x="0" y="106136"/>
                  <a:pt x="0" y="106136"/>
                </a:cubicBezTo>
                <a:lnTo>
                  <a:pt x="0" y="0"/>
                </a:lnTo>
                <a:cubicBezTo>
                  <a:pt x="0" y="0"/>
                  <a:pt x="10966" y="0"/>
                  <a:pt x="24493" y="0"/>
                </a:cubicBezTo>
                <a:close/>
              </a:path>
            </a:pathLst>
          </a:custGeom>
          <a:solidFill>
            <a:srgbClr val="D32F2F"/>
          </a:solidFill>
          <a:ln w="4082" cap="flat">
            <a:noFill/>
            <a:prstDash val="solid"/>
            <a:miter/>
          </a:ln>
        </p:spPr>
        <p:txBody>
          <a:bodyPr rtlCol="0" anchor="ctr"/>
          <a:lstStyle/>
          <a:p>
            <a:endParaRPr lang="zh-CN" altLang="en-US"/>
          </a:p>
        </p:txBody>
      </p:sp>
      <p:sp>
        <p:nvSpPr>
          <p:cNvPr id="70" name="文本框 69"/>
          <p:cNvSpPr txBox="1"/>
          <p:nvPr/>
        </p:nvSpPr>
        <p:spPr>
          <a:xfrm>
            <a:off x="3669574" y="1803490"/>
            <a:ext cx="603340"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高斯烟羽扩散模型</a:t>
            </a:r>
          </a:p>
        </p:txBody>
      </p:sp>
      <p:sp>
        <p:nvSpPr>
          <p:cNvPr id="71" name="文本框 70"/>
          <p:cNvSpPr txBox="1"/>
          <p:nvPr/>
        </p:nvSpPr>
        <p:spPr>
          <a:xfrm>
            <a:off x="3432810" y="1917790"/>
            <a:ext cx="652326"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氯气泄漏: Q=5000 mg/s</a:t>
            </a:r>
          </a:p>
        </p:txBody>
      </p:sp>
      <p:sp>
        <p:nvSpPr>
          <p:cNvPr id="72" name="文本框 71"/>
          <p:cNvSpPr txBox="1"/>
          <p:nvPr/>
        </p:nvSpPr>
        <p:spPr>
          <a:xfrm>
            <a:off x="3432810" y="1991269"/>
            <a:ext cx="67273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风速u=3 m/s, 风向225°</a:t>
            </a:r>
          </a:p>
        </p:txBody>
      </p:sp>
      <p:sp>
        <p:nvSpPr>
          <p:cNvPr id="73" name="文本框 72"/>
          <p:cNvSpPr txBox="1"/>
          <p:nvPr/>
        </p:nvSpPr>
        <p:spPr>
          <a:xfrm>
            <a:off x="3432810" y="2064747"/>
            <a:ext cx="52986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大气稳定度 D 级</a:t>
            </a:r>
          </a:p>
        </p:txBody>
      </p:sp>
      <p:sp>
        <p:nvSpPr>
          <p:cNvPr id="74" name="文本框 73"/>
          <p:cNvSpPr txBox="1"/>
          <p:nvPr/>
        </p:nvSpPr>
        <p:spPr>
          <a:xfrm>
            <a:off x="3432810" y="2138226"/>
            <a:ext cx="938076"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C(x,y) = Q/(2πuσ_yσ_z)·exp(...)</a:t>
            </a:r>
          </a:p>
        </p:txBody>
      </p:sp>
      <p:sp>
        <p:nvSpPr>
          <p:cNvPr id="75" name="文本框 74"/>
          <p:cNvSpPr txBox="1"/>
          <p:nvPr/>
        </p:nvSpPr>
        <p:spPr>
          <a:xfrm>
            <a:off x="3432810" y="2215787"/>
            <a:ext cx="587012" cy="128179"/>
          </a:xfrm>
          <a:prstGeom prst="rect">
            <a:avLst/>
          </a:prstGeom>
          <a:noFill/>
        </p:spPr>
        <p:txBody>
          <a:bodyPr wrap="none" rtlCol="0">
            <a:spAutoFit/>
          </a:bodyPr>
          <a:lstStyle/>
          <a:p>
            <a:pPr algn="l"/>
            <a:r>
              <a:rPr lang="zh-CN" altLang="en-US" sz="675" i="1" spc="0" baseline="0">
                <a:solidFill>
                  <a:srgbClr val="D32F2F"/>
                </a:solidFill>
                <a:latin typeface="宋体"/>
                <a:ea typeface="宋体"/>
                <a:sym typeface="宋体"/>
                <a:rtl val="0"/>
              </a:rPr>
              <a:t>浓度场计算 → ERPG阈值</a:t>
            </a:r>
          </a:p>
        </p:txBody>
      </p:sp>
      <p:sp>
        <p:nvSpPr>
          <p:cNvPr id="76" name="任意形状 75"/>
          <p:cNvSpPr/>
          <p:nvPr/>
        </p:nvSpPr>
        <p:spPr>
          <a:xfrm>
            <a:off x="4483553" y="2081892"/>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endParaRPr lang="zh-CN" altLang="en-US"/>
          </a:p>
        </p:txBody>
      </p:sp>
      <p:sp>
        <p:nvSpPr>
          <p:cNvPr id="77" name="任意形状 76"/>
          <p:cNvSpPr/>
          <p:nvPr/>
        </p:nvSpPr>
        <p:spPr>
          <a:xfrm>
            <a:off x="4679496" y="1816553"/>
            <a:ext cx="1061357" cy="530678"/>
          </a:xfrm>
          <a:custGeom>
            <a:avLst/>
            <a:gdLst>
              <a:gd name="connsiteX0" fmla="*/ 1036864 w 1061357"/>
              <a:gd name="connsiteY0" fmla="*/ 0 h 530678"/>
              <a:gd name="connsiteX1" fmla="*/ 1061357 w 1061357"/>
              <a:gd name="connsiteY1" fmla="*/ 0 h 530678"/>
              <a:gd name="connsiteX2" fmla="*/ 1061357 w 1061357"/>
              <a:gd name="connsiteY2" fmla="*/ 530679 h 530678"/>
              <a:gd name="connsiteX3" fmla="*/ 1036864 w 1061357"/>
              <a:gd name="connsiteY3" fmla="*/ 530679 h 530678"/>
              <a:gd name="connsiteX4" fmla="*/ 24493 w 1061357"/>
              <a:gd name="connsiteY4" fmla="*/ 530679 h 530678"/>
              <a:gd name="connsiteX5" fmla="*/ 0 w 1061357"/>
              <a:gd name="connsiteY5" fmla="*/ 530679 h 530678"/>
              <a:gd name="connsiteX6" fmla="*/ 0 w 1061357"/>
              <a:gd name="connsiteY6" fmla="*/ 0 h 530678"/>
              <a:gd name="connsiteX7" fmla="*/ 24493 w 1061357"/>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357" h="530678">
                <a:moveTo>
                  <a:pt x="1036864" y="0"/>
                </a:moveTo>
                <a:cubicBezTo>
                  <a:pt x="1050391" y="0"/>
                  <a:pt x="1061357" y="0"/>
                  <a:pt x="1061357" y="0"/>
                </a:cubicBezTo>
                <a:lnTo>
                  <a:pt x="1061357" y="530679"/>
                </a:lnTo>
                <a:cubicBezTo>
                  <a:pt x="1061357" y="530679"/>
                  <a:pt x="1050391" y="530679"/>
                  <a:pt x="1036864"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E65100"/>
            </a:solidFill>
            <a:prstDash val="solid"/>
            <a:miter/>
          </a:ln>
        </p:spPr>
        <p:txBody>
          <a:bodyPr rtlCol="0" anchor="ctr"/>
          <a:lstStyle/>
          <a:p>
            <a:endParaRPr lang="zh-CN" altLang="en-US"/>
          </a:p>
        </p:txBody>
      </p:sp>
      <p:sp>
        <p:nvSpPr>
          <p:cNvPr id="78" name="任意形状 77"/>
          <p:cNvSpPr/>
          <p:nvPr/>
        </p:nvSpPr>
        <p:spPr>
          <a:xfrm>
            <a:off x="4679496" y="1816553"/>
            <a:ext cx="1061357" cy="106135"/>
          </a:xfrm>
          <a:custGeom>
            <a:avLst/>
            <a:gdLst>
              <a:gd name="connsiteX0" fmla="*/ 1036864 w 1061357"/>
              <a:gd name="connsiteY0" fmla="*/ 0 h 106135"/>
              <a:gd name="connsiteX1" fmla="*/ 1061357 w 1061357"/>
              <a:gd name="connsiteY1" fmla="*/ 0 h 106135"/>
              <a:gd name="connsiteX2" fmla="*/ 1061357 w 1061357"/>
              <a:gd name="connsiteY2" fmla="*/ 106136 h 106135"/>
              <a:gd name="connsiteX3" fmla="*/ 1036864 w 1061357"/>
              <a:gd name="connsiteY3" fmla="*/ 106136 h 106135"/>
              <a:gd name="connsiteX4" fmla="*/ 24493 w 1061357"/>
              <a:gd name="connsiteY4" fmla="*/ 106136 h 106135"/>
              <a:gd name="connsiteX5" fmla="*/ 0 w 1061357"/>
              <a:gd name="connsiteY5" fmla="*/ 106136 h 106135"/>
              <a:gd name="connsiteX6" fmla="*/ 0 w 1061357"/>
              <a:gd name="connsiteY6" fmla="*/ 0 h 106135"/>
              <a:gd name="connsiteX7" fmla="*/ 24493 w 1061357"/>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1357" h="106135">
                <a:moveTo>
                  <a:pt x="1036864" y="0"/>
                </a:moveTo>
                <a:cubicBezTo>
                  <a:pt x="1050391" y="0"/>
                  <a:pt x="1061357" y="0"/>
                  <a:pt x="1061357" y="0"/>
                </a:cubicBezTo>
                <a:lnTo>
                  <a:pt x="1061357" y="106136"/>
                </a:lnTo>
                <a:cubicBezTo>
                  <a:pt x="1061357" y="106136"/>
                  <a:pt x="1050391" y="106136"/>
                  <a:pt x="1036864" y="106136"/>
                </a:cubicBezTo>
                <a:lnTo>
                  <a:pt x="24493" y="106136"/>
                </a:lnTo>
                <a:cubicBezTo>
                  <a:pt x="10966" y="106136"/>
                  <a:pt x="0" y="106136"/>
                  <a:pt x="0" y="106136"/>
                </a:cubicBezTo>
                <a:lnTo>
                  <a:pt x="0" y="0"/>
                </a:lnTo>
                <a:cubicBezTo>
                  <a:pt x="0" y="0"/>
                  <a:pt x="10966" y="0"/>
                  <a:pt x="24493" y="0"/>
                </a:cubicBezTo>
                <a:close/>
              </a:path>
            </a:pathLst>
          </a:custGeom>
          <a:solidFill>
            <a:srgbClr val="E65100"/>
          </a:solidFill>
          <a:ln w="4082" cap="flat">
            <a:noFill/>
            <a:prstDash val="solid"/>
            <a:miter/>
          </a:ln>
        </p:spPr>
        <p:txBody>
          <a:bodyPr rtlCol="0" anchor="ctr"/>
          <a:lstStyle/>
          <a:p>
            <a:endParaRPr lang="zh-CN" altLang="en-US"/>
          </a:p>
        </p:txBody>
      </p:sp>
      <p:sp>
        <p:nvSpPr>
          <p:cNvPr id="79" name="文本框 78"/>
          <p:cNvSpPr txBox="1"/>
          <p:nvPr/>
        </p:nvSpPr>
        <p:spPr>
          <a:xfrm>
            <a:off x="4959531" y="1803490"/>
            <a:ext cx="497205"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危险区域划分</a:t>
            </a:r>
          </a:p>
        </p:txBody>
      </p:sp>
      <p:sp>
        <p:nvSpPr>
          <p:cNvPr id="80" name="任意形状 79"/>
          <p:cNvSpPr/>
          <p:nvPr/>
        </p:nvSpPr>
        <p:spPr>
          <a:xfrm>
            <a:off x="4757057" y="1967592"/>
            <a:ext cx="310242" cy="310242"/>
          </a:xfrm>
          <a:custGeom>
            <a:avLst/>
            <a:gdLst>
              <a:gd name="connsiteX0" fmla="*/ 310243 w 310242"/>
              <a:gd name="connsiteY0" fmla="*/ 155121 h 310242"/>
              <a:gd name="connsiteX1" fmla="*/ 155121 w 310242"/>
              <a:gd name="connsiteY1" fmla="*/ 310243 h 310242"/>
              <a:gd name="connsiteX2" fmla="*/ 0 w 310242"/>
              <a:gd name="connsiteY2" fmla="*/ 155121 h 310242"/>
              <a:gd name="connsiteX3" fmla="*/ 155121 w 310242"/>
              <a:gd name="connsiteY3" fmla="*/ 0 h 310242"/>
              <a:gd name="connsiteX4" fmla="*/ 310243 w 310242"/>
              <a:gd name="connsiteY4" fmla="*/ 155121 h 310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242" h="310242">
                <a:moveTo>
                  <a:pt x="310243" y="155121"/>
                </a:moveTo>
                <a:cubicBezTo>
                  <a:pt x="310243" y="240793"/>
                  <a:pt x="240793" y="310243"/>
                  <a:pt x="155121" y="310243"/>
                </a:cubicBezTo>
                <a:cubicBezTo>
                  <a:pt x="69450" y="310243"/>
                  <a:pt x="0" y="240793"/>
                  <a:pt x="0" y="155121"/>
                </a:cubicBezTo>
                <a:cubicBezTo>
                  <a:pt x="0" y="69450"/>
                  <a:pt x="69450" y="0"/>
                  <a:pt x="155121" y="0"/>
                </a:cubicBezTo>
                <a:cubicBezTo>
                  <a:pt x="240793" y="0"/>
                  <a:pt x="310243" y="69450"/>
                  <a:pt x="310243" y="155121"/>
                </a:cubicBezTo>
                <a:close/>
              </a:path>
            </a:pathLst>
          </a:custGeom>
          <a:solidFill>
            <a:srgbClr val="FFCDD2">
              <a:alpha val="40000"/>
            </a:srgbClr>
          </a:solidFill>
          <a:ln w="4082" cap="flat">
            <a:solidFill>
              <a:srgbClr val="E53935">
                <a:alpha val="40000"/>
              </a:srgbClr>
            </a:solidFill>
            <a:prstDash val="solid"/>
            <a:miter/>
          </a:ln>
        </p:spPr>
        <p:txBody>
          <a:bodyPr rtlCol="0" anchor="ctr"/>
          <a:lstStyle/>
          <a:p>
            <a:endParaRPr lang="zh-CN" altLang="en-US"/>
          </a:p>
        </p:txBody>
      </p:sp>
      <p:sp>
        <p:nvSpPr>
          <p:cNvPr id="81" name="任意形状 80"/>
          <p:cNvSpPr/>
          <p:nvPr/>
        </p:nvSpPr>
        <p:spPr>
          <a:xfrm>
            <a:off x="4806042" y="2016578"/>
            <a:ext cx="212271" cy="212271"/>
          </a:xfrm>
          <a:custGeom>
            <a:avLst/>
            <a:gdLst>
              <a:gd name="connsiteX0" fmla="*/ 212271 w 212271"/>
              <a:gd name="connsiteY0" fmla="*/ 106136 h 212271"/>
              <a:gd name="connsiteX1" fmla="*/ 106136 w 212271"/>
              <a:gd name="connsiteY1" fmla="*/ 212271 h 212271"/>
              <a:gd name="connsiteX2" fmla="*/ 0 w 212271"/>
              <a:gd name="connsiteY2" fmla="*/ 106136 h 212271"/>
              <a:gd name="connsiteX3" fmla="*/ 106136 w 212271"/>
              <a:gd name="connsiteY3" fmla="*/ 0 h 212271"/>
              <a:gd name="connsiteX4" fmla="*/ 212271 w 212271"/>
              <a:gd name="connsiteY4" fmla="*/ 106136 h 212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271" h="212271">
                <a:moveTo>
                  <a:pt x="212271" y="106136"/>
                </a:moveTo>
                <a:cubicBezTo>
                  <a:pt x="212271" y="164753"/>
                  <a:pt x="164753" y="212271"/>
                  <a:pt x="106136" y="212271"/>
                </a:cubicBezTo>
                <a:cubicBezTo>
                  <a:pt x="47519" y="212271"/>
                  <a:pt x="0" y="164753"/>
                  <a:pt x="0" y="106136"/>
                </a:cubicBezTo>
                <a:cubicBezTo>
                  <a:pt x="0" y="47519"/>
                  <a:pt x="47519" y="0"/>
                  <a:pt x="106136" y="0"/>
                </a:cubicBezTo>
                <a:cubicBezTo>
                  <a:pt x="164753" y="0"/>
                  <a:pt x="212271" y="47519"/>
                  <a:pt x="212271" y="106136"/>
                </a:cubicBezTo>
                <a:close/>
              </a:path>
            </a:pathLst>
          </a:custGeom>
          <a:solidFill>
            <a:srgbClr val="EF9A9A">
              <a:alpha val="50000"/>
            </a:srgbClr>
          </a:solidFill>
          <a:ln w="4082" cap="flat">
            <a:solidFill>
              <a:srgbClr val="E53935">
                <a:alpha val="50000"/>
              </a:srgbClr>
            </a:solidFill>
            <a:prstDash val="solid"/>
            <a:miter/>
          </a:ln>
        </p:spPr>
        <p:txBody>
          <a:bodyPr rtlCol="0" anchor="ctr"/>
          <a:lstStyle/>
          <a:p>
            <a:endParaRPr lang="zh-CN" altLang="en-US"/>
          </a:p>
        </p:txBody>
      </p:sp>
      <p:sp>
        <p:nvSpPr>
          <p:cNvPr id="82" name="任意形状 81"/>
          <p:cNvSpPr/>
          <p:nvPr/>
        </p:nvSpPr>
        <p:spPr>
          <a:xfrm>
            <a:off x="4855028" y="2065564"/>
            <a:ext cx="114300" cy="114300"/>
          </a:xfrm>
          <a:custGeom>
            <a:avLst/>
            <a:gdLst>
              <a:gd name="connsiteX0" fmla="*/ 114300 w 114300"/>
              <a:gd name="connsiteY0" fmla="*/ 57150 h 114300"/>
              <a:gd name="connsiteX1" fmla="*/ 57150 w 114300"/>
              <a:gd name="connsiteY1" fmla="*/ 114300 h 114300"/>
              <a:gd name="connsiteX2" fmla="*/ 0 w 114300"/>
              <a:gd name="connsiteY2" fmla="*/ 57150 h 114300"/>
              <a:gd name="connsiteX3" fmla="*/ 57150 w 114300"/>
              <a:gd name="connsiteY3" fmla="*/ 0 h 114300"/>
              <a:gd name="connsiteX4" fmla="*/ 114300 w 114300"/>
              <a:gd name="connsiteY4" fmla="*/ 5715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4300" y="57150"/>
                </a:moveTo>
                <a:cubicBezTo>
                  <a:pt x="114300" y="88713"/>
                  <a:pt x="88713" y="114300"/>
                  <a:pt x="57150" y="114300"/>
                </a:cubicBezTo>
                <a:cubicBezTo>
                  <a:pt x="25587" y="114300"/>
                  <a:pt x="0" y="88713"/>
                  <a:pt x="0" y="57150"/>
                </a:cubicBezTo>
                <a:cubicBezTo>
                  <a:pt x="0" y="25587"/>
                  <a:pt x="25587" y="0"/>
                  <a:pt x="57150" y="0"/>
                </a:cubicBezTo>
                <a:cubicBezTo>
                  <a:pt x="88713" y="0"/>
                  <a:pt x="114300" y="25587"/>
                  <a:pt x="114300" y="57150"/>
                </a:cubicBezTo>
                <a:close/>
              </a:path>
            </a:pathLst>
          </a:custGeom>
          <a:solidFill>
            <a:srgbClr val="E53935">
              <a:alpha val="60000"/>
            </a:srgbClr>
          </a:solidFill>
          <a:ln w="4082" cap="flat">
            <a:solidFill>
              <a:srgbClr val="C62828">
                <a:alpha val="60000"/>
              </a:srgbClr>
            </a:solidFill>
            <a:prstDash val="solid"/>
            <a:miter/>
          </a:ln>
        </p:spPr>
        <p:txBody>
          <a:bodyPr rtlCol="0" anchor="ctr"/>
          <a:lstStyle/>
          <a:p>
            <a:endParaRPr lang="zh-CN" altLang="en-US"/>
          </a:p>
        </p:txBody>
      </p:sp>
      <p:sp>
        <p:nvSpPr>
          <p:cNvPr id="83" name="文本框 82"/>
          <p:cNvSpPr txBox="1"/>
          <p:nvPr/>
        </p:nvSpPr>
        <p:spPr>
          <a:xfrm>
            <a:off x="4790122" y="2068830"/>
            <a:ext cx="240030" cy="120015"/>
          </a:xfrm>
          <a:prstGeom prst="rect">
            <a:avLst/>
          </a:prstGeom>
          <a:noFill/>
        </p:spPr>
        <p:txBody>
          <a:bodyPr wrap="none" rtlCol="0">
            <a:spAutoFit/>
          </a:bodyPr>
          <a:lstStyle/>
          <a:p>
            <a:pPr algn="l"/>
            <a:r>
              <a:rPr lang="zh-CN" altLang="en-US" sz="525" b="1" spc="0" baseline="0">
                <a:solidFill>
                  <a:srgbClr val="FFFFFF"/>
                </a:solidFill>
                <a:latin typeface="宋体"/>
                <a:ea typeface="宋体"/>
                <a:sym typeface="宋体"/>
                <a:rtl val="0"/>
              </a:rPr>
              <a:t>1km</a:t>
            </a:r>
          </a:p>
        </p:txBody>
      </p:sp>
      <p:sp>
        <p:nvSpPr>
          <p:cNvPr id="84" name="文本框 83"/>
          <p:cNvSpPr txBox="1"/>
          <p:nvPr/>
        </p:nvSpPr>
        <p:spPr>
          <a:xfrm>
            <a:off x="5045256" y="1917790"/>
            <a:ext cx="48904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500m 道路封闭区</a:t>
            </a:r>
          </a:p>
        </p:txBody>
      </p:sp>
      <p:sp>
        <p:nvSpPr>
          <p:cNvPr id="85" name="文本框 84"/>
          <p:cNvSpPr txBox="1"/>
          <p:nvPr/>
        </p:nvSpPr>
        <p:spPr>
          <a:xfrm>
            <a:off x="5045256" y="1983105"/>
            <a:ext cx="71355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1km 核心封闭区(96.7km路段)</a:t>
            </a:r>
          </a:p>
        </p:txBody>
      </p:sp>
      <p:sp>
        <p:nvSpPr>
          <p:cNvPr id="86" name="文本框 85"/>
          <p:cNvSpPr txBox="1"/>
          <p:nvPr/>
        </p:nvSpPr>
        <p:spPr>
          <a:xfrm>
            <a:off x="5045256" y="2048419"/>
            <a:ext cx="570683"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3km 拥堵区(BPR拥堵)</a:t>
            </a:r>
          </a:p>
        </p:txBody>
      </p:sp>
      <p:sp>
        <p:nvSpPr>
          <p:cNvPr id="87" name="文本框 86"/>
          <p:cNvSpPr txBox="1"/>
          <p:nvPr/>
        </p:nvSpPr>
        <p:spPr>
          <a:xfrm>
            <a:off x="5045256" y="2113733"/>
            <a:ext cx="38698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5km 影响区</a:t>
            </a:r>
          </a:p>
        </p:txBody>
      </p:sp>
      <p:sp>
        <p:nvSpPr>
          <p:cNvPr id="88" name="文本框 87"/>
          <p:cNvSpPr txBox="1"/>
          <p:nvPr/>
        </p:nvSpPr>
        <p:spPr>
          <a:xfrm>
            <a:off x="5045256" y="2215787"/>
            <a:ext cx="460465" cy="128179"/>
          </a:xfrm>
          <a:prstGeom prst="rect">
            <a:avLst/>
          </a:prstGeom>
          <a:noFill/>
        </p:spPr>
        <p:txBody>
          <a:bodyPr wrap="none" rtlCol="0">
            <a:spAutoFit/>
          </a:bodyPr>
          <a:lstStyle/>
          <a:p>
            <a:pPr algn="l"/>
            <a:r>
              <a:rPr lang="zh-CN" altLang="en-US" sz="675" i="1" spc="0" baseline="0">
                <a:solidFill>
                  <a:srgbClr val="E65100"/>
                </a:solidFill>
                <a:latin typeface="宋体"/>
                <a:ea typeface="宋体"/>
                <a:sym typeface="宋体"/>
                <a:rtl val="0"/>
              </a:rPr>
              <a:t>ERPG-1/2/3 分级</a:t>
            </a:r>
          </a:p>
        </p:txBody>
      </p:sp>
      <p:sp>
        <p:nvSpPr>
          <p:cNvPr id="89" name="任意形状 88"/>
          <p:cNvSpPr/>
          <p:nvPr/>
        </p:nvSpPr>
        <p:spPr>
          <a:xfrm>
            <a:off x="5740853" y="2081892"/>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endParaRPr lang="zh-CN" altLang="en-US"/>
          </a:p>
        </p:txBody>
      </p:sp>
      <p:sp>
        <p:nvSpPr>
          <p:cNvPr id="90" name="任意形状 89"/>
          <p:cNvSpPr/>
          <p:nvPr/>
        </p:nvSpPr>
        <p:spPr>
          <a:xfrm>
            <a:off x="5936796" y="1816553"/>
            <a:ext cx="1020535" cy="530678"/>
          </a:xfrm>
          <a:custGeom>
            <a:avLst/>
            <a:gdLst>
              <a:gd name="connsiteX0" fmla="*/ 996043 w 1020535"/>
              <a:gd name="connsiteY0" fmla="*/ 0 h 530678"/>
              <a:gd name="connsiteX1" fmla="*/ 1020536 w 1020535"/>
              <a:gd name="connsiteY1" fmla="*/ 0 h 530678"/>
              <a:gd name="connsiteX2" fmla="*/ 1020536 w 1020535"/>
              <a:gd name="connsiteY2" fmla="*/ 530679 h 530678"/>
              <a:gd name="connsiteX3" fmla="*/ 996043 w 1020535"/>
              <a:gd name="connsiteY3" fmla="*/ 530679 h 530678"/>
              <a:gd name="connsiteX4" fmla="*/ 24493 w 1020535"/>
              <a:gd name="connsiteY4" fmla="*/ 530679 h 530678"/>
              <a:gd name="connsiteX5" fmla="*/ 0 w 1020535"/>
              <a:gd name="connsiteY5" fmla="*/ 530679 h 530678"/>
              <a:gd name="connsiteX6" fmla="*/ 0 w 1020535"/>
              <a:gd name="connsiteY6" fmla="*/ 0 h 530678"/>
              <a:gd name="connsiteX7" fmla="*/ 24493 w 1020535"/>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530678">
                <a:moveTo>
                  <a:pt x="996043" y="0"/>
                </a:moveTo>
                <a:cubicBezTo>
                  <a:pt x="1009570" y="0"/>
                  <a:pt x="1020536" y="0"/>
                  <a:pt x="1020536" y="0"/>
                </a:cubicBezTo>
                <a:lnTo>
                  <a:pt x="1020536" y="530679"/>
                </a:lnTo>
                <a:cubicBezTo>
                  <a:pt x="1020536" y="530679"/>
                  <a:pt x="1009570" y="530679"/>
                  <a:pt x="996043"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1565C0"/>
            </a:solidFill>
            <a:prstDash val="solid"/>
            <a:miter/>
          </a:ln>
        </p:spPr>
        <p:txBody>
          <a:bodyPr rtlCol="0" anchor="ctr"/>
          <a:lstStyle/>
          <a:p>
            <a:endParaRPr lang="zh-CN" altLang="en-US"/>
          </a:p>
        </p:txBody>
      </p:sp>
      <p:sp>
        <p:nvSpPr>
          <p:cNvPr id="91" name="任意形状 90"/>
          <p:cNvSpPr/>
          <p:nvPr/>
        </p:nvSpPr>
        <p:spPr>
          <a:xfrm>
            <a:off x="5936796" y="1816553"/>
            <a:ext cx="1020535" cy="106135"/>
          </a:xfrm>
          <a:custGeom>
            <a:avLst/>
            <a:gdLst>
              <a:gd name="connsiteX0" fmla="*/ 996043 w 1020535"/>
              <a:gd name="connsiteY0" fmla="*/ 0 h 106135"/>
              <a:gd name="connsiteX1" fmla="*/ 1020536 w 1020535"/>
              <a:gd name="connsiteY1" fmla="*/ 0 h 106135"/>
              <a:gd name="connsiteX2" fmla="*/ 1020536 w 1020535"/>
              <a:gd name="connsiteY2" fmla="*/ 106136 h 106135"/>
              <a:gd name="connsiteX3" fmla="*/ 996043 w 1020535"/>
              <a:gd name="connsiteY3" fmla="*/ 106136 h 106135"/>
              <a:gd name="connsiteX4" fmla="*/ 24493 w 1020535"/>
              <a:gd name="connsiteY4" fmla="*/ 106136 h 106135"/>
              <a:gd name="connsiteX5" fmla="*/ 0 w 1020535"/>
              <a:gd name="connsiteY5" fmla="*/ 106136 h 106135"/>
              <a:gd name="connsiteX6" fmla="*/ 0 w 1020535"/>
              <a:gd name="connsiteY6" fmla="*/ 0 h 106135"/>
              <a:gd name="connsiteX7" fmla="*/ 24493 w 1020535"/>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0535" h="106135">
                <a:moveTo>
                  <a:pt x="996043" y="0"/>
                </a:moveTo>
                <a:cubicBezTo>
                  <a:pt x="1009570" y="0"/>
                  <a:pt x="1020536" y="0"/>
                  <a:pt x="1020536" y="0"/>
                </a:cubicBezTo>
                <a:lnTo>
                  <a:pt x="1020536" y="106136"/>
                </a:lnTo>
                <a:cubicBezTo>
                  <a:pt x="1020536" y="106136"/>
                  <a:pt x="1009570" y="106136"/>
                  <a:pt x="996043" y="106136"/>
                </a:cubicBezTo>
                <a:lnTo>
                  <a:pt x="24493" y="106136"/>
                </a:lnTo>
                <a:cubicBezTo>
                  <a:pt x="10966" y="106136"/>
                  <a:pt x="0" y="106136"/>
                  <a:pt x="0" y="106136"/>
                </a:cubicBezTo>
                <a:lnTo>
                  <a:pt x="0" y="0"/>
                </a:lnTo>
                <a:cubicBezTo>
                  <a:pt x="0" y="0"/>
                  <a:pt x="10966" y="0"/>
                  <a:pt x="24493" y="0"/>
                </a:cubicBezTo>
                <a:close/>
              </a:path>
            </a:pathLst>
          </a:custGeom>
          <a:solidFill>
            <a:srgbClr val="1565C0"/>
          </a:solidFill>
          <a:ln w="4082" cap="flat">
            <a:noFill/>
            <a:prstDash val="solid"/>
            <a:miter/>
          </a:ln>
        </p:spPr>
        <p:txBody>
          <a:bodyPr rtlCol="0" anchor="ctr"/>
          <a:lstStyle/>
          <a:p>
            <a:endParaRPr lang="zh-CN" altLang="en-US"/>
          </a:p>
        </p:txBody>
      </p:sp>
      <p:sp>
        <p:nvSpPr>
          <p:cNvPr id="92" name="文本框 91"/>
          <p:cNvSpPr txBox="1"/>
          <p:nvPr/>
        </p:nvSpPr>
        <p:spPr>
          <a:xfrm>
            <a:off x="6249488" y="1803490"/>
            <a:ext cx="391069"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影响评估</a:t>
            </a:r>
          </a:p>
        </p:txBody>
      </p:sp>
      <p:sp>
        <p:nvSpPr>
          <p:cNvPr id="93" name="文本框 92"/>
          <p:cNvSpPr txBox="1"/>
          <p:nvPr/>
        </p:nvSpPr>
        <p:spPr>
          <a:xfrm>
            <a:off x="5906588" y="1917790"/>
            <a:ext cx="67273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受影响人口: ~234,502人</a:t>
            </a:r>
          </a:p>
        </p:txBody>
      </p:sp>
      <p:sp>
        <p:nvSpPr>
          <p:cNvPr id="94" name="文本框 93"/>
          <p:cNvSpPr txBox="1"/>
          <p:nvPr/>
        </p:nvSpPr>
        <p:spPr>
          <a:xfrm>
            <a:off x="5906588" y="1991269"/>
            <a:ext cx="570683"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路段封闭率: 19.1%</a:t>
            </a:r>
          </a:p>
        </p:txBody>
      </p:sp>
      <p:sp>
        <p:nvSpPr>
          <p:cNvPr id="95" name="文本框 94"/>
          <p:cNvSpPr txBox="1"/>
          <p:nvPr/>
        </p:nvSpPr>
        <p:spPr>
          <a:xfrm>
            <a:off x="5906588" y="2064747"/>
            <a:ext cx="509451"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受影响设施统计</a:t>
            </a:r>
          </a:p>
        </p:txBody>
      </p:sp>
      <p:sp>
        <p:nvSpPr>
          <p:cNvPr id="96" name="文本框 95"/>
          <p:cNvSpPr txBox="1"/>
          <p:nvPr/>
        </p:nvSpPr>
        <p:spPr>
          <a:xfrm>
            <a:off x="5906588" y="2138226"/>
            <a:ext cx="570683"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风向敏感性(4方向)</a:t>
            </a:r>
          </a:p>
        </p:txBody>
      </p:sp>
      <p:sp>
        <p:nvSpPr>
          <p:cNvPr id="97" name="文本框 96"/>
          <p:cNvSpPr txBox="1"/>
          <p:nvPr/>
        </p:nvSpPr>
        <p:spPr>
          <a:xfrm>
            <a:off x="5906588" y="2215787"/>
            <a:ext cx="550272" cy="128179"/>
          </a:xfrm>
          <a:prstGeom prst="rect">
            <a:avLst/>
          </a:prstGeom>
          <a:noFill/>
        </p:spPr>
        <p:txBody>
          <a:bodyPr wrap="none" rtlCol="0">
            <a:spAutoFit/>
          </a:bodyPr>
          <a:lstStyle/>
          <a:p>
            <a:pPr algn="l"/>
            <a:r>
              <a:rPr lang="zh-CN" altLang="en-US" sz="675" i="1" spc="0" baseline="0">
                <a:solidFill>
                  <a:srgbClr val="1565C0"/>
                </a:solidFill>
                <a:latin typeface="宋体"/>
                <a:ea typeface="宋体"/>
                <a:sym typeface="宋体"/>
                <a:rtl val="0"/>
              </a:rPr>
              <a:t>分时段·分类人群估算</a:t>
            </a:r>
          </a:p>
        </p:txBody>
      </p:sp>
      <p:sp>
        <p:nvSpPr>
          <p:cNvPr id="98" name="任意形状 97"/>
          <p:cNvSpPr/>
          <p:nvPr/>
        </p:nvSpPr>
        <p:spPr>
          <a:xfrm>
            <a:off x="7075714" y="1816553"/>
            <a:ext cx="816428" cy="530678"/>
          </a:xfrm>
          <a:custGeom>
            <a:avLst/>
            <a:gdLst>
              <a:gd name="connsiteX0" fmla="*/ 791936 w 816428"/>
              <a:gd name="connsiteY0" fmla="*/ 0 h 530678"/>
              <a:gd name="connsiteX1" fmla="*/ 816429 w 816428"/>
              <a:gd name="connsiteY1" fmla="*/ 0 h 530678"/>
              <a:gd name="connsiteX2" fmla="*/ 816429 w 816428"/>
              <a:gd name="connsiteY2" fmla="*/ 530679 h 530678"/>
              <a:gd name="connsiteX3" fmla="*/ 791936 w 816428"/>
              <a:gd name="connsiteY3" fmla="*/ 530679 h 530678"/>
              <a:gd name="connsiteX4" fmla="*/ 24493 w 816428"/>
              <a:gd name="connsiteY4" fmla="*/ 530679 h 530678"/>
              <a:gd name="connsiteX5" fmla="*/ 0 w 816428"/>
              <a:gd name="connsiteY5" fmla="*/ 530679 h 530678"/>
              <a:gd name="connsiteX6" fmla="*/ 0 w 816428"/>
              <a:gd name="connsiteY6" fmla="*/ 0 h 530678"/>
              <a:gd name="connsiteX7" fmla="*/ 24493 w 816428"/>
              <a:gd name="connsiteY7" fmla="*/ 0 h 530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428" h="530678">
                <a:moveTo>
                  <a:pt x="791936" y="0"/>
                </a:moveTo>
                <a:cubicBezTo>
                  <a:pt x="805463" y="0"/>
                  <a:pt x="816429" y="0"/>
                  <a:pt x="816429" y="0"/>
                </a:cubicBezTo>
                <a:lnTo>
                  <a:pt x="816429" y="530679"/>
                </a:lnTo>
                <a:cubicBezTo>
                  <a:pt x="816429" y="530679"/>
                  <a:pt x="805463" y="530679"/>
                  <a:pt x="791936" y="530679"/>
                </a:cubicBezTo>
                <a:lnTo>
                  <a:pt x="24493" y="530679"/>
                </a:lnTo>
                <a:cubicBezTo>
                  <a:pt x="10966" y="530679"/>
                  <a:pt x="0" y="530679"/>
                  <a:pt x="0" y="530679"/>
                </a:cubicBezTo>
                <a:lnTo>
                  <a:pt x="0" y="0"/>
                </a:lnTo>
                <a:cubicBezTo>
                  <a:pt x="0" y="0"/>
                  <a:pt x="10966" y="0"/>
                  <a:pt x="24493" y="0"/>
                </a:cubicBezTo>
                <a:close/>
              </a:path>
            </a:pathLst>
          </a:custGeom>
          <a:solidFill>
            <a:srgbClr val="FFFFFF"/>
          </a:solidFill>
          <a:ln w="6123" cap="flat">
            <a:solidFill>
              <a:srgbClr val="795548"/>
            </a:solidFill>
            <a:prstDash val="solid"/>
            <a:miter/>
          </a:ln>
        </p:spPr>
        <p:txBody>
          <a:bodyPr rtlCol="0" anchor="ctr"/>
          <a:lstStyle/>
          <a:p>
            <a:endParaRPr lang="zh-CN" altLang="en-US"/>
          </a:p>
        </p:txBody>
      </p:sp>
      <p:sp>
        <p:nvSpPr>
          <p:cNvPr id="99" name="任意形状 98"/>
          <p:cNvSpPr/>
          <p:nvPr/>
        </p:nvSpPr>
        <p:spPr>
          <a:xfrm>
            <a:off x="7075714" y="1816553"/>
            <a:ext cx="816428" cy="106135"/>
          </a:xfrm>
          <a:custGeom>
            <a:avLst/>
            <a:gdLst>
              <a:gd name="connsiteX0" fmla="*/ 791936 w 816428"/>
              <a:gd name="connsiteY0" fmla="*/ 0 h 106135"/>
              <a:gd name="connsiteX1" fmla="*/ 816429 w 816428"/>
              <a:gd name="connsiteY1" fmla="*/ 0 h 106135"/>
              <a:gd name="connsiteX2" fmla="*/ 816429 w 816428"/>
              <a:gd name="connsiteY2" fmla="*/ 106136 h 106135"/>
              <a:gd name="connsiteX3" fmla="*/ 791936 w 816428"/>
              <a:gd name="connsiteY3" fmla="*/ 106136 h 106135"/>
              <a:gd name="connsiteX4" fmla="*/ 24493 w 816428"/>
              <a:gd name="connsiteY4" fmla="*/ 106136 h 106135"/>
              <a:gd name="connsiteX5" fmla="*/ 0 w 816428"/>
              <a:gd name="connsiteY5" fmla="*/ 106136 h 106135"/>
              <a:gd name="connsiteX6" fmla="*/ 0 w 816428"/>
              <a:gd name="connsiteY6" fmla="*/ 0 h 106135"/>
              <a:gd name="connsiteX7" fmla="*/ 24493 w 816428"/>
              <a:gd name="connsiteY7" fmla="*/ 0 h 1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6428" h="106135">
                <a:moveTo>
                  <a:pt x="791936" y="0"/>
                </a:moveTo>
                <a:cubicBezTo>
                  <a:pt x="805463" y="0"/>
                  <a:pt x="816429" y="0"/>
                  <a:pt x="816429" y="0"/>
                </a:cubicBezTo>
                <a:lnTo>
                  <a:pt x="816429" y="106136"/>
                </a:lnTo>
                <a:cubicBezTo>
                  <a:pt x="816429" y="106136"/>
                  <a:pt x="805463" y="106136"/>
                  <a:pt x="791936" y="106136"/>
                </a:cubicBezTo>
                <a:lnTo>
                  <a:pt x="24493" y="106136"/>
                </a:lnTo>
                <a:cubicBezTo>
                  <a:pt x="10966" y="106136"/>
                  <a:pt x="0" y="106136"/>
                  <a:pt x="0" y="106136"/>
                </a:cubicBezTo>
                <a:lnTo>
                  <a:pt x="0" y="0"/>
                </a:lnTo>
                <a:cubicBezTo>
                  <a:pt x="0" y="0"/>
                  <a:pt x="10966" y="0"/>
                  <a:pt x="24493" y="0"/>
                </a:cubicBezTo>
                <a:close/>
              </a:path>
            </a:pathLst>
          </a:custGeom>
          <a:solidFill>
            <a:srgbClr val="795548"/>
          </a:solidFill>
          <a:ln w="4082" cap="flat">
            <a:noFill/>
            <a:prstDash val="solid"/>
            <a:miter/>
          </a:ln>
        </p:spPr>
        <p:txBody>
          <a:bodyPr rtlCol="0" anchor="ctr"/>
          <a:lstStyle/>
          <a:p>
            <a:endParaRPr lang="zh-CN" altLang="en-US"/>
          </a:p>
        </p:txBody>
      </p:sp>
      <p:sp>
        <p:nvSpPr>
          <p:cNvPr id="100" name="文本框 99"/>
          <p:cNvSpPr txBox="1"/>
          <p:nvPr/>
        </p:nvSpPr>
        <p:spPr>
          <a:xfrm>
            <a:off x="7206751" y="1803490"/>
            <a:ext cx="550272" cy="140425"/>
          </a:xfrm>
          <a:prstGeom prst="rect">
            <a:avLst/>
          </a:prstGeom>
          <a:noFill/>
        </p:spPr>
        <p:txBody>
          <a:bodyPr wrap="none" rtlCol="0">
            <a:spAutoFit/>
          </a:bodyPr>
          <a:lstStyle/>
          <a:p>
            <a:pPr algn="l"/>
            <a:r>
              <a:rPr lang="zh-CN" altLang="en-US" sz="900" b="1" spc="0" baseline="0">
                <a:solidFill>
                  <a:srgbClr val="FFFFFF"/>
                </a:solidFill>
                <a:latin typeface="宋体"/>
                <a:ea typeface="宋体"/>
                <a:sym typeface="宋体"/>
                <a:rtl val="0"/>
              </a:rPr>
              <a:t>风向敏感性分析</a:t>
            </a:r>
          </a:p>
        </p:txBody>
      </p:sp>
      <p:sp>
        <p:nvSpPr>
          <p:cNvPr id="101" name="文本框 100"/>
          <p:cNvSpPr txBox="1"/>
          <p:nvPr/>
        </p:nvSpPr>
        <p:spPr>
          <a:xfrm>
            <a:off x="7045506" y="1925955"/>
            <a:ext cx="52986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SW 225° (基准)</a:t>
            </a:r>
          </a:p>
        </p:txBody>
      </p:sp>
      <p:sp>
        <p:nvSpPr>
          <p:cNvPr id="102" name="文本框 101"/>
          <p:cNvSpPr txBox="1"/>
          <p:nvPr/>
        </p:nvSpPr>
        <p:spPr>
          <a:xfrm>
            <a:off x="7045506" y="1999433"/>
            <a:ext cx="509451"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N 0° / E 90°</a:t>
            </a:r>
          </a:p>
        </p:txBody>
      </p:sp>
      <p:sp>
        <p:nvSpPr>
          <p:cNvPr id="103" name="文本框 102"/>
          <p:cNvSpPr txBox="1"/>
          <p:nvPr/>
        </p:nvSpPr>
        <p:spPr>
          <a:xfrm>
            <a:off x="7045506" y="2072912"/>
            <a:ext cx="611505"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 SW 225° 强风(8m/s)</a:t>
            </a:r>
          </a:p>
        </p:txBody>
      </p:sp>
      <p:sp>
        <p:nvSpPr>
          <p:cNvPr id="104" name="文本框 103"/>
          <p:cNvSpPr txBox="1"/>
          <p:nvPr/>
        </p:nvSpPr>
        <p:spPr>
          <a:xfrm>
            <a:off x="7045506" y="2162719"/>
            <a:ext cx="570683" cy="132261"/>
          </a:xfrm>
          <a:prstGeom prst="rect">
            <a:avLst/>
          </a:prstGeom>
          <a:noFill/>
        </p:spPr>
        <p:txBody>
          <a:bodyPr wrap="none" rtlCol="0">
            <a:spAutoFit/>
          </a:bodyPr>
          <a:lstStyle/>
          <a:p>
            <a:pPr algn="l"/>
            <a:r>
              <a:rPr lang="zh-CN" altLang="en-US" sz="750" spc="0" baseline="0">
                <a:solidFill>
                  <a:srgbClr val="795548"/>
                </a:solidFill>
                <a:latin typeface="宋体"/>
                <a:ea typeface="宋体"/>
                <a:sym typeface="宋体"/>
                <a:rtl val="0"/>
              </a:rPr>
              <a:t>→ 危险区域方向敏感</a:t>
            </a:r>
          </a:p>
        </p:txBody>
      </p:sp>
      <p:sp>
        <p:nvSpPr>
          <p:cNvPr id="105" name="文本框 104"/>
          <p:cNvSpPr txBox="1"/>
          <p:nvPr/>
        </p:nvSpPr>
        <p:spPr>
          <a:xfrm>
            <a:off x="7045506" y="2223951"/>
            <a:ext cx="529862" cy="132261"/>
          </a:xfrm>
          <a:prstGeom prst="rect">
            <a:avLst/>
          </a:prstGeom>
          <a:noFill/>
        </p:spPr>
        <p:txBody>
          <a:bodyPr wrap="none" rtlCol="0">
            <a:spAutoFit/>
          </a:bodyPr>
          <a:lstStyle/>
          <a:p>
            <a:pPr algn="l"/>
            <a:r>
              <a:rPr lang="zh-CN" altLang="en-US" sz="750" spc="0" baseline="0">
                <a:solidFill>
                  <a:srgbClr val="795548"/>
                </a:solidFill>
                <a:latin typeface="宋体"/>
                <a:ea typeface="宋体"/>
                <a:sym typeface="宋体"/>
                <a:rtl val="0"/>
              </a:rPr>
              <a:t>→ 需实时气象融入</a:t>
            </a:r>
          </a:p>
        </p:txBody>
      </p:sp>
      <p:sp>
        <p:nvSpPr>
          <p:cNvPr id="106" name="任意形状 105"/>
          <p:cNvSpPr/>
          <p:nvPr/>
        </p:nvSpPr>
        <p:spPr>
          <a:xfrm>
            <a:off x="5075464" y="2563585"/>
            <a:ext cx="4082" cy="171450"/>
          </a:xfrm>
          <a:custGeom>
            <a:avLst/>
            <a:gdLst>
              <a:gd name="connsiteX0" fmla="*/ 0 w 4082"/>
              <a:gd name="connsiteY0" fmla="*/ 0 h 171450"/>
              <a:gd name="connsiteX1" fmla="*/ 0 w 4082"/>
              <a:gd name="connsiteY1" fmla="*/ 171450 h 171450"/>
            </a:gdLst>
            <a:ahLst/>
            <a:cxnLst>
              <a:cxn ang="0">
                <a:pos x="connsiteX0" y="connsiteY0"/>
              </a:cxn>
              <a:cxn ang="0">
                <a:pos x="connsiteX1" y="connsiteY1"/>
              </a:cxn>
            </a:cxnLst>
            <a:rect l="l" t="t" r="r" b="b"/>
            <a:pathLst>
              <a:path w="4082" h="171450">
                <a:moveTo>
                  <a:pt x="0" y="0"/>
                </a:moveTo>
                <a:lnTo>
                  <a:pt x="0" y="171450"/>
                </a:lnTo>
              </a:path>
            </a:pathLst>
          </a:custGeom>
          <a:ln w="8164" cap="flat">
            <a:solidFill>
              <a:srgbClr val="C62828"/>
            </a:solidFill>
            <a:prstDash val="solid"/>
            <a:miter/>
          </a:ln>
        </p:spPr>
        <p:txBody>
          <a:bodyPr rtlCol="0" anchor="ctr"/>
          <a:lstStyle/>
          <a:p>
            <a:endParaRPr lang="zh-CN" altLang="en-US"/>
          </a:p>
        </p:txBody>
      </p:sp>
      <p:sp>
        <p:nvSpPr>
          <p:cNvPr id="107" name="任意形状 106"/>
          <p:cNvSpPr/>
          <p:nvPr/>
        </p:nvSpPr>
        <p:spPr>
          <a:xfrm>
            <a:off x="7116535" y="2563585"/>
            <a:ext cx="4082" cy="171450"/>
          </a:xfrm>
          <a:custGeom>
            <a:avLst/>
            <a:gdLst>
              <a:gd name="connsiteX0" fmla="*/ 0 w 4082"/>
              <a:gd name="connsiteY0" fmla="*/ 0 h 171450"/>
              <a:gd name="connsiteX1" fmla="*/ 0 w 4082"/>
              <a:gd name="connsiteY1" fmla="*/ 171450 h 171450"/>
            </a:gdLst>
            <a:ahLst/>
            <a:cxnLst>
              <a:cxn ang="0">
                <a:pos x="connsiteX0" y="connsiteY0"/>
              </a:cxn>
              <a:cxn ang="0">
                <a:pos x="connsiteX1" y="connsiteY1"/>
              </a:cxn>
            </a:cxnLst>
            <a:rect l="l" t="t" r="r" b="b"/>
            <a:pathLst>
              <a:path w="4082" h="171450">
                <a:moveTo>
                  <a:pt x="0" y="0"/>
                </a:moveTo>
                <a:lnTo>
                  <a:pt x="0" y="171450"/>
                </a:lnTo>
              </a:path>
            </a:pathLst>
          </a:custGeom>
          <a:ln w="8164" cap="flat">
            <a:solidFill>
              <a:srgbClr val="1565C0"/>
            </a:solidFill>
            <a:prstDash val="solid"/>
            <a:miter/>
          </a:ln>
        </p:spPr>
        <p:txBody>
          <a:bodyPr rtlCol="0" anchor="ctr"/>
          <a:lstStyle/>
          <a:p>
            <a:endParaRPr lang="zh-CN" altLang="en-US"/>
          </a:p>
        </p:txBody>
      </p:sp>
      <p:sp>
        <p:nvSpPr>
          <p:cNvPr id="108" name="任意形状 107"/>
          <p:cNvSpPr/>
          <p:nvPr/>
        </p:nvSpPr>
        <p:spPr>
          <a:xfrm>
            <a:off x="5626553" y="2604407"/>
            <a:ext cx="938892" cy="122464"/>
          </a:xfrm>
          <a:custGeom>
            <a:avLst/>
            <a:gdLst>
              <a:gd name="connsiteX0" fmla="*/ 877661 w 938892"/>
              <a:gd name="connsiteY0" fmla="*/ 0 h 122464"/>
              <a:gd name="connsiteX1" fmla="*/ 938893 w 938892"/>
              <a:gd name="connsiteY1" fmla="*/ 0 h 122464"/>
              <a:gd name="connsiteX2" fmla="*/ 938893 w 938892"/>
              <a:gd name="connsiteY2" fmla="*/ 122464 h 122464"/>
              <a:gd name="connsiteX3" fmla="*/ 877661 w 938892"/>
              <a:gd name="connsiteY3" fmla="*/ 122464 h 122464"/>
              <a:gd name="connsiteX4" fmla="*/ 61232 w 938892"/>
              <a:gd name="connsiteY4" fmla="*/ 122464 h 122464"/>
              <a:gd name="connsiteX5" fmla="*/ 0 w 938892"/>
              <a:gd name="connsiteY5" fmla="*/ 122464 h 122464"/>
              <a:gd name="connsiteX6" fmla="*/ 0 w 938892"/>
              <a:gd name="connsiteY6" fmla="*/ 0 h 122464"/>
              <a:gd name="connsiteX7" fmla="*/ 61232 w 938892"/>
              <a:gd name="connsiteY7" fmla="*/ 0 h 12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8892" h="122464">
                <a:moveTo>
                  <a:pt x="877661" y="0"/>
                </a:moveTo>
                <a:cubicBezTo>
                  <a:pt x="911478" y="0"/>
                  <a:pt x="938893" y="0"/>
                  <a:pt x="938893" y="0"/>
                </a:cubicBezTo>
                <a:lnTo>
                  <a:pt x="938893" y="122464"/>
                </a:lnTo>
                <a:cubicBezTo>
                  <a:pt x="938893" y="122464"/>
                  <a:pt x="911478" y="122464"/>
                  <a:pt x="877661" y="122464"/>
                </a:cubicBezTo>
                <a:lnTo>
                  <a:pt x="61232" y="122464"/>
                </a:lnTo>
                <a:cubicBezTo>
                  <a:pt x="27414" y="122464"/>
                  <a:pt x="0" y="122464"/>
                  <a:pt x="0" y="122464"/>
                </a:cubicBezTo>
                <a:lnTo>
                  <a:pt x="0" y="0"/>
                </a:lnTo>
                <a:cubicBezTo>
                  <a:pt x="0" y="0"/>
                  <a:pt x="27414" y="0"/>
                  <a:pt x="61232" y="0"/>
                </a:cubicBezTo>
                <a:close/>
              </a:path>
            </a:pathLst>
          </a:custGeom>
          <a:solidFill>
            <a:srgbClr val="FFF9C4"/>
          </a:solidFill>
          <a:ln w="4899" cap="flat">
            <a:solidFill>
              <a:srgbClr val="F9A825"/>
            </a:solidFill>
            <a:prstDash val="solid"/>
            <a:miter/>
          </a:ln>
        </p:spPr>
        <p:txBody>
          <a:bodyPr rtlCol="0" anchor="ctr"/>
          <a:lstStyle/>
          <a:p>
            <a:endParaRPr lang="zh-CN" altLang="en-US"/>
          </a:p>
        </p:txBody>
      </p:sp>
      <p:sp>
        <p:nvSpPr>
          <p:cNvPr id="109" name="文本框 108"/>
          <p:cNvSpPr txBox="1"/>
          <p:nvPr/>
        </p:nvSpPr>
        <p:spPr>
          <a:xfrm>
            <a:off x="5604510" y="2603590"/>
            <a:ext cx="978897" cy="136343"/>
          </a:xfrm>
          <a:prstGeom prst="rect">
            <a:avLst/>
          </a:prstGeom>
          <a:noFill/>
        </p:spPr>
        <p:txBody>
          <a:bodyPr wrap="none" rtlCol="0">
            <a:spAutoFit/>
          </a:bodyPr>
          <a:lstStyle/>
          <a:p>
            <a:pPr algn="l"/>
            <a:r>
              <a:rPr lang="zh-CN" altLang="en-US" sz="825" b="1" spc="0" baseline="0">
                <a:solidFill>
                  <a:srgbClr val="E65100"/>
                </a:solidFill>
                <a:latin typeface="宋体"/>
                <a:ea typeface="宋体"/>
                <a:sym typeface="宋体"/>
                <a:rtl val="0"/>
              </a:rPr>
              <a:t>资源竞争 · 时间耦合 · 空间交互</a:t>
            </a:r>
          </a:p>
        </p:txBody>
      </p:sp>
      <p:sp>
        <p:nvSpPr>
          <p:cNvPr id="110" name="任意形状 109"/>
          <p:cNvSpPr/>
          <p:nvPr/>
        </p:nvSpPr>
        <p:spPr>
          <a:xfrm>
            <a:off x="3360964" y="2767692"/>
            <a:ext cx="2612571" cy="1796142"/>
          </a:xfrm>
          <a:custGeom>
            <a:avLst/>
            <a:gdLst>
              <a:gd name="connsiteX0" fmla="*/ 2579914 w 2612571"/>
              <a:gd name="connsiteY0" fmla="*/ 0 h 1796142"/>
              <a:gd name="connsiteX1" fmla="*/ 2612572 w 2612571"/>
              <a:gd name="connsiteY1" fmla="*/ 0 h 1796142"/>
              <a:gd name="connsiteX2" fmla="*/ 2612572 w 2612571"/>
              <a:gd name="connsiteY2" fmla="*/ 1796143 h 1796142"/>
              <a:gd name="connsiteX3" fmla="*/ 2579914 w 2612571"/>
              <a:gd name="connsiteY3" fmla="*/ 1796143 h 1796142"/>
              <a:gd name="connsiteX4" fmla="*/ 32657 w 2612571"/>
              <a:gd name="connsiteY4" fmla="*/ 1796143 h 1796142"/>
              <a:gd name="connsiteX5" fmla="*/ 0 w 2612571"/>
              <a:gd name="connsiteY5" fmla="*/ 1796143 h 1796142"/>
              <a:gd name="connsiteX6" fmla="*/ 0 w 2612571"/>
              <a:gd name="connsiteY6" fmla="*/ 0 h 1796142"/>
              <a:gd name="connsiteX7" fmla="*/ 32657 w 2612571"/>
              <a:gd name="connsiteY7" fmla="*/ 0 h 17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2571" h="1796142">
                <a:moveTo>
                  <a:pt x="2579914" y="0"/>
                </a:moveTo>
                <a:cubicBezTo>
                  <a:pt x="2597950" y="0"/>
                  <a:pt x="2612572" y="0"/>
                  <a:pt x="2612572" y="0"/>
                </a:cubicBezTo>
                <a:lnTo>
                  <a:pt x="2612572" y="1796143"/>
                </a:lnTo>
                <a:cubicBezTo>
                  <a:pt x="2612572" y="1796143"/>
                  <a:pt x="2597950" y="1796143"/>
                  <a:pt x="2579914" y="1796143"/>
                </a:cubicBezTo>
                <a:lnTo>
                  <a:pt x="32657" y="1796143"/>
                </a:lnTo>
                <a:cubicBezTo>
                  <a:pt x="14621" y="1796143"/>
                  <a:pt x="0" y="1796143"/>
                  <a:pt x="0" y="1796143"/>
                </a:cubicBezTo>
                <a:lnTo>
                  <a:pt x="0" y="0"/>
                </a:lnTo>
                <a:cubicBezTo>
                  <a:pt x="0" y="0"/>
                  <a:pt x="14621" y="0"/>
                  <a:pt x="32657" y="0"/>
                </a:cubicBezTo>
                <a:close/>
              </a:path>
            </a:pathLst>
          </a:custGeom>
          <a:solidFill>
            <a:srgbClr val="FFEBEE"/>
          </a:solidFill>
          <a:ln w="6123" cap="flat">
            <a:solidFill>
              <a:srgbClr val="C62828"/>
            </a:solidFill>
            <a:prstDash val="solid"/>
            <a:miter/>
          </a:ln>
        </p:spPr>
        <p:txBody>
          <a:bodyPr rtlCol="0" anchor="ctr"/>
          <a:lstStyle/>
          <a:p>
            <a:endParaRPr lang="zh-CN" altLang="en-US"/>
          </a:p>
        </p:txBody>
      </p:sp>
      <p:sp>
        <p:nvSpPr>
          <p:cNvPr id="111" name="文本框 110"/>
          <p:cNvSpPr txBox="1"/>
          <p:nvPr/>
        </p:nvSpPr>
        <p:spPr>
          <a:xfrm>
            <a:off x="3351167" y="2783205"/>
            <a:ext cx="962569" cy="164918"/>
          </a:xfrm>
          <a:prstGeom prst="rect">
            <a:avLst/>
          </a:prstGeom>
          <a:noFill/>
        </p:spPr>
        <p:txBody>
          <a:bodyPr wrap="none" rtlCol="0">
            <a:spAutoFit/>
          </a:bodyPr>
          <a:lstStyle/>
          <a:p>
            <a:pPr algn="l"/>
            <a:r>
              <a:rPr lang="zh-CN" altLang="en-US" sz="1350" b="1" spc="0" baseline="0">
                <a:solidFill>
                  <a:srgbClr val="C62828"/>
                </a:solidFill>
                <a:latin typeface="宋体"/>
                <a:ea typeface="宋体"/>
                <a:sym typeface="宋体"/>
                <a:rtl val="0"/>
              </a:rPr>
              <a:t>3a. 应急物资配送优化</a:t>
            </a:r>
          </a:p>
        </p:txBody>
      </p:sp>
      <p:sp>
        <p:nvSpPr>
          <p:cNvPr id="112" name="文本框 111"/>
          <p:cNvSpPr txBox="1"/>
          <p:nvPr/>
        </p:nvSpPr>
        <p:spPr>
          <a:xfrm>
            <a:off x="3351167" y="2881176"/>
            <a:ext cx="970733" cy="136343"/>
          </a:xfrm>
          <a:prstGeom prst="rect">
            <a:avLst/>
          </a:prstGeom>
          <a:noFill/>
        </p:spPr>
        <p:txBody>
          <a:bodyPr wrap="none" rtlCol="0">
            <a:spAutoFit/>
          </a:bodyPr>
          <a:lstStyle/>
          <a:p>
            <a:pPr algn="l"/>
            <a:r>
              <a:rPr lang="zh-CN" altLang="en-US" sz="825" spc="0" baseline="0">
                <a:solidFill>
                  <a:srgbClr val="888888"/>
                </a:solidFill>
                <a:latin typeface="宋体"/>
                <a:ea typeface="宋体"/>
                <a:sym typeface="宋体"/>
                <a:rtl val="0"/>
              </a:rPr>
              <a:t>Emergency Supply Delivery (Step 10)</a:t>
            </a:r>
          </a:p>
        </p:txBody>
      </p:sp>
      <p:sp>
        <p:nvSpPr>
          <p:cNvPr id="113" name="文本框 112"/>
          <p:cNvSpPr txBox="1"/>
          <p:nvPr/>
        </p:nvSpPr>
        <p:spPr>
          <a:xfrm>
            <a:off x="5555524" y="2803615"/>
            <a:ext cx="440055" cy="148590"/>
          </a:xfrm>
          <a:prstGeom prst="rect">
            <a:avLst/>
          </a:prstGeom>
          <a:noFill/>
        </p:spPr>
        <p:txBody>
          <a:bodyPr wrap="none" rtlCol="0">
            <a:spAutoFit/>
          </a:bodyPr>
          <a:lstStyle/>
          <a:p>
            <a:pPr algn="l"/>
            <a:r>
              <a:rPr lang="zh-CN" altLang="en-US" sz="1050" spc="0" baseline="0">
                <a:solidFill>
                  <a:srgbClr val="C62828"/>
                </a:solidFill>
                <a:latin typeface="宋体"/>
                <a:ea typeface="宋体"/>
                <a:sym typeface="宋体"/>
                <a:rtl val="0"/>
              </a:rPr>
              <a:t>← 向心流</a:t>
            </a:r>
          </a:p>
        </p:txBody>
      </p:sp>
      <p:sp>
        <p:nvSpPr>
          <p:cNvPr id="114" name="任意形状 113"/>
          <p:cNvSpPr/>
          <p:nvPr/>
        </p:nvSpPr>
        <p:spPr>
          <a:xfrm>
            <a:off x="3463017" y="3028950"/>
            <a:ext cx="1143000" cy="408214"/>
          </a:xfrm>
          <a:custGeom>
            <a:avLst/>
            <a:gdLst>
              <a:gd name="connsiteX0" fmla="*/ 1118507 w 1143000"/>
              <a:gd name="connsiteY0" fmla="*/ 0 h 408214"/>
              <a:gd name="connsiteX1" fmla="*/ 1143000 w 1143000"/>
              <a:gd name="connsiteY1" fmla="*/ 0 h 408214"/>
              <a:gd name="connsiteX2" fmla="*/ 1143000 w 1143000"/>
              <a:gd name="connsiteY2" fmla="*/ 408214 h 408214"/>
              <a:gd name="connsiteX3" fmla="*/ 1118507 w 1143000"/>
              <a:gd name="connsiteY3" fmla="*/ 408214 h 408214"/>
              <a:gd name="connsiteX4" fmla="*/ 24493 w 1143000"/>
              <a:gd name="connsiteY4" fmla="*/ 408214 h 408214"/>
              <a:gd name="connsiteX5" fmla="*/ 0 w 1143000"/>
              <a:gd name="connsiteY5" fmla="*/ 408214 h 408214"/>
              <a:gd name="connsiteX6" fmla="*/ 0 w 1143000"/>
              <a:gd name="connsiteY6" fmla="*/ 0 h 408214"/>
              <a:gd name="connsiteX7" fmla="*/ 24493 w 1143000"/>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 h="408214">
                <a:moveTo>
                  <a:pt x="1118507" y="0"/>
                </a:moveTo>
                <a:cubicBezTo>
                  <a:pt x="1132034" y="0"/>
                  <a:pt x="1143000" y="0"/>
                  <a:pt x="1143000" y="0"/>
                </a:cubicBezTo>
                <a:lnTo>
                  <a:pt x="1143000" y="408214"/>
                </a:lnTo>
                <a:cubicBezTo>
                  <a:pt x="1143000" y="408214"/>
                  <a:pt x="1132034" y="408214"/>
                  <a:pt x="1118507"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D32F2F"/>
            </a:solidFill>
            <a:prstDash val="solid"/>
            <a:miter/>
          </a:ln>
        </p:spPr>
        <p:txBody>
          <a:bodyPr rtlCol="0" anchor="ctr"/>
          <a:lstStyle/>
          <a:p>
            <a:endParaRPr lang="zh-CN" altLang="en-US"/>
          </a:p>
        </p:txBody>
      </p:sp>
      <p:sp>
        <p:nvSpPr>
          <p:cNvPr id="115" name="文本框 114"/>
          <p:cNvSpPr txBox="1"/>
          <p:nvPr/>
        </p:nvSpPr>
        <p:spPr>
          <a:xfrm>
            <a:off x="3783874" y="3024051"/>
            <a:ext cx="497205" cy="140425"/>
          </a:xfrm>
          <a:prstGeom prst="rect">
            <a:avLst/>
          </a:prstGeom>
          <a:noFill/>
        </p:spPr>
        <p:txBody>
          <a:bodyPr wrap="none" rtlCol="0">
            <a:spAutoFit/>
          </a:bodyPr>
          <a:lstStyle/>
          <a:p>
            <a:pPr algn="l"/>
            <a:r>
              <a:rPr lang="zh-CN" altLang="en-US" sz="900" b="1" spc="0" baseline="0">
                <a:solidFill>
                  <a:srgbClr val="D32F2F"/>
                </a:solidFill>
                <a:latin typeface="宋体"/>
                <a:ea typeface="宋体"/>
                <a:sym typeface="宋体"/>
                <a:rtl val="0"/>
              </a:rPr>
              <a:t>三层物流网络</a:t>
            </a:r>
          </a:p>
        </p:txBody>
      </p:sp>
      <p:sp>
        <p:nvSpPr>
          <p:cNvPr id="116" name="文本框 115"/>
          <p:cNvSpPr txBox="1"/>
          <p:nvPr/>
        </p:nvSpPr>
        <p:spPr>
          <a:xfrm>
            <a:off x="3432810" y="3109776"/>
            <a:ext cx="71355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供应点层(H): 8消防站+2仓库</a:t>
            </a:r>
          </a:p>
        </p:txBody>
      </p:sp>
      <p:sp>
        <p:nvSpPr>
          <p:cNvPr id="117" name="文本框 116"/>
          <p:cNvSpPr txBox="1"/>
          <p:nvPr/>
        </p:nvSpPr>
        <p:spPr>
          <a:xfrm>
            <a:off x="3432810" y="3175090"/>
            <a:ext cx="69314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中转站层(R): 无人机起降点</a:t>
            </a:r>
          </a:p>
        </p:txBody>
      </p:sp>
      <p:sp>
        <p:nvSpPr>
          <p:cNvPr id="118" name="文本框 117"/>
          <p:cNvSpPr txBox="1"/>
          <p:nvPr/>
        </p:nvSpPr>
        <p:spPr>
          <a:xfrm>
            <a:off x="3432810" y="3240405"/>
            <a:ext cx="713558"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需求点层(D): 5km内应急节点</a:t>
            </a:r>
          </a:p>
        </p:txBody>
      </p:sp>
      <p:sp>
        <p:nvSpPr>
          <p:cNvPr id="119" name="文本框 118"/>
          <p:cNvSpPr txBox="1"/>
          <p:nvPr/>
        </p:nvSpPr>
        <p:spPr>
          <a:xfrm>
            <a:off x="3432810" y="3309801"/>
            <a:ext cx="570683" cy="128179"/>
          </a:xfrm>
          <a:prstGeom prst="rect">
            <a:avLst/>
          </a:prstGeom>
          <a:noFill/>
        </p:spPr>
        <p:txBody>
          <a:bodyPr wrap="none" rtlCol="0">
            <a:spAutoFit/>
          </a:bodyPr>
          <a:lstStyle/>
          <a:p>
            <a:pPr algn="l"/>
            <a:r>
              <a:rPr lang="zh-CN" altLang="en-US" sz="675" spc="0" baseline="0">
                <a:solidFill>
                  <a:srgbClr val="999999"/>
                </a:solidFill>
                <a:latin typeface="宋体"/>
                <a:ea typeface="宋体"/>
                <a:sym typeface="宋体"/>
                <a:rtl val="0"/>
              </a:rPr>
              <a:t>4类物资·差异化时间窗</a:t>
            </a:r>
          </a:p>
        </p:txBody>
      </p:sp>
      <p:sp>
        <p:nvSpPr>
          <p:cNvPr id="120" name="任意形状 119"/>
          <p:cNvSpPr/>
          <p:nvPr/>
        </p:nvSpPr>
        <p:spPr>
          <a:xfrm>
            <a:off x="4687660" y="3028950"/>
            <a:ext cx="1183821" cy="408214"/>
          </a:xfrm>
          <a:custGeom>
            <a:avLst/>
            <a:gdLst>
              <a:gd name="connsiteX0" fmla="*/ 1159329 w 1183821"/>
              <a:gd name="connsiteY0" fmla="*/ 0 h 408214"/>
              <a:gd name="connsiteX1" fmla="*/ 1183821 w 1183821"/>
              <a:gd name="connsiteY1" fmla="*/ 0 h 408214"/>
              <a:gd name="connsiteX2" fmla="*/ 1183821 w 1183821"/>
              <a:gd name="connsiteY2" fmla="*/ 408214 h 408214"/>
              <a:gd name="connsiteX3" fmla="*/ 1159329 w 1183821"/>
              <a:gd name="connsiteY3" fmla="*/ 408214 h 408214"/>
              <a:gd name="connsiteX4" fmla="*/ 24493 w 1183821"/>
              <a:gd name="connsiteY4" fmla="*/ 408214 h 408214"/>
              <a:gd name="connsiteX5" fmla="*/ 0 w 1183821"/>
              <a:gd name="connsiteY5" fmla="*/ 408214 h 408214"/>
              <a:gd name="connsiteX6" fmla="*/ 0 w 1183821"/>
              <a:gd name="connsiteY6" fmla="*/ 0 h 408214"/>
              <a:gd name="connsiteX7" fmla="*/ 24493 w 11838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821" h="408214">
                <a:moveTo>
                  <a:pt x="1159329" y="0"/>
                </a:moveTo>
                <a:cubicBezTo>
                  <a:pt x="1172856" y="0"/>
                  <a:pt x="1183821" y="0"/>
                  <a:pt x="1183821" y="0"/>
                </a:cubicBezTo>
                <a:lnTo>
                  <a:pt x="1183821" y="408214"/>
                </a:lnTo>
                <a:cubicBezTo>
                  <a:pt x="1183821" y="408214"/>
                  <a:pt x="1172856" y="408214"/>
                  <a:pt x="11593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E53935"/>
            </a:solidFill>
            <a:prstDash val="solid"/>
            <a:miter/>
          </a:ln>
        </p:spPr>
        <p:txBody>
          <a:bodyPr rtlCol="0" anchor="ctr"/>
          <a:lstStyle/>
          <a:p>
            <a:endParaRPr lang="zh-CN" altLang="en-US"/>
          </a:p>
        </p:txBody>
      </p:sp>
      <p:sp>
        <p:nvSpPr>
          <p:cNvPr id="121" name="文本框 120"/>
          <p:cNvSpPr txBox="1"/>
          <p:nvPr/>
        </p:nvSpPr>
        <p:spPr>
          <a:xfrm>
            <a:off x="4922792" y="3024051"/>
            <a:ext cx="709476" cy="140425"/>
          </a:xfrm>
          <a:prstGeom prst="rect">
            <a:avLst/>
          </a:prstGeom>
          <a:noFill/>
        </p:spPr>
        <p:txBody>
          <a:bodyPr wrap="none" rtlCol="0">
            <a:spAutoFit/>
          </a:bodyPr>
          <a:lstStyle/>
          <a:p>
            <a:pPr algn="l"/>
            <a:r>
              <a:rPr lang="zh-CN" altLang="en-US" sz="900" b="1" spc="0" baseline="0">
                <a:solidFill>
                  <a:srgbClr val="E53935"/>
                </a:solidFill>
                <a:latin typeface="宋体"/>
                <a:ea typeface="宋体"/>
                <a:sym typeface="宋体"/>
                <a:rtl val="0"/>
              </a:rPr>
              <a:t>货车—无人机协同机制</a:t>
            </a:r>
          </a:p>
        </p:txBody>
      </p:sp>
      <p:sp>
        <p:nvSpPr>
          <p:cNvPr id="122" name="文本框 121"/>
          <p:cNvSpPr txBox="1"/>
          <p:nvPr/>
        </p:nvSpPr>
        <p:spPr>
          <a:xfrm>
            <a:off x="4657452" y="3109776"/>
            <a:ext cx="67273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直送模式: 货车 → 需求点</a:t>
            </a:r>
          </a:p>
        </p:txBody>
      </p:sp>
      <p:sp>
        <p:nvSpPr>
          <p:cNvPr id="123" name="文本框 122"/>
          <p:cNvSpPr txBox="1"/>
          <p:nvPr/>
        </p:nvSpPr>
        <p:spPr>
          <a:xfrm>
            <a:off x="4657452" y="3175090"/>
            <a:ext cx="876844"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接力模式: 货车 → 中转站 → 无人机</a:t>
            </a:r>
          </a:p>
        </p:txBody>
      </p:sp>
      <p:sp>
        <p:nvSpPr>
          <p:cNvPr id="124" name="文本框 123"/>
          <p:cNvSpPr txBox="1"/>
          <p:nvPr/>
        </p:nvSpPr>
        <p:spPr>
          <a:xfrm>
            <a:off x="4657452" y="3240405"/>
            <a:ext cx="67273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BPR拥堵: α=0.15, β=4.0</a:t>
            </a:r>
          </a:p>
        </p:txBody>
      </p:sp>
      <p:sp>
        <p:nvSpPr>
          <p:cNvPr id="125" name="文本框 124"/>
          <p:cNvSpPr txBox="1"/>
          <p:nvPr/>
        </p:nvSpPr>
        <p:spPr>
          <a:xfrm>
            <a:off x="4657452" y="3309801"/>
            <a:ext cx="550272" cy="128179"/>
          </a:xfrm>
          <a:prstGeom prst="rect">
            <a:avLst/>
          </a:prstGeom>
          <a:noFill/>
        </p:spPr>
        <p:txBody>
          <a:bodyPr wrap="none" rtlCol="0">
            <a:spAutoFit/>
          </a:bodyPr>
          <a:lstStyle/>
          <a:p>
            <a:pPr algn="l"/>
            <a:r>
              <a:rPr lang="zh-CN" altLang="en-US" sz="675" spc="0" baseline="0">
                <a:solidFill>
                  <a:srgbClr val="999999"/>
                </a:solidFill>
                <a:latin typeface="宋体"/>
                <a:ea typeface="宋体"/>
                <a:sym typeface="宋体"/>
                <a:rtl val="0"/>
              </a:rPr>
              <a:t>路网Dijkstra行程时间</a:t>
            </a:r>
          </a:p>
        </p:txBody>
      </p:sp>
      <p:sp>
        <p:nvSpPr>
          <p:cNvPr id="126" name="任意形状 125"/>
          <p:cNvSpPr/>
          <p:nvPr/>
        </p:nvSpPr>
        <p:spPr>
          <a:xfrm>
            <a:off x="4667250" y="3437164"/>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C62828"/>
            </a:solidFill>
            <a:prstDash val="solid"/>
            <a:miter/>
          </a:ln>
        </p:spPr>
        <p:txBody>
          <a:bodyPr rtlCol="0" anchor="ctr"/>
          <a:lstStyle/>
          <a:p>
            <a:endParaRPr lang="zh-CN" altLang="en-US"/>
          </a:p>
        </p:txBody>
      </p:sp>
      <p:sp>
        <p:nvSpPr>
          <p:cNvPr id="127" name="任意形状 126"/>
          <p:cNvSpPr/>
          <p:nvPr/>
        </p:nvSpPr>
        <p:spPr>
          <a:xfrm>
            <a:off x="3728357" y="3543300"/>
            <a:ext cx="1918607" cy="277585"/>
          </a:xfrm>
          <a:custGeom>
            <a:avLst/>
            <a:gdLst>
              <a:gd name="connsiteX0" fmla="*/ 1894114 w 1918607"/>
              <a:gd name="connsiteY0" fmla="*/ 0 h 277585"/>
              <a:gd name="connsiteX1" fmla="*/ 1918607 w 1918607"/>
              <a:gd name="connsiteY1" fmla="*/ 0 h 277585"/>
              <a:gd name="connsiteX2" fmla="*/ 1918607 w 1918607"/>
              <a:gd name="connsiteY2" fmla="*/ 277586 h 277585"/>
              <a:gd name="connsiteX3" fmla="*/ 1894114 w 1918607"/>
              <a:gd name="connsiteY3" fmla="*/ 277586 h 277585"/>
              <a:gd name="connsiteX4" fmla="*/ 24493 w 1918607"/>
              <a:gd name="connsiteY4" fmla="*/ 277586 h 277585"/>
              <a:gd name="connsiteX5" fmla="*/ 0 w 1918607"/>
              <a:gd name="connsiteY5" fmla="*/ 277586 h 277585"/>
              <a:gd name="connsiteX6" fmla="*/ 0 w 1918607"/>
              <a:gd name="connsiteY6" fmla="*/ 0 h 277585"/>
              <a:gd name="connsiteX7" fmla="*/ 24493 w 1918607"/>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8607" h="277585">
                <a:moveTo>
                  <a:pt x="1894114" y="0"/>
                </a:moveTo>
                <a:cubicBezTo>
                  <a:pt x="1907641" y="0"/>
                  <a:pt x="1918607" y="0"/>
                  <a:pt x="1918607" y="0"/>
                </a:cubicBezTo>
                <a:lnTo>
                  <a:pt x="1918607" y="277586"/>
                </a:lnTo>
                <a:cubicBezTo>
                  <a:pt x="1918607" y="277586"/>
                  <a:pt x="1907641" y="277586"/>
                  <a:pt x="1894114" y="277586"/>
                </a:cubicBezTo>
                <a:lnTo>
                  <a:pt x="24493" y="277586"/>
                </a:lnTo>
                <a:cubicBezTo>
                  <a:pt x="10966" y="277586"/>
                  <a:pt x="0" y="277586"/>
                  <a:pt x="0" y="277586"/>
                </a:cubicBezTo>
                <a:lnTo>
                  <a:pt x="0" y="0"/>
                </a:lnTo>
                <a:cubicBezTo>
                  <a:pt x="0" y="0"/>
                  <a:pt x="10966" y="0"/>
                  <a:pt x="24493" y="0"/>
                </a:cubicBezTo>
                <a:close/>
              </a:path>
            </a:pathLst>
          </a:custGeom>
          <a:solidFill>
            <a:srgbClr val="FFFFFF"/>
          </a:solidFill>
          <a:ln w="4899" cap="flat">
            <a:solidFill>
              <a:srgbClr val="B71C1C"/>
            </a:solidFill>
            <a:prstDash val="solid"/>
            <a:miter/>
          </a:ln>
        </p:spPr>
        <p:txBody>
          <a:bodyPr rtlCol="0" anchor="ctr"/>
          <a:lstStyle/>
          <a:p>
            <a:endParaRPr lang="zh-CN" altLang="en-US"/>
          </a:p>
        </p:txBody>
      </p:sp>
      <p:sp>
        <p:nvSpPr>
          <p:cNvPr id="128" name="文本框 127"/>
          <p:cNvSpPr txBox="1"/>
          <p:nvPr/>
        </p:nvSpPr>
        <p:spPr>
          <a:xfrm>
            <a:off x="4251279" y="3538401"/>
            <a:ext cx="868680" cy="140425"/>
          </a:xfrm>
          <a:prstGeom prst="rect">
            <a:avLst/>
          </a:prstGeom>
          <a:noFill/>
        </p:spPr>
        <p:txBody>
          <a:bodyPr wrap="none" rtlCol="0">
            <a:spAutoFit/>
          </a:bodyPr>
          <a:lstStyle/>
          <a:p>
            <a:pPr algn="l"/>
            <a:r>
              <a:rPr lang="zh-CN" altLang="en-US" sz="900" b="1" spc="0" baseline="0">
                <a:solidFill>
                  <a:srgbClr val="B71C1C"/>
                </a:solidFill>
                <a:latin typeface="宋体"/>
                <a:ea typeface="宋体"/>
                <a:sym typeface="宋体"/>
                <a:rtl val="0"/>
              </a:rPr>
              <a:t>两阶段求解: 贪心构造 + 2-opt局部搜索</a:t>
            </a:r>
          </a:p>
        </p:txBody>
      </p:sp>
      <p:sp>
        <p:nvSpPr>
          <p:cNvPr id="129" name="文本框 128"/>
          <p:cNvSpPr txBox="1"/>
          <p:nvPr/>
        </p:nvSpPr>
        <p:spPr>
          <a:xfrm>
            <a:off x="3698149" y="3624126"/>
            <a:ext cx="1313633" cy="136343"/>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目标: min Z = w</a:t>
            </a:r>
            <a:r>
              <a:rPr lang="zh-CN" altLang="en-US" sz="750" spc="0" baseline="0">
                <a:solidFill>
                  <a:srgbClr val="333333"/>
                </a:solidFill>
                <a:latin typeface="Cambria Math"/>
                <a:ea typeface="宋体"/>
                <a:sym typeface="Cambria Math"/>
                <a:rtl val="0"/>
              </a:rPr>
              <a:t>₁</a:t>
            </a:r>
            <a:r>
              <a:rPr lang="zh-CN" altLang="en-US" sz="750" spc="0" baseline="0">
                <a:solidFill>
                  <a:srgbClr val="333333"/>
                </a:solidFill>
                <a:latin typeface="宋体"/>
                <a:ea typeface="宋体"/>
                <a:sym typeface="宋体"/>
                <a:rtl val="0"/>
              </a:rPr>
              <a:t>·Makespan + w</a:t>
            </a:r>
            <a:r>
              <a:rPr lang="zh-CN" altLang="en-US" sz="750" spc="0" baseline="0">
                <a:solidFill>
                  <a:srgbClr val="333333"/>
                </a:solidFill>
                <a:latin typeface="Cambria Math"/>
                <a:ea typeface="宋体"/>
                <a:sym typeface="Cambria Math"/>
                <a:rtl val="0"/>
              </a:rPr>
              <a:t>₂</a:t>
            </a:r>
            <a:r>
              <a:rPr lang="zh-CN" altLang="en-US" sz="750" spc="0" baseline="0">
                <a:solidFill>
                  <a:srgbClr val="333333"/>
                </a:solidFill>
                <a:latin typeface="宋体"/>
                <a:ea typeface="宋体"/>
                <a:sym typeface="宋体"/>
                <a:rtl val="0"/>
              </a:rPr>
              <a:t>·Σpenalty + w</a:t>
            </a:r>
            <a:r>
              <a:rPr lang="zh-CN" altLang="en-US" sz="750" spc="0" baseline="0">
                <a:solidFill>
                  <a:srgbClr val="333333"/>
                </a:solidFill>
                <a:latin typeface="Cambria Math"/>
                <a:ea typeface="宋体"/>
                <a:sym typeface="Cambria Math"/>
                <a:rtl val="0"/>
              </a:rPr>
              <a:t>₃</a:t>
            </a:r>
            <a:r>
              <a:rPr lang="zh-CN" altLang="en-US" sz="750" spc="0" baseline="0">
                <a:solidFill>
                  <a:srgbClr val="333333"/>
                </a:solidFill>
                <a:latin typeface="宋体"/>
                <a:ea typeface="宋体"/>
                <a:sym typeface="宋体"/>
                <a:rtl val="0"/>
              </a:rPr>
              <a:t>·Σunmet</a:t>
            </a:r>
          </a:p>
        </p:txBody>
      </p:sp>
      <p:sp>
        <p:nvSpPr>
          <p:cNvPr id="130" name="文本框 129"/>
          <p:cNvSpPr txBox="1"/>
          <p:nvPr/>
        </p:nvSpPr>
        <p:spPr>
          <a:xfrm>
            <a:off x="3698149" y="3689440"/>
            <a:ext cx="126464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优先级排序 → 车辆-路径评估 → 局部改进 → 可行性检查</a:t>
            </a:r>
          </a:p>
        </p:txBody>
      </p:sp>
      <p:sp>
        <p:nvSpPr>
          <p:cNvPr id="131" name="任意形状 130"/>
          <p:cNvSpPr/>
          <p:nvPr/>
        </p:nvSpPr>
        <p:spPr>
          <a:xfrm>
            <a:off x="4667250" y="3820885"/>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C62828"/>
            </a:solidFill>
            <a:prstDash val="solid"/>
            <a:miter/>
          </a:ln>
        </p:spPr>
        <p:txBody>
          <a:bodyPr rtlCol="0" anchor="ctr"/>
          <a:lstStyle/>
          <a:p>
            <a:endParaRPr lang="zh-CN" altLang="en-US"/>
          </a:p>
        </p:txBody>
      </p:sp>
      <p:sp>
        <p:nvSpPr>
          <p:cNvPr id="132" name="任意形状 131"/>
          <p:cNvSpPr/>
          <p:nvPr/>
        </p:nvSpPr>
        <p:spPr>
          <a:xfrm>
            <a:off x="3463017" y="3927021"/>
            <a:ext cx="2408464" cy="306160"/>
          </a:xfrm>
          <a:custGeom>
            <a:avLst/>
            <a:gdLst>
              <a:gd name="connsiteX0" fmla="*/ 2383972 w 2408464"/>
              <a:gd name="connsiteY0" fmla="*/ 0 h 306160"/>
              <a:gd name="connsiteX1" fmla="*/ 2408464 w 2408464"/>
              <a:gd name="connsiteY1" fmla="*/ 0 h 306160"/>
              <a:gd name="connsiteX2" fmla="*/ 2408464 w 2408464"/>
              <a:gd name="connsiteY2" fmla="*/ 306161 h 306160"/>
              <a:gd name="connsiteX3" fmla="*/ 2383972 w 2408464"/>
              <a:gd name="connsiteY3" fmla="*/ 306161 h 306160"/>
              <a:gd name="connsiteX4" fmla="*/ 24493 w 2408464"/>
              <a:gd name="connsiteY4" fmla="*/ 306161 h 306160"/>
              <a:gd name="connsiteX5" fmla="*/ 0 w 2408464"/>
              <a:gd name="connsiteY5" fmla="*/ 306161 h 306160"/>
              <a:gd name="connsiteX6" fmla="*/ 0 w 2408464"/>
              <a:gd name="connsiteY6" fmla="*/ 0 h 306160"/>
              <a:gd name="connsiteX7" fmla="*/ 24493 w 2408464"/>
              <a:gd name="connsiteY7" fmla="*/ 0 h 30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8464" h="306160">
                <a:moveTo>
                  <a:pt x="2383972" y="0"/>
                </a:moveTo>
                <a:cubicBezTo>
                  <a:pt x="2397499" y="0"/>
                  <a:pt x="2408464" y="0"/>
                  <a:pt x="2408464" y="0"/>
                </a:cubicBezTo>
                <a:lnTo>
                  <a:pt x="2408464" y="306161"/>
                </a:lnTo>
                <a:cubicBezTo>
                  <a:pt x="2408464" y="306161"/>
                  <a:pt x="2397499" y="306161"/>
                  <a:pt x="2383972" y="306161"/>
                </a:cubicBezTo>
                <a:lnTo>
                  <a:pt x="24493" y="306161"/>
                </a:lnTo>
                <a:cubicBezTo>
                  <a:pt x="10966" y="306161"/>
                  <a:pt x="0" y="306161"/>
                  <a:pt x="0" y="306161"/>
                </a:cubicBezTo>
                <a:lnTo>
                  <a:pt x="0" y="0"/>
                </a:lnTo>
                <a:cubicBezTo>
                  <a:pt x="0" y="0"/>
                  <a:pt x="10966" y="0"/>
                  <a:pt x="24493" y="0"/>
                </a:cubicBezTo>
                <a:close/>
              </a:path>
            </a:pathLst>
          </a:custGeom>
          <a:solidFill>
            <a:srgbClr val="FFCDD2"/>
          </a:solidFill>
          <a:ln w="6123" cap="flat">
            <a:solidFill>
              <a:srgbClr val="C62828"/>
            </a:solidFill>
            <a:prstDash val="solid"/>
            <a:miter/>
          </a:ln>
        </p:spPr>
        <p:txBody>
          <a:bodyPr rtlCol="0" anchor="ctr"/>
          <a:lstStyle/>
          <a:p>
            <a:endParaRPr lang="zh-CN" altLang="en-US"/>
          </a:p>
        </p:txBody>
      </p:sp>
      <p:sp>
        <p:nvSpPr>
          <p:cNvPr id="133" name="文本框 132"/>
          <p:cNvSpPr txBox="1"/>
          <p:nvPr/>
        </p:nvSpPr>
        <p:spPr>
          <a:xfrm>
            <a:off x="4469674" y="3930287"/>
            <a:ext cx="391069" cy="140425"/>
          </a:xfrm>
          <a:prstGeom prst="rect">
            <a:avLst/>
          </a:prstGeom>
          <a:noFill/>
        </p:spPr>
        <p:txBody>
          <a:bodyPr wrap="none" rtlCol="0">
            <a:spAutoFit/>
          </a:bodyPr>
          <a:lstStyle/>
          <a:p>
            <a:pPr algn="l"/>
            <a:r>
              <a:rPr lang="zh-CN" altLang="en-US" sz="900" b="1" spc="0" baseline="0">
                <a:solidFill>
                  <a:srgbClr val="B71C1C"/>
                </a:solidFill>
                <a:latin typeface="宋体"/>
                <a:ea typeface="宋体"/>
                <a:sym typeface="宋体"/>
                <a:rtl val="0"/>
              </a:rPr>
              <a:t>关键结果</a:t>
            </a:r>
          </a:p>
        </p:txBody>
      </p:sp>
      <p:sp>
        <p:nvSpPr>
          <p:cNvPr id="134" name="文本框 133"/>
          <p:cNvSpPr txBox="1"/>
          <p:nvPr/>
        </p:nvSpPr>
        <p:spPr>
          <a:xfrm>
            <a:off x="3432810" y="3995601"/>
            <a:ext cx="1432015" cy="152672"/>
          </a:xfrm>
          <a:prstGeom prst="rect">
            <a:avLst/>
          </a:prstGeom>
          <a:noFill/>
        </p:spPr>
        <p:txBody>
          <a:bodyPr wrap="none" rtlCol="0">
            <a:spAutoFit/>
          </a:bodyPr>
          <a:lstStyle/>
          <a:p>
            <a:pPr algn="l"/>
            <a:r>
              <a:rPr lang="zh-CN" altLang="en-US" sz="825" spc="0" baseline="0">
                <a:solidFill>
                  <a:srgbClr val="333333"/>
                </a:solidFill>
                <a:latin typeface="Segoe UI Symbol"/>
                <a:sym typeface="Segoe UI Symbol"/>
                <a:rtl val="0"/>
              </a:rPr>
              <a:t>✓</a:t>
            </a:r>
            <a:r>
              <a:rPr lang="zh-CN" altLang="en-US" sz="825" spc="0" baseline="0">
                <a:solidFill>
                  <a:srgbClr val="333333"/>
                </a:solidFill>
                <a:latin typeface="宋体"/>
                <a:ea typeface="宋体"/>
                <a:sym typeface="宋体"/>
                <a:rtl val="0"/>
              </a:rPr>
              <a:t> 40项任务100%完成 | Makespan: 44.8→37.5 min (↓16.3%)</a:t>
            </a:r>
          </a:p>
        </p:txBody>
      </p:sp>
      <p:sp>
        <p:nvSpPr>
          <p:cNvPr id="135" name="文本框 134"/>
          <p:cNvSpPr txBox="1"/>
          <p:nvPr/>
        </p:nvSpPr>
        <p:spPr>
          <a:xfrm>
            <a:off x="3432810" y="4069080"/>
            <a:ext cx="1432015" cy="152672"/>
          </a:xfrm>
          <a:prstGeom prst="rect">
            <a:avLst/>
          </a:prstGeom>
          <a:noFill/>
        </p:spPr>
        <p:txBody>
          <a:bodyPr wrap="none" rtlCol="0">
            <a:spAutoFit/>
          </a:bodyPr>
          <a:lstStyle/>
          <a:p>
            <a:pPr algn="l"/>
            <a:r>
              <a:rPr lang="zh-CN" altLang="en-US" sz="825" spc="0" baseline="0">
                <a:solidFill>
                  <a:srgbClr val="333333"/>
                </a:solidFill>
                <a:latin typeface="Segoe UI Symbol"/>
                <a:sym typeface="Segoe UI Symbol"/>
                <a:rtl val="0"/>
              </a:rPr>
              <a:t>✓</a:t>
            </a:r>
            <a:r>
              <a:rPr lang="zh-CN" altLang="en-US" sz="825" spc="0" baseline="0">
                <a:solidFill>
                  <a:srgbClr val="333333"/>
                </a:solidFill>
                <a:latin typeface="宋体"/>
                <a:ea typeface="宋体"/>
                <a:sym typeface="宋体"/>
                <a:rtl val="0"/>
              </a:rPr>
              <a:t> 生命救援类30min内送达 | 39直送+1接力 | 纯无人机不可行</a:t>
            </a:r>
          </a:p>
        </p:txBody>
      </p:sp>
      <p:sp>
        <p:nvSpPr>
          <p:cNvPr id="136" name="文本框 135"/>
          <p:cNvSpPr txBox="1"/>
          <p:nvPr/>
        </p:nvSpPr>
        <p:spPr>
          <a:xfrm>
            <a:off x="3432810" y="4146640"/>
            <a:ext cx="623751" cy="128179"/>
          </a:xfrm>
          <a:prstGeom prst="rect">
            <a:avLst/>
          </a:prstGeom>
          <a:noFill/>
        </p:spPr>
        <p:txBody>
          <a:bodyPr wrap="none" rtlCol="0">
            <a:spAutoFit/>
          </a:bodyPr>
          <a:lstStyle/>
          <a:p>
            <a:pPr algn="l"/>
            <a:r>
              <a:rPr lang="zh-CN" altLang="en-US" sz="675" i="1" spc="0" baseline="0">
                <a:solidFill>
                  <a:srgbClr val="C62828"/>
                </a:solidFill>
                <a:latin typeface="宋体"/>
                <a:ea typeface="宋体"/>
                <a:sym typeface="宋体"/>
                <a:rtl val="0"/>
              </a:rPr>
              <a:t>无人机敏感性分析: 0-40架</a:t>
            </a:r>
          </a:p>
        </p:txBody>
      </p:sp>
      <p:sp>
        <p:nvSpPr>
          <p:cNvPr id="137" name="任意形状 136"/>
          <p:cNvSpPr/>
          <p:nvPr/>
        </p:nvSpPr>
        <p:spPr>
          <a:xfrm>
            <a:off x="6218464" y="2767692"/>
            <a:ext cx="2612571" cy="1796142"/>
          </a:xfrm>
          <a:custGeom>
            <a:avLst/>
            <a:gdLst>
              <a:gd name="connsiteX0" fmla="*/ 2579914 w 2612571"/>
              <a:gd name="connsiteY0" fmla="*/ 0 h 1796142"/>
              <a:gd name="connsiteX1" fmla="*/ 2612572 w 2612571"/>
              <a:gd name="connsiteY1" fmla="*/ 0 h 1796142"/>
              <a:gd name="connsiteX2" fmla="*/ 2612572 w 2612571"/>
              <a:gd name="connsiteY2" fmla="*/ 1796143 h 1796142"/>
              <a:gd name="connsiteX3" fmla="*/ 2579914 w 2612571"/>
              <a:gd name="connsiteY3" fmla="*/ 1796143 h 1796142"/>
              <a:gd name="connsiteX4" fmla="*/ 32657 w 2612571"/>
              <a:gd name="connsiteY4" fmla="*/ 1796143 h 1796142"/>
              <a:gd name="connsiteX5" fmla="*/ 0 w 2612571"/>
              <a:gd name="connsiteY5" fmla="*/ 1796143 h 1796142"/>
              <a:gd name="connsiteX6" fmla="*/ 0 w 2612571"/>
              <a:gd name="connsiteY6" fmla="*/ 0 h 1796142"/>
              <a:gd name="connsiteX7" fmla="*/ 32657 w 2612571"/>
              <a:gd name="connsiteY7" fmla="*/ 0 h 17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2571" h="1796142">
                <a:moveTo>
                  <a:pt x="2579914" y="0"/>
                </a:moveTo>
                <a:cubicBezTo>
                  <a:pt x="2597951" y="0"/>
                  <a:pt x="2612572" y="0"/>
                  <a:pt x="2612572" y="0"/>
                </a:cubicBezTo>
                <a:lnTo>
                  <a:pt x="2612572" y="1796143"/>
                </a:lnTo>
                <a:cubicBezTo>
                  <a:pt x="2612572" y="1796143"/>
                  <a:pt x="2597951" y="1796143"/>
                  <a:pt x="2579914" y="1796143"/>
                </a:cubicBezTo>
                <a:lnTo>
                  <a:pt x="32657" y="1796143"/>
                </a:lnTo>
                <a:cubicBezTo>
                  <a:pt x="14621" y="1796143"/>
                  <a:pt x="0" y="1796143"/>
                  <a:pt x="0" y="1796143"/>
                </a:cubicBezTo>
                <a:lnTo>
                  <a:pt x="0" y="0"/>
                </a:lnTo>
                <a:cubicBezTo>
                  <a:pt x="0" y="0"/>
                  <a:pt x="14621" y="0"/>
                  <a:pt x="32657" y="0"/>
                </a:cubicBezTo>
                <a:close/>
              </a:path>
            </a:pathLst>
          </a:custGeom>
          <a:solidFill>
            <a:srgbClr val="E3F2FD"/>
          </a:solidFill>
          <a:ln w="6123" cap="flat">
            <a:solidFill>
              <a:srgbClr val="1565C0"/>
            </a:solidFill>
            <a:prstDash val="solid"/>
            <a:miter/>
          </a:ln>
        </p:spPr>
        <p:txBody>
          <a:bodyPr rtlCol="0" anchor="ctr"/>
          <a:lstStyle/>
          <a:p>
            <a:endParaRPr lang="zh-CN" altLang="en-US"/>
          </a:p>
        </p:txBody>
      </p:sp>
      <p:sp>
        <p:nvSpPr>
          <p:cNvPr id="138" name="文本框 137"/>
          <p:cNvSpPr txBox="1"/>
          <p:nvPr/>
        </p:nvSpPr>
        <p:spPr>
          <a:xfrm>
            <a:off x="6208667" y="2783205"/>
            <a:ext cx="1040130" cy="164918"/>
          </a:xfrm>
          <a:prstGeom prst="rect">
            <a:avLst/>
          </a:prstGeom>
          <a:noFill/>
        </p:spPr>
        <p:txBody>
          <a:bodyPr wrap="none" rtlCol="0">
            <a:spAutoFit/>
          </a:bodyPr>
          <a:lstStyle/>
          <a:p>
            <a:pPr algn="l"/>
            <a:r>
              <a:rPr lang="zh-CN" altLang="en-US" sz="1350" b="1" spc="0" baseline="0">
                <a:solidFill>
                  <a:srgbClr val="1565C0"/>
                </a:solidFill>
                <a:latin typeface="宋体"/>
                <a:ea typeface="宋体"/>
                <a:sym typeface="宋体"/>
                <a:rtl val="0"/>
              </a:rPr>
              <a:t>3b. 多类型人员疏散优化</a:t>
            </a:r>
          </a:p>
        </p:txBody>
      </p:sp>
      <p:sp>
        <p:nvSpPr>
          <p:cNvPr id="139" name="文本框 138"/>
          <p:cNvSpPr txBox="1"/>
          <p:nvPr/>
        </p:nvSpPr>
        <p:spPr>
          <a:xfrm>
            <a:off x="6208667" y="2881176"/>
            <a:ext cx="880926" cy="136343"/>
          </a:xfrm>
          <a:prstGeom prst="rect">
            <a:avLst/>
          </a:prstGeom>
          <a:noFill/>
        </p:spPr>
        <p:txBody>
          <a:bodyPr wrap="none" rtlCol="0">
            <a:spAutoFit/>
          </a:bodyPr>
          <a:lstStyle/>
          <a:p>
            <a:pPr algn="l"/>
            <a:r>
              <a:rPr lang="zh-CN" altLang="en-US" sz="825" spc="0" baseline="0">
                <a:solidFill>
                  <a:srgbClr val="888888"/>
                </a:solidFill>
                <a:latin typeface="宋体"/>
                <a:ea typeface="宋体"/>
                <a:sym typeface="宋体"/>
                <a:rtl val="0"/>
              </a:rPr>
              <a:t>Multi-Type Evacuation (Step 11)</a:t>
            </a:r>
          </a:p>
        </p:txBody>
      </p:sp>
      <p:sp>
        <p:nvSpPr>
          <p:cNvPr id="140" name="文本框 139"/>
          <p:cNvSpPr txBox="1"/>
          <p:nvPr/>
        </p:nvSpPr>
        <p:spPr>
          <a:xfrm>
            <a:off x="8413024" y="2803615"/>
            <a:ext cx="440055" cy="148590"/>
          </a:xfrm>
          <a:prstGeom prst="rect">
            <a:avLst/>
          </a:prstGeom>
          <a:noFill/>
        </p:spPr>
        <p:txBody>
          <a:bodyPr wrap="none" rtlCol="0">
            <a:spAutoFit/>
          </a:bodyPr>
          <a:lstStyle/>
          <a:p>
            <a:pPr algn="l"/>
            <a:r>
              <a:rPr lang="zh-CN" altLang="en-US" sz="1050" spc="0" baseline="0">
                <a:solidFill>
                  <a:srgbClr val="1565C0"/>
                </a:solidFill>
                <a:latin typeface="宋体"/>
                <a:ea typeface="宋体"/>
                <a:sym typeface="宋体"/>
                <a:rtl val="0"/>
              </a:rPr>
              <a:t>离心流 →</a:t>
            </a:r>
          </a:p>
        </p:txBody>
      </p:sp>
      <p:sp>
        <p:nvSpPr>
          <p:cNvPr id="141" name="任意形状 140"/>
          <p:cNvSpPr/>
          <p:nvPr/>
        </p:nvSpPr>
        <p:spPr>
          <a:xfrm>
            <a:off x="6320517" y="3028950"/>
            <a:ext cx="1143000" cy="408214"/>
          </a:xfrm>
          <a:custGeom>
            <a:avLst/>
            <a:gdLst>
              <a:gd name="connsiteX0" fmla="*/ 1118507 w 1143000"/>
              <a:gd name="connsiteY0" fmla="*/ 0 h 408214"/>
              <a:gd name="connsiteX1" fmla="*/ 1143000 w 1143000"/>
              <a:gd name="connsiteY1" fmla="*/ 0 h 408214"/>
              <a:gd name="connsiteX2" fmla="*/ 1143000 w 1143000"/>
              <a:gd name="connsiteY2" fmla="*/ 408214 h 408214"/>
              <a:gd name="connsiteX3" fmla="*/ 1118507 w 1143000"/>
              <a:gd name="connsiteY3" fmla="*/ 408214 h 408214"/>
              <a:gd name="connsiteX4" fmla="*/ 24493 w 1143000"/>
              <a:gd name="connsiteY4" fmla="*/ 408214 h 408214"/>
              <a:gd name="connsiteX5" fmla="*/ 0 w 1143000"/>
              <a:gd name="connsiteY5" fmla="*/ 408214 h 408214"/>
              <a:gd name="connsiteX6" fmla="*/ 0 w 1143000"/>
              <a:gd name="connsiteY6" fmla="*/ 0 h 408214"/>
              <a:gd name="connsiteX7" fmla="*/ 24493 w 1143000"/>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3000" h="408214">
                <a:moveTo>
                  <a:pt x="1118507" y="0"/>
                </a:moveTo>
                <a:cubicBezTo>
                  <a:pt x="1132034" y="0"/>
                  <a:pt x="1143000" y="0"/>
                  <a:pt x="1143000" y="0"/>
                </a:cubicBezTo>
                <a:lnTo>
                  <a:pt x="1143000" y="408214"/>
                </a:lnTo>
                <a:cubicBezTo>
                  <a:pt x="1143000" y="408214"/>
                  <a:pt x="1132034" y="408214"/>
                  <a:pt x="1118507"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1976D2"/>
            </a:solidFill>
            <a:prstDash val="solid"/>
            <a:miter/>
          </a:ln>
        </p:spPr>
        <p:txBody>
          <a:bodyPr rtlCol="0" anchor="ctr"/>
          <a:lstStyle/>
          <a:p>
            <a:endParaRPr lang="zh-CN" altLang="en-US"/>
          </a:p>
        </p:txBody>
      </p:sp>
      <p:sp>
        <p:nvSpPr>
          <p:cNvPr id="142" name="文本框 141"/>
          <p:cNvSpPr txBox="1"/>
          <p:nvPr/>
        </p:nvSpPr>
        <p:spPr>
          <a:xfrm>
            <a:off x="6641374" y="3024051"/>
            <a:ext cx="497205" cy="140425"/>
          </a:xfrm>
          <a:prstGeom prst="rect">
            <a:avLst/>
          </a:prstGeom>
          <a:noFill/>
        </p:spPr>
        <p:txBody>
          <a:bodyPr wrap="none" rtlCol="0">
            <a:spAutoFit/>
          </a:bodyPr>
          <a:lstStyle/>
          <a:p>
            <a:pPr algn="l"/>
            <a:r>
              <a:rPr lang="zh-CN" altLang="en-US" sz="900" b="1" spc="0" baseline="0">
                <a:solidFill>
                  <a:srgbClr val="1976D2"/>
                </a:solidFill>
                <a:latin typeface="宋体"/>
                <a:ea typeface="宋体"/>
                <a:sym typeface="宋体"/>
                <a:rtl val="0"/>
              </a:rPr>
              <a:t>三类人群分级</a:t>
            </a:r>
          </a:p>
        </p:txBody>
      </p:sp>
      <p:sp>
        <p:nvSpPr>
          <p:cNvPr id="143" name="任意形状 142"/>
          <p:cNvSpPr/>
          <p:nvPr/>
        </p:nvSpPr>
        <p:spPr>
          <a:xfrm>
            <a:off x="6381750" y="3151414"/>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B71C1C"/>
          </a:solidFill>
          <a:ln w="4082" cap="flat">
            <a:noFill/>
            <a:prstDash val="solid"/>
            <a:miter/>
          </a:ln>
        </p:spPr>
        <p:txBody>
          <a:bodyPr rtlCol="0" anchor="ctr"/>
          <a:lstStyle/>
          <a:p>
            <a:endParaRPr lang="zh-CN" altLang="en-US"/>
          </a:p>
        </p:txBody>
      </p:sp>
      <p:sp>
        <p:nvSpPr>
          <p:cNvPr id="144" name="文本框 143"/>
          <p:cNvSpPr txBox="1"/>
          <p:nvPr/>
        </p:nvSpPr>
        <p:spPr>
          <a:xfrm>
            <a:off x="6363788" y="3113858"/>
            <a:ext cx="75438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k=1 重伤/中毒(ω=10) → 医院</a:t>
            </a:r>
          </a:p>
        </p:txBody>
      </p:sp>
      <p:sp>
        <p:nvSpPr>
          <p:cNvPr id="145" name="任意形状 144"/>
          <p:cNvSpPr/>
          <p:nvPr/>
        </p:nvSpPr>
        <p:spPr>
          <a:xfrm>
            <a:off x="6381750" y="3233057"/>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FF6F00"/>
          </a:solidFill>
          <a:ln w="4082" cap="flat">
            <a:noFill/>
            <a:prstDash val="solid"/>
            <a:miter/>
          </a:ln>
        </p:spPr>
        <p:txBody>
          <a:bodyPr rtlCol="0" anchor="ctr"/>
          <a:lstStyle/>
          <a:p>
            <a:endParaRPr lang="zh-CN" altLang="en-US"/>
          </a:p>
        </p:txBody>
      </p:sp>
      <p:sp>
        <p:nvSpPr>
          <p:cNvPr id="146" name="文本框 145"/>
          <p:cNvSpPr txBox="1"/>
          <p:nvPr/>
        </p:nvSpPr>
        <p:spPr>
          <a:xfrm>
            <a:off x="6363788" y="3195501"/>
            <a:ext cx="876844"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k=2 老人/儿童(ω=5) → 医院/避难所</a:t>
            </a:r>
          </a:p>
        </p:txBody>
      </p:sp>
      <p:sp>
        <p:nvSpPr>
          <p:cNvPr id="147" name="任意形状 146"/>
          <p:cNvSpPr/>
          <p:nvPr/>
        </p:nvSpPr>
        <p:spPr>
          <a:xfrm>
            <a:off x="6381750" y="3314700"/>
            <a:ext cx="48985" cy="48985"/>
          </a:xfrm>
          <a:custGeom>
            <a:avLst/>
            <a:gdLst>
              <a:gd name="connsiteX0" fmla="*/ 40821 w 48985"/>
              <a:gd name="connsiteY0" fmla="*/ 0 h 48985"/>
              <a:gd name="connsiteX1" fmla="*/ 48986 w 48985"/>
              <a:gd name="connsiteY1" fmla="*/ 0 h 48985"/>
              <a:gd name="connsiteX2" fmla="*/ 48986 w 48985"/>
              <a:gd name="connsiteY2" fmla="*/ 48986 h 48985"/>
              <a:gd name="connsiteX3" fmla="*/ 40821 w 48985"/>
              <a:gd name="connsiteY3" fmla="*/ 48986 h 48985"/>
              <a:gd name="connsiteX4" fmla="*/ 8164 w 48985"/>
              <a:gd name="connsiteY4" fmla="*/ 48986 h 48985"/>
              <a:gd name="connsiteX5" fmla="*/ 0 w 48985"/>
              <a:gd name="connsiteY5" fmla="*/ 48986 h 48985"/>
              <a:gd name="connsiteX6" fmla="*/ 0 w 48985"/>
              <a:gd name="connsiteY6" fmla="*/ 0 h 48985"/>
              <a:gd name="connsiteX7" fmla="*/ 8164 w 48985"/>
              <a:gd name="connsiteY7" fmla="*/ 0 h 4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85" h="48985">
                <a:moveTo>
                  <a:pt x="40821" y="0"/>
                </a:moveTo>
                <a:cubicBezTo>
                  <a:pt x="45330" y="0"/>
                  <a:pt x="48986" y="0"/>
                  <a:pt x="48986" y="0"/>
                </a:cubicBezTo>
                <a:lnTo>
                  <a:pt x="48986" y="48986"/>
                </a:lnTo>
                <a:cubicBezTo>
                  <a:pt x="48986" y="48986"/>
                  <a:pt x="45330" y="48986"/>
                  <a:pt x="40821" y="48986"/>
                </a:cubicBezTo>
                <a:lnTo>
                  <a:pt x="8164" y="48986"/>
                </a:lnTo>
                <a:cubicBezTo>
                  <a:pt x="3655" y="48986"/>
                  <a:pt x="0" y="48986"/>
                  <a:pt x="0" y="48986"/>
                </a:cubicBezTo>
                <a:lnTo>
                  <a:pt x="0" y="0"/>
                </a:lnTo>
                <a:cubicBezTo>
                  <a:pt x="0" y="0"/>
                  <a:pt x="3655" y="0"/>
                  <a:pt x="8164" y="0"/>
                </a:cubicBezTo>
                <a:close/>
              </a:path>
            </a:pathLst>
          </a:custGeom>
          <a:solidFill>
            <a:srgbClr val="1976D2"/>
          </a:solidFill>
          <a:ln w="4082" cap="flat">
            <a:noFill/>
            <a:prstDash val="solid"/>
            <a:miter/>
          </a:ln>
        </p:spPr>
        <p:txBody>
          <a:bodyPr rtlCol="0" anchor="ctr"/>
          <a:lstStyle/>
          <a:p>
            <a:endParaRPr lang="zh-CN" altLang="en-US"/>
          </a:p>
        </p:txBody>
      </p:sp>
      <p:sp>
        <p:nvSpPr>
          <p:cNvPr id="148" name="文本框 147"/>
          <p:cNvSpPr txBox="1"/>
          <p:nvPr/>
        </p:nvSpPr>
        <p:spPr>
          <a:xfrm>
            <a:off x="6363788" y="3277144"/>
            <a:ext cx="75438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k=3 一般人员(ω=1) → 避难所</a:t>
            </a:r>
          </a:p>
        </p:txBody>
      </p:sp>
      <p:sp>
        <p:nvSpPr>
          <p:cNvPr id="149" name="文本框 148"/>
          <p:cNvSpPr txBox="1"/>
          <p:nvPr/>
        </p:nvSpPr>
        <p:spPr>
          <a:xfrm>
            <a:off x="6290310" y="3334294"/>
            <a:ext cx="587012" cy="128179"/>
          </a:xfrm>
          <a:prstGeom prst="rect">
            <a:avLst/>
          </a:prstGeom>
          <a:noFill/>
        </p:spPr>
        <p:txBody>
          <a:bodyPr wrap="none" rtlCol="0">
            <a:spAutoFit/>
          </a:bodyPr>
          <a:lstStyle/>
          <a:p>
            <a:pPr algn="l"/>
            <a:r>
              <a:rPr lang="zh-CN" altLang="en-US" sz="675" spc="0" baseline="0">
                <a:solidFill>
                  <a:srgbClr val="999999"/>
                </a:solidFill>
                <a:latin typeface="宋体"/>
                <a:ea typeface="宋体"/>
                <a:sym typeface="宋体"/>
                <a:rtl val="0"/>
              </a:rPr>
              <a:t>百度LBS + 七普年龄比例</a:t>
            </a:r>
          </a:p>
        </p:txBody>
      </p:sp>
      <p:sp>
        <p:nvSpPr>
          <p:cNvPr id="150" name="任意形状 149"/>
          <p:cNvSpPr/>
          <p:nvPr/>
        </p:nvSpPr>
        <p:spPr>
          <a:xfrm>
            <a:off x="7545160" y="3028950"/>
            <a:ext cx="1183821" cy="408214"/>
          </a:xfrm>
          <a:custGeom>
            <a:avLst/>
            <a:gdLst>
              <a:gd name="connsiteX0" fmla="*/ 1159329 w 1183821"/>
              <a:gd name="connsiteY0" fmla="*/ 0 h 408214"/>
              <a:gd name="connsiteX1" fmla="*/ 1183821 w 1183821"/>
              <a:gd name="connsiteY1" fmla="*/ 0 h 408214"/>
              <a:gd name="connsiteX2" fmla="*/ 1183821 w 1183821"/>
              <a:gd name="connsiteY2" fmla="*/ 408214 h 408214"/>
              <a:gd name="connsiteX3" fmla="*/ 1159329 w 1183821"/>
              <a:gd name="connsiteY3" fmla="*/ 408214 h 408214"/>
              <a:gd name="connsiteX4" fmla="*/ 24493 w 1183821"/>
              <a:gd name="connsiteY4" fmla="*/ 408214 h 408214"/>
              <a:gd name="connsiteX5" fmla="*/ 0 w 1183821"/>
              <a:gd name="connsiteY5" fmla="*/ 408214 h 408214"/>
              <a:gd name="connsiteX6" fmla="*/ 0 w 1183821"/>
              <a:gd name="connsiteY6" fmla="*/ 0 h 408214"/>
              <a:gd name="connsiteX7" fmla="*/ 24493 w 11838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821" h="408214">
                <a:moveTo>
                  <a:pt x="1159329" y="0"/>
                </a:moveTo>
                <a:cubicBezTo>
                  <a:pt x="1172856" y="0"/>
                  <a:pt x="1183821" y="0"/>
                  <a:pt x="1183821" y="0"/>
                </a:cubicBezTo>
                <a:lnTo>
                  <a:pt x="1183821" y="408214"/>
                </a:lnTo>
                <a:cubicBezTo>
                  <a:pt x="1183821" y="408214"/>
                  <a:pt x="1172856" y="408214"/>
                  <a:pt x="11593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0D47A1"/>
            </a:solidFill>
            <a:prstDash val="solid"/>
            <a:miter/>
          </a:ln>
        </p:spPr>
        <p:txBody>
          <a:bodyPr rtlCol="0" anchor="ctr"/>
          <a:lstStyle/>
          <a:p>
            <a:endParaRPr lang="zh-CN" altLang="en-US"/>
          </a:p>
        </p:txBody>
      </p:sp>
      <p:sp>
        <p:nvSpPr>
          <p:cNvPr id="151" name="文本框 150"/>
          <p:cNvSpPr txBox="1"/>
          <p:nvPr/>
        </p:nvSpPr>
        <p:spPr>
          <a:xfrm>
            <a:off x="7859893" y="3024051"/>
            <a:ext cx="550272" cy="140425"/>
          </a:xfrm>
          <a:prstGeom prst="rect">
            <a:avLst/>
          </a:prstGeom>
          <a:noFill/>
        </p:spPr>
        <p:txBody>
          <a:bodyPr wrap="none" rtlCol="0">
            <a:spAutoFit/>
          </a:bodyPr>
          <a:lstStyle/>
          <a:p>
            <a:pPr algn="l"/>
            <a:r>
              <a:rPr lang="zh-CN" altLang="en-US" sz="900" b="1" spc="0" baseline="0">
                <a:solidFill>
                  <a:srgbClr val="0D47A1"/>
                </a:solidFill>
                <a:latin typeface="宋体"/>
                <a:ea typeface="宋体"/>
                <a:sym typeface="宋体"/>
                <a:rtl val="0"/>
              </a:rPr>
              <a:t>多模式交通工具</a:t>
            </a:r>
          </a:p>
        </p:txBody>
      </p:sp>
      <p:sp>
        <p:nvSpPr>
          <p:cNvPr id="152" name="文本框 151"/>
          <p:cNvSpPr txBox="1"/>
          <p:nvPr/>
        </p:nvSpPr>
        <p:spPr>
          <a:xfrm>
            <a:off x="7514952" y="3109776"/>
            <a:ext cx="733969"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救护车(15辆) | 公交车(20辆)</a:t>
            </a:r>
          </a:p>
        </p:txBody>
      </p:sp>
      <p:sp>
        <p:nvSpPr>
          <p:cNvPr id="153" name="文本框 152"/>
          <p:cNvSpPr txBox="1"/>
          <p:nvPr/>
        </p:nvSpPr>
        <p:spPr>
          <a:xfrm>
            <a:off x="7514952" y="3175090"/>
            <a:ext cx="75438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直升机(3架) | 地铁(亦庄线等)</a:t>
            </a:r>
          </a:p>
        </p:txBody>
      </p:sp>
      <p:sp>
        <p:nvSpPr>
          <p:cNvPr id="154" name="文本框 153"/>
          <p:cNvSpPr txBox="1"/>
          <p:nvPr/>
        </p:nvSpPr>
        <p:spPr>
          <a:xfrm>
            <a:off x="7514952" y="3240405"/>
            <a:ext cx="75438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私家车(通勤驾车比例动态调整)</a:t>
            </a:r>
          </a:p>
        </p:txBody>
      </p:sp>
      <p:sp>
        <p:nvSpPr>
          <p:cNvPr id="155" name="文本框 154"/>
          <p:cNvSpPr txBox="1"/>
          <p:nvPr/>
        </p:nvSpPr>
        <p:spPr>
          <a:xfrm>
            <a:off x="7514952" y="3309801"/>
            <a:ext cx="550272" cy="128179"/>
          </a:xfrm>
          <a:prstGeom prst="rect">
            <a:avLst/>
          </a:prstGeom>
          <a:noFill/>
        </p:spPr>
        <p:txBody>
          <a:bodyPr wrap="none" rtlCol="0">
            <a:spAutoFit/>
          </a:bodyPr>
          <a:lstStyle/>
          <a:p>
            <a:pPr algn="l"/>
            <a:r>
              <a:rPr lang="zh-CN" altLang="en-US" sz="675" spc="0" baseline="0">
                <a:solidFill>
                  <a:srgbClr val="999999"/>
                </a:solidFill>
                <a:latin typeface="宋体"/>
                <a:ea typeface="宋体"/>
                <a:sym typeface="宋体"/>
                <a:rtl val="0"/>
              </a:rPr>
              <a:t>路网Dijkstra行程时间</a:t>
            </a:r>
          </a:p>
        </p:txBody>
      </p:sp>
      <p:sp>
        <p:nvSpPr>
          <p:cNvPr id="156" name="任意形状 155"/>
          <p:cNvSpPr/>
          <p:nvPr/>
        </p:nvSpPr>
        <p:spPr>
          <a:xfrm>
            <a:off x="7524750" y="3437164"/>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1565C0"/>
            </a:solidFill>
            <a:prstDash val="solid"/>
            <a:miter/>
          </a:ln>
        </p:spPr>
        <p:txBody>
          <a:bodyPr rtlCol="0" anchor="ctr"/>
          <a:lstStyle/>
          <a:p>
            <a:endParaRPr lang="zh-CN" altLang="en-US"/>
          </a:p>
        </p:txBody>
      </p:sp>
      <p:sp>
        <p:nvSpPr>
          <p:cNvPr id="157" name="任意形状 156"/>
          <p:cNvSpPr/>
          <p:nvPr/>
        </p:nvSpPr>
        <p:spPr>
          <a:xfrm>
            <a:off x="6585857" y="3543300"/>
            <a:ext cx="1918607" cy="277585"/>
          </a:xfrm>
          <a:custGeom>
            <a:avLst/>
            <a:gdLst>
              <a:gd name="connsiteX0" fmla="*/ 1894114 w 1918607"/>
              <a:gd name="connsiteY0" fmla="*/ 0 h 277585"/>
              <a:gd name="connsiteX1" fmla="*/ 1918607 w 1918607"/>
              <a:gd name="connsiteY1" fmla="*/ 0 h 277585"/>
              <a:gd name="connsiteX2" fmla="*/ 1918607 w 1918607"/>
              <a:gd name="connsiteY2" fmla="*/ 277586 h 277585"/>
              <a:gd name="connsiteX3" fmla="*/ 1894114 w 1918607"/>
              <a:gd name="connsiteY3" fmla="*/ 277586 h 277585"/>
              <a:gd name="connsiteX4" fmla="*/ 24493 w 1918607"/>
              <a:gd name="connsiteY4" fmla="*/ 277586 h 277585"/>
              <a:gd name="connsiteX5" fmla="*/ 0 w 1918607"/>
              <a:gd name="connsiteY5" fmla="*/ 277586 h 277585"/>
              <a:gd name="connsiteX6" fmla="*/ 0 w 1918607"/>
              <a:gd name="connsiteY6" fmla="*/ 0 h 277585"/>
              <a:gd name="connsiteX7" fmla="*/ 24493 w 1918607"/>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8607" h="277585">
                <a:moveTo>
                  <a:pt x="1894114" y="0"/>
                </a:moveTo>
                <a:cubicBezTo>
                  <a:pt x="1907641" y="0"/>
                  <a:pt x="1918607" y="0"/>
                  <a:pt x="1918607" y="0"/>
                </a:cubicBezTo>
                <a:lnTo>
                  <a:pt x="1918607" y="277586"/>
                </a:lnTo>
                <a:cubicBezTo>
                  <a:pt x="1918607" y="277586"/>
                  <a:pt x="1907641" y="277586"/>
                  <a:pt x="1894114" y="277586"/>
                </a:cubicBezTo>
                <a:lnTo>
                  <a:pt x="24493" y="277586"/>
                </a:lnTo>
                <a:cubicBezTo>
                  <a:pt x="10966" y="277586"/>
                  <a:pt x="0" y="277586"/>
                  <a:pt x="0" y="277586"/>
                </a:cubicBezTo>
                <a:lnTo>
                  <a:pt x="0" y="0"/>
                </a:lnTo>
                <a:cubicBezTo>
                  <a:pt x="0" y="0"/>
                  <a:pt x="10966" y="0"/>
                  <a:pt x="24493" y="0"/>
                </a:cubicBezTo>
                <a:close/>
              </a:path>
            </a:pathLst>
          </a:custGeom>
          <a:solidFill>
            <a:srgbClr val="FFFFFF"/>
          </a:solidFill>
          <a:ln w="4899" cap="flat">
            <a:solidFill>
              <a:srgbClr val="0D47A1"/>
            </a:solidFill>
            <a:prstDash val="solid"/>
            <a:miter/>
          </a:ln>
        </p:spPr>
        <p:txBody>
          <a:bodyPr rtlCol="0" anchor="ctr"/>
          <a:lstStyle/>
          <a:p>
            <a:endParaRPr lang="zh-CN" altLang="en-US"/>
          </a:p>
        </p:txBody>
      </p:sp>
      <p:sp>
        <p:nvSpPr>
          <p:cNvPr id="158" name="文本框 157"/>
          <p:cNvSpPr txBox="1"/>
          <p:nvPr/>
        </p:nvSpPr>
        <p:spPr>
          <a:xfrm>
            <a:off x="7188381" y="3538401"/>
            <a:ext cx="738051" cy="140425"/>
          </a:xfrm>
          <a:prstGeom prst="rect">
            <a:avLst/>
          </a:prstGeom>
          <a:noFill/>
        </p:spPr>
        <p:txBody>
          <a:bodyPr wrap="none" rtlCol="0">
            <a:spAutoFit/>
          </a:bodyPr>
          <a:lstStyle/>
          <a:p>
            <a:pPr algn="l"/>
            <a:r>
              <a:rPr lang="zh-CN" altLang="en-US" sz="900" b="1" spc="0" baseline="0">
                <a:solidFill>
                  <a:srgbClr val="0D47A1"/>
                </a:solidFill>
                <a:latin typeface="宋体"/>
                <a:ea typeface="宋体"/>
                <a:sym typeface="宋体"/>
                <a:rtl val="0"/>
              </a:rPr>
              <a:t>时间步进式调度算法 (Δt=5min, T=180min)</a:t>
            </a:r>
          </a:p>
        </p:txBody>
      </p:sp>
      <p:sp>
        <p:nvSpPr>
          <p:cNvPr id="159" name="文本框 158"/>
          <p:cNvSpPr txBox="1"/>
          <p:nvPr/>
        </p:nvSpPr>
        <p:spPr>
          <a:xfrm>
            <a:off x="6555649" y="3624126"/>
            <a:ext cx="1313633" cy="136343"/>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min Z = Z</a:t>
            </a:r>
            <a:r>
              <a:rPr lang="zh-CN" altLang="en-US" sz="750" spc="0" baseline="0">
                <a:solidFill>
                  <a:srgbClr val="333333"/>
                </a:solidFill>
                <a:latin typeface="Cambria Math"/>
                <a:ea typeface="宋体"/>
                <a:sym typeface="Cambria Math"/>
                <a:rtl val="0"/>
              </a:rPr>
              <a:t>₁</a:t>
            </a:r>
            <a:r>
              <a:rPr lang="zh-CN" altLang="en-US" sz="750" spc="0" baseline="0">
                <a:solidFill>
                  <a:srgbClr val="333333"/>
                </a:solidFill>
                <a:latin typeface="宋体"/>
                <a:ea typeface="宋体"/>
                <a:sym typeface="宋体"/>
                <a:rtl val="0"/>
              </a:rPr>
              <a:t>(加权时间) + Z</a:t>
            </a:r>
            <a:r>
              <a:rPr lang="zh-CN" altLang="en-US" sz="750" spc="0" baseline="0">
                <a:solidFill>
                  <a:srgbClr val="333333"/>
                </a:solidFill>
                <a:latin typeface="Cambria Math"/>
                <a:ea typeface="宋体"/>
                <a:sym typeface="Cambria Math"/>
                <a:rtl val="0"/>
              </a:rPr>
              <a:t>₂</a:t>
            </a:r>
            <a:r>
              <a:rPr lang="zh-CN" altLang="en-US" sz="750" spc="0" baseline="0">
                <a:solidFill>
                  <a:srgbClr val="333333"/>
                </a:solidFill>
                <a:latin typeface="宋体"/>
                <a:ea typeface="宋体"/>
                <a:sym typeface="宋体"/>
                <a:rtl val="0"/>
              </a:rPr>
              <a:t>(动态风险暴露) + Z</a:t>
            </a:r>
            <a:r>
              <a:rPr lang="zh-CN" altLang="en-US" sz="750" spc="0" baseline="0">
                <a:solidFill>
                  <a:srgbClr val="333333"/>
                </a:solidFill>
                <a:latin typeface="Cambria Math"/>
                <a:ea typeface="宋体"/>
                <a:sym typeface="Cambria Math"/>
                <a:rtl val="0"/>
              </a:rPr>
              <a:t>₃</a:t>
            </a:r>
            <a:r>
              <a:rPr lang="zh-CN" altLang="en-US" sz="750" spc="0" baseline="0">
                <a:solidFill>
                  <a:srgbClr val="333333"/>
                </a:solidFill>
                <a:latin typeface="宋体"/>
                <a:ea typeface="宋体"/>
                <a:sym typeface="宋体"/>
                <a:rtl val="0"/>
              </a:rPr>
              <a:t>(未疏散惩罚)</a:t>
            </a:r>
          </a:p>
        </p:txBody>
      </p:sp>
      <p:sp>
        <p:nvSpPr>
          <p:cNvPr id="160" name="文本框 159"/>
          <p:cNvSpPr txBox="1"/>
          <p:nvPr/>
        </p:nvSpPr>
        <p:spPr>
          <a:xfrm>
            <a:off x="6555649" y="3689440"/>
            <a:ext cx="132588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优先级调度 → 实时风险插值 → 车辆分配 → 避难所容量检查</a:t>
            </a:r>
          </a:p>
        </p:txBody>
      </p:sp>
      <p:sp>
        <p:nvSpPr>
          <p:cNvPr id="161" name="任意形状 160"/>
          <p:cNvSpPr/>
          <p:nvPr/>
        </p:nvSpPr>
        <p:spPr>
          <a:xfrm>
            <a:off x="7524750" y="3820885"/>
            <a:ext cx="4082" cy="81642"/>
          </a:xfrm>
          <a:custGeom>
            <a:avLst/>
            <a:gdLst>
              <a:gd name="connsiteX0" fmla="*/ 0 w 4082"/>
              <a:gd name="connsiteY0" fmla="*/ 0 h 81642"/>
              <a:gd name="connsiteX1" fmla="*/ 0 w 4082"/>
              <a:gd name="connsiteY1" fmla="*/ 81643 h 81642"/>
            </a:gdLst>
            <a:ahLst/>
            <a:cxnLst>
              <a:cxn ang="0">
                <a:pos x="connsiteX0" y="connsiteY0"/>
              </a:cxn>
              <a:cxn ang="0">
                <a:pos x="connsiteX1" y="connsiteY1"/>
              </a:cxn>
            </a:cxnLst>
            <a:rect l="l" t="t" r="r" b="b"/>
            <a:pathLst>
              <a:path w="4082" h="81642">
                <a:moveTo>
                  <a:pt x="0" y="0"/>
                </a:moveTo>
                <a:lnTo>
                  <a:pt x="0" y="81643"/>
                </a:lnTo>
              </a:path>
            </a:pathLst>
          </a:custGeom>
          <a:ln w="4899" cap="flat">
            <a:solidFill>
              <a:srgbClr val="1565C0"/>
            </a:solidFill>
            <a:prstDash val="solid"/>
            <a:miter/>
          </a:ln>
        </p:spPr>
        <p:txBody>
          <a:bodyPr rtlCol="0" anchor="ctr"/>
          <a:lstStyle/>
          <a:p>
            <a:endParaRPr lang="zh-CN" altLang="en-US"/>
          </a:p>
        </p:txBody>
      </p:sp>
      <p:sp>
        <p:nvSpPr>
          <p:cNvPr id="162" name="任意形状 161"/>
          <p:cNvSpPr/>
          <p:nvPr/>
        </p:nvSpPr>
        <p:spPr>
          <a:xfrm>
            <a:off x="6320517" y="3927021"/>
            <a:ext cx="2408464" cy="306160"/>
          </a:xfrm>
          <a:custGeom>
            <a:avLst/>
            <a:gdLst>
              <a:gd name="connsiteX0" fmla="*/ 2383972 w 2408464"/>
              <a:gd name="connsiteY0" fmla="*/ 0 h 306160"/>
              <a:gd name="connsiteX1" fmla="*/ 2408464 w 2408464"/>
              <a:gd name="connsiteY1" fmla="*/ 0 h 306160"/>
              <a:gd name="connsiteX2" fmla="*/ 2408464 w 2408464"/>
              <a:gd name="connsiteY2" fmla="*/ 306161 h 306160"/>
              <a:gd name="connsiteX3" fmla="*/ 2383972 w 2408464"/>
              <a:gd name="connsiteY3" fmla="*/ 306161 h 306160"/>
              <a:gd name="connsiteX4" fmla="*/ 24493 w 2408464"/>
              <a:gd name="connsiteY4" fmla="*/ 306161 h 306160"/>
              <a:gd name="connsiteX5" fmla="*/ 0 w 2408464"/>
              <a:gd name="connsiteY5" fmla="*/ 306161 h 306160"/>
              <a:gd name="connsiteX6" fmla="*/ 0 w 2408464"/>
              <a:gd name="connsiteY6" fmla="*/ 0 h 306160"/>
              <a:gd name="connsiteX7" fmla="*/ 24493 w 2408464"/>
              <a:gd name="connsiteY7" fmla="*/ 0 h 30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8464" h="306160">
                <a:moveTo>
                  <a:pt x="2383972" y="0"/>
                </a:moveTo>
                <a:cubicBezTo>
                  <a:pt x="2397499" y="0"/>
                  <a:pt x="2408464" y="0"/>
                  <a:pt x="2408464" y="0"/>
                </a:cubicBezTo>
                <a:lnTo>
                  <a:pt x="2408464" y="306161"/>
                </a:lnTo>
                <a:cubicBezTo>
                  <a:pt x="2408464" y="306161"/>
                  <a:pt x="2397499" y="306161"/>
                  <a:pt x="2383972" y="306161"/>
                </a:cubicBezTo>
                <a:lnTo>
                  <a:pt x="24493" y="306161"/>
                </a:lnTo>
                <a:cubicBezTo>
                  <a:pt x="10966" y="306161"/>
                  <a:pt x="0" y="306161"/>
                  <a:pt x="0" y="306161"/>
                </a:cubicBezTo>
                <a:lnTo>
                  <a:pt x="0" y="0"/>
                </a:lnTo>
                <a:cubicBezTo>
                  <a:pt x="0" y="0"/>
                  <a:pt x="10966" y="0"/>
                  <a:pt x="24493" y="0"/>
                </a:cubicBezTo>
                <a:close/>
              </a:path>
            </a:pathLst>
          </a:custGeom>
          <a:solidFill>
            <a:srgbClr val="BBDEFB"/>
          </a:solidFill>
          <a:ln w="6123" cap="flat">
            <a:solidFill>
              <a:srgbClr val="1565C0"/>
            </a:solidFill>
            <a:prstDash val="solid"/>
            <a:miter/>
          </a:ln>
        </p:spPr>
        <p:txBody>
          <a:bodyPr rtlCol="0" anchor="ctr"/>
          <a:lstStyle/>
          <a:p>
            <a:endParaRPr lang="zh-CN" altLang="en-US"/>
          </a:p>
        </p:txBody>
      </p:sp>
      <p:sp>
        <p:nvSpPr>
          <p:cNvPr id="163" name="文本框 162"/>
          <p:cNvSpPr txBox="1"/>
          <p:nvPr/>
        </p:nvSpPr>
        <p:spPr>
          <a:xfrm>
            <a:off x="7327174" y="3930287"/>
            <a:ext cx="391069" cy="140425"/>
          </a:xfrm>
          <a:prstGeom prst="rect">
            <a:avLst/>
          </a:prstGeom>
          <a:noFill/>
        </p:spPr>
        <p:txBody>
          <a:bodyPr wrap="none" rtlCol="0">
            <a:spAutoFit/>
          </a:bodyPr>
          <a:lstStyle/>
          <a:p>
            <a:pPr algn="l"/>
            <a:r>
              <a:rPr lang="zh-CN" altLang="en-US" sz="900" b="1" spc="0" baseline="0">
                <a:solidFill>
                  <a:srgbClr val="0D47A1"/>
                </a:solidFill>
                <a:latin typeface="宋体"/>
                <a:ea typeface="宋体"/>
                <a:sym typeface="宋体"/>
                <a:rtl val="0"/>
              </a:rPr>
              <a:t>关键结果</a:t>
            </a:r>
          </a:p>
        </p:txBody>
      </p:sp>
      <p:sp>
        <p:nvSpPr>
          <p:cNvPr id="164" name="文本框 163"/>
          <p:cNvSpPr txBox="1"/>
          <p:nvPr/>
        </p:nvSpPr>
        <p:spPr>
          <a:xfrm>
            <a:off x="6290310" y="3995601"/>
            <a:ext cx="1317715" cy="152672"/>
          </a:xfrm>
          <a:prstGeom prst="rect">
            <a:avLst/>
          </a:prstGeom>
          <a:noFill/>
        </p:spPr>
        <p:txBody>
          <a:bodyPr wrap="none" rtlCol="0">
            <a:spAutoFit/>
          </a:bodyPr>
          <a:lstStyle/>
          <a:p>
            <a:pPr algn="l"/>
            <a:r>
              <a:rPr lang="zh-CN" altLang="en-US" sz="825" spc="0" baseline="0">
                <a:solidFill>
                  <a:srgbClr val="333333"/>
                </a:solidFill>
                <a:latin typeface="Segoe UI Symbol"/>
                <a:sym typeface="Segoe UI Symbol"/>
                <a:rtl val="0"/>
              </a:rPr>
              <a:t>✓</a:t>
            </a:r>
            <a:r>
              <a:rPr lang="zh-CN" altLang="en-US" sz="825" spc="0" baseline="0">
                <a:solidFill>
                  <a:srgbClr val="333333"/>
                </a:solidFill>
                <a:latin typeface="宋体"/>
                <a:ea typeface="宋体"/>
                <a:sym typeface="宋体"/>
                <a:rtl val="0"/>
              </a:rPr>
              <a:t> 基准方案疏散21,312人(9.1%) | 地铁贡献69%疏散能力</a:t>
            </a:r>
          </a:p>
        </p:txBody>
      </p:sp>
      <p:sp>
        <p:nvSpPr>
          <p:cNvPr id="165" name="文本框 164"/>
          <p:cNvSpPr txBox="1"/>
          <p:nvPr/>
        </p:nvSpPr>
        <p:spPr>
          <a:xfrm>
            <a:off x="6290310" y="4069080"/>
            <a:ext cx="1338126" cy="152672"/>
          </a:xfrm>
          <a:prstGeom prst="rect">
            <a:avLst/>
          </a:prstGeom>
          <a:noFill/>
        </p:spPr>
        <p:txBody>
          <a:bodyPr wrap="none" rtlCol="0">
            <a:spAutoFit/>
          </a:bodyPr>
          <a:lstStyle/>
          <a:p>
            <a:pPr algn="l"/>
            <a:r>
              <a:rPr lang="zh-CN" altLang="en-US" sz="825" spc="0" baseline="0">
                <a:solidFill>
                  <a:srgbClr val="333333"/>
                </a:solidFill>
                <a:latin typeface="Segoe UI Symbol"/>
                <a:sym typeface="Segoe UI Symbol"/>
                <a:rtl val="0"/>
              </a:rPr>
              <a:t>✓</a:t>
            </a:r>
            <a:r>
              <a:rPr lang="zh-CN" altLang="en-US" sz="825" spc="0" baseline="0">
                <a:solidFill>
                  <a:srgbClr val="333333"/>
                </a:solidFill>
                <a:latin typeface="宋体"/>
                <a:ea typeface="宋体"/>
                <a:sym typeface="宋体"/>
                <a:rtl val="0"/>
              </a:rPr>
              <a:t> 无地铁方案骤降至2.8% | 直升机降低重伤人员风险暴露</a:t>
            </a:r>
          </a:p>
        </p:txBody>
      </p:sp>
      <p:sp>
        <p:nvSpPr>
          <p:cNvPr id="166" name="文本框 165"/>
          <p:cNvSpPr txBox="1"/>
          <p:nvPr/>
        </p:nvSpPr>
        <p:spPr>
          <a:xfrm>
            <a:off x="6290310" y="4146640"/>
            <a:ext cx="938076" cy="128179"/>
          </a:xfrm>
          <a:prstGeom prst="rect">
            <a:avLst/>
          </a:prstGeom>
          <a:noFill/>
        </p:spPr>
        <p:txBody>
          <a:bodyPr wrap="none" rtlCol="0">
            <a:spAutoFit/>
          </a:bodyPr>
          <a:lstStyle/>
          <a:p>
            <a:pPr algn="l"/>
            <a:r>
              <a:rPr lang="zh-CN" altLang="en-US" sz="675" i="1" spc="0" baseline="0">
                <a:solidFill>
                  <a:srgbClr val="1565C0"/>
                </a:solidFill>
                <a:latin typeface="宋体"/>
                <a:ea typeface="宋体"/>
                <a:sym typeface="宋体"/>
                <a:rtl val="0"/>
              </a:rPr>
              <a:t>方案对比: 基准/无地铁/无直升机/加倍救护车</a:t>
            </a:r>
          </a:p>
        </p:txBody>
      </p:sp>
      <p:sp>
        <p:nvSpPr>
          <p:cNvPr id="167" name="任意形状 166"/>
          <p:cNvSpPr/>
          <p:nvPr/>
        </p:nvSpPr>
        <p:spPr>
          <a:xfrm>
            <a:off x="5973535" y="3265714"/>
            <a:ext cx="244928" cy="4082"/>
          </a:xfrm>
          <a:custGeom>
            <a:avLst/>
            <a:gdLst>
              <a:gd name="connsiteX0" fmla="*/ 0 w 244928"/>
              <a:gd name="connsiteY0" fmla="*/ 0 h 4082"/>
              <a:gd name="connsiteX1" fmla="*/ 244929 w 244928"/>
              <a:gd name="connsiteY1" fmla="*/ 0 h 4082"/>
            </a:gdLst>
            <a:ahLst/>
            <a:cxnLst>
              <a:cxn ang="0">
                <a:pos x="connsiteX0" y="connsiteY0"/>
              </a:cxn>
              <a:cxn ang="0">
                <a:pos x="connsiteX1" y="connsiteY1"/>
              </a:cxn>
            </a:cxnLst>
            <a:rect l="l" t="t" r="r" b="b"/>
            <a:pathLst>
              <a:path w="244928" h="4082">
                <a:moveTo>
                  <a:pt x="0" y="0"/>
                </a:moveTo>
                <a:lnTo>
                  <a:pt x="244929" y="0"/>
                </a:lnTo>
              </a:path>
            </a:pathLst>
          </a:custGeom>
          <a:ln w="6123" cap="flat">
            <a:solidFill>
              <a:srgbClr val="FF6F00"/>
            </a:solidFill>
            <a:custDash>
              <a:ds d="375000" sp="225000"/>
            </a:custDash>
            <a:miter/>
          </a:ln>
        </p:spPr>
        <p:txBody>
          <a:bodyPr rtlCol="0" anchor="ctr"/>
          <a:lstStyle/>
          <a:p>
            <a:endParaRPr lang="zh-CN" altLang="en-US"/>
          </a:p>
        </p:txBody>
      </p:sp>
      <p:sp>
        <p:nvSpPr>
          <p:cNvPr id="168" name="任意形状 167"/>
          <p:cNvSpPr/>
          <p:nvPr/>
        </p:nvSpPr>
        <p:spPr>
          <a:xfrm>
            <a:off x="5973535" y="3388178"/>
            <a:ext cx="244928" cy="4082"/>
          </a:xfrm>
          <a:custGeom>
            <a:avLst/>
            <a:gdLst>
              <a:gd name="connsiteX0" fmla="*/ 244929 w 244928"/>
              <a:gd name="connsiteY0" fmla="*/ 0 h 4082"/>
              <a:gd name="connsiteX1" fmla="*/ 0 w 244928"/>
              <a:gd name="connsiteY1" fmla="*/ 0 h 4082"/>
            </a:gdLst>
            <a:ahLst/>
            <a:cxnLst>
              <a:cxn ang="0">
                <a:pos x="connsiteX0" y="connsiteY0"/>
              </a:cxn>
              <a:cxn ang="0">
                <a:pos x="connsiteX1" y="connsiteY1"/>
              </a:cxn>
            </a:cxnLst>
            <a:rect l="l" t="t" r="r" b="b"/>
            <a:pathLst>
              <a:path w="244928" h="4082">
                <a:moveTo>
                  <a:pt x="244929" y="0"/>
                </a:moveTo>
                <a:lnTo>
                  <a:pt x="0" y="0"/>
                </a:lnTo>
              </a:path>
            </a:pathLst>
          </a:custGeom>
          <a:ln w="6123" cap="flat">
            <a:solidFill>
              <a:srgbClr val="FF6F00"/>
            </a:solidFill>
            <a:custDash>
              <a:ds d="375000" sp="225000"/>
            </a:custDash>
            <a:miter/>
          </a:ln>
        </p:spPr>
        <p:txBody>
          <a:bodyPr rtlCol="0" anchor="ctr"/>
          <a:lstStyle/>
          <a:p>
            <a:endParaRPr lang="zh-CN" altLang="en-US"/>
          </a:p>
        </p:txBody>
      </p:sp>
      <p:sp>
        <p:nvSpPr>
          <p:cNvPr id="169" name="文本框 168"/>
          <p:cNvSpPr txBox="1"/>
          <p:nvPr/>
        </p:nvSpPr>
        <p:spPr>
          <a:xfrm rot="16200000">
            <a:off x="5951492" y="3489415"/>
            <a:ext cx="260440" cy="128179"/>
          </a:xfrm>
          <a:prstGeom prst="rect">
            <a:avLst/>
          </a:prstGeom>
          <a:noFill/>
        </p:spPr>
        <p:txBody>
          <a:bodyPr wrap="none" rtlCol="0">
            <a:spAutoFit/>
          </a:bodyPr>
          <a:lstStyle/>
          <a:p>
            <a:pPr algn="l"/>
            <a:r>
              <a:rPr lang="zh-CN" altLang="en-US" sz="675" b="1" spc="0" baseline="0">
                <a:solidFill>
                  <a:srgbClr val="FF6F00"/>
                </a:solidFill>
                <a:latin typeface="宋体"/>
                <a:ea typeface="宋体"/>
                <a:sym typeface="宋体"/>
                <a:rtl val="0"/>
              </a:rPr>
              <a:t>耦合</a:t>
            </a:r>
          </a:p>
        </p:txBody>
      </p:sp>
      <p:sp>
        <p:nvSpPr>
          <p:cNvPr id="170" name="任意形状 169"/>
          <p:cNvSpPr/>
          <p:nvPr/>
        </p:nvSpPr>
        <p:spPr>
          <a:xfrm>
            <a:off x="4667250" y="4563835"/>
            <a:ext cx="4082" cy="122464"/>
          </a:xfrm>
          <a:custGeom>
            <a:avLst/>
            <a:gdLst>
              <a:gd name="connsiteX0" fmla="*/ 0 w 4082"/>
              <a:gd name="connsiteY0" fmla="*/ 0 h 122464"/>
              <a:gd name="connsiteX1" fmla="*/ 0 w 4082"/>
              <a:gd name="connsiteY1" fmla="*/ 122464 h 122464"/>
            </a:gdLst>
            <a:ahLst/>
            <a:cxnLst>
              <a:cxn ang="0">
                <a:pos x="connsiteX0" y="connsiteY0"/>
              </a:cxn>
              <a:cxn ang="0">
                <a:pos x="connsiteX1" y="connsiteY1"/>
              </a:cxn>
            </a:cxnLst>
            <a:rect l="l" t="t" r="r" b="b"/>
            <a:pathLst>
              <a:path w="4082" h="122464">
                <a:moveTo>
                  <a:pt x="0" y="0"/>
                </a:moveTo>
                <a:lnTo>
                  <a:pt x="0" y="122464"/>
                </a:lnTo>
              </a:path>
            </a:pathLst>
          </a:custGeom>
          <a:ln w="6123" cap="flat">
            <a:solidFill>
              <a:srgbClr val="C62828"/>
            </a:solidFill>
            <a:prstDash val="solid"/>
            <a:miter/>
          </a:ln>
        </p:spPr>
        <p:txBody>
          <a:bodyPr rtlCol="0" anchor="ctr"/>
          <a:lstStyle/>
          <a:p>
            <a:endParaRPr lang="zh-CN" altLang="en-US"/>
          </a:p>
        </p:txBody>
      </p:sp>
      <p:sp>
        <p:nvSpPr>
          <p:cNvPr id="171" name="任意形状 170"/>
          <p:cNvSpPr/>
          <p:nvPr/>
        </p:nvSpPr>
        <p:spPr>
          <a:xfrm>
            <a:off x="7524750" y="4563835"/>
            <a:ext cx="4082" cy="122464"/>
          </a:xfrm>
          <a:custGeom>
            <a:avLst/>
            <a:gdLst>
              <a:gd name="connsiteX0" fmla="*/ 0 w 4082"/>
              <a:gd name="connsiteY0" fmla="*/ 0 h 122464"/>
              <a:gd name="connsiteX1" fmla="*/ 0 w 4082"/>
              <a:gd name="connsiteY1" fmla="*/ 122464 h 122464"/>
            </a:gdLst>
            <a:ahLst/>
            <a:cxnLst>
              <a:cxn ang="0">
                <a:pos x="connsiteX0" y="connsiteY0"/>
              </a:cxn>
              <a:cxn ang="0">
                <a:pos x="connsiteX1" y="connsiteY1"/>
              </a:cxn>
            </a:cxnLst>
            <a:rect l="l" t="t" r="r" b="b"/>
            <a:pathLst>
              <a:path w="4082" h="122464">
                <a:moveTo>
                  <a:pt x="0" y="0"/>
                </a:moveTo>
                <a:lnTo>
                  <a:pt x="0" y="122464"/>
                </a:lnTo>
              </a:path>
            </a:pathLst>
          </a:custGeom>
          <a:ln w="6123" cap="flat">
            <a:solidFill>
              <a:srgbClr val="1565C0"/>
            </a:solidFill>
            <a:prstDash val="solid"/>
            <a:miter/>
          </a:ln>
        </p:spPr>
        <p:txBody>
          <a:bodyPr rtlCol="0" anchor="ctr"/>
          <a:lstStyle/>
          <a:p>
            <a:endParaRPr lang="zh-CN" altLang="en-US"/>
          </a:p>
        </p:txBody>
      </p:sp>
      <p:sp>
        <p:nvSpPr>
          <p:cNvPr id="172" name="任意形状 171"/>
          <p:cNvSpPr/>
          <p:nvPr/>
        </p:nvSpPr>
        <p:spPr>
          <a:xfrm>
            <a:off x="3360964" y="4714875"/>
            <a:ext cx="5470071" cy="938892"/>
          </a:xfrm>
          <a:custGeom>
            <a:avLst/>
            <a:gdLst>
              <a:gd name="connsiteX0" fmla="*/ 5437415 w 5470071"/>
              <a:gd name="connsiteY0" fmla="*/ 0 h 938892"/>
              <a:gd name="connsiteX1" fmla="*/ 5470072 w 5470071"/>
              <a:gd name="connsiteY1" fmla="*/ 0 h 938892"/>
              <a:gd name="connsiteX2" fmla="*/ 5470072 w 5470071"/>
              <a:gd name="connsiteY2" fmla="*/ 938893 h 938892"/>
              <a:gd name="connsiteX3" fmla="*/ 5437415 w 5470071"/>
              <a:gd name="connsiteY3" fmla="*/ 938893 h 938892"/>
              <a:gd name="connsiteX4" fmla="*/ 32657 w 5470071"/>
              <a:gd name="connsiteY4" fmla="*/ 938893 h 938892"/>
              <a:gd name="connsiteX5" fmla="*/ 0 w 5470071"/>
              <a:gd name="connsiteY5" fmla="*/ 938893 h 938892"/>
              <a:gd name="connsiteX6" fmla="*/ 0 w 5470071"/>
              <a:gd name="connsiteY6" fmla="*/ 0 h 938892"/>
              <a:gd name="connsiteX7" fmla="*/ 32657 w 5470071"/>
              <a:gd name="connsiteY7" fmla="*/ 0 h 93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70071" h="938892">
                <a:moveTo>
                  <a:pt x="5437415" y="0"/>
                </a:moveTo>
                <a:cubicBezTo>
                  <a:pt x="5455451" y="0"/>
                  <a:pt x="5470072" y="0"/>
                  <a:pt x="5470072" y="0"/>
                </a:cubicBezTo>
                <a:lnTo>
                  <a:pt x="5470072" y="938893"/>
                </a:lnTo>
                <a:cubicBezTo>
                  <a:pt x="5470072" y="938893"/>
                  <a:pt x="5455451" y="938893"/>
                  <a:pt x="5437415" y="938893"/>
                </a:cubicBezTo>
                <a:lnTo>
                  <a:pt x="32657" y="938893"/>
                </a:lnTo>
                <a:cubicBezTo>
                  <a:pt x="14621" y="938893"/>
                  <a:pt x="0" y="938893"/>
                  <a:pt x="0" y="938893"/>
                </a:cubicBezTo>
                <a:lnTo>
                  <a:pt x="0" y="0"/>
                </a:lnTo>
                <a:cubicBezTo>
                  <a:pt x="0" y="0"/>
                  <a:pt x="14621" y="0"/>
                  <a:pt x="32657" y="0"/>
                </a:cubicBezTo>
                <a:close/>
              </a:path>
            </a:pathLst>
          </a:custGeom>
          <a:solidFill>
            <a:srgbClr val="E8F5E9"/>
          </a:solidFill>
          <a:ln w="6123" cap="flat">
            <a:solidFill>
              <a:srgbClr val="2E7D32"/>
            </a:solidFill>
            <a:prstDash val="solid"/>
            <a:miter/>
          </a:ln>
        </p:spPr>
        <p:txBody>
          <a:bodyPr rtlCol="0" anchor="ctr"/>
          <a:lstStyle/>
          <a:p>
            <a:endParaRPr lang="zh-CN" altLang="en-US"/>
          </a:p>
        </p:txBody>
      </p:sp>
      <p:sp>
        <p:nvSpPr>
          <p:cNvPr id="173" name="文本框 172"/>
          <p:cNvSpPr txBox="1"/>
          <p:nvPr/>
        </p:nvSpPr>
        <p:spPr>
          <a:xfrm>
            <a:off x="3351167" y="4730387"/>
            <a:ext cx="999308" cy="164918"/>
          </a:xfrm>
          <a:prstGeom prst="rect">
            <a:avLst/>
          </a:prstGeom>
          <a:noFill/>
        </p:spPr>
        <p:txBody>
          <a:bodyPr wrap="none" rtlCol="0">
            <a:spAutoFit/>
          </a:bodyPr>
          <a:lstStyle/>
          <a:p>
            <a:pPr algn="l"/>
            <a:r>
              <a:rPr lang="zh-CN" altLang="en-US" sz="1350" b="1" spc="0" baseline="0">
                <a:solidFill>
                  <a:srgbClr val="2E7D32"/>
                </a:solidFill>
                <a:latin typeface="宋体"/>
                <a:ea typeface="宋体"/>
                <a:sym typeface="宋体"/>
                <a:rtl val="0"/>
              </a:rPr>
              <a:t>4. 韧性评估与综合分析</a:t>
            </a:r>
          </a:p>
        </p:txBody>
      </p:sp>
      <p:sp>
        <p:nvSpPr>
          <p:cNvPr id="174" name="文本框 173"/>
          <p:cNvSpPr txBox="1"/>
          <p:nvPr/>
        </p:nvSpPr>
        <p:spPr>
          <a:xfrm>
            <a:off x="3351167" y="4836522"/>
            <a:ext cx="1444262" cy="136343"/>
          </a:xfrm>
          <a:prstGeom prst="rect">
            <a:avLst/>
          </a:prstGeom>
          <a:noFill/>
        </p:spPr>
        <p:txBody>
          <a:bodyPr wrap="none" rtlCol="0">
            <a:spAutoFit/>
          </a:bodyPr>
          <a:lstStyle/>
          <a:p>
            <a:pPr algn="l"/>
            <a:r>
              <a:rPr lang="zh-CN" altLang="en-US" sz="825" spc="0" baseline="0">
                <a:solidFill>
                  <a:srgbClr val="888888"/>
                </a:solidFill>
                <a:latin typeface="宋体"/>
                <a:ea typeface="宋体"/>
                <a:sym typeface="宋体"/>
                <a:rtl val="0"/>
              </a:rPr>
              <a:t>Resilience Assessment &amp; Comprehensive Analysis (Step 12)</a:t>
            </a:r>
          </a:p>
        </p:txBody>
      </p:sp>
      <p:sp>
        <p:nvSpPr>
          <p:cNvPr id="175" name="任意形状 174"/>
          <p:cNvSpPr/>
          <p:nvPr/>
        </p:nvSpPr>
        <p:spPr>
          <a:xfrm>
            <a:off x="3463017" y="4988378"/>
            <a:ext cx="1551214" cy="408214"/>
          </a:xfrm>
          <a:custGeom>
            <a:avLst/>
            <a:gdLst>
              <a:gd name="connsiteX0" fmla="*/ 1526721 w 1551214"/>
              <a:gd name="connsiteY0" fmla="*/ 0 h 408214"/>
              <a:gd name="connsiteX1" fmla="*/ 1551214 w 1551214"/>
              <a:gd name="connsiteY1" fmla="*/ 0 h 408214"/>
              <a:gd name="connsiteX2" fmla="*/ 1551214 w 1551214"/>
              <a:gd name="connsiteY2" fmla="*/ 408214 h 408214"/>
              <a:gd name="connsiteX3" fmla="*/ 1526721 w 1551214"/>
              <a:gd name="connsiteY3" fmla="*/ 408214 h 408214"/>
              <a:gd name="connsiteX4" fmla="*/ 24493 w 1551214"/>
              <a:gd name="connsiteY4" fmla="*/ 408214 h 408214"/>
              <a:gd name="connsiteX5" fmla="*/ 0 w 1551214"/>
              <a:gd name="connsiteY5" fmla="*/ 408214 h 408214"/>
              <a:gd name="connsiteX6" fmla="*/ 0 w 1551214"/>
              <a:gd name="connsiteY6" fmla="*/ 0 h 408214"/>
              <a:gd name="connsiteX7" fmla="*/ 24493 w 1551214"/>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1214" h="408214">
                <a:moveTo>
                  <a:pt x="1526721" y="0"/>
                </a:moveTo>
                <a:cubicBezTo>
                  <a:pt x="1540249" y="0"/>
                  <a:pt x="1551214" y="0"/>
                  <a:pt x="1551214" y="0"/>
                </a:cubicBezTo>
                <a:lnTo>
                  <a:pt x="1551214" y="408214"/>
                </a:lnTo>
                <a:cubicBezTo>
                  <a:pt x="1551214" y="408214"/>
                  <a:pt x="1540249" y="408214"/>
                  <a:pt x="1526721"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388E3C"/>
            </a:solidFill>
            <a:prstDash val="solid"/>
            <a:miter/>
          </a:ln>
        </p:spPr>
        <p:txBody>
          <a:bodyPr rtlCol="0" anchor="ctr"/>
          <a:lstStyle/>
          <a:p>
            <a:endParaRPr lang="zh-CN" altLang="en-US"/>
          </a:p>
        </p:txBody>
      </p:sp>
      <p:sp>
        <p:nvSpPr>
          <p:cNvPr id="176" name="文本框 175"/>
          <p:cNvSpPr txBox="1"/>
          <p:nvPr/>
        </p:nvSpPr>
        <p:spPr>
          <a:xfrm>
            <a:off x="3934913" y="4991644"/>
            <a:ext cx="603340" cy="140425"/>
          </a:xfrm>
          <a:prstGeom prst="rect">
            <a:avLst/>
          </a:prstGeom>
          <a:noFill/>
        </p:spPr>
        <p:txBody>
          <a:bodyPr wrap="none" rtlCol="0">
            <a:spAutoFit/>
          </a:bodyPr>
          <a:lstStyle/>
          <a:p>
            <a:pPr algn="l"/>
            <a:r>
              <a:rPr lang="zh-CN" altLang="en-US" sz="900" b="1" spc="0" baseline="0">
                <a:solidFill>
                  <a:srgbClr val="2E7D32"/>
                </a:solidFill>
                <a:latin typeface="宋体"/>
                <a:ea typeface="宋体"/>
                <a:sym typeface="宋体"/>
                <a:rtl val="0"/>
              </a:rPr>
              <a:t>三维韧性评估框架</a:t>
            </a:r>
          </a:p>
        </p:txBody>
      </p:sp>
      <p:sp>
        <p:nvSpPr>
          <p:cNvPr id="177" name="任意形状 176"/>
          <p:cNvSpPr/>
          <p:nvPr/>
        </p:nvSpPr>
        <p:spPr>
          <a:xfrm>
            <a:off x="3871232" y="5143500"/>
            <a:ext cx="163285" cy="163285"/>
          </a:xfrm>
          <a:custGeom>
            <a:avLst/>
            <a:gdLst>
              <a:gd name="connsiteX0" fmla="*/ 0 w 163285"/>
              <a:gd name="connsiteY0" fmla="*/ 81643 h 163285"/>
              <a:gd name="connsiteX1" fmla="*/ 163286 w 163285"/>
              <a:gd name="connsiteY1" fmla="*/ 0 h 163285"/>
              <a:gd name="connsiteX2" fmla="*/ 163286 w 163285"/>
              <a:gd name="connsiteY2" fmla="*/ 163286 h 163285"/>
            </a:gdLst>
            <a:ahLst/>
            <a:cxnLst>
              <a:cxn ang="0">
                <a:pos x="connsiteX0" y="connsiteY0"/>
              </a:cxn>
              <a:cxn ang="0">
                <a:pos x="connsiteX1" y="connsiteY1"/>
              </a:cxn>
              <a:cxn ang="0">
                <a:pos x="connsiteX2" y="connsiteY2"/>
              </a:cxn>
            </a:cxnLst>
            <a:rect l="l" t="t" r="r" b="b"/>
            <a:pathLst>
              <a:path w="163285" h="163285">
                <a:moveTo>
                  <a:pt x="0" y="81643"/>
                </a:moveTo>
                <a:lnTo>
                  <a:pt x="163286" y="0"/>
                </a:lnTo>
                <a:lnTo>
                  <a:pt x="163286" y="163286"/>
                </a:lnTo>
                <a:close/>
              </a:path>
            </a:pathLst>
          </a:custGeom>
          <a:solidFill>
            <a:srgbClr val="C8E6C9">
              <a:alpha val="60000"/>
            </a:srgbClr>
          </a:solidFill>
          <a:ln w="4082" cap="flat">
            <a:solidFill>
              <a:srgbClr val="2E7D32">
                <a:alpha val="60000"/>
              </a:srgbClr>
            </a:solidFill>
            <a:prstDash val="solid"/>
            <a:miter/>
          </a:ln>
        </p:spPr>
        <p:txBody>
          <a:bodyPr rtlCol="0" anchor="ctr"/>
          <a:lstStyle/>
          <a:p>
            <a:endParaRPr lang="zh-CN" altLang="en-US"/>
          </a:p>
        </p:txBody>
      </p:sp>
      <p:sp>
        <p:nvSpPr>
          <p:cNvPr id="178" name="任意形状 177"/>
          <p:cNvSpPr/>
          <p:nvPr/>
        </p:nvSpPr>
        <p:spPr>
          <a:xfrm>
            <a:off x="3850821" y="5123089"/>
            <a:ext cx="204107" cy="204107"/>
          </a:xfrm>
          <a:custGeom>
            <a:avLst/>
            <a:gdLst>
              <a:gd name="connsiteX0" fmla="*/ 204107 w 204107"/>
              <a:gd name="connsiteY0" fmla="*/ 102054 h 204107"/>
              <a:gd name="connsiteX1" fmla="*/ 102054 w 204107"/>
              <a:gd name="connsiteY1" fmla="*/ 204107 h 204107"/>
              <a:gd name="connsiteX2" fmla="*/ 0 w 204107"/>
              <a:gd name="connsiteY2" fmla="*/ 102054 h 204107"/>
              <a:gd name="connsiteX3" fmla="*/ 102054 w 204107"/>
              <a:gd name="connsiteY3" fmla="*/ 0 h 204107"/>
              <a:gd name="connsiteX4" fmla="*/ 204107 w 204107"/>
              <a:gd name="connsiteY4" fmla="*/ 102054 h 2041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107" h="204107">
                <a:moveTo>
                  <a:pt x="204107" y="102054"/>
                </a:moveTo>
                <a:cubicBezTo>
                  <a:pt x="204107" y="158416"/>
                  <a:pt x="158416" y="204107"/>
                  <a:pt x="102054" y="204107"/>
                </a:cubicBezTo>
                <a:cubicBezTo>
                  <a:pt x="45691" y="204107"/>
                  <a:pt x="0" y="158416"/>
                  <a:pt x="0" y="102054"/>
                </a:cubicBezTo>
                <a:cubicBezTo>
                  <a:pt x="0" y="45691"/>
                  <a:pt x="45691" y="0"/>
                  <a:pt x="102054" y="0"/>
                </a:cubicBezTo>
                <a:cubicBezTo>
                  <a:pt x="158416" y="0"/>
                  <a:pt x="204107" y="45691"/>
                  <a:pt x="204107" y="102054"/>
                </a:cubicBezTo>
                <a:close/>
              </a:path>
            </a:pathLst>
          </a:custGeom>
          <a:noFill/>
          <a:ln w="3266" cap="flat">
            <a:solidFill>
              <a:srgbClr val="A5D6A7"/>
            </a:solidFill>
            <a:custDash>
              <a:ds d="225000" sp="150000"/>
            </a:custDash>
            <a:miter/>
          </a:ln>
        </p:spPr>
        <p:txBody>
          <a:bodyPr rtlCol="0" anchor="ctr"/>
          <a:lstStyle/>
          <a:p>
            <a:endParaRPr lang="zh-CN" altLang="en-US"/>
          </a:p>
        </p:txBody>
      </p:sp>
      <p:sp>
        <p:nvSpPr>
          <p:cNvPr id="179" name="任意形状 178"/>
          <p:cNvSpPr/>
          <p:nvPr/>
        </p:nvSpPr>
        <p:spPr>
          <a:xfrm>
            <a:off x="3891642" y="5163910"/>
            <a:ext cx="122464" cy="122464"/>
          </a:xfrm>
          <a:custGeom>
            <a:avLst/>
            <a:gdLst>
              <a:gd name="connsiteX0" fmla="*/ 122464 w 122464"/>
              <a:gd name="connsiteY0" fmla="*/ 61232 h 122464"/>
              <a:gd name="connsiteX1" fmla="*/ 61232 w 122464"/>
              <a:gd name="connsiteY1" fmla="*/ 122464 h 122464"/>
              <a:gd name="connsiteX2" fmla="*/ 0 w 122464"/>
              <a:gd name="connsiteY2" fmla="*/ 61232 h 122464"/>
              <a:gd name="connsiteX3" fmla="*/ 61232 w 122464"/>
              <a:gd name="connsiteY3" fmla="*/ 0 h 122464"/>
              <a:gd name="connsiteX4" fmla="*/ 122464 w 122464"/>
              <a:gd name="connsiteY4" fmla="*/ 61232 h 122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64" h="122464">
                <a:moveTo>
                  <a:pt x="122464" y="61232"/>
                </a:moveTo>
                <a:cubicBezTo>
                  <a:pt x="122464" y="95050"/>
                  <a:pt x="95050" y="122464"/>
                  <a:pt x="61232" y="122464"/>
                </a:cubicBezTo>
                <a:cubicBezTo>
                  <a:pt x="27415" y="122464"/>
                  <a:pt x="0" y="95050"/>
                  <a:pt x="0" y="61232"/>
                </a:cubicBezTo>
                <a:cubicBezTo>
                  <a:pt x="0" y="27414"/>
                  <a:pt x="27415" y="0"/>
                  <a:pt x="61232" y="0"/>
                </a:cubicBezTo>
                <a:cubicBezTo>
                  <a:pt x="95050" y="0"/>
                  <a:pt x="122464" y="27414"/>
                  <a:pt x="122464" y="61232"/>
                </a:cubicBezTo>
                <a:close/>
              </a:path>
            </a:pathLst>
          </a:custGeom>
          <a:noFill/>
          <a:ln w="3266" cap="flat">
            <a:solidFill>
              <a:srgbClr val="A5D6A7"/>
            </a:solidFill>
            <a:custDash>
              <a:ds d="225000" sp="150000"/>
            </a:custDash>
            <a:miter/>
          </a:ln>
        </p:spPr>
        <p:txBody>
          <a:bodyPr rtlCol="0" anchor="ctr"/>
          <a:lstStyle/>
          <a:p>
            <a:endParaRPr lang="zh-CN" altLang="en-US"/>
          </a:p>
        </p:txBody>
      </p:sp>
      <p:sp>
        <p:nvSpPr>
          <p:cNvPr id="180" name="文本框 179"/>
          <p:cNvSpPr txBox="1"/>
          <p:nvPr/>
        </p:nvSpPr>
        <p:spPr>
          <a:xfrm>
            <a:off x="3828777" y="5028383"/>
            <a:ext cx="248194" cy="124097"/>
          </a:xfrm>
          <a:prstGeom prst="rect">
            <a:avLst/>
          </a:prstGeom>
          <a:noFill/>
        </p:spPr>
        <p:txBody>
          <a:bodyPr wrap="none" rtlCol="0">
            <a:spAutoFit/>
          </a:bodyPr>
          <a:lstStyle/>
          <a:p>
            <a:pPr algn="l"/>
            <a:r>
              <a:rPr lang="zh-CN" altLang="en-US" sz="600" spc="0" baseline="0">
                <a:solidFill>
                  <a:srgbClr val="2E7D32"/>
                </a:solidFill>
                <a:latin typeface="宋体"/>
                <a:ea typeface="宋体"/>
                <a:sym typeface="宋体"/>
                <a:rtl val="0"/>
              </a:rPr>
              <a:t>结构</a:t>
            </a:r>
          </a:p>
        </p:txBody>
      </p:sp>
      <p:sp>
        <p:nvSpPr>
          <p:cNvPr id="181" name="文本框 180"/>
          <p:cNvSpPr txBox="1"/>
          <p:nvPr/>
        </p:nvSpPr>
        <p:spPr>
          <a:xfrm>
            <a:off x="3706313" y="5232490"/>
            <a:ext cx="248194" cy="124097"/>
          </a:xfrm>
          <a:prstGeom prst="rect">
            <a:avLst/>
          </a:prstGeom>
          <a:noFill/>
        </p:spPr>
        <p:txBody>
          <a:bodyPr wrap="none" rtlCol="0">
            <a:spAutoFit/>
          </a:bodyPr>
          <a:lstStyle/>
          <a:p>
            <a:pPr algn="l"/>
            <a:r>
              <a:rPr lang="zh-CN" altLang="en-US" sz="600" spc="0" baseline="0">
                <a:solidFill>
                  <a:srgbClr val="2E7D32"/>
                </a:solidFill>
                <a:latin typeface="宋体"/>
                <a:ea typeface="宋体"/>
                <a:sym typeface="宋体"/>
                <a:rtl val="0"/>
              </a:rPr>
              <a:t>功能</a:t>
            </a:r>
          </a:p>
        </p:txBody>
      </p:sp>
      <p:sp>
        <p:nvSpPr>
          <p:cNvPr id="182" name="文本框 181"/>
          <p:cNvSpPr txBox="1"/>
          <p:nvPr/>
        </p:nvSpPr>
        <p:spPr>
          <a:xfrm>
            <a:off x="3951242" y="5232490"/>
            <a:ext cx="248194" cy="124097"/>
          </a:xfrm>
          <a:prstGeom prst="rect">
            <a:avLst/>
          </a:prstGeom>
          <a:noFill/>
        </p:spPr>
        <p:txBody>
          <a:bodyPr wrap="none" rtlCol="0">
            <a:spAutoFit/>
          </a:bodyPr>
          <a:lstStyle/>
          <a:p>
            <a:pPr algn="l"/>
            <a:r>
              <a:rPr lang="zh-CN" altLang="en-US" sz="600" spc="0" baseline="0">
                <a:solidFill>
                  <a:srgbClr val="2E7D32"/>
                </a:solidFill>
                <a:latin typeface="宋体"/>
                <a:ea typeface="宋体"/>
                <a:sym typeface="宋体"/>
                <a:rtl val="0"/>
              </a:rPr>
              <a:t>适应</a:t>
            </a:r>
          </a:p>
        </p:txBody>
      </p:sp>
      <p:sp>
        <p:nvSpPr>
          <p:cNvPr id="183" name="文本框 182"/>
          <p:cNvSpPr txBox="1"/>
          <p:nvPr/>
        </p:nvSpPr>
        <p:spPr>
          <a:xfrm>
            <a:off x="4085952" y="5093697"/>
            <a:ext cx="69314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结构韧性: 路网封闭率19.1%</a:t>
            </a:r>
          </a:p>
        </p:txBody>
      </p:sp>
      <p:sp>
        <p:nvSpPr>
          <p:cNvPr id="184" name="文本框 183"/>
          <p:cNvSpPr txBox="1"/>
          <p:nvPr/>
        </p:nvSpPr>
        <p:spPr>
          <a:xfrm>
            <a:off x="4085952" y="5167176"/>
            <a:ext cx="774790"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功能韧性: 物资100% | 疏散9.1%</a:t>
            </a:r>
          </a:p>
        </p:txBody>
      </p:sp>
      <p:sp>
        <p:nvSpPr>
          <p:cNvPr id="185" name="文本框 184"/>
          <p:cNvSpPr txBox="1"/>
          <p:nvPr/>
        </p:nvSpPr>
        <p:spPr>
          <a:xfrm>
            <a:off x="4085952" y="5240655"/>
            <a:ext cx="693147"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适应韧性: 无人机改善16.3%</a:t>
            </a:r>
          </a:p>
        </p:txBody>
      </p:sp>
      <p:sp>
        <p:nvSpPr>
          <p:cNvPr id="186" name="任意形状 185"/>
          <p:cNvSpPr/>
          <p:nvPr/>
        </p:nvSpPr>
        <p:spPr>
          <a:xfrm>
            <a:off x="5116285" y="4988378"/>
            <a:ext cx="1755321" cy="408214"/>
          </a:xfrm>
          <a:custGeom>
            <a:avLst/>
            <a:gdLst>
              <a:gd name="connsiteX0" fmla="*/ 1730829 w 1755321"/>
              <a:gd name="connsiteY0" fmla="*/ 0 h 408214"/>
              <a:gd name="connsiteX1" fmla="*/ 1755321 w 1755321"/>
              <a:gd name="connsiteY1" fmla="*/ 0 h 408214"/>
              <a:gd name="connsiteX2" fmla="*/ 1755321 w 1755321"/>
              <a:gd name="connsiteY2" fmla="*/ 408214 h 408214"/>
              <a:gd name="connsiteX3" fmla="*/ 1730829 w 1755321"/>
              <a:gd name="connsiteY3" fmla="*/ 408214 h 408214"/>
              <a:gd name="connsiteX4" fmla="*/ 24493 w 1755321"/>
              <a:gd name="connsiteY4" fmla="*/ 408214 h 408214"/>
              <a:gd name="connsiteX5" fmla="*/ 0 w 1755321"/>
              <a:gd name="connsiteY5" fmla="*/ 408214 h 408214"/>
              <a:gd name="connsiteX6" fmla="*/ 0 w 1755321"/>
              <a:gd name="connsiteY6" fmla="*/ 0 h 408214"/>
              <a:gd name="connsiteX7" fmla="*/ 24493 w 17553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5321" h="408214">
                <a:moveTo>
                  <a:pt x="1730829" y="0"/>
                </a:moveTo>
                <a:cubicBezTo>
                  <a:pt x="1744356" y="0"/>
                  <a:pt x="1755321" y="0"/>
                  <a:pt x="1755321" y="0"/>
                </a:cubicBezTo>
                <a:lnTo>
                  <a:pt x="1755321" y="408214"/>
                </a:lnTo>
                <a:cubicBezTo>
                  <a:pt x="1755321" y="408214"/>
                  <a:pt x="1744356" y="408214"/>
                  <a:pt x="17308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1B5E20"/>
            </a:solidFill>
            <a:prstDash val="solid"/>
            <a:miter/>
          </a:ln>
        </p:spPr>
        <p:txBody>
          <a:bodyPr rtlCol="0" anchor="ctr"/>
          <a:lstStyle/>
          <a:p>
            <a:endParaRPr lang="zh-CN" altLang="en-US"/>
          </a:p>
        </p:txBody>
      </p:sp>
      <p:sp>
        <p:nvSpPr>
          <p:cNvPr id="187" name="文本框 186"/>
          <p:cNvSpPr txBox="1"/>
          <p:nvPr/>
        </p:nvSpPr>
        <p:spPr>
          <a:xfrm>
            <a:off x="5610633" y="4991644"/>
            <a:ext cx="762544" cy="140425"/>
          </a:xfrm>
          <a:prstGeom prst="rect">
            <a:avLst/>
          </a:prstGeom>
          <a:noFill/>
        </p:spPr>
        <p:txBody>
          <a:bodyPr wrap="none" rtlCol="0">
            <a:spAutoFit/>
          </a:bodyPr>
          <a:lstStyle/>
          <a:p>
            <a:pPr algn="l"/>
            <a:r>
              <a:rPr lang="zh-CN" altLang="en-US" sz="900" b="1" spc="0" baseline="0">
                <a:solidFill>
                  <a:srgbClr val="1B5E20"/>
                </a:solidFill>
                <a:latin typeface="宋体"/>
                <a:ea typeface="宋体"/>
                <a:sym typeface="宋体"/>
                <a:rtl val="0"/>
              </a:rPr>
              <a:t>核心发现: 不对称韧性特征</a:t>
            </a:r>
          </a:p>
        </p:txBody>
      </p:sp>
      <p:sp>
        <p:nvSpPr>
          <p:cNvPr id="188" name="文本框 187"/>
          <p:cNvSpPr txBox="1"/>
          <p:nvPr/>
        </p:nvSpPr>
        <p:spPr>
          <a:xfrm>
            <a:off x="5086077" y="5093697"/>
            <a:ext cx="1109526" cy="136343"/>
          </a:xfrm>
          <a:prstGeom prst="rect">
            <a:avLst/>
          </a:prstGeom>
          <a:noFill/>
        </p:spPr>
        <p:txBody>
          <a:bodyPr wrap="none" rtlCol="0">
            <a:spAutoFit/>
          </a:bodyPr>
          <a:lstStyle/>
          <a:p>
            <a:pPr algn="l"/>
            <a:r>
              <a:rPr lang="zh-CN" altLang="en-US" sz="825" spc="0" baseline="0">
                <a:solidFill>
                  <a:srgbClr val="333333"/>
                </a:solidFill>
                <a:latin typeface="宋体"/>
                <a:ea typeface="宋体"/>
                <a:sym typeface="宋体"/>
                <a:rtl val="0"/>
              </a:rPr>
              <a:t>• 物资配送: 高韧性(100%完成, 30min内送达)</a:t>
            </a:r>
          </a:p>
        </p:txBody>
      </p:sp>
      <p:sp>
        <p:nvSpPr>
          <p:cNvPr id="189" name="文本框 188"/>
          <p:cNvSpPr txBox="1"/>
          <p:nvPr/>
        </p:nvSpPr>
        <p:spPr>
          <a:xfrm>
            <a:off x="5086077" y="5167176"/>
            <a:ext cx="1129937" cy="136343"/>
          </a:xfrm>
          <a:prstGeom prst="rect">
            <a:avLst/>
          </a:prstGeom>
          <a:noFill/>
        </p:spPr>
        <p:txBody>
          <a:bodyPr wrap="none" rtlCol="0">
            <a:spAutoFit/>
          </a:bodyPr>
          <a:lstStyle/>
          <a:p>
            <a:pPr algn="l"/>
            <a:r>
              <a:rPr lang="zh-CN" altLang="en-US" sz="825" spc="0" baseline="0">
                <a:solidFill>
                  <a:srgbClr val="333333"/>
                </a:solidFill>
                <a:latin typeface="宋体"/>
                <a:ea typeface="宋体"/>
                <a:sym typeface="宋体"/>
                <a:rtl val="0"/>
              </a:rPr>
              <a:t>• 人员疏散: 脆弱性(9.1%完成, 运力严重不足)</a:t>
            </a:r>
          </a:p>
        </p:txBody>
      </p:sp>
      <p:sp>
        <p:nvSpPr>
          <p:cNvPr id="190" name="文本框 189"/>
          <p:cNvSpPr txBox="1"/>
          <p:nvPr/>
        </p:nvSpPr>
        <p:spPr>
          <a:xfrm>
            <a:off x="5086077" y="5240655"/>
            <a:ext cx="1040130" cy="136343"/>
          </a:xfrm>
          <a:prstGeom prst="rect">
            <a:avLst/>
          </a:prstGeom>
          <a:noFill/>
        </p:spPr>
        <p:txBody>
          <a:bodyPr wrap="none" rtlCol="0">
            <a:spAutoFit/>
          </a:bodyPr>
          <a:lstStyle/>
          <a:p>
            <a:pPr algn="l"/>
            <a:r>
              <a:rPr lang="zh-CN" altLang="en-US" sz="825" spc="0" baseline="0">
                <a:solidFill>
                  <a:srgbClr val="333333"/>
                </a:solidFill>
                <a:latin typeface="宋体"/>
                <a:ea typeface="宋体"/>
                <a:sym typeface="宋体"/>
                <a:rtl val="0"/>
              </a:rPr>
              <a:t>• 根源: 任务规模差异(40项 vs 23.5万人)</a:t>
            </a:r>
          </a:p>
        </p:txBody>
      </p:sp>
      <p:sp>
        <p:nvSpPr>
          <p:cNvPr id="191" name="任意形状 190"/>
          <p:cNvSpPr/>
          <p:nvPr/>
        </p:nvSpPr>
        <p:spPr>
          <a:xfrm>
            <a:off x="6973660" y="4988378"/>
            <a:ext cx="1755321" cy="408214"/>
          </a:xfrm>
          <a:custGeom>
            <a:avLst/>
            <a:gdLst>
              <a:gd name="connsiteX0" fmla="*/ 1730829 w 1755321"/>
              <a:gd name="connsiteY0" fmla="*/ 0 h 408214"/>
              <a:gd name="connsiteX1" fmla="*/ 1755321 w 1755321"/>
              <a:gd name="connsiteY1" fmla="*/ 0 h 408214"/>
              <a:gd name="connsiteX2" fmla="*/ 1755321 w 1755321"/>
              <a:gd name="connsiteY2" fmla="*/ 408214 h 408214"/>
              <a:gd name="connsiteX3" fmla="*/ 1730829 w 1755321"/>
              <a:gd name="connsiteY3" fmla="*/ 408214 h 408214"/>
              <a:gd name="connsiteX4" fmla="*/ 24493 w 1755321"/>
              <a:gd name="connsiteY4" fmla="*/ 408214 h 408214"/>
              <a:gd name="connsiteX5" fmla="*/ 0 w 1755321"/>
              <a:gd name="connsiteY5" fmla="*/ 408214 h 408214"/>
              <a:gd name="connsiteX6" fmla="*/ 0 w 1755321"/>
              <a:gd name="connsiteY6" fmla="*/ 0 h 408214"/>
              <a:gd name="connsiteX7" fmla="*/ 24493 w 1755321"/>
              <a:gd name="connsiteY7" fmla="*/ 0 h 408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5321" h="408214">
                <a:moveTo>
                  <a:pt x="1730829" y="0"/>
                </a:moveTo>
                <a:cubicBezTo>
                  <a:pt x="1744356" y="0"/>
                  <a:pt x="1755321" y="0"/>
                  <a:pt x="1755321" y="0"/>
                </a:cubicBezTo>
                <a:lnTo>
                  <a:pt x="1755321" y="408214"/>
                </a:lnTo>
                <a:cubicBezTo>
                  <a:pt x="1755321" y="408214"/>
                  <a:pt x="1744356" y="408214"/>
                  <a:pt x="1730829" y="408214"/>
                </a:cubicBezTo>
                <a:lnTo>
                  <a:pt x="24493" y="408214"/>
                </a:lnTo>
                <a:cubicBezTo>
                  <a:pt x="10966" y="408214"/>
                  <a:pt x="0" y="408214"/>
                  <a:pt x="0" y="408214"/>
                </a:cubicBezTo>
                <a:lnTo>
                  <a:pt x="0" y="0"/>
                </a:lnTo>
                <a:cubicBezTo>
                  <a:pt x="0" y="0"/>
                  <a:pt x="10966" y="0"/>
                  <a:pt x="24493" y="0"/>
                </a:cubicBezTo>
                <a:close/>
              </a:path>
            </a:pathLst>
          </a:custGeom>
          <a:solidFill>
            <a:srgbClr val="FFFFFF"/>
          </a:solidFill>
          <a:ln w="4899" cap="flat">
            <a:solidFill>
              <a:srgbClr val="33691E"/>
            </a:solidFill>
            <a:prstDash val="solid"/>
            <a:miter/>
          </a:ln>
        </p:spPr>
        <p:txBody>
          <a:bodyPr rtlCol="0" anchor="ctr"/>
          <a:lstStyle/>
          <a:p>
            <a:endParaRPr lang="zh-CN" altLang="en-US"/>
          </a:p>
        </p:txBody>
      </p:sp>
      <p:sp>
        <p:nvSpPr>
          <p:cNvPr id="192" name="文本框 191"/>
          <p:cNvSpPr txBox="1"/>
          <p:nvPr/>
        </p:nvSpPr>
        <p:spPr>
          <a:xfrm>
            <a:off x="7653745" y="4991644"/>
            <a:ext cx="391069" cy="140425"/>
          </a:xfrm>
          <a:prstGeom prst="rect">
            <a:avLst/>
          </a:prstGeom>
          <a:noFill/>
        </p:spPr>
        <p:txBody>
          <a:bodyPr wrap="none" rtlCol="0">
            <a:spAutoFit/>
          </a:bodyPr>
          <a:lstStyle/>
          <a:p>
            <a:pPr algn="l"/>
            <a:r>
              <a:rPr lang="zh-CN" altLang="en-US" sz="900" b="1" spc="0" baseline="0">
                <a:solidFill>
                  <a:srgbClr val="33691E"/>
                </a:solidFill>
                <a:latin typeface="宋体"/>
                <a:ea typeface="宋体"/>
                <a:sym typeface="宋体"/>
                <a:rtl val="0"/>
              </a:rPr>
              <a:t>政策建议</a:t>
            </a:r>
          </a:p>
        </p:txBody>
      </p:sp>
      <p:sp>
        <p:nvSpPr>
          <p:cNvPr id="193" name="文本框 192"/>
          <p:cNvSpPr txBox="1"/>
          <p:nvPr/>
        </p:nvSpPr>
        <p:spPr>
          <a:xfrm>
            <a:off x="6943452" y="5093697"/>
            <a:ext cx="836022"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① 地铁应急预案(贡献69%疏散能力)</a:t>
            </a:r>
          </a:p>
        </p:txBody>
      </p:sp>
      <p:sp>
        <p:nvSpPr>
          <p:cNvPr id="194" name="文本框 193"/>
          <p:cNvSpPr txBox="1"/>
          <p:nvPr/>
        </p:nvSpPr>
        <p:spPr>
          <a:xfrm>
            <a:off x="6943452" y="5167176"/>
            <a:ext cx="917665"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② 分层疏散: 核心区强制+外围就地避难</a:t>
            </a:r>
          </a:p>
        </p:txBody>
      </p:sp>
      <p:sp>
        <p:nvSpPr>
          <p:cNvPr id="195" name="文本框 194"/>
          <p:cNvSpPr txBox="1"/>
          <p:nvPr/>
        </p:nvSpPr>
        <p:spPr>
          <a:xfrm>
            <a:off x="6943452" y="5240655"/>
            <a:ext cx="856433" cy="132261"/>
          </a:xfrm>
          <a:prstGeom prst="rect">
            <a:avLst/>
          </a:prstGeom>
          <a:noFill/>
        </p:spPr>
        <p:txBody>
          <a:bodyPr wrap="none" rtlCol="0">
            <a:spAutoFit/>
          </a:bodyPr>
          <a:lstStyle/>
          <a:p>
            <a:pPr algn="l"/>
            <a:r>
              <a:rPr lang="zh-CN" altLang="en-US" sz="750" spc="0" baseline="0">
                <a:solidFill>
                  <a:srgbClr val="333333"/>
                </a:solidFill>
                <a:latin typeface="宋体"/>
                <a:ea typeface="宋体"/>
                <a:sym typeface="宋体"/>
                <a:rtl val="0"/>
              </a:rPr>
              <a:t>③ 无人机基础设施 ④ 实时气象融合</a:t>
            </a:r>
          </a:p>
        </p:txBody>
      </p:sp>
      <p:sp>
        <p:nvSpPr>
          <p:cNvPr id="196" name="任意形状 195"/>
          <p:cNvSpPr/>
          <p:nvPr/>
        </p:nvSpPr>
        <p:spPr>
          <a:xfrm>
            <a:off x="3463017" y="5470071"/>
            <a:ext cx="5265964" cy="122464"/>
          </a:xfrm>
          <a:custGeom>
            <a:avLst/>
            <a:gdLst>
              <a:gd name="connsiteX0" fmla="*/ 5241472 w 5265964"/>
              <a:gd name="connsiteY0" fmla="*/ 0 h 122464"/>
              <a:gd name="connsiteX1" fmla="*/ 5265965 w 5265964"/>
              <a:gd name="connsiteY1" fmla="*/ 0 h 122464"/>
              <a:gd name="connsiteX2" fmla="*/ 5265965 w 5265964"/>
              <a:gd name="connsiteY2" fmla="*/ 122464 h 122464"/>
              <a:gd name="connsiteX3" fmla="*/ 5241472 w 5265964"/>
              <a:gd name="connsiteY3" fmla="*/ 122464 h 122464"/>
              <a:gd name="connsiteX4" fmla="*/ 24493 w 5265964"/>
              <a:gd name="connsiteY4" fmla="*/ 122464 h 122464"/>
              <a:gd name="connsiteX5" fmla="*/ 0 w 5265964"/>
              <a:gd name="connsiteY5" fmla="*/ 122464 h 122464"/>
              <a:gd name="connsiteX6" fmla="*/ 0 w 5265964"/>
              <a:gd name="connsiteY6" fmla="*/ 0 h 122464"/>
              <a:gd name="connsiteX7" fmla="*/ 24493 w 5265964"/>
              <a:gd name="connsiteY7" fmla="*/ 0 h 12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5964" h="122464">
                <a:moveTo>
                  <a:pt x="5241472" y="0"/>
                </a:moveTo>
                <a:cubicBezTo>
                  <a:pt x="5254999" y="0"/>
                  <a:pt x="5265965" y="0"/>
                  <a:pt x="5265965" y="0"/>
                </a:cubicBezTo>
                <a:lnTo>
                  <a:pt x="5265965" y="122464"/>
                </a:lnTo>
                <a:cubicBezTo>
                  <a:pt x="5265965" y="122464"/>
                  <a:pt x="5254999" y="122464"/>
                  <a:pt x="5241472" y="122464"/>
                </a:cubicBezTo>
                <a:lnTo>
                  <a:pt x="24493" y="122464"/>
                </a:lnTo>
                <a:cubicBezTo>
                  <a:pt x="10966" y="122464"/>
                  <a:pt x="0" y="122464"/>
                  <a:pt x="0" y="122464"/>
                </a:cubicBezTo>
                <a:lnTo>
                  <a:pt x="0" y="0"/>
                </a:lnTo>
                <a:cubicBezTo>
                  <a:pt x="0" y="0"/>
                  <a:pt x="10966" y="0"/>
                  <a:pt x="24493" y="0"/>
                </a:cubicBezTo>
                <a:close/>
              </a:path>
            </a:pathLst>
          </a:custGeom>
          <a:solidFill>
            <a:srgbClr val="2E7D32"/>
          </a:solidFill>
          <a:ln w="4082" cap="flat">
            <a:noFill/>
            <a:prstDash val="solid"/>
            <a:miter/>
          </a:ln>
        </p:spPr>
        <p:txBody>
          <a:bodyPr rtlCol="0" anchor="ctr"/>
          <a:lstStyle/>
          <a:p>
            <a:endParaRPr lang="zh-CN" altLang="en-US"/>
          </a:p>
        </p:txBody>
      </p:sp>
      <p:sp>
        <p:nvSpPr>
          <p:cNvPr id="197" name="文本框 196"/>
          <p:cNvSpPr txBox="1"/>
          <p:nvPr/>
        </p:nvSpPr>
        <p:spPr>
          <a:xfrm>
            <a:off x="4975860" y="5465172"/>
            <a:ext cx="2236197" cy="144507"/>
          </a:xfrm>
          <a:prstGeom prst="rect">
            <a:avLst/>
          </a:prstGeom>
          <a:noFill/>
        </p:spPr>
        <p:txBody>
          <a:bodyPr wrap="none" rtlCol="0">
            <a:spAutoFit/>
          </a:bodyPr>
          <a:lstStyle/>
          <a:p>
            <a:pPr algn="l"/>
            <a:r>
              <a:rPr lang="zh-CN" altLang="en-US" sz="975" b="1" spc="0" baseline="0">
                <a:solidFill>
                  <a:srgbClr val="FFFFFF"/>
                </a:solidFill>
                <a:latin typeface="宋体"/>
                <a:ea typeface="宋体"/>
                <a:sym typeface="宋体"/>
                <a:rtl val="0"/>
              </a:rPr>
              <a:t>双策略方案: 1km核心区强制疏散 + 1-3km警戒区就地避难配发防护 → 将疏散需求降至可管理水平</a:t>
            </a:r>
          </a:p>
        </p:txBody>
      </p:sp>
      <p:sp>
        <p:nvSpPr>
          <p:cNvPr id="198" name="文本框 197"/>
          <p:cNvSpPr txBox="1"/>
          <p:nvPr/>
        </p:nvSpPr>
        <p:spPr>
          <a:xfrm>
            <a:off x="5833110" y="5706019"/>
            <a:ext cx="521697" cy="144507"/>
          </a:xfrm>
          <a:prstGeom prst="rect">
            <a:avLst/>
          </a:prstGeom>
          <a:noFill/>
        </p:spPr>
        <p:txBody>
          <a:bodyPr wrap="none" rtlCol="0">
            <a:spAutoFit/>
          </a:bodyPr>
          <a:lstStyle/>
          <a:p>
            <a:pPr algn="l"/>
            <a:r>
              <a:rPr lang="zh-CN" altLang="en-US" sz="975" b="1" spc="0" baseline="0">
                <a:solidFill>
                  <a:srgbClr val="333333"/>
                </a:solidFill>
                <a:latin typeface="宋体"/>
                <a:ea typeface="宋体"/>
                <a:sym typeface="宋体"/>
                <a:rtl val="0"/>
              </a:rPr>
              <a:t>图X　技术路线图</a:t>
            </a:r>
          </a:p>
        </p:txBody>
      </p:sp>
      <p:sp>
        <p:nvSpPr>
          <p:cNvPr id="199" name="文本框 198"/>
          <p:cNvSpPr txBox="1"/>
          <p:nvPr/>
        </p:nvSpPr>
        <p:spPr>
          <a:xfrm>
            <a:off x="5151392" y="5795826"/>
            <a:ext cx="1889215" cy="136343"/>
          </a:xfrm>
          <a:prstGeom prst="rect">
            <a:avLst/>
          </a:prstGeom>
          <a:noFill/>
        </p:spPr>
        <p:txBody>
          <a:bodyPr wrap="none" rtlCol="0">
            <a:spAutoFit/>
          </a:bodyPr>
          <a:lstStyle/>
          <a:p>
            <a:pPr algn="l"/>
            <a:r>
              <a:rPr lang="zh-CN" altLang="en-US" sz="825" spc="0" baseline="0">
                <a:solidFill>
                  <a:srgbClr val="555555"/>
                </a:solidFill>
                <a:latin typeface="宋体"/>
                <a:ea typeface="宋体"/>
                <a:sym typeface="宋体"/>
                <a:rtl val="0"/>
              </a:rPr>
              <a:t>城市快速路危险品车辆事故场景下的应急物资配送与多类型人员救援疏散协同优化研究</a:t>
            </a:r>
          </a:p>
        </p:txBody>
      </p:sp>
      <p:sp>
        <p:nvSpPr>
          <p:cNvPr id="200" name="文本框 199"/>
          <p:cNvSpPr txBox="1"/>
          <p:nvPr/>
        </p:nvSpPr>
        <p:spPr>
          <a:xfrm>
            <a:off x="4712561" y="5869305"/>
            <a:ext cx="2766876" cy="136343"/>
          </a:xfrm>
          <a:prstGeom prst="rect">
            <a:avLst/>
          </a:prstGeom>
          <a:noFill/>
        </p:spPr>
        <p:txBody>
          <a:bodyPr wrap="none" rtlCol="0">
            <a:spAutoFit/>
          </a:bodyPr>
          <a:lstStyle/>
          <a:p>
            <a:pPr algn="l"/>
            <a:r>
              <a:rPr lang="zh-CN" altLang="en-US" sz="825" i="1" spc="0" baseline="0">
                <a:solidFill>
                  <a:srgbClr val="555555"/>
                </a:solidFill>
                <a:latin typeface="宋体"/>
                <a:ea typeface="宋体"/>
                <a:sym typeface="宋体"/>
                <a:rtl val="0"/>
              </a:rPr>
              <a:t>Fig. X Technical roadmap for coordinated emergency supply delivery and multi-type personnel evacuation optimization</a:t>
            </a:r>
          </a:p>
        </p:txBody>
      </p:sp>
      <p:sp>
        <p:nvSpPr>
          <p:cNvPr id="201" name="文本框 200"/>
          <p:cNvSpPr txBox="1"/>
          <p:nvPr/>
        </p:nvSpPr>
        <p:spPr>
          <a:xfrm>
            <a:off x="5386115" y="5942783"/>
            <a:ext cx="1419769" cy="136343"/>
          </a:xfrm>
          <a:prstGeom prst="rect">
            <a:avLst/>
          </a:prstGeom>
          <a:noFill/>
        </p:spPr>
        <p:txBody>
          <a:bodyPr wrap="none" rtlCol="0">
            <a:spAutoFit/>
          </a:bodyPr>
          <a:lstStyle/>
          <a:p>
            <a:pPr algn="l"/>
            <a:r>
              <a:rPr lang="zh-CN" altLang="en-US" sz="825" i="1" spc="0" baseline="0">
                <a:solidFill>
                  <a:srgbClr val="555555"/>
                </a:solidFill>
                <a:latin typeface="宋体"/>
                <a:ea typeface="宋体"/>
                <a:sym typeface="宋体"/>
                <a:rtl val="0"/>
              </a:rPr>
              <a:t>under hazardous material incidents on urban expressways</a:t>
            </a:r>
          </a:p>
        </p:txBody>
      </p:sp>
      <p:sp>
        <p:nvSpPr>
          <p:cNvPr id="202" name="任意形状 201"/>
          <p:cNvSpPr/>
          <p:nvPr/>
        </p:nvSpPr>
        <p:spPr>
          <a:xfrm>
            <a:off x="4054928" y="6115050"/>
            <a:ext cx="4082142" cy="277585"/>
          </a:xfrm>
          <a:custGeom>
            <a:avLst/>
            <a:gdLst>
              <a:gd name="connsiteX0" fmla="*/ 4057650 w 4082142"/>
              <a:gd name="connsiteY0" fmla="*/ 0 h 277585"/>
              <a:gd name="connsiteX1" fmla="*/ 4082143 w 4082142"/>
              <a:gd name="connsiteY1" fmla="*/ 0 h 277585"/>
              <a:gd name="connsiteX2" fmla="*/ 4082143 w 4082142"/>
              <a:gd name="connsiteY2" fmla="*/ 277586 h 277585"/>
              <a:gd name="connsiteX3" fmla="*/ 4057650 w 4082142"/>
              <a:gd name="connsiteY3" fmla="*/ 277586 h 277585"/>
              <a:gd name="connsiteX4" fmla="*/ 24493 w 4082142"/>
              <a:gd name="connsiteY4" fmla="*/ 277586 h 277585"/>
              <a:gd name="connsiteX5" fmla="*/ 0 w 4082142"/>
              <a:gd name="connsiteY5" fmla="*/ 277586 h 277585"/>
              <a:gd name="connsiteX6" fmla="*/ 0 w 4082142"/>
              <a:gd name="connsiteY6" fmla="*/ 0 h 277585"/>
              <a:gd name="connsiteX7" fmla="*/ 24493 w 4082142"/>
              <a:gd name="connsiteY7" fmla="*/ 0 h 27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2142" h="277585">
                <a:moveTo>
                  <a:pt x="4057650" y="0"/>
                </a:moveTo>
                <a:cubicBezTo>
                  <a:pt x="4071177" y="0"/>
                  <a:pt x="4082143" y="0"/>
                  <a:pt x="4082143" y="0"/>
                </a:cubicBezTo>
                <a:lnTo>
                  <a:pt x="4082143" y="277586"/>
                </a:lnTo>
                <a:cubicBezTo>
                  <a:pt x="4082143" y="277586"/>
                  <a:pt x="4071177" y="277586"/>
                  <a:pt x="4057650" y="277586"/>
                </a:cubicBezTo>
                <a:lnTo>
                  <a:pt x="24493" y="277586"/>
                </a:lnTo>
                <a:cubicBezTo>
                  <a:pt x="10966" y="277586"/>
                  <a:pt x="0" y="277586"/>
                  <a:pt x="0" y="277586"/>
                </a:cubicBezTo>
                <a:lnTo>
                  <a:pt x="0" y="0"/>
                </a:lnTo>
                <a:cubicBezTo>
                  <a:pt x="0" y="0"/>
                  <a:pt x="10966" y="0"/>
                  <a:pt x="24493" y="0"/>
                </a:cubicBezTo>
                <a:close/>
              </a:path>
            </a:pathLst>
          </a:custGeom>
          <a:solidFill>
            <a:srgbClr val="F5F5F5"/>
          </a:solidFill>
          <a:ln w="4082" cap="flat">
            <a:solidFill>
              <a:srgbClr val="E0E0E0"/>
            </a:solidFill>
            <a:prstDash val="solid"/>
            <a:miter/>
          </a:ln>
        </p:spPr>
        <p:txBody>
          <a:bodyPr rtlCol="0" anchor="ctr"/>
          <a:lstStyle/>
          <a:p>
            <a:endParaRPr lang="zh-CN" altLang="en-US"/>
          </a:p>
        </p:txBody>
      </p:sp>
      <p:sp>
        <p:nvSpPr>
          <p:cNvPr id="203" name="文本框 202"/>
          <p:cNvSpPr txBox="1"/>
          <p:nvPr/>
        </p:nvSpPr>
        <p:spPr>
          <a:xfrm>
            <a:off x="4045131" y="6114233"/>
            <a:ext cx="293097" cy="132261"/>
          </a:xfrm>
          <a:prstGeom prst="rect">
            <a:avLst/>
          </a:prstGeom>
          <a:noFill/>
        </p:spPr>
        <p:txBody>
          <a:bodyPr wrap="none" rtlCol="0">
            <a:spAutoFit/>
          </a:bodyPr>
          <a:lstStyle/>
          <a:p>
            <a:pPr algn="l"/>
            <a:r>
              <a:rPr lang="zh-CN" altLang="en-US" sz="750" b="1" spc="0" baseline="0">
                <a:solidFill>
                  <a:srgbClr val="555555"/>
                </a:solidFill>
                <a:latin typeface="宋体"/>
                <a:ea typeface="宋体"/>
                <a:sym typeface="宋体"/>
                <a:rtl val="0"/>
              </a:rPr>
              <a:t>图例:</a:t>
            </a:r>
          </a:p>
        </p:txBody>
      </p:sp>
      <p:sp>
        <p:nvSpPr>
          <p:cNvPr id="204" name="任意形状 203"/>
          <p:cNvSpPr/>
          <p:nvPr/>
        </p:nvSpPr>
        <p:spPr>
          <a:xfrm>
            <a:off x="4340678" y="6155871"/>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1565C0"/>
          </a:solidFill>
          <a:ln w="4082" cap="flat">
            <a:noFill/>
            <a:prstDash val="solid"/>
            <a:miter/>
          </a:ln>
        </p:spPr>
        <p:txBody>
          <a:bodyPr rtlCol="0" anchor="ctr"/>
          <a:lstStyle/>
          <a:p>
            <a:endParaRPr lang="zh-CN" altLang="en-US"/>
          </a:p>
        </p:txBody>
      </p:sp>
      <p:sp>
        <p:nvSpPr>
          <p:cNvPr id="205" name="文本框 204"/>
          <p:cNvSpPr txBox="1"/>
          <p:nvPr/>
        </p:nvSpPr>
        <p:spPr>
          <a:xfrm>
            <a:off x="4330881" y="6118315"/>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数据处理</a:t>
            </a:r>
          </a:p>
        </p:txBody>
      </p:sp>
      <p:sp>
        <p:nvSpPr>
          <p:cNvPr id="206" name="任意形状 205"/>
          <p:cNvSpPr/>
          <p:nvPr/>
        </p:nvSpPr>
        <p:spPr>
          <a:xfrm>
            <a:off x="4748892" y="6155871"/>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F9A825"/>
          </a:solidFill>
          <a:ln w="4082" cap="flat">
            <a:noFill/>
            <a:prstDash val="solid"/>
            <a:miter/>
          </a:ln>
        </p:spPr>
        <p:txBody>
          <a:bodyPr rtlCol="0" anchor="ctr"/>
          <a:lstStyle/>
          <a:p>
            <a:endParaRPr lang="zh-CN" altLang="en-US"/>
          </a:p>
        </p:txBody>
      </p:sp>
      <p:sp>
        <p:nvSpPr>
          <p:cNvPr id="207" name="文本框 206"/>
          <p:cNvSpPr txBox="1"/>
          <p:nvPr/>
        </p:nvSpPr>
        <p:spPr>
          <a:xfrm>
            <a:off x="4739095" y="6118315"/>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场景构建</a:t>
            </a:r>
          </a:p>
        </p:txBody>
      </p:sp>
      <p:sp>
        <p:nvSpPr>
          <p:cNvPr id="208" name="任意形状 207"/>
          <p:cNvSpPr/>
          <p:nvPr/>
        </p:nvSpPr>
        <p:spPr>
          <a:xfrm>
            <a:off x="5157107" y="6155871"/>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C62828"/>
          </a:solidFill>
          <a:ln w="4082" cap="flat">
            <a:noFill/>
            <a:prstDash val="solid"/>
            <a:miter/>
          </a:ln>
        </p:spPr>
        <p:txBody>
          <a:bodyPr rtlCol="0" anchor="ctr"/>
          <a:lstStyle/>
          <a:p>
            <a:endParaRPr lang="zh-CN" altLang="en-US"/>
          </a:p>
        </p:txBody>
      </p:sp>
      <p:sp>
        <p:nvSpPr>
          <p:cNvPr id="209" name="文本框 208"/>
          <p:cNvSpPr txBox="1"/>
          <p:nvPr/>
        </p:nvSpPr>
        <p:spPr>
          <a:xfrm>
            <a:off x="5147310" y="6118315"/>
            <a:ext cx="509451"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物资配送(向心流)</a:t>
            </a:r>
          </a:p>
        </p:txBody>
      </p:sp>
      <p:sp>
        <p:nvSpPr>
          <p:cNvPr id="210" name="任意形状 209"/>
          <p:cNvSpPr/>
          <p:nvPr/>
        </p:nvSpPr>
        <p:spPr>
          <a:xfrm>
            <a:off x="5728607" y="6155871"/>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1565C0"/>
          </a:solidFill>
          <a:ln w="4082" cap="flat">
            <a:noFill/>
            <a:prstDash val="solid"/>
            <a:miter/>
          </a:ln>
        </p:spPr>
        <p:txBody>
          <a:bodyPr rtlCol="0" anchor="ctr"/>
          <a:lstStyle/>
          <a:p>
            <a:endParaRPr lang="zh-CN" altLang="en-US"/>
          </a:p>
        </p:txBody>
      </p:sp>
      <p:sp>
        <p:nvSpPr>
          <p:cNvPr id="211" name="文本框 210"/>
          <p:cNvSpPr txBox="1"/>
          <p:nvPr/>
        </p:nvSpPr>
        <p:spPr>
          <a:xfrm>
            <a:off x="5718810" y="6118315"/>
            <a:ext cx="509451"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人员疏散(离心流)</a:t>
            </a:r>
          </a:p>
        </p:txBody>
      </p:sp>
      <p:sp>
        <p:nvSpPr>
          <p:cNvPr id="212" name="任意形状 211"/>
          <p:cNvSpPr/>
          <p:nvPr/>
        </p:nvSpPr>
        <p:spPr>
          <a:xfrm>
            <a:off x="6300107" y="6155871"/>
            <a:ext cx="57150" cy="57150"/>
          </a:xfrm>
          <a:custGeom>
            <a:avLst/>
            <a:gdLst>
              <a:gd name="connsiteX0" fmla="*/ 44904 w 57150"/>
              <a:gd name="connsiteY0" fmla="*/ 0 h 57150"/>
              <a:gd name="connsiteX1" fmla="*/ 57150 w 57150"/>
              <a:gd name="connsiteY1" fmla="*/ 0 h 57150"/>
              <a:gd name="connsiteX2" fmla="*/ 57150 w 57150"/>
              <a:gd name="connsiteY2" fmla="*/ 57150 h 57150"/>
              <a:gd name="connsiteX3" fmla="*/ 44904 w 57150"/>
              <a:gd name="connsiteY3" fmla="*/ 57150 h 57150"/>
              <a:gd name="connsiteX4" fmla="*/ 12246 w 57150"/>
              <a:gd name="connsiteY4" fmla="*/ 57150 h 57150"/>
              <a:gd name="connsiteX5" fmla="*/ 0 w 57150"/>
              <a:gd name="connsiteY5" fmla="*/ 57150 h 57150"/>
              <a:gd name="connsiteX6" fmla="*/ 0 w 57150"/>
              <a:gd name="connsiteY6" fmla="*/ 0 h 57150"/>
              <a:gd name="connsiteX7" fmla="*/ 12246 w 57150"/>
              <a:gd name="connsiteY7" fmla="*/ 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 h="57150">
                <a:moveTo>
                  <a:pt x="44904" y="0"/>
                </a:moveTo>
                <a:cubicBezTo>
                  <a:pt x="51667" y="0"/>
                  <a:pt x="57150" y="0"/>
                  <a:pt x="57150" y="0"/>
                </a:cubicBezTo>
                <a:lnTo>
                  <a:pt x="57150" y="57150"/>
                </a:lnTo>
                <a:cubicBezTo>
                  <a:pt x="57150" y="57150"/>
                  <a:pt x="51667" y="57150"/>
                  <a:pt x="44904" y="57150"/>
                </a:cubicBezTo>
                <a:lnTo>
                  <a:pt x="12246" y="57150"/>
                </a:lnTo>
                <a:cubicBezTo>
                  <a:pt x="5483" y="57150"/>
                  <a:pt x="0" y="57150"/>
                  <a:pt x="0" y="57150"/>
                </a:cubicBezTo>
                <a:lnTo>
                  <a:pt x="0" y="0"/>
                </a:lnTo>
                <a:cubicBezTo>
                  <a:pt x="0" y="0"/>
                  <a:pt x="5483" y="0"/>
                  <a:pt x="12246" y="0"/>
                </a:cubicBezTo>
                <a:close/>
              </a:path>
            </a:pathLst>
          </a:custGeom>
          <a:solidFill>
            <a:srgbClr val="2E7D32"/>
          </a:solidFill>
          <a:ln w="4082" cap="flat">
            <a:noFill/>
            <a:prstDash val="solid"/>
            <a:miter/>
          </a:ln>
        </p:spPr>
        <p:txBody>
          <a:bodyPr rtlCol="0" anchor="ctr"/>
          <a:lstStyle/>
          <a:p>
            <a:endParaRPr lang="zh-CN" altLang="en-US"/>
          </a:p>
        </p:txBody>
      </p:sp>
      <p:sp>
        <p:nvSpPr>
          <p:cNvPr id="213" name="文本框 212"/>
          <p:cNvSpPr txBox="1"/>
          <p:nvPr/>
        </p:nvSpPr>
        <p:spPr>
          <a:xfrm>
            <a:off x="6290310" y="6118315"/>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韧性评估</a:t>
            </a:r>
          </a:p>
        </p:txBody>
      </p:sp>
      <p:sp>
        <p:nvSpPr>
          <p:cNvPr id="214" name="任意形状 213"/>
          <p:cNvSpPr/>
          <p:nvPr/>
        </p:nvSpPr>
        <p:spPr>
          <a:xfrm>
            <a:off x="4340678" y="6294664"/>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555555"/>
            </a:solidFill>
            <a:prstDash val="solid"/>
            <a:miter/>
          </a:ln>
        </p:spPr>
        <p:txBody>
          <a:bodyPr rtlCol="0" anchor="ctr"/>
          <a:lstStyle/>
          <a:p>
            <a:endParaRPr lang="zh-CN" altLang="en-US"/>
          </a:p>
        </p:txBody>
      </p:sp>
      <p:sp>
        <p:nvSpPr>
          <p:cNvPr id="215" name="文本框 214"/>
          <p:cNvSpPr txBox="1"/>
          <p:nvPr/>
        </p:nvSpPr>
        <p:spPr>
          <a:xfrm>
            <a:off x="4453345" y="6228533"/>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流程方向</a:t>
            </a:r>
          </a:p>
        </p:txBody>
      </p:sp>
      <p:sp>
        <p:nvSpPr>
          <p:cNvPr id="216" name="任意形状 215"/>
          <p:cNvSpPr/>
          <p:nvPr/>
        </p:nvSpPr>
        <p:spPr>
          <a:xfrm>
            <a:off x="4953000" y="6294664"/>
            <a:ext cx="163285" cy="4082"/>
          </a:xfrm>
          <a:custGeom>
            <a:avLst/>
            <a:gdLst>
              <a:gd name="connsiteX0" fmla="*/ 0 w 163285"/>
              <a:gd name="connsiteY0" fmla="*/ 0 h 4082"/>
              <a:gd name="connsiteX1" fmla="*/ 163286 w 163285"/>
              <a:gd name="connsiteY1" fmla="*/ 0 h 4082"/>
            </a:gdLst>
            <a:ahLst/>
            <a:cxnLst>
              <a:cxn ang="0">
                <a:pos x="connsiteX0" y="connsiteY0"/>
              </a:cxn>
              <a:cxn ang="0">
                <a:pos x="connsiteX1" y="connsiteY1"/>
              </a:cxn>
            </a:cxnLst>
            <a:rect l="l" t="t" r="r" b="b"/>
            <a:pathLst>
              <a:path w="163285" h="4082">
                <a:moveTo>
                  <a:pt x="0" y="0"/>
                </a:moveTo>
                <a:lnTo>
                  <a:pt x="163286" y="0"/>
                </a:lnTo>
              </a:path>
            </a:pathLst>
          </a:custGeom>
          <a:ln w="4899" cap="flat">
            <a:solidFill>
              <a:srgbClr val="FF6F00"/>
            </a:solidFill>
            <a:custDash>
              <a:ds d="375000" sp="225000"/>
            </a:custDash>
            <a:miter/>
          </a:ln>
        </p:spPr>
        <p:txBody>
          <a:bodyPr rtlCol="0" anchor="ctr"/>
          <a:lstStyle/>
          <a:p>
            <a:endParaRPr lang="zh-CN" altLang="en-US"/>
          </a:p>
        </p:txBody>
      </p:sp>
      <p:sp>
        <p:nvSpPr>
          <p:cNvPr id="217" name="文本框 216"/>
          <p:cNvSpPr txBox="1"/>
          <p:nvPr/>
        </p:nvSpPr>
        <p:spPr>
          <a:xfrm>
            <a:off x="5065667" y="6228533"/>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耦合关系</a:t>
            </a:r>
          </a:p>
        </p:txBody>
      </p:sp>
      <p:sp>
        <p:nvSpPr>
          <p:cNvPr id="218" name="任意形状 217"/>
          <p:cNvSpPr/>
          <p:nvPr/>
        </p:nvSpPr>
        <p:spPr>
          <a:xfrm>
            <a:off x="5565321" y="6262007"/>
            <a:ext cx="163285" cy="65314"/>
          </a:xfrm>
          <a:custGeom>
            <a:avLst/>
            <a:gdLst>
              <a:gd name="connsiteX0" fmla="*/ 151039 w 163285"/>
              <a:gd name="connsiteY0" fmla="*/ 0 h 65314"/>
              <a:gd name="connsiteX1" fmla="*/ 163286 w 163285"/>
              <a:gd name="connsiteY1" fmla="*/ 0 h 65314"/>
              <a:gd name="connsiteX2" fmla="*/ 163286 w 163285"/>
              <a:gd name="connsiteY2" fmla="*/ 65314 h 65314"/>
              <a:gd name="connsiteX3" fmla="*/ 151039 w 163285"/>
              <a:gd name="connsiteY3" fmla="*/ 65314 h 65314"/>
              <a:gd name="connsiteX4" fmla="*/ 12246 w 163285"/>
              <a:gd name="connsiteY4" fmla="*/ 65314 h 65314"/>
              <a:gd name="connsiteX5" fmla="*/ 0 w 163285"/>
              <a:gd name="connsiteY5" fmla="*/ 65314 h 65314"/>
              <a:gd name="connsiteX6" fmla="*/ 0 w 163285"/>
              <a:gd name="connsiteY6" fmla="*/ 0 h 65314"/>
              <a:gd name="connsiteX7" fmla="*/ 12246 w 163285"/>
              <a:gd name="connsiteY7" fmla="*/ 0 h 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285" h="65314">
                <a:moveTo>
                  <a:pt x="151039" y="0"/>
                </a:moveTo>
                <a:cubicBezTo>
                  <a:pt x="157803" y="0"/>
                  <a:pt x="163286" y="0"/>
                  <a:pt x="163286" y="0"/>
                </a:cubicBezTo>
                <a:lnTo>
                  <a:pt x="163286" y="65314"/>
                </a:lnTo>
                <a:cubicBezTo>
                  <a:pt x="163286" y="65314"/>
                  <a:pt x="157803" y="65314"/>
                  <a:pt x="151039" y="65314"/>
                </a:cubicBezTo>
                <a:lnTo>
                  <a:pt x="12246" y="65314"/>
                </a:lnTo>
                <a:cubicBezTo>
                  <a:pt x="5483" y="65314"/>
                  <a:pt x="0" y="65314"/>
                  <a:pt x="0" y="65314"/>
                </a:cubicBezTo>
                <a:lnTo>
                  <a:pt x="0" y="0"/>
                </a:lnTo>
                <a:cubicBezTo>
                  <a:pt x="0" y="0"/>
                  <a:pt x="5483" y="0"/>
                  <a:pt x="12246" y="0"/>
                </a:cubicBezTo>
                <a:close/>
              </a:path>
            </a:pathLst>
          </a:custGeom>
          <a:noFill/>
          <a:ln w="4082" cap="flat">
            <a:solidFill>
              <a:srgbClr val="BDBDBD"/>
            </a:solidFill>
            <a:custDash>
              <a:ds d="300000" sp="150000"/>
            </a:custDash>
            <a:miter/>
          </a:ln>
        </p:spPr>
        <p:txBody>
          <a:bodyPr rtlCol="0" anchor="ctr"/>
          <a:lstStyle/>
          <a:p>
            <a:endParaRPr lang="zh-CN" altLang="en-US"/>
          </a:p>
        </p:txBody>
      </p:sp>
      <p:sp>
        <p:nvSpPr>
          <p:cNvPr id="219" name="文本框 218"/>
          <p:cNvSpPr txBox="1"/>
          <p:nvPr/>
        </p:nvSpPr>
        <p:spPr>
          <a:xfrm>
            <a:off x="5677988" y="6228533"/>
            <a:ext cx="346165"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阶段边界</a:t>
            </a:r>
          </a:p>
        </p:txBody>
      </p:sp>
      <p:sp>
        <p:nvSpPr>
          <p:cNvPr id="220" name="文本框 219"/>
          <p:cNvSpPr txBox="1"/>
          <p:nvPr/>
        </p:nvSpPr>
        <p:spPr>
          <a:xfrm>
            <a:off x="6208667" y="6228533"/>
            <a:ext cx="733969" cy="132261"/>
          </a:xfrm>
          <a:prstGeom prst="rect">
            <a:avLst/>
          </a:prstGeom>
          <a:noFill/>
        </p:spPr>
        <p:txBody>
          <a:bodyPr wrap="none" rtlCol="0">
            <a:spAutoFit/>
          </a:bodyPr>
          <a:lstStyle/>
          <a:p>
            <a:pPr algn="l"/>
            <a:r>
              <a:rPr lang="zh-CN" altLang="en-US" sz="750" spc="0" baseline="0">
                <a:solidFill>
                  <a:srgbClr val="555555"/>
                </a:solidFill>
                <a:latin typeface="宋体"/>
                <a:ea typeface="宋体"/>
                <a:sym typeface="宋体"/>
                <a:rtl val="0"/>
              </a:rPr>
              <a:t>Step 0-12: 对应代码模块编号</a:t>
            </a: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TotalTime>
  <Words>5254</Words>
  <Application>Microsoft Macintosh PowerPoint</Application>
  <PresentationFormat>宽屏</PresentationFormat>
  <Paragraphs>703</Paragraphs>
  <Slides>6</Slides>
  <Notes>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黑体</vt:lpstr>
      <vt:lpstr>宋体</vt:lpstr>
      <vt:lpstr>Microsoft YaHei</vt:lpstr>
      <vt:lpstr>Microsoft YaHei</vt:lpstr>
      <vt:lpstr>Apple Color Emoji</vt:lpstr>
      <vt:lpstr>Arial</vt:lpstr>
      <vt:lpstr>Calibri</vt:lpstr>
      <vt:lpstr>Cambria Math</vt:lpstr>
      <vt:lpstr>Segoe UI</vt:lpstr>
      <vt:lpstr>Segoe UI Symbol</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良 王</cp:lastModifiedBy>
  <cp:revision>27</cp:revision>
  <dcterms:created xsi:type="dcterms:W3CDTF">2026-04-04T08:39:43Z</dcterms:created>
  <dcterms:modified xsi:type="dcterms:W3CDTF">2026-04-05T09:08:18Z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2052-6.15.1.8935</vt:lpwstr>
  </property>
  <property fmtid="{D5CDD505-2E9C-101B-9397-08002B2CF9AE}" pid="3" name="ICV">
    <vt:lpwstr>E37CF2F2A2FF25D0066AAF691DC148AF_41</vt:lpwstr>
  </property>
</Properties>
</file>